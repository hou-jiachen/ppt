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558"/>
          </a:solidFill>
          <a:ln w="7620">
            <a:solidFill>
              <a:srgbClr val="0B3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804672"/>
            <a:ext cx="822960" cy="64008"/>
          </a:xfrm>
          <a:prstGeom prst="rect">
            <a:avLst/>
          </a:prstGeom>
          <a:solidFill>
            <a:srgbClr val="0E9F9A"/>
          </a:solidFill>
          <a:ln w="7620">
            <a:solidFill>
              <a:srgbClr val="0E9F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170432"/>
            <a:ext cx="4937760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500" b="1">
                <a:solidFill>
                  <a:srgbClr val="E8F2F2"/>
                </a:solidFill>
                <a:latin typeface="Microsoft YaHei"/>
              </a:defRPr>
            </a:pPr>
            <a:r>
              <a:t>水资源论证 · 工程评审汇报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901952"/>
            <a:ext cx="5852160" cy="53035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3400" b="1">
                <a:solidFill>
                  <a:srgbClr val="FFFFFF"/>
                </a:solidFill>
                <a:latin typeface="Microsoft YaHei"/>
              </a:defRPr>
            </a:pPr>
            <a:r>
              <a:t>玉泉水库灌区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542032"/>
            <a:ext cx="6217920" cy="53035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3400" b="1">
                <a:solidFill>
                  <a:srgbClr val="FFFFFF"/>
                </a:solidFill>
                <a:latin typeface="Microsoft YaHei"/>
              </a:defRPr>
            </a:pPr>
            <a:r>
              <a:t>水资源论证报告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401568"/>
            <a:ext cx="7589520" cy="43891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00" b="0">
                <a:solidFill>
                  <a:srgbClr val="E8F2F2"/>
                </a:solidFill>
                <a:latin typeface="Microsoft YaHei"/>
              </a:rPr>
              <a:t>围绕</a:t>
            </a:r>
            <a:r>
              <a:rPr sz="1400" b="1">
                <a:solidFill>
                  <a:srgbClr val="0E9F9A"/>
                </a:solidFill>
                <a:latin typeface="Microsoft YaHei"/>
              </a:rPr>
              <a:t>750万m3</a:t>
            </a:r>
            <a:r>
              <a:rPr sz="1400" b="0">
                <a:solidFill>
                  <a:srgbClr val="E8F2F2"/>
                </a:solidFill>
                <a:latin typeface="Microsoft YaHei"/>
              </a:rPr>
              <a:t>年申请取水量，讲清联合水源、用水合理性、取退水影响和管理闭环。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85216" y="4736592"/>
            <a:ext cx="3575304" cy="877824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4864607"/>
            <a:ext cx="3355848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800" b="1">
                <a:solidFill>
                  <a:srgbClr val="0E9F9A"/>
                </a:solidFill>
                <a:latin typeface="Microsoft YaHei"/>
              </a:rPr>
              <a:t>750万m3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5248656"/>
            <a:ext cx="3355848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0">
                <a:solidFill>
                  <a:srgbClr val="5B6F82"/>
                </a:solidFill>
                <a:latin typeface="Microsoft YaHei"/>
              </a:defRPr>
            </a:pPr>
            <a:r>
              <a:t>年申请取水量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06824" y="4736592"/>
            <a:ext cx="3575304" cy="877824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4864607"/>
            <a:ext cx="3355848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800" b="1">
                <a:solidFill>
                  <a:srgbClr val="0E9F9A"/>
                </a:solidFill>
                <a:latin typeface="Microsoft YaHei"/>
              </a:rPr>
              <a:t>17621.55</a:t>
            </a:r>
            <a:r>
              <a:rPr sz="1800" b="1">
                <a:solidFill>
                  <a:srgbClr val="2E7D32"/>
                </a:solidFill>
                <a:latin typeface="Microsoft YaHei"/>
              </a:rPr>
              <a:t>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5248656"/>
            <a:ext cx="3355848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0">
                <a:solidFill>
                  <a:srgbClr val="5B6F82"/>
                </a:solidFill>
                <a:latin typeface="Microsoft YaHei"/>
              </a:defRPr>
            </a:pPr>
            <a:r>
              <a:t>灌区农田面积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28432" y="4736592"/>
            <a:ext cx="3575304" cy="877824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56448" y="4864607"/>
            <a:ext cx="3355848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800" b="1">
                <a:solidFill>
                  <a:srgbClr val="B64A31"/>
                </a:solidFill>
                <a:latin typeface="Microsoft YaHei"/>
              </a:rPr>
              <a:t>P=</a:t>
            </a:r>
            <a:r>
              <a:rPr sz="1800" b="1">
                <a:solidFill>
                  <a:srgbClr val="0E9F9A"/>
                </a:solidFill>
                <a:latin typeface="Microsoft YaHei"/>
              </a:rPr>
              <a:t>90%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56448" y="5248656"/>
            <a:ext cx="3355848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0">
                <a:solidFill>
                  <a:srgbClr val="5B6F82"/>
                </a:solidFill>
                <a:latin typeface="Microsoft YaHei"/>
              </a:defRPr>
            </a:pPr>
            <a:r>
              <a:t>灌溉设计保证率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6144768"/>
            <a:ext cx="5669280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0">
                <a:solidFill>
                  <a:srgbClr val="E8F2F2"/>
                </a:solidFill>
                <a:latin typeface="Microsoft YaHei"/>
              </a:defRPr>
            </a:pPr>
            <a:r>
              <a:t>建设单位：当阳市惠清水环境治理有限责任公司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7620">
            <a:solidFill>
              <a:srgbClr val="F6F8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47472" y="256032"/>
            <a:ext cx="73152" cy="310896"/>
          </a:xfrm>
          <a:prstGeom prst="rect">
            <a:avLst/>
          </a:prstGeom>
          <a:solidFill>
            <a:srgbClr val="0E9F9A"/>
          </a:solidFill>
          <a:ln w="7620">
            <a:solidFill>
              <a:srgbClr val="0E9F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93776" y="219456"/>
            <a:ext cx="777240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050" b="1">
                <a:solidFill>
                  <a:srgbClr val="5B6F82"/>
                </a:solidFill>
                <a:latin typeface="Microsoft YaHei"/>
              </a:defRPr>
            </a:pPr>
            <a:r>
              <a:t>项目总览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" y="603504"/>
            <a:ext cx="10607040" cy="53035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2400" b="1">
                <a:solidFill>
                  <a:srgbClr val="132D46"/>
                </a:solidFill>
                <a:latin typeface="Microsoft YaHei"/>
              </a:defRPr>
            </a:pPr>
            <a:r>
              <a:t>联合水源可支撑灌区用水，许可条件必须同步锁定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36224" y="301752"/>
            <a:ext cx="438912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defRPr sz="900" b="1">
                <a:solidFill>
                  <a:srgbClr val="5B6F82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7" name="Rectangle 6"/>
          <p:cNvSpPr/>
          <p:nvPr/>
        </p:nvSpPr>
        <p:spPr>
          <a:xfrm>
            <a:off x="493776" y="1097280"/>
            <a:ext cx="10881360" cy="13716"/>
          </a:xfrm>
          <a:prstGeom prst="rect">
            <a:avLst/>
          </a:prstGeom>
          <a:solidFill>
            <a:srgbClr val="C8D3D9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85216" y="1417320"/>
            <a:ext cx="2644902" cy="877824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545336"/>
            <a:ext cx="2425446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800" b="1">
                <a:solidFill>
                  <a:srgbClr val="0E9F9A"/>
                </a:solidFill>
                <a:latin typeface="Microsoft YaHei"/>
              </a:rPr>
              <a:t>750万m3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1929384"/>
            <a:ext cx="2425446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0">
                <a:solidFill>
                  <a:srgbClr val="5B6F82"/>
                </a:solidFill>
                <a:latin typeface="Microsoft YaHei"/>
              </a:defRPr>
            </a:pPr>
            <a:r>
              <a:t>年申请取水量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76422" y="1417320"/>
            <a:ext cx="2644902" cy="877824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04438" y="1545336"/>
            <a:ext cx="2425446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800" b="1">
                <a:solidFill>
                  <a:srgbClr val="0E9F9A"/>
                </a:solidFill>
                <a:latin typeface="Microsoft YaHei"/>
              </a:rPr>
              <a:t>150万m3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04438" y="1929384"/>
            <a:ext cx="2425446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0">
                <a:solidFill>
                  <a:srgbClr val="5B6F82"/>
                </a:solidFill>
                <a:latin typeface="Microsoft YaHei"/>
              </a:defRPr>
            </a:pPr>
            <a:r>
              <a:t>年退水量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67628" y="1417320"/>
            <a:ext cx="2644902" cy="877824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95644" y="1545336"/>
            <a:ext cx="2425446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800" b="1">
                <a:solidFill>
                  <a:srgbClr val="0E9F9A"/>
                </a:solidFill>
                <a:latin typeface="Microsoft YaHei"/>
              </a:rPr>
              <a:t>0.650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95644" y="1929384"/>
            <a:ext cx="2425446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0">
                <a:solidFill>
                  <a:srgbClr val="5B6F82"/>
                </a:solidFill>
                <a:latin typeface="Microsoft YaHei"/>
              </a:defRPr>
            </a:pPr>
            <a:r>
              <a:t>规划利用系数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58834" y="1417320"/>
            <a:ext cx="2644902" cy="877824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86850" y="1545336"/>
            <a:ext cx="2425446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800" b="1">
                <a:solidFill>
                  <a:srgbClr val="0E9F9A"/>
                </a:solidFill>
                <a:latin typeface="Microsoft YaHei"/>
              </a:rPr>
              <a:t>2034年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86850" y="1929384"/>
            <a:ext cx="2425446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0">
                <a:solidFill>
                  <a:srgbClr val="5B6F82"/>
                </a:solidFill>
                <a:latin typeface="Microsoft YaHei"/>
              </a:defRPr>
            </a:pPr>
            <a:r>
              <a:t>规划水平年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" y="2606040"/>
            <a:ext cx="5285232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" y="2606040"/>
            <a:ext cx="64008" cy="1115568"/>
          </a:xfrm>
          <a:prstGeom prst="rect">
            <a:avLst/>
          </a:prstGeom>
          <a:solidFill>
            <a:srgbClr val="0E9F9A"/>
          </a:solidFill>
          <a:ln w="7620">
            <a:solidFill>
              <a:srgbClr val="0E9F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2734056"/>
            <a:ext cx="411480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1">
                <a:solidFill>
                  <a:srgbClr val="0E9F9A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16736" y="2715768"/>
            <a:ext cx="4425696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00" b="1">
                <a:solidFill>
                  <a:srgbClr val="0E9F9A"/>
                </a:solidFill>
                <a:latin typeface="Microsoft YaHei"/>
              </a:rPr>
              <a:t>水源结构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" y="3108960"/>
            <a:ext cx="4882896" cy="38404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00" b="0">
                <a:solidFill>
                  <a:srgbClr val="5B6F82"/>
                </a:solidFill>
                <a:latin typeface="Microsoft YaHei"/>
              </a:rPr>
              <a:t>玉泉水库本地调蓄与东风三干渠补源共同承担P=</a:t>
            </a:r>
            <a:r>
              <a:rPr sz="1400" b="1">
                <a:solidFill>
                  <a:srgbClr val="0E9F9A"/>
                </a:solidFill>
                <a:latin typeface="Microsoft YaHei"/>
              </a:rPr>
              <a:t>90%</a:t>
            </a:r>
            <a:r>
              <a:rPr sz="1400" b="0">
                <a:solidFill>
                  <a:srgbClr val="5B6F82"/>
                </a:solidFill>
                <a:latin typeface="Microsoft YaHei"/>
              </a:rPr>
              <a:t>保证率。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81344" y="2606040"/>
            <a:ext cx="5285232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81344" y="2606040"/>
            <a:ext cx="64008" cy="1115568"/>
          </a:xfrm>
          <a:prstGeom prst="rect">
            <a:avLst/>
          </a:prstGeom>
          <a:solidFill>
            <a:srgbClr val="2E7D32"/>
          </a:solidFill>
          <a:ln w="762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82512" y="2734056"/>
            <a:ext cx="411480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1">
                <a:solidFill>
                  <a:srgbClr val="2E7D32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76288" y="2715768"/>
            <a:ext cx="4425696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00" b="1">
                <a:solidFill>
                  <a:srgbClr val="0E9F9A"/>
                </a:solidFill>
                <a:latin typeface="Microsoft YaHei"/>
              </a:rPr>
              <a:t>用水合理性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3108960"/>
            <a:ext cx="4882896" cy="38404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0">
                <a:solidFill>
                  <a:srgbClr val="5B6F82"/>
                </a:solidFill>
                <a:latin typeface="Microsoft YaHei"/>
              </a:defRPr>
            </a:pPr>
            <a:r>
              <a:t>作物结构维持现状，取水量主要由中稻灌溉定额和利用系数控制。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1792" y="3959352"/>
            <a:ext cx="5285232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1792" y="3959352"/>
            <a:ext cx="64008" cy="1115568"/>
          </a:xfrm>
          <a:prstGeom prst="rect">
            <a:avLst/>
          </a:prstGeom>
          <a:solidFill>
            <a:srgbClr val="0B3558"/>
          </a:solidFill>
          <a:ln w="7620">
            <a:solidFill>
              <a:srgbClr val="0B3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4087368"/>
            <a:ext cx="411480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1">
                <a:solidFill>
                  <a:srgbClr val="0B3558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16736" y="4069080"/>
            <a:ext cx="4425696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00" b="1">
                <a:solidFill>
                  <a:srgbClr val="0E9F9A"/>
                </a:solidFill>
                <a:latin typeface="Microsoft YaHei"/>
              </a:rPr>
              <a:t>影响控制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" y="4462272"/>
            <a:ext cx="4882896" cy="38404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0">
                <a:solidFill>
                  <a:srgbClr val="5B6F82"/>
                </a:solidFill>
                <a:latin typeface="Microsoft YaHei"/>
              </a:defRPr>
            </a:pPr>
            <a:r>
              <a:t>取水影响取决于生态下泄、库容边界和其他用户权益保障。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81344" y="3959352"/>
            <a:ext cx="5285232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181344" y="3959352"/>
            <a:ext cx="64008" cy="1115568"/>
          </a:xfrm>
          <a:prstGeom prst="rect">
            <a:avLst/>
          </a:prstGeom>
          <a:solidFill>
            <a:srgbClr val="B64A31"/>
          </a:solidFill>
          <a:ln w="7620">
            <a:solidFill>
              <a:srgbClr val="B64A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82512" y="4087368"/>
            <a:ext cx="411480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1">
                <a:solidFill>
                  <a:srgbClr val="B64A31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76288" y="4069080"/>
            <a:ext cx="4425696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00" b="1">
                <a:solidFill>
                  <a:srgbClr val="0E9F9A"/>
                </a:solidFill>
                <a:latin typeface="Microsoft YaHei"/>
              </a:rPr>
              <a:t>管理条件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4462272"/>
            <a:ext cx="4882896" cy="38404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0">
                <a:solidFill>
                  <a:srgbClr val="5B6F82"/>
                </a:solidFill>
                <a:latin typeface="Microsoft YaHei"/>
              </a:defRPr>
            </a:pPr>
            <a:r>
              <a:t>计量、台账、监测、渠系管护和引水协议需要形成许可约束。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93776" y="6419088"/>
            <a:ext cx="813816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850" b="0">
                <a:solidFill>
                  <a:srgbClr val="5B6F82"/>
                </a:solidFill>
                <a:latin typeface="Microsoft YaHei"/>
              </a:defRPr>
            </a:pPr>
            <a:r>
              <a:t>来源：报告基本情况表、第4—5章、第9章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7620">
            <a:solidFill>
              <a:srgbClr val="F6F8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47472" y="256032"/>
            <a:ext cx="73152" cy="310896"/>
          </a:xfrm>
          <a:prstGeom prst="rect">
            <a:avLst/>
          </a:prstGeom>
          <a:solidFill>
            <a:srgbClr val="0E9F9A"/>
          </a:solidFill>
          <a:ln w="7620">
            <a:solidFill>
              <a:srgbClr val="0E9F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93776" y="219456"/>
            <a:ext cx="777240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050" b="1">
                <a:solidFill>
                  <a:srgbClr val="5B6F82"/>
                </a:solidFill>
                <a:latin typeface="Microsoft YaHei"/>
              </a:defRPr>
            </a:pPr>
            <a:r>
              <a:t>汇报结构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" y="603504"/>
            <a:ext cx="10607040" cy="53035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2400" b="1">
                <a:solidFill>
                  <a:srgbClr val="132D46"/>
                </a:solidFill>
                <a:latin typeface="Microsoft YaHei"/>
              </a:rPr>
              <a:t>九章报告形成“背景—核算—影响—管控—</a:t>
            </a:r>
            <a:r>
              <a:rPr sz="2400" b="1">
                <a:solidFill>
                  <a:srgbClr val="0E9F9A"/>
                </a:solidFill>
                <a:latin typeface="Microsoft YaHei"/>
              </a:rPr>
              <a:t>结论</a:t>
            </a:r>
            <a:r>
              <a:rPr sz="2400" b="1">
                <a:solidFill>
                  <a:srgbClr val="132D46"/>
                </a:solidFill>
                <a:latin typeface="Microsoft YaHei"/>
              </a:rPr>
              <a:t>”的证据链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36224" y="301752"/>
            <a:ext cx="438912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defRPr sz="900" b="1">
                <a:solidFill>
                  <a:srgbClr val="5B6F82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7" name="Rectangle 6"/>
          <p:cNvSpPr/>
          <p:nvPr/>
        </p:nvSpPr>
        <p:spPr>
          <a:xfrm>
            <a:off x="493776" y="1097280"/>
            <a:ext cx="10881360" cy="13716"/>
          </a:xfrm>
          <a:prstGeom prst="rect">
            <a:avLst/>
          </a:prstGeom>
          <a:solidFill>
            <a:srgbClr val="C8D3D9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" y="1591056"/>
            <a:ext cx="3429000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1591056"/>
            <a:ext cx="64008" cy="1115568"/>
          </a:xfrm>
          <a:prstGeom prst="rect">
            <a:avLst/>
          </a:prstGeom>
          <a:solidFill>
            <a:srgbClr val="0E9F9A"/>
          </a:solidFill>
          <a:ln w="7620">
            <a:solidFill>
              <a:srgbClr val="0E9F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719072"/>
            <a:ext cx="411480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1">
                <a:solidFill>
                  <a:srgbClr val="0E9F9A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16736" y="1700784"/>
            <a:ext cx="2569464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00" b="1">
                <a:solidFill>
                  <a:srgbClr val="0E9F9A"/>
                </a:solidFill>
                <a:latin typeface="Microsoft YaHei"/>
              </a:rPr>
              <a:t>1 总论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2093976"/>
            <a:ext cx="3026664" cy="38404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0">
                <a:solidFill>
                  <a:srgbClr val="5B6F82"/>
                </a:solidFill>
                <a:latin typeface="Microsoft YaHei"/>
              </a:defRPr>
            </a:pPr>
            <a:r>
              <a:t>任务、依据、等级与范围。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25112" y="1591056"/>
            <a:ext cx="3429000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25112" y="1591056"/>
            <a:ext cx="64008" cy="1115568"/>
          </a:xfrm>
          <a:prstGeom prst="rect">
            <a:avLst/>
          </a:prstGeom>
          <a:solidFill>
            <a:srgbClr val="2E7D32"/>
          </a:solidFill>
          <a:ln w="762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79" y="1719072"/>
            <a:ext cx="411480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1">
                <a:solidFill>
                  <a:srgbClr val="2E7D32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0055" y="1700784"/>
            <a:ext cx="2569464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00" b="1">
                <a:solidFill>
                  <a:srgbClr val="0E9F9A"/>
                </a:solidFill>
                <a:latin typeface="Microsoft YaHei"/>
              </a:rPr>
              <a:t>2 项目概况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4568" y="2093976"/>
            <a:ext cx="3026664" cy="38404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0">
                <a:solidFill>
                  <a:srgbClr val="5B6F82"/>
                </a:solidFill>
                <a:latin typeface="Microsoft YaHei"/>
              </a:defRPr>
            </a:pPr>
            <a:r>
              <a:t>工程边界与取退水方案。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28431" y="1591056"/>
            <a:ext cx="3429000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28431" y="1591056"/>
            <a:ext cx="64008" cy="1115568"/>
          </a:xfrm>
          <a:prstGeom prst="rect">
            <a:avLst/>
          </a:prstGeom>
          <a:solidFill>
            <a:srgbClr val="0B3558"/>
          </a:solidFill>
          <a:ln w="7620">
            <a:solidFill>
              <a:srgbClr val="0B3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0" y="1719072"/>
            <a:ext cx="411480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1">
                <a:solidFill>
                  <a:srgbClr val="0B3558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23376" y="1700784"/>
            <a:ext cx="2569464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00" b="1">
                <a:solidFill>
                  <a:srgbClr val="0E9F9A"/>
                </a:solidFill>
                <a:latin typeface="Microsoft YaHei"/>
              </a:rPr>
              <a:t>3 区域水资源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47888" y="2093976"/>
            <a:ext cx="3026664" cy="38404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0">
                <a:solidFill>
                  <a:srgbClr val="5B6F82"/>
                </a:solidFill>
                <a:latin typeface="Microsoft YaHei"/>
              </a:defRPr>
            </a:pPr>
            <a:r>
              <a:t>资源条件与开发现状。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" y="2944368"/>
            <a:ext cx="3429000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792" y="2944368"/>
            <a:ext cx="64008" cy="1115568"/>
          </a:xfrm>
          <a:prstGeom prst="rect">
            <a:avLst/>
          </a:prstGeom>
          <a:solidFill>
            <a:srgbClr val="B64A31"/>
          </a:solidFill>
          <a:ln w="7620">
            <a:solidFill>
              <a:srgbClr val="B64A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3072384"/>
            <a:ext cx="411480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1">
                <a:solidFill>
                  <a:srgbClr val="B64A31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16736" y="3054096"/>
            <a:ext cx="2569464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00" b="1">
                <a:solidFill>
                  <a:srgbClr val="0E9F9A"/>
                </a:solidFill>
                <a:latin typeface="Microsoft YaHei"/>
              </a:rPr>
              <a:t>4 用水合理性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" y="3447287"/>
            <a:ext cx="3026664" cy="38404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0">
                <a:solidFill>
                  <a:srgbClr val="5B6F82"/>
                </a:solidFill>
                <a:latin typeface="Microsoft YaHei"/>
              </a:defRPr>
            </a:pPr>
            <a:r>
              <a:t>需水、供水平衡与核定。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25112" y="2944368"/>
            <a:ext cx="3429000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325112" y="2944368"/>
            <a:ext cx="64008" cy="1115568"/>
          </a:xfrm>
          <a:prstGeom prst="rect">
            <a:avLst/>
          </a:prstGeom>
          <a:solidFill>
            <a:srgbClr val="0E9F9A"/>
          </a:solidFill>
          <a:ln w="7620">
            <a:solidFill>
              <a:srgbClr val="0E9F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26279" y="3072384"/>
            <a:ext cx="411480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1">
                <a:solidFill>
                  <a:srgbClr val="0E9F9A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0055" y="3054096"/>
            <a:ext cx="2569464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00" b="1">
                <a:solidFill>
                  <a:srgbClr val="0E9F9A"/>
                </a:solidFill>
                <a:latin typeface="Microsoft YaHei"/>
              </a:rPr>
              <a:t>5 取水水源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44568" y="3447287"/>
            <a:ext cx="3026664" cy="38404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0">
                <a:solidFill>
                  <a:srgbClr val="5B6F82"/>
                </a:solidFill>
                <a:latin typeface="Microsoft YaHei"/>
              </a:defRPr>
            </a:pPr>
            <a:r>
              <a:t>联合水源与可靠性。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028431" y="2944368"/>
            <a:ext cx="3429000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028431" y="2944368"/>
            <a:ext cx="64008" cy="1115568"/>
          </a:xfrm>
          <a:prstGeom prst="rect">
            <a:avLst/>
          </a:prstGeom>
          <a:solidFill>
            <a:srgbClr val="2E7D32"/>
          </a:solidFill>
          <a:ln w="762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600" y="3072384"/>
            <a:ext cx="411480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1">
                <a:solidFill>
                  <a:srgbClr val="2E7D32"/>
                </a:solidFill>
                <a:latin typeface="Microsoft YaHei"/>
              </a:defRPr>
            </a:pPr>
            <a:r>
              <a:t>06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23376" y="3054096"/>
            <a:ext cx="2569464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00" b="1">
                <a:solidFill>
                  <a:srgbClr val="0E9F9A"/>
                </a:solidFill>
                <a:latin typeface="Microsoft YaHei"/>
              </a:rPr>
              <a:t>6—7 影响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47888" y="3447287"/>
            <a:ext cx="3026664" cy="38404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00" b="0">
                <a:solidFill>
                  <a:srgbClr val="5B6F82"/>
                </a:solidFill>
                <a:latin typeface="Microsoft YaHei"/>
              </a:rPr>
              <a:t>取水、退水及环境</a:t>
            </a:r>
            <a:r>
              <a:rPr sz="1400" b="1">
                <a:solidFill>
                  <a:srgbClr val="0E9F9A"/>
                </a:solidFill>
                <a:latin typeface="Microsoft YaHei"/>
              </a:rPr>
              <a:t>风险</a:t>
            </a:r>
            <a:r>
              <a:rPr sz="1400" b="0">
                <a:solidFill>
                  <a:srgbClr val="5B6F82"/>
                </a:solidFill>
                <a:latin typeface="Microsoft YaHei"/>
              </a:rPr>
              <a:t>。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1792" y="4297680"/>
            <a:ext cx="3429000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21792" y="4297680"/>
            <a:ext cx="64008" cy="1115568"/>
          </a:xfrm>
          <a:prstGeom prst="rect">
            <a:avLst/>
          </a:prstGeom>
          <a:solidFill>
            <a:srgbClr val="0B3558"/>
          </a:solidFill>
          <a:ln w="7620">
            <a:solidFill>
              <a:srgbClr val="0B3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2960" y="4425696"/>
            <a:ext cx="411480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1">
                <a:solidFill>
                  <a:srgbClr val="0B3558"/>
                </a:solidFill>
                <a:latin typeface="Microsoft YaHei"/>
              </a:defRPr>
            </a:pPr>
            <a:r>
              <a:t>07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16736" y="4407408"/>
            <a:ext cx="2569464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00" b="1">
                <a:solidFill>
                  <a:srgbClr val="0E9F9A"/>
                </a:solidFill>
                <a:latin typeface="Microsoft YaHei"/>
              </a:rPr>
              <a:t>8 管理措施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1248" y="4800600"/>
            <a:ext cx="3026664" cy="38404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0">
                <a:solidFill>
                  <a:srgbClr val="5B6F82"/>
                </a:solidFill>
                <a:latin typeface="Microsoft YaHei"/>
              </a:defRPr>
            </a:pPr>
            <a:r>
              <a:t>节约、保护和长效管理。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325112" y="4297680"/>
            <a:ext cx="3429000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325112" y="4297680"/>
            <a:ext cx="64008" cy="1115568"/>
          </a:xfrm>
          <a:prstGeom prst="rect">
            <a:avLst/>
          </a:prstGeom>
          <a:solidFill>
            <a:srgbClr val="B64A31"/>
          </a:solidFill>
          <a:ln w="7620">
            <a:solidFill>
              <a:srgbClr val="B64A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26279" y="4425696"/>
            <a:ext cx="411480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1">
                <a:solidFill>
                  <a:srgbClr val="B64A31"/>
                </a:solidFill>
                <a:latin typeface="Microsoft YaHei"/>
              </a:defRPr>
            </a:pPr>
            <a:r>
              <a:t>08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20055" y="4407408"/>
            <a:ext cx="2569464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00" b="1">
                <a:solidFill>
                  <a:srgbClr val="0E9F9A"/>
                </a:solidFill>
                <a:latin typeface="Microsoft YaHei"/>
              </a:rPr>
              <a:t>9 结论建议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44568" y="4800600"/>
            <a:ext cx="3026664" cy="38404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0">
                <a:solidFill>
                  <a:srgbClr val="5B6F82"/>
                </a:solidFill>
                <a:latin typeface="Microsoft YaHei"/>
              </a:defRPr>
            </a:pPr>
            <a:r>
              <a:t>审批条件与后续工作。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93776" y="6419088"/>
            <a:ext cx="813816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850" b="0">
                <a:solidFill>
                  <a:srgbClr val="5B6F82"/>
                </a:solidFill>
                <a:latin typeface="Microsoft YaHei"/>
              </a:defRPr>
            </a:pPr>
            <a:r>
              <a:t>来源：报告目录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558"/>
          </a:solidFill>
          <a:ln w="7620">
            <a:solidFill>
              <a:srgbClr val="0B3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1051560"/>
            <a:ext cx="73152" cy="4480560"/>
          </a:xfrm>
          <a:prstGeom prst="rect">
            <a:avLst/>
          </a:prstGeom>
          <a:solidFill>
            <a:srgbClr val="0E9F9A"/>
          </a:solidFill>
          <a:ln w="7620">
            <a:solidFill>
              <a:srgbClr val="0E9F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9536" y="1078992"/>
            <a:ext cx="329184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700" b="1">
                <a:solidFill>
                  <a:srgbClr val="E8F2F2"/>
                </a:solidFill>
                <a:latin typeface="Microsoft YaHei"/>
              </a:defRPr>
            </a:pPr>
            <a:r>
              <a:t>CHAPTER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" y="2084831"/>
            <a:ext cx="1188720" cy="7132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57984" y="2194560"/>
            <a:ext cx="8046720" cy="58521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2900" b="1">
                <a:solidFill>
                  <a:srgbClr val="FFFFFF"/>
                </a:solidFill>
                <a:latin typeface="Microsoft YaHei"/>
              </a:defRPr>
            </a:pPr>
            <a:r>
              <a:t>总论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3054096"/>
            <a:ext cx="7863840" cy="34747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0">
                <a:solidFill>
                  <a:srgbClr val="E8F2F2"/>
                </a:solidFill>
                <a:latin typeface="Microsoft YaHei"/>
              </a:defRPr>
            </a:pPr>
            <a:r>
              <a:t>明确论证目的、任务、依据、工作等级、范围和水平年。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12848" y="3767328"/>
            <a:ext cx="2743200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500" b="1">
                <a:solidFill>
                  <a:srgbClr val="E8F2F2"/>
                </a:solidFill>
                <a:latin typeface="Microsoft YaHei"/>
              </a:defRPr>
            </a:pPr>
            <a:r>
              <a:t>第 1 章 / 共 9 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12848" y="4224528"/>
            <a:ext cx="7132320" cy="31089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500" b="0">
                <a:solidFill>
                  <a:srgbClr val="E8F2F2"/>
                </a:solidFill>
                <a:latin typeface="Microsoft YaHei"/>
              </a:defRPr>
            </a:pPr>
            <a:r>
              <a:t>本章保留报告原始证据页，并在后续页面对应表格、图件或原文段落展开。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78440" y="5815584"/>
            <a:ext cx="676656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defRPr sz="1200" b="1">
                <a:solidFill>
                  <a:srgbClr val="E8F2F2"/>
                </a:solidFill>
                <a:latin typeface="Microsoft YaHei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7620">
            <a:solidFill>
              <a:srgbClr val="F6F8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47472" y="256032"/>
            <a:ext cx="73152" cy="310896"/>
          </a:xfrm>
          <a:prstGeom prst="rect">
            <a:avLst/>
          </a:prstGeom>
          <a:solidFill>
            <a:srgbClr val="0E9F9A"/>
          </a:solidFill>
          <a:ln w="7620">
            <a:solidFill>
              <a:srgbClr val="0E9F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93776" y="219456"/>
            <a:ext cx="777240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050" b="1">
                <a:solidFill>
                  <a:srgbClr val="5B6F82"/>
                </a:solidFill>
                <a:latin typeface="Microsoft YaHei"/>
              </a:defRPr>
            </a:pPr>
            <a:r>
              <a:t>第1章 总论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" y="603504"/>
            <a:ext cx="10607040" cy="53035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2400" b="1">
                <a:solidFill>
                  <a:srgbClr val="132D46"/>
                </a:solidFill>
                <a:latin typeface="Microsoft YaHei"/>
              </a:defRPr>
            </a:pPr>
            <a:r>
              <a:t>论证任务回答“能不能取、取多少、如何管”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36224" y="301752"/>
            <a:ext cx="438912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defRPr sz="900" b="1">
                <a:solidFill>
                  <a:srgbClr val="5B6F82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7" name="Rectangle 6"/>
          <p:cNvSpPr/>
          <p:nvPr/>
        </p:nvSpPr>
        <p:spPr>
          <a:xfrm>
            <a:off x="493776" y="1097280"/>
            <a:ext cx="10881360" cy="13716"/>
          </a:xfrm>
          <a:prstGeom prst="rect">
            <a:avLst/>
          </a:prstGeom>
          <a:solidFill>
            <a:srgbClr val="C8D3D9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508760"/>
            <a:ext cx="6400800" cy="1417319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68096" y="1618488"/>
            <a:ext cx="420624" cy="310896"/>
          </a:xfrm>
          <a:prstGeom prst="rect">
            <a:avLst/>
          </a:prstGeom>
          <a:solidFill>
            <a:srgbClr val="0E9F9A"/>
          </a:solidFill>
          <a:ln w="7620">
            <a:solidFill>
              <a:srgbClr val="0E9F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664207"/>
            <a:ext cx="347472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16736" y="1581912"/>
            <a:ext cx="5614416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1">
                <a:solidFill>
                  <a:srgbClr val="132D46"/>
                </a:solidFill>
                <a:latin typeface="Microsoft YaHei"/>
              </a:defRPr>
            </a:pPr>
            <a:r>
              <a:t>确定分析范围、取水水源论证范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16736" y="1837943"/>
            <a:ext cx="5596128" cy="101498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0">
                <a:solidFill>
                  <a:srgbClr val="5B6F82"/>
                </a:solidFill>
                <a:latin typeface="Microsoft YaHei"/>
              </a:defRPr>
            </a:pPr>
            <a:r>
              <a:t>确定分析范围、取水水源论证范围和取退水影响范围。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3017520"/>
            <a:ext cx="6400800" cy="1417319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8096" y="3127248"/>
            <a:ext cx="420624" cy="310896"/>
          </a:xfrm>
          <a:prstGeom prst="rect">
            <a:avLst/>
          </a:prstGeom>
          <a:solidFill>
            <a:srgbClr val="0E9F9A"/>
          </a:solidFill>
          <a:ln w="7620">
            <a:solidFill>
              <a:srgbClr val="0E9F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172968"/>
            <a:ext cx="347472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16736" y="3090672"/>
            <a:ext cx="5614416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1">
                <a:solidFill>
                  <a:srgbClr val="132D46"/>
                </a:solidFill>
                <a:latin typeface="Microsoft YaHei"/>
              </a:defRPr>
            </a:pPr>
            <a:r>
              <a:t>评价区域水资源状况及开发利用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16736" y="3346703"/>
            <a:ext cx="5596128" cy="101498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0">
                <a:solidFill>
                  <a:srgbClr val="5B6F82"/>
                </a:solidFill>
                <a:latin typeface="Microsoft YaHei"/>
              </a:defRPr>
            </a:pPr>
            <a:r>
              <a:t>评价区域水资源状况及开发利用现状，分析取用水合理性。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4526279"/>
            <a:ext cx="6400800" cy="1417319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68096" y="4636007"/>
            <a:ext cx="420624" cy="310896"/>
          </a:xfrm>
          <a:prstGeom prst="rect">
            <a:avLst/>
          </a:prstGeom>
          <a:solidFill>
            <a:srgbClr val="0E9F9A"/>
          </a:solidFill>
          <a:ln w="7620">
            <a:solidFill>
              <a:srgbClr val="0E9F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4681727"/>
            <a:ext cx="347472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16736" y="4599431"/>
            <a:ext cx="5614416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1">
                <a:solidFill>
                  <a:srgbClr val="132D46"/>
                </a:solidFill>
                <a:latin typeface="Microsoft YaHei"/>
              </a:defRPr>
            </a:pPr>
            <a:r>
              <a:t>分析取水水源可靠性和可行性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16736" y="4855464"/>
            <a:ext cx="5596128" cy="101498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00" b="0">
                <a:solidFill>
                  <a:srgbClr val="5B6F82"/>
                </a:solidFill>
                <a:latin typeface="Microsoft YaHei"/>
              </a:rPr>
              <a:t>分析取水水源可靠性和可行性，评价取退水影响并提出保护</a:t>
            </a:r>
            <a:r>
              <a:rPr sz="1400" b="1">
                <a:solidFill>
                  <a:srgbClr val="0E9F9A"/>
                </a:solidFill>
                <a:latin typeface="Microsoft YaHei"/>
              </a:rPr>
              <a:t>措施</a:t>
            </a:r>
            <a:r>
              <a:rPr sz="1400" b="0">
                <a:solidFill>
                  <a:srgbClr val="5B6F82"/>
                </a:solidFill>
                <a:latin typeface="Microsoft YaHei"/>
              </a:rPr>
              <a:t>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24927" y="1572768"/>
            <a:ext cx="3886200" cy="877824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52944" y="1700784"/>
            <a:ext cx="3666744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800" b="1">
                <a:solidFill>
                  <a:srgbClr val="0E9F9A"/>
                </a:solidFill>
                <a:latin typeface="Microsoft YaHei"/>
              </a:defRPr>
            </a:pPr>
            <a:r>
              <a:t>二级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52944" y="2084832"/>
            <a:ext cx="3666744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0">
                <a:solidFill>
                  <a:srgbClr val="5B6F82"/>
                </a:solidFill>
                <a:latin typeface="Microsoft YaHei"/>
              </a:defRPr>
            </a:pPr>
            <a:r>
              <a:t>论证工作等级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424927" y="2743200"/>
            <a:ext cx="3886200" cy="877824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52944" y="2871216"/>
            <a:ext cx="3666744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800" b="1">
                <a:solidFill>
                  <a:srgbClr val="0E9F9A"/>
                </a:solidFill>
                <a:latin typeface="Microsoft YaHei"/>
              </a:rPr>
              <a:t>2024年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52944" y="3255264"/>
            <a:ext cx="3666744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0">
                <a:solidFill>
                  <a:srgbClr val="5B6F82"/>
                </a:solidFill>
                <a:latin typeface="Microsoft YaHei"/>
              </a:defRPr>
            </a:pPr>
            <a:r>
              <a:t>现状水平年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24927" y="3913632"/>
            <a:ext cx="3886200" cy="877824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52944" y="4041648"/>
            <a:ext cx="3666744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800" b="1">
                <a:solidFill>
                  <a:srgbClr val="0E9F9A"/>
                </a:solidFill>
                <a:latin typeface="Microsoft YaHei"/>
              </a:rPr>
              <a:t>2034年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52944" y="4425696"/>
            <a:ext cx="3666744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0">
                <a:solidFill>
                  <a:srgbClr val="5B6F82"/>
                </a:solidFill>
                <a:latin typeface="Microsoft YaHei"/>
              </a:defRPr>
            </a:pPr>
            <a:r>
              <a:t>规划水平年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3776" y="6419088"/>
            <a:ext cx="813816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850" b="0">
                <a:solidFill>
                  <a:srgbClr val="5B6F82"/>
                </a:solidFill>
                <a:latin typeface="Microsoft YaHei"/>
              </a:defRPr>
            </a:pPr>
            <a:r>
              <a:t>来源：报告1.2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7620">
            <a:solidFill>
              <a:srgbClr val="F6F8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47472" y="256032"/>
            <a:ext cx="73152" cy="310896"/>
          </a:xfrm>
          <a:prstGeom prst="rect">
            <a:avLst/>
          </a:prstGeom>
          <a:solidFill>
            <a:srgbClr val="0E9F9A"/>
          </a:solidFill>
          <a:ln w="7620">
            <a:solidFill>
              <a:srgbClr val="0E9F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93776" y="219456"/>
            <a:ext cx="777240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050" b="1">
                <a:solidFill>
                  <a:srgbClr val="5B6F82"/>
                </a:solidFill>
                <a:latin typeface="Microsoft YaHei"/>
              </a:defRPr>
            </a:pPr>
            <a:r>
              <a:t>第1章 总论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" y="603504"/>
            <a:ext cx="10607040" cy="53035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2400" b="1">
                <a:solidFill>
                  <a:srgbClr val="132D46"/>
                </a:solidFill>
                <a:latin typeface="Microsoft YaHei"/>
              </a:defRPr>
            </a:pPr>
            <a:r>
              <a:t>分析范围覆盖当阳市，水源范围聚焦坝址以上流域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36224" y="301752"/>
            <a:ext cx="438912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defRPr sz="900" b="1">
                <a:solidFill>
                  <a:srgbClr val="5B6F82"/>
                </a:solidFill>
                <a:latin typeface="Microsoft YaHei"/>
              </a:defRPr>
            </a:pPr>
            <a:r>
              <a:t>06</a:t>
            </a:r>
          </a:p>
        </p:txBody>
      </p:sp>
      <p:sp>
        <p:nvSpPr>
          <p:cNvPr id="7" name="Rectangle 6"/>
          <p:cNvSpPr/>
          <p:nvPr/>
        </p:nvSpPr>
        <p:spPr>
          <a:xfrm>
            <a:off x="493776" y="1097280"/>
            <a:ext cx="10881360" cy="13716"/>
          </a:xfrm>
          <a:prstGeom prst="rect">
            <a:avLst/>
          </a:prstGeom>
          <a:solidFill>
            <a:srgbClr val="C8D3D9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" y="1481328"/>
            <a:ext cx="6537960" cy="4443984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2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2540" y="1627632"/>
            <a:ext cx="3138174" cy="415137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7543800" y="1554480"/>
            <a:ext cx="3611880" cy="1225296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543800" y="1554480"/>
            <a:ext cx="64008" cy="1225296"/>
          </a:xfrm>
          <a:prstGeom prst="rect">
            <a:avLst/>
          </a:prstGeom>
          <a:solidFill>
            <a:srgbClr val="0E9F9A"/>
          </a:solidFill>
          <a:ln w="7620">
            <a:solidFill>
              <a:srgbClr val="0E9F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44968" y="1682495"/>
            <a:ext cx="411480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1">
                <a:solidFill>
                  <a:srgbClr val="0E9F9A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38744" y="1664207"/>
            <a:ext cx="2752344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00" b="1">
                <a:solidFill>
                  <a:srgbClr val="0E9F9A"/>
                </a:solidFill>
                <a:latin typeface="Microsoft YaHei"/>
              </a:rPr>
              <a:t>分析范围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63256" y="2057400"/>
            <a:ext cx="3209544" cy="38404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0">
                <a:solidFill>
                  <a:srgbClr val="5B6F82"/>
                </a:solidFill>
                <a:latin typeface="Microsoft YaHei"/>
              </a:defRPr>
            </a:pPr>
            <a:r>
              <a:t>当阳市行政范围。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43800" y="3017520"/>
            <a:ext cx="3611880" cy="1225296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543800" y="3017520"/>
            <a:ext cx="64008" cy="1225296"/>
          </a:xfrm>
          <a:prstGeom prst="rect">
            <a:avLst/>
          </a:prstGeom>
          <a:solidFill>
            <a:srgbClr val="2E7D32"/>
          </a:solidFill>
          <a:ln w="762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44968" y="3145536"/>
            <a:ext cx="411480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1">
                <a:solidFill>
                  <a:srgbClr val="2E7D32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38744" y="3127248"/>
            <a:ext cx="2752344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00" b="1">
                <a:solidFill>
                  <a:srgbClr val="0E9F9A"/>
                </a:solidFill>
                <a:latin typeface="Microsoft YaHei"/>
              </a:rPr>
              <a:t>水源范围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63256" y="3520439"/>
            <a:ext cx="3209544" cy="38404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0">
                <a:solidFill>
                  <a:srgbClr val="5B6F82"/>
                </a:solidFill>
                <a:latin typeface="Microsoft YaHei"/>
              </a:defRPr>
            </a:pPr>
            <a:r>
              <a:t>玉泉水库坝址以上流域。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543800" y="4480560"/>
            <a:ext cx="3611880" cy="1225296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543800" y="4480560"/>
            <a:ext cx="64008" cy="1225296"/>
          </a:xfrm>
          <a:prstGeom prst="rect">
            <a:avLst/>
          </a:prstGeom>
          <a:solidFill>
            <a:srgbClr val="B64A31"/>
          </a:solidFill>
          <a:ln w="7620">
            <a:solidFill>
              <a:srgbClr val="B64A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44968" y="4608576"/>
            <a:ext cx="411480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1">
                <a:solidFill>
                  <a:srgbClr val="B64A31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38744" y="4590288"/>
            <a:ext cx="2752344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00" b="1">
                <a:solidFill>
                  <a:srgbClr val="0E9F9A"/>
                </a:solidFill>
                <a:latin typeface="Microsoft YaHei"/>
              </a:rPr>
              <a:t>影响范围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63256" y="4983480"/>
            <a:ext cx="3209544" cy="38404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0">
                <a:solidFill>
                  <a:srgbClr val="5B6F82"/>
                </a:solidFill>
                <a:latin typeface="Microsoft YaHei"/>
              </a:defRPr>
            </a:pPr>
            <a:r>
              <a:t>取水为水库水域，退水为三村灌区。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3776" y="6419088"/>
            <a:ext cx="813816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850" b="0">
                <a:solidFill>
                  <a:srgbClr val="5B6F82"/>
                </a:solidFill>
                <a:latin typeface="Microsoft YaHei"/>
              </a:defRPr>
            </a:pPr>
            <a:r>
              <a:t>来源：报告1.4—1.5、附图一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558"/>
          </a:solidFill>
          <a:ln w="7620">
            <a:solidFill>
              <a:srgbClr val="0B3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1051560"/>
            <a:ext cx="73152" cy="4480560"/>
          </a:xfrm>
          <a:prstGeom prst="rect">
            <a:avLst/>
          </a:prstGeom>
          <a:solidFill>
            <a:srgbClr val="0E9F9A"/>
          </a:solidFill>
          <a:ln w="7620">
            <a:solidFill>
              <a:srgbClr val="0E9F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9536" y="1078992"/>
            <a:ext cx="329184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700" b="1">
                <a:solidFill>
                  <a:srgbClr val="E8F2F2"/>
                </a:solidFill>
                <a:latin typeface="Microsoft YaHei"/>
              </a:defRPr>
            </a:pPr>
            <a:r>
              <a:t>CHAPTER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" y="2084831"/>
            <a:ext cx="1188720" cy="7132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57984" y="2194560"/>
            <a:ext cx="8046720" cy="58521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2900" b="1">
                <a:solidFill>
                  <a:srgbClr val="FFFFFF"/>
                </a:solidFill>
                <a:latin typeface="Microsoft YaHei"/>
              </a:defRPr>
            </a:pPr>
            <a:r>
              <a:t>建设项目概况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3054096"/>
            <a:ext cx="7863840" cy="34747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0">
                <a:solidFill>
                  <a:srgbClr val="E8F2F2"/>
                </a:solidFill>
                <a:latin typeface="Microsoft YaHei"/>
              </a:defRPr>
            </a:pPr>
            <a:r>
              <a:t>说明工程服务对象、政策属性、取水工程和农业回归水方案。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12848" y="3767328"/>
            <a:ext cx="2743200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500" b="1">
                <a:solidFill>
                  <a:srgbClr val="E8F2F2"/>
                </a:solidFill>
                <a:latin typeface="Microsoft YaHei"/>
              </a:defRPr>
            </a:pPr>
            <a:r>
              <a:t>第 2 章 / 共 9 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12848" y="4224528"/>
            <a:ext cx="7132320" cy="31089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500" b="0">
                <a:solidFill>
                  <a:srgbClr val="E8F2F2"/>
                </a:solidFill>
                <a:latin typeface="Microsoft YaHei"/>
              </a:defRPr>
            </a:pPr>
            <a:r>
              <a:t>本章保留报告原始证据页，并在后续页面对应表格、图件或原文段落展开。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78440" y="5815584"/>
            <a:ext cx="676656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defRPr sz="1200" b="1">
                <a:solidFill>
                  <a:srgbClr val="E8F2F2"/>
                </a:solidFill>
                <a:latin typeface="Microsoft YaHei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7620">
            <a:solidFill>
              <a:srgbClr val="F6F8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47472" y="256032"/>
            <a:ext cx="73152" cy="310896"/>
          </a:xfrm>
          <a:prstGeom prst="rect">
            <a:avLst/>
          </a:prstGeom>
          <a:solidFill>
            <a:srgbClr val="0E9F9A"/>
          </a:solidFill>
          <a:ln w="7620">
            <a:solidFill>
              <a:srgbClr val="0E9F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93776" y="219456"/>
            <a:ext cx="777240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050" b="1">
                <a:solidFill>
                  <a:srgbClr val="5B6F82"/>
                </a:solidFill>
                <a:latin typeface="Microsoft YaHei"/>
              </a:defRPr>
            </a:pPr>
            <a:r>
              <a:t>第2章 项目概况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" y="603504"/>
            <a:ext cx="10607040" cy="53035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2400" b="1">
                <a:solidFill>
                  <a:srgbClr val="132D46"/>
                </a:solidFill>
                <a:latin typeface="Microsoft YaHei"/>
              </a:defRPr>
            </a:pPr>
            <a:r>
              <a:t>项目主要服务三村农业灌溉，并兼顾防洪与生态功能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36224" y="301752"/>
            <a:ext cx="438912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defRPr sz="900" b="1">
                <a:solidFill>
                  <a:srgbClr val="5B6F82"/>
                </a:solidFill>
                <a:latin typeface="Microsoft YaHei"/>
              </a:defRPr>
            </a:pPr>
            <a:r>
              <a:t>08</a:t>
            </a:r>
          </a:p>
        </p:txBody>
      </p:sp>
      <p:sp>
        <p:nvSpPr>
          <p:cNvPr id="7" name="Rectangle 6"/>
          <p:cNvSpPr/>
          <p:nvPr/>
        </p:nvSpPr>
        <p:spPr>
          <a:xfrm>
            <a:off x="493776" y="1097280"/>
            <a:ext cx="10881360" cy="13716"/>
          </a:xfrm>
          <a:prstGeom prst="rect">
            <a:avLst/>
          </a:prstGeom>
          <a:solidFill>
            <a:srgbClr val="C8D3D9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508760"/>
            <a:ext cx="6400800" cy="1417319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68096" y="1618488"/>
            <a:ext cx="420624" cy="310896"/>
          </a:xfrm>
          <a:prstGeom prst="rect">
            <a:avLst/>
          </a:prstGeom>
          <a:solidFill>
            <a:srgbClr val="0E9F9A"/>
          </a:solidFill>
          <a:ln w="7620">
            <a:solidFill>
              <a:srgbClr val="0E9F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664207"/>
            <a:ext cx="347472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16736" y="1581912"/>
            <a:ext cx="5614416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1">
                <a:solidFill>
                  <a:srgbClr val="132D46"/>
                </a:solidFill>
                <a:latin typeface="Microsoft YaHei"/>
              </a:defRPr>
            </a:pPr>
            <a:r>
              <a:t>玉泉水库位于当阳市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16736" y="1837943"/>
            <a:ext cx="5596128" cy="101498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0">
                <a:solidFill>
                  <a:srgbClr val="5B6F82"/>
                </a:solidFill>
                <a:latin typeface="Microsoft YaHei"/>
              </a:defRPr>
            </a:pPr>
            <a:r>
              <a:t>玉泉水库位于当阳市，以农业灌溉为主，兼顾防洪、生态等综合效益。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3017520"/>
            <a:ext cx="6400800" cy="1417319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8096" y="3127248"/>
            <a:ext cx="420624" cy="310896"/>
          </a:xfrm>
          <a:prstGeom prst="rect">
            <a:avLst/>
          </a:prstGeom>
          <a:solidFill>
            <a:srgbClr val="0E9F9A"/>
          </a:solidFill>
          <a:ln w="7620">
            <a:solidFill>
              <a:srgbClr val="0E9F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172968"/>
            <a:ext cx="347472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16736" y="3090672"/>
            <a:ext cx="5614416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1">
                <a:solidFill>
                  <a:srgbClr val="132D46"/>
                </a:solidFill>
                <a:latin typeface="Microsoft YaHei"/>
              </a:defRPr>
            </a:pPr>
            <a:r>
              <a:t>供水范围覆盖子龙村、合意村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16736" y="3346703"/>
            <a:ext cx="5596128" cy="101498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00" b="0">
                <a:solidFill>
                  <a:srgbClr val="5B6F82"/>
                </a:solidFill>
                <a:latin typeface="Microsoft YaHei"/>
              </a:rPr>
              <a:t>供水范围覆盖子龙村、合意村、玉泉村</a:t>
            </a:r>
            <a:r>
              <a:rPr sz="1400" b="1">
                <a:solidFill>
                  <a:srgbClr val="0E9F9A"/>
                </a:solidFill>
                <a:latin typeface="Microsoft YaHei"/>
              </a:rPr>
              <a:t>3</a:t>
            </a:r>
            <a:r>
              <a:rPr sz="1400" b="0">
                <a:solidFill>
                  <a:srgbClr val="5B6F82"/>
                </a:solidFill>
                <a:latin typeface="Microsoft YaHei"/>
              </a:rPr>
              <a:t>个行政村。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4526279"/>
            <a:ext cx="6400800" cy="1417319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68096" y="4636007"/>
            <a:ext cx="420624" cy="310896"/>
          </a:xfrm>
          <a:prstGeom prst="rect">
            <a:avLst/>
          </a:prstGeom>
          <a:solidFill>
            <a:srgbClr val="0E9F9A"/>
          </a:solidFill>
          <a:ln w="7620">
            <a:solidFill>
              <a:srgbClr val="0E9F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4681727"/>
            <a:ext cx="347472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16736" y="4599431"/>
            <a:ext cx="5614416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1">
                <a:solidFill>
                  <a:srgbClr val="132D46"/>
                </a:solidFill>
                <a:latin typeface="Microsoft YaHei"/>
              </a:defRPr>
            </a:pPr>
            <a:r>
              <a:t>水库灌区农田总面积为1762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16736" y="4855464"/>
            <a:ext cx="5596128" cy="101498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00" b="0">
                <a:solidFill>
                  <a:srgbClr val="5B6F82"/>
                </a:solidFill>
                <a:latin typeface="Microsoft YaHei"/>
              </a:rPr>
              <a:t>水库灌区农田总面积为</a:t>
            </a:r>
            <a:r>
              <a:rPr sz="1400" b="1">
                <a:solidFill>
                  <a:srgbClr val="0E9F9A"/>
                </a:solidFill>
                <a:latin typeface="Microsoft YaHei"/>
              </a:rPr>
              <a:t>17621.55</a:t>
            </a:r>
            <a:r>
              <a:rPr sz="1400" b="0">
                <a:solidFill>
                  <a:srgbClr val="5B6F82"/>
                </a:solidFill>
                <a:latin typeface="Microsoft YaHei"/>
              </a:rPr>
              <a:t>亩，主要种植水稻、油菜及蔬菜。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24927" y="1572768"/>
            <a:ext cx="3886200" cy="877824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52944" y="1700784"/>
            <a:ext cx="3666744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800" b="1">
                <a:solidFill>
                  <a:srgbClr val="0E9F9A"/>
                </a:solidFill>
                <a:latin typeface="Microsoft YaHei"/>
              </a:rPr>
              <a:t>3</a:t>
            </a:r>
            <a:r>
              <a:rPr sz="1800" b="1">
                <a:solidFill>
                  <a:srgbClr val="0E9F9A"/>
                </a:solidFill>
                <a:latin typeface="Microsoft YaHei"/>
              </a:rPr>
              <a:t>个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52944" y="2084832"/>
            <a:ext cx="3666744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0">
                <a:solidFill>
                  <a:srgbClr val="5B6F82"/>
                </a:solidFill>
                <a:latin typeface="Microsoft YaHei"/>
              </a:defRPr>
            </a:pPr>
            <a:r>
              <a:t>行政村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424927" y="2743200"/>
            <a:ext cx="3886200" cy="877824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52944" y="2871216"/>
            <a:ext cx="3666744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800" b="1">
                <a:solidFill>
                  <a:srgbClr val="0E9F9A"/>
                </a:solidFill>
                <a:latin typeface="Microsoft YaHei"/>
              </a:rPr>
              <a:t>17621.55</a:t>
            </a:r>
            <a:r>
              <a:rPr sz="1800" b="1">
                <a:solidFill>
                  <a:srgbClr val="2E7D32"/>
                </a:solidFill>
                <a:latin typeface="Microsoft YaHei"/>
              </a:rPr>
              <a:t>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52944" y="3255264"/>
            <a:ext cx="3666744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0">
                <a:solidFill>
                  <a:srgbClr val="5B6F82"/>
                </a:solidFill>
                <a:latin typeface="Microsoft YaHei"/>
              </a:defRPr>
            </a:pPr>
            <a:r>
              <a:t>农田总面积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24927" y="3913632"/>
            <a:ext cx="3886200" cy="877824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52944" y="4041648"/>
            <a:ext cx="3666744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800" b="1">
                <a:solidFill>
                  <a:srgbClr val="0B3558"/>
                </a:solidFill>
                <a:latin typeface="Microsoft YaHei"/>
              </a:defRPr>
            </a:pPr>
            <a:r>
              <a:t>农业灌溉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52944" y="4425696"/>
            <a:ext cx="3666744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0">
                <a:solidFill>
                  <a:srgbClr val="5B6F82"/>
                </a:solidFill>
                <a:latin typeface="Microsoft YaHei"/>
              </a:defRPr>
            </a:pPr>
            <a:r>
              <a:t>主要供水任务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3776" y="6419088"/>
            <a:ext cx="813816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850" b="0">
                <a:solidFill>
                  <a:srgbClr val="5B6F82"/>
                </a:solidFill>
                <a:latin typeface="Microsoft YaHei"/>
              </a:defRPr>
            </a:pPr>
            <a:r>
              <a:t>来源：报告2.1、基本情况表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7620">
            <a:solidFill>
              <a:srgbClr val="F6F8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47472" y="256032"/>
            <a:ext cx="73152" cy="310896"/>
          </a:xfrm>
          <a:prstGeom prst="rect">
            <a:avLst/>
          </a:prstGeom>
          <a:solidFill>
            <a:srgbClr val="0E9F9A"/>
          </a:solidFill>
          <a:ln w="7620">
            <a:solidFill>
              <a:srgbClr val="0E9F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93776" y="219456"/>
            <a:ext cx="777240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050" b="1">
                <a:solidFill>
                  <a:srgbClr val="5B6F82"/>
                </a:solidFill>
                <a:latin typeface="Microsoft YaHei"/>
              </a:defRPr>
            </a:pPr>
            <a:r>
              <a:t>第2章 项目概况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" y="603504"/>
            <a:ext cx="10607040" cy="53035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2400" b="1">
                <a:solidFill>
                  <a:srgbClr val="132D46"/>
                </a:solidFill>
                <a:latin typeface="Microsoft YaHei"/>
              </a:defRPr>
            </a:pPr>
            <a:r>
              <a:t>取水依托既有闸渠系统，退水属于农业回归水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36224" y="301752"/>
            <a:ext cx="438912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defRPr sz="900" b="1">
                <a:solidFill>
                  <a:srgbClr val="5B6F82"/>
                </a:solidFill>
                <a:latin typeface="Microsoft YaHei"/>
              </a:defRPr>
            </a:pPr>
            <a:r>
              <a:t>09</a:t>
            </a:r>
          </a:p>
        </p:txBody>
      </p:sp>
      <p:sp>
        <p:nvSpPr>
          <p:cNvPr id="7" name="Rectangle 6"/>
          <p:cNvSpPr/>
          <p:nvPr/>
        </p:nvSpPr>
        <p:spPr>
          <a:xfrm>
            <a:off x="493776" y="1097280"/>
            <a:ext cx="10881360" cy="13716"/>
          </a:xfrm>
          <a:prstGeom prst="rect">
            <a:avLst/>
          </a:prstGeom>
          <a:solidFill>
            <a:srgbClr val="C8D3D9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508760"/>
            <a:ext cx="6400800" cy="1417319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68096" y="1618488"/>
            <a:ext cx="420624" cy="310896"/>
          </a:xfrm>
          <a:prstGeom prst="rect">
            <a:avLst/>
          </a:prstGeom>
          <a:solidFill>
            <a:srgbClr val="0E9F9A"/>
          </a:solidFill>
          <a:ln w="7620">
            <a:solidFill>
              <a:srgbClr val="0E9F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664207"/>
            <a:ext cx="347472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16736" y="1581912"/>
            <a:ext cx="5614416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1">
                <a:solidFill>
                  <a:srgbClr val="132D46"/>
                </a:solidFill>
                <a:latin typeface="Microsoft YaHei"/>
              </a:defRPr>
            </a:pPr>
            <a:r>
              <a:t>取水口位于玉泉水库坝址处节制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16736" y="1837943"/>
            <a:ext cx="5596128" cy="101498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0">
                <a:solidFill>
                  <a:srgbClr val="5B6F82"/>
                </a:solidFill>
                <a:latin typeface="Microsoft YaHei"/>
              </a:defRPr>
            </a:pPr>
            <a:r>
              <a:t>取水口位于玉泉水库坝址处节制闸，水源通过既有引水闸和干支渠进入灌区。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3017520"/>
            <a:ext cx="6400800" cy="1417319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8096" y="3127248"/>
            <a:ext cx="420624" cy="310896"/>
          </a:xfrm>
          <a:prstGeom prst="rect">
            <a:avLst/>
          </a:prstGeom>
          <a:solidFill>
            <a:srgbClr val="0E9F9A"/>
          </a:solidFill>
          <a:ln w="7620">
            <a:solidFill>
              <a:srgbClr val="0E9F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172968"/>
            <a:ext cx="347472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16736" y="3090672"/>
            <a:ext cx="5614416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1">
                <a:solidFill>
                  <a:srgbClr val="132D46"/>
                </a:solidFill>
                <a:latin typeface="Microsoft YaHei"/>
              </a:defRPr>
            </a:pPr>
            <a:r>
              <a:t>日最大取水量为7.02万m3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16736" y="3346703"/>
            <a:ext cx="5596128" cy="101498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00" b="0">
                <a:solidFill>
                  <a:srgbClr val="5B6F82"/>
                </a:solidFill>
                <a:latin typeface="Microsoft YaHei"/>
              </a:rPr>
              <a:t>日最大取水量为</a:t>
            </a:r>
            <a:r>
              <a:rPr sz="1400" b="1">
                <a:solidFill>
                  <a:srgbClr val="0E9F9A"/>
                </a:solidFill>
                <a:latin typeface="Microsoft YaHei"/>
              </a:rPr>
              <a:t>7.02万m3</a:t>
            </a:r>
            <a:r>
              <a:rPr sz="1400" b="0">
                <a:solidFill>
                  <a:srgbClr val="5B6F82"/>
                </a:solidFill>
                <a:latin typeface="Microsoft YaHei"/>
              </a:rPr>
              <a:t>，年申请取水量为</a:t>
            </a:r>
            <a:r>
              <a:rPr sz="1400" b="1">
                <a:solidFill>
                  <a:srgbClr val="0E9F9A"/>
                </a:solidFill>
                <a:latin typeface="Microsoft YaHei"/>
              </a:rPr>
              <a:t>750万m3</a:t>
            </a:r>
            <a:r>
              <a:rPr sz="1400" b="0">
                <a:solidFill>
                  <a:srgbClr val="5B6F82"/>
                </a:solidFill>
                <a:latin typeface="Microsoft YaHei"/>
              </a:rPr>
              <a:t>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4526279"/>
            <a:ext cx="6400800" cy="1417319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68096" y="4636007"/>
            <a:ext cx="420624" cy="310896"/>
          </a:xfrm>
          <a:prstGeom prst="rect">
            <a:avLst/>
          </a:prstGeom>
          <a:solidFill>
            <a:srgbClr val="0E9F9A"/>
          </a:solidFill>
          <a:ln w="7620">
            <a:solidFill>
              <a:srgbClr val="0E9F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4681727"/>
            <a:ext cx="347472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16736" y="4599431"/>
            <a:ext cx="5614416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1">
                <a:solidFill>
                  <a:srgbClr val="132D46"/>
                </a:solidFill>
                <a:latin typeface="Microsoft YaHei"/>
              </a:defRPr>
            </a:pPr>
            <a:r>
              <a:t>农业灌溉回归水按供水量20%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16736" y="4855464"/>
            <a:ext cx="5596128" cy="101498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00" b="0">
                <a:solidFill>
                  <a:srgbClr val="5B6F82"/>
                </a:solidFill>
                <a:latin typeface="Microsoft YaHei"/>
              </a:rPr>
              <a:t>农业灌溉回归水按供水量</a:t>
            </a:r>
            <a:r>
              <a:rPr sz="1400" b="1">
                <a:solidFill>
                  <a:srgbClr val="0E9F9A"/>
                </a:solidFill>
                <a:latin typeface="Microsoft YaHei"/>
              </a:rPr>
              <a:t>20%</a:t>
            </a:r>
            <a:r>
              <a:rPr sz="1400" b="0">
                <a:solidFill>
                  <a:srgbClr val="5B6F82"/>
                </a:solidFill>
                <a:latin typeface="Microsoft YaHei"/>
              </a:rPr>
              <a:t>计算，年退水量为</a:t>
            </a:r>
            <a:r>
              <a:rPr sz="1400" b="1">
                <a:solidFill>
                  <a:srgbClr val="0E9F9A"/>
                </a:solidFill>
                <a:latin typeface="Microsoft YaHei"/>
              </a:rPr>
              <a:t>150万m3</a:t>
            </a:r>
            <a:r>
              <a:rPr sz="1400" b="0">
                <a:solidFill>
                  <a:srgbClr val="5B6F82"/>
                </a:solidFill>
                <a:latin typeface="Microsoft YaHei"/>
              </a:rPr>
              <a:t>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24927" y="1572768"/>
            <a:ext cx="3886200" cy="877824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52944" y="1700784"/>
            <a:ext cx="3666744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800" b="1">
                <a:solidFill>
                  <a:srgbClr val="0E9F9A"/>
                </a:solidFill>
                <a:latin typeface="Microsoft YaHei"/>
              </a:rPr>
              <a:t>0.81m3</a:t>
            </a:r>
            <a:r>
              <a:rPr sz="1800" b="1">
                <a:solidFill>
                  <a:srgbClr val="0B3558"/>
                </a:solidFill>
                <a:latin typeface="Microsoft YaHei"/>
              </a:rPr>
              <a:t>/s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52944" y="2084832"/>
            <a:ext cx="3666744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0">
                <a:solidFill>
                  <a:srgbClr val="5B6F82"/>
                </a:solidFill>
                <a:latin typeface="Microsoft YaHei"/>
              </a:defRPr>
            </a:pPr>
            <a:r>
              <a:t>最大取水流量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424927" y="2743200"/>
            <a:ext cx="3886200" cy="877824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52944" y="2871216"/>
            <a:ext cx="3666744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800" b="1">
                <a:solidFill>
                  <a:srgbClr val="0E9F9A"/>
                </a:solidFill>
                <a:latin typeface="Microsoft YaHei"/>
              </a:rPr>
              <a:t>7.02万m3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52944" y="3255264"/>
            <a:ext cx="3666744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0">
                <a:solidFill>
                  <a:srgbClr val="5B6F82"/>
                </a:solidFill>
                <a:latin typeface="Microsoft YaHei"/>
              </a:defRPr>
            </a:pPr>
            <a:r>
              <a:t>日最大取水量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24927" y="3913632"/>
            <a:ext cx="3886200" cy="877824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52944" y="4041648"/>
            <a:ext cx="3666744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800" b="1">
                <a:solidFill>
                  <a:srgbClr val="0E9F9A"/>
                </a:solidFill>
                <a:latin typeface="Microsoft YaHei"/>
              </a:rPr>
              <a:t>150万m3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52944" y="4425696"/>
            <a:ext cx="3666744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0">
                <a:solidFill>
                  <a:srgbClr val="5B6F82"/>
                </a:solidFill>
                <a:latin typeface="Microsoft YaHei"/>
              </a:defRPr>
            </a:pPr>
            <a:r>
              <a:t>年退水量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3776" y="6419088"/>
            <a:ext cx="813816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850" b="0">
                <a:solidFill>
                  <a:srgbClr val="5B6F82"/>
                </a:solidFill>
                <a:latin typeface="Microsoft YaHei"/>
              </a:defRPr>
            </a:pPr>
            <a:r>
              <a:t>来源：报告2.3—2.4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558"/>
          </a:solidFill>
          <a:ln w="7620">
            <a:solidFill>
              <a:srgbClr val="0B3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1051560"/>
            <a:ext cx="73152" cy="4480560"/>
          </a:xfrm>
          <a:prstGeom prst="rect">
            <a:avLst/>
          </a:prstGeom>
          <a:solidFill>
            <a:srgbClr val="0E9F9A"/>
          </a:solidFill>
          <a:ln w="7620">
            <a:solidFill>
              <a:srgbClr val="0E9F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9536" y="1078992"/>
            <a:ext cx="329184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700" b="1">
                <a:solidFill>
                  <a:srgbClr val="E8F2F2"/>
                </a:solidFill>
                <a:latin typeface="Microsoft YaHei"/>
              </a:defRPr>
            </a:pPr>
            <a:r>
              <a:t>CHAPTER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" y="2084831"/>
            <a:ext cx="1188720" cy="7132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57984" y="2194560"/>
            <a:ext cx="8046720" cy="58521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2900" b="1">
                <a:solidFill>
                  <a:srgbClr val="FFFFFF"/>
                </a:solidFill>
                <a:latin typeface="Microsoft YaHei"/>
              </a:defRPr>
            </a:pPr>
            <a:r>
              <a:t>水资源及其开发利用状况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3054096"/>
            <a:ext cx="7863840" cy="34747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0">
                <a:solidFill>
                  <a:srgbClr val="E8F2F2"/>
                </a:solidFill>
                <a:latin typeface="Microsoft YaHei"/>
              </a:defRPr>
            </a:pPr>
            <a:r>
              <a:t>从区域资源禀赋、供水工程、用水结构和总量控制审视项目条件。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12848" y="3767328"/>
            <a:ext cx="2743200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500" b="1">
                <a:solidFill>
                  <a:srgbClr val="E8F2F2"/>
                </a:solidFill>
                <a:latin typeface="Microsoft YaHei"/>
              </a:defRPr>
            </a:pPr>
            <a:r>
              <a:t>第 3 章 / 共 9 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12848" y="4224528"/>
            <a:ext cx="7132320" cy="31089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500" b="0">
                <a:solidFill>
                  <a:srgbClr val="E8F2F2"/>
                </a:solidFill>
                <a:latin typeface="Microsoft YaHei"/>
              </a:defRPr>
            </a:pPr>
            <a:r>
              <a:t>本章保留报告原始证据页，并在后续页面对应表格、图件或原文段落展开。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78440" y="5815584"/>
            <a:ext cx="676656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defRPr sz="1200" b="1">
                <a:solidFill>
                  <a:srgbClr val="E8F2F2"/>
                </a:solidFill>
                <a:latin typeface="Microsoft YaHei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7620">
            <a:solidFill>
              <a:srgbClr val="F6F8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47472" y="256032"/>
            <a:ext cx="73152" cy="310896"/>
          </a:xfrm>
          <a:prstGeom prst="rect">
            <a:avLst/>
          </a:prstGeom>
          <a:solidFill>
            <a:srgbClr val="0E9F9A"/>
          </a:solidFill>
          <a:ln w="7620">
            <a:solidFill>
              <a:srgbClr val="0E9F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93776" y="219456"/>
            <a:ext cx="777240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050" b="1">
                <a:solidFill>
                  <a:srgbClr val="5B6F82"/>
                </a:solidFill>
                <a:latin typeface="Microsoft YaHei"/>
              </a:defRPr>
            </a:pPr>
            <a:r>
              <a:t>第3章 区域背景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" y="603504"/>
            <a:ext cx="10607040" cy="53035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2400" b="1">
                <a:solidFill>
                  <a:srgbClr val="132D46"/>
                </a:solidFill>
                <a:latin typeface="Microsoft YaHei"/>
              </a:defRPr>
            </a:pPr>
            <a:r>
              <a:t>玉泉水库位于沮漳河流域玉泉河中游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36224" y="301752"/>
            <a:ext cx="438912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defRPr sz="900" b="1">
                <a:solidFill>
                  <a:srgbClr val="5B6F82"/>
                </a:solidFill>
                <a:latin typeface="Microsoft YaHei"/>
              </a:defRPr>
            </a:pPr>
            <a:r>
              <a:t>11</a:t>
            </a:r>
          </a:p>
        </p:txBody>
      </p:sp>
      <p:sp>
        <p:nvSpPr>
          <p:cNvPr id="7" name="Rectangle 6"/>
          <p:cNvSpPr/>
          <p:nvPr/>
        </p:nvSpPr>
        <p:spPr>
          <a:xfrm>
            <a:off x="493776" y="1097280"/>
            <a:ext cx="10881360" cy="13716"/>
          </a:xfrm>
          <a:prstGeom prst="rect">
            <a:avLst/>
          </a:prstGeom>
          <a:solidFill>
            <a:srgbClr val="C8D3D9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" y="1481328"/>
            <a:ext cx="6537960" cy="4443984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9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390" y="1627632"/>
            <a:ext cx="5866474" cy="415137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7543800" y="1554480"/>
            <a:ext cx="3611880" cy="1225296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543800" y="1554480"/>
            <a:ext cx="64008" cy="1225296"/>
          </a:xfrm>
          <a:prstGeom prst="rect">
            <a:avLst/>
          </a:prstGeom>
          <a:solidFill>
            <a:srgbClr val="0E9F9A"/>
          </a:solidFill>
          <a:ln w="7620">
            <a:solidFill>
              <a:srgbClr val="0E9F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44968" y="1682495"/>
            <a:ext cx="411480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1">
                <a:solidFill>
                  <a:srgbClr val="0E9F9A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38744" y="1664207"/>
            <a:ext cx="2752344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00" b="1">
                <a:solidFill>
                  <a:srgbClr val="0E9F9A"/>
                </a:solidFill>
                <a:latin typeface="Microsoft YaHei"/>
              </a:rPr>
              <a:t>流域关系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63256" y="2057400"/>
            <a:ext cx="3209544" cy="38404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0">
                <a:solidFill>
                  <a:srgbClr val="5B6F82"/>
                </a:solidFill>
                <a:latin typeface="Microsoft YaHei"/>
              </a:defRPr>
            </a:pPr>
            <a:r>
              <a:t>沮河一级支流玉泉河中游。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43800" y="3017520"/>
            <a:ext cx="3611880" cy="1225296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543800" y="3017520"/>
            <a:ext cx="64008" cy="1225296"/>
          </a:xfrm>
          <a:prstGeom prst="rect">
            <a:avLst/>
          </a:prstGeom>
          <a:solidFill>
            <a:srgbClr val="2E7D32"/>
          </a:solidFill>
          <a:ln w="762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44968" y="3145536"/>
            <a:ext cx="411480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1">
                <a:solidFill>
                  <a:srgbClr val="2E7D32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38744" y="3127248"/>
            <a:ext cx="2752344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00" b="1">
                <a:solidFill>
                  <a:srgbClr val="0E9F9A"/>
                </a:solidFill>
                <a:latin typeface="Microsoft YaHei"/>
              </a:rPr>
              <a:t>汇水面积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63256" y="3520439"/>
            <a:ext cx="3209544" cy="38404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00" b="0">
                <a:solidFill>
                  <a:srgbClr val="5B6F82"/>
                </a:solidFill>
                <a:latin typeface="Microsoft YaHei"/>
              </a:rPr>
              <a:t>坝址以上自然汇水面积</a:t>
            </a:r>
            <a:r>
              <a:rPr sz="1400" b="1">
                <a:solidFill>
                  <a:srgbClr val="0E9F9A"/>
                </a:solidFill>
                <a:latin typeface="Microsoft YaHei"/>
              </a:rPr>
              <a:t>4.00km2</a:t>
            </a:r>
            <a:r>
              <a:rPr sz="1400" b="0">
                <a:solidFill>
                  <a:srgbClr val="5B6F82"/>
                </a:solidFill>
                <a:latin typeface="Microsoft YaHei"/>
              </a:rPr>
              <a:t>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543800" y="4480560"/>
            <a:ext cx="3611880" cy="1225296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543800" y="4480560"/>
            <a:ext cx="64008" cy="1225296"/>
          </a:xfrm>
          <a:prstGeom prst="rect">
            <a:avLst/>
          </a:prstGeom>
          <a:solidFill>
            <a:srgbClr val="0B3558"/>
          </a:solidFill>
          <a:ln w="7620">
            <a:solidFill>
              <a:srgbClr val="0B3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44968" y="4608576"/>
            <a:ext cx="411480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1">
                <a:solidFill>
                  <a:srgbClr val="0B3558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38744" y="4590288"/>
            <a:ext cx="2752344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00" b="1">
                <a:solidFill>
                  <a:srgbClr val="0E9F9A"/>
                </a:solidFill>
                <a:latin typeface="Microsoft YaHei"/>
              </a:rPr>
              <a:t>工程角色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63256" y="4983480"/>
            <a:ext cx="3209544" cy="38404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0">
                <a:solidFill>
                  <a:srgbClr val="5B6F82"/>
                </a:solidFill>
                <a:latin typeface="Microsoft YaHei"/>
              </a:defRPr>
            </a:pPr>
            <a:r>
              <a:t>丘岗区农业灌溉调蓄节点。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3776" y="6419088"/>
            <a:ext cx="813816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850" b="0">
                <a:solidFill>
                  <a:srgbClr val="5B6F82"/>
                </a:solidFill>
                <a:latin typeface="Microsoft YaHei"/>
              </a:defRPr>
            </a:pPr>
            <a:r>
              <a:t>来源：报告图3.1-1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7620">
            <a:solidFill>
              <a:srgbClr val="F6F8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47472" y="256032"/>
            <a:ext cx="73152" cy="310896"/>
          </a:xfrm>
          <a:prstGeom prst="rect">
            <a:avLst/>
          </a:prstGeom>
          <a:solidFill>
            <a:srgbClr val="0E9F9A"/>
          </a:solidFill>
          <a:ln w="7620">
            <a:solidFill>
              <a:srgbClr val="0E9F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93776" y="219456"/>
            <a:ext cx="777240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050" b="1">
                <a:solidFill>
                  <a:srgbClr val="5B6F82"/>
                </a:solidFill>
                <a:latin typeface="Microsoft YaHei"/>
              </a:defRPr>
            </a:pPr>
            <a:r>
              <a:t>第3章 区域背景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" y="603504"/>
            <a:ext cx="10607040" cy="53035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2400" b="1">
                <a:solidFill>
                  <a:srgbClr val="0E9F9A"/>
                </a:solidFill>
                <a:latin typeface="Microsoft YaHei"/>
              </a:rPr>
              <a:t>2019年</a:t>
            </a:r>
            <a:r>
              <a:rPr sz="2400" b="1">
                <a:solidFill>
                  <a:srgbClr val="132D46"/>
                </a:solidFill>
                <a:latin typeface="Microsoft YaHei"/>
              </a:rPr>
              <a:t>和</a:t>
            </a:r>
            <a:r>
              <a:rPr sz="2400" b="1">
                <a:solidFill>
                  <a:srgbClr val="0E9F9A"/>
                </a:solidFill>
                <a:latin typeface="Microsoft YaHei"/>
              </a:rPr>
              <a:t>2024年</a:t>
            </a:r>
            <a:r>
              <a:rPr sz="2400" b="1">
                <a:solidFill>
                  <a:srgbClr val="132D46"/>
                </a:solidFill>
                <a:latin typeface="Microsoft YaHei"/>
              </a:rPr>
              <a:t>水资源总量处于近十年低位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36224" y="301752"/>
            <a:ext cx="438912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defRPr sz="900" b="1">
                <a:solidFill>
                  <a:srgbClr val="5B6F82"/>
                </a:solidFill>
                <a:latin typeface="Microsoft YaHei"/>
              </a:defRPr>
            </a:pPr>
            <a:r>
              <a:t>12</a:t>
            </a:r>
          </a:p>
        </p:txBody>
      </p:sp>
      <p:sp>
        <p:nvSpPr>
          <p:cNvPr id="7" name="Rectangle 6"/>
          <p:cNvSpPr/>
          <p:nvPr/>
        </p:nvSpPr>
        <p:spPr>
          <a:xfrm>
            <a:off x="493776" y="1097280"/>
            <a:ext cx="10881360" cy="13716"/>
          </a:xfrm>
          <a:prstGeom prst="rect">
            <a:avLst/>
          </a:prstGeom>
          <a:solidFill>
            <a:srgbClr val="C8D3D9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1792" y="1554480"/>
          <a:ext cx="662940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</a:tblGrid>
              <a:tr h="107442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年份</a:t>
                      </a:r>
                    </a:p>
                  </a:txBody>
                  <a:tcPr anchor="ctr" marL="36576" marR="36576" marT="18288" marB="18288">
                    <a:solidFill>
                      <a:srgbClr val="E8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年降水量(亿m3)</a:t>
                      </a:r>
                    </a:p>
                  </a:txBody>
                  <a:tcPr anchor="ctr" marL="36576" marR="36576" marT="18288" marB="18288">
                    <a:solidFill>
                      <a:srgbClr val="E8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地表水(亿m3)</a:t>
                      </a:r>
                    </a:p>
                  </a:txBody>
                  <a:tcPr anchor="ctr" marL="36576" marR="36576" marT="18288" marB="18288">
                    <a:solidFill>
                      <a:srgbClr val="E8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地下水(亿m3)</a:t>
                      </a:r>
                    </a:p>
                  </a:txBody>
                  <a:tcPr anchor="ctr" marL="36576" marR="36576" marT="18288" marB="18288">
                    <a:solidFill>
                      <a:srgbClr val="E8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总量(亿m3)</a:t>
                      </a:r>
                    </a:p>
                  </a:txBody>
                  <a:tcPr anchor="ctr" marL="36576" marR="36576" marT="18288" marB="18288">
                    <a:solidFill>
                      <a:srgbClr val="E8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产水系数</a:t>
                      </a:r>
                    </a:p>
                  </a:txBody>
                  <a:tcPr anchor="ctr" marL="36576" marR="36576" marT="18288" marB="18288">
                    <a:solidFill>
                      <a:srgbClr val="E8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产水模数(万m3/km2)</a:t>
                      </a:r>
                    </a:p>
                  </a:txBody>
                  <a:tcPr anchor="ctr" marL="36576" marR="36576" marT="18288" marB="18288">
                    <a:solidFill>
                      <a:srgbClr val="E8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径流深(mm)</a:t>
                      </a:r>
                    </a:p>
                  </a:txBody>
                  <a:tcPr anchor="ctr" marL="36576" marR="36576" marT="18288" marB="18288">
                    <a:solidFill>
                      <a:srgbClr val="E8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与上年比较(%)</a:t>
                      </a:r>
                    </a:p>
                  </a:txBody>
                  <a:tcPr anchor="ctr" marL="36576" marR="36576" marT="18288" marB="18288">
                    <a:solidFill>
                      <a:srgbClr val="E8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与多年平均值比较(%)</a:t>
                      </a:r>
                    </a:p>
                  </a:txBody>
                  <a:tcPr anchor="ctr" marL="36576" marR="36576" marT="18288" marB="18288">
                    <a:solidFill>
                      <a:srgbClr val="E8F2F2"/>
                    </a:solidFill>
                  </a:tcPr>
                </a:tc>
              </a:tr>
              <a:tr h="107442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2019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15.77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2.60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1.69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2.81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0.18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13.2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122.1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-70.4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-64.0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  <a:tr h="107442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2020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30.86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14.50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3.68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14.61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0.47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68.7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681.6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458.2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162.4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  <a:tr h="107442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2024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14.33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2.66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1.06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2.83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0.20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13.3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125.2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-54.0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-51.8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7543800" y="1554480"/>
            <a:ext cx="3611880" cy="1298448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543800" y="1554480"/>
            <a:ext cx="64008" cy="1298448"/>
          </a:xfrm>
          <a:prstGeom prst="rect">
            <a:avLst/>
          </a:prstGeom>
          <a:solidFill>
            <a:srgbClr val="B64A31"/>
          </a:solidFill>
          <a:ln w="7620">
            <a:solidFill>
              <a:srgbClr val="B64A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44968" y="1682495"/>
            <a:ext cx="411480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1">
                <a:solidFill>
                  <a:srgbClr val="B64A31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38744" y="1664207"/>
            <a:ext cx="2752344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00" b="1">
                <a:solidFill>
                  <a:srgbClr val="0E9F9A"/>
                </a:solidFill>
                <a:latin typeface="Microsoft YaHei"/>
              </a:rPr>
              <a:t>年际波动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63256" y="2057400"/>
            <a:ext cx="3209544" cy="38404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00" b="0">
                <a:solidFill>
                  <a:srgbClr val="5B6F82"/>
                </a:solidFill>
                <a:latin typeface="Microsoft YaHei"/>
              </a:rPr>
              <a:t>丰枯差异显著，</a:t>
            </a:r>
            <a:r>
              <a:rPr sz="1400" b="1">
                <a:solidFill>
                  <a:srgbClr val="0E9F9A"/>
                </a:solidFill>
                <a:latin typeface="Microsoft YaHei"/>
              </a:rPr>
              <a:t>2024年</a:t>
            </a:r>
            <a:r>
              <a:rPr sz="1400" b="0">
                <a:solidFill>
                  <a:srgbClr val="5B6F82"/>
                </a:solidFill>
                <a:latin typeface="Microsoft YaHei"/>
              </a:rPr>
              <a:t>接近近十年低位。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543800" y="3090672"/>
            <a:ext cx="3611880" cy="1298448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543800" y="3090672"/>
            <a:ext cx="64008" cy="1298448"/>
          </a:xfrm>
          <a:prstGeom prst="rect">
            <a:avLst/>
          </a:prstGeom>
          <a:solidFill>
            <a:srgbClr val="0E9F9A"/>
          </a:solidFill>
          <a:ln w="7620">
            <a:solidFill>
              <a:srgbClr val="0E9F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44968" y="3218688"/>
            <a:ext cx="411480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1">
                <a:solidFill>
                  <a:srgbClr val="0E9F9A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38744" y="3200400"/>
            <a:ext cx="2752344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00" b="1">
                <a:solidFill>
                  <a:srgbClr val="0E9F9A"/>
                </a:solidFill>
                <a:latin typeface="Microsoft YaHei"/>
              </a:rPr>
              <a:t>工程含义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63256" y="3593591"/>
            <a:ext cx="3209544" cy="38404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0">
                <a:solidFill>
                  <a:srgbClr val="5B6F82"/>
                </a:solidFill>
                <a:latin typeface="Microsoft YaHei"/>
              </a:defRPr>
            </a:pPr>
            <a:r>
              <a:t>枯水年更依赖水库调蓄和外调补源。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6" y="6419088"/>
            <a:ext cx="813816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850" b="0">
                <a:solidFill>
                  <a:srgbClr val="5B6F82"/>
                </a:solidFill>
                <a:latin typeface="Microsoft YaHei"/>
              </a:defRPr>
            </a:pPr>
            <a:r>
              <a:t>来源：报告表3.2-1节选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7620">
            <a:solidFill>
              <a:srgbClr val="F6F8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47472" y="256032"/>
            <a:ext cx="73152" cy="310896"/>
          </a:xfrm>
          <a:prstGeom prst="rect">
            <a:avLst/>
          </a:prstGeom>
          <a:solidFill>
            <a:srgbClr val="0E9F9A"/>
          </a:solidFill>
          <a:ln w="7620">
            <a:solidFill>
              <a:srgbClr val="0E9F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93776" y="219456"/>
            <a:ext cx="777240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050" b="1">
                <a:solidFill>
                  <a:srgbClr val="5B6F82"/>
                </a:solidFill>
                <a:latin typeface="Microsoft YaHei"/>
              </a:defRPr>
            </a:pPr>
            <a:r>
              <a:t>第3章 区域背景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" y="603504"/>
            <a:ext cx="10607040" cy="53035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2400" b="1">
                <a:solidFill>
                  <a:srgbClr val="132D46"/>
                </a:solidFill>
                <a:latin typeface="Microsoft YaHei"/>
              </a:defRPr>
            </a:pPr>
            <a:r>
              <a:t>农业用水占比最高，是节水与配置优化主战场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36224" y="301752"/>
            <a:ext cx="438912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defRPr sz="900" b="1">
                <a:solidFill>
                  <a:srgbClr val="5B6F82"/>
                </a:solidFill>
                <a:latin typeface="Microsoft YaHei"/>
              </a:defRPr>
            </a:pPr>
            <a:r>
              <a:t>13</a:t>
            </a:r>
          </a:p>
        </p:txBody>
      </p:sp>
      <p:sp>
        <p:nvSpPr>
          <p:cNvPr id="7" name="Rectangle 6"/>
          <p:cNvSpPr/>
          <p:nvPr/>
        </p:nvSpPr>
        <p:spPr>
          <a:xfrm>
            <a:off x="493776" y="1097280"/>
            <a:ext cx="10881360" cy="13716"/>
          </a:xfrm>
          <a:prstGeom prst="rect">
            <a:avLst/>
          </a:prstGeom>
          <a:solidFill>
            <a:srgbClr val="C8D3D9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1792" y="1554480"/>
          <a:ext cx="662940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9800"/>
                <a:gridCol w="2209800"/>
                <a:gridCol w="2209800"/>
              </a:tblGrid>
              <a:tr h="107442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用水类别</a:t>
                      </a:r>
                    </a:p>
                  </a:txBody>
                  <a:tcPr anchor="ctr" marL="36576" marR="36576" marT="18288" marB="18288">
                    <a:solidFill>
                      <a:srgbClr val="E8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用水量 亿m3</a:t>
                      </a:r>
                    </a:p>
                  </a:txBody>
                  <a:tcPr anchor="ctr" marL="36576" marR="36576" marT="18288" marB="18288">
                    <a:solidFill>
                      <a:srgbClr val="E8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占比</a:t>
                      </a:r>
                    </a:p>
                  </a:txBody>
                  <a:tcPr anchor="ctr" marL="36576" marR="36576" marT="18288" marB="18288">
                    <a:solidFill>
                      <a:srgbClr val="E8F2F2"/>
                    </a:solidFill>
                  </a:tcPr>
                </a:tc>
              </a:tr>
              <a:tr h="107442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农业用水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2.550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74.06%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  <a:tr h="107442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生活用水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0.538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15.62%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  <a:tr h="107442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工业用水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0.356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10.34%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7543800" y="1554480"/>
            <a:ext cx="3611880" cy="1298448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543800" y="1554480"/>
            <a:ext cx="64008" cy="1298448"/>
          </a:xfrm>
          <a:prstGeom prst="rect">
            <a:avLst/>
          </a:prstGeom>
          <a:solidFill>
            <a:srgbClr val="2E7D32"/>
          </a:solidFill>
          <a:ln w="762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44968" y="1682495"/>
            <a:ext cx="411480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1">
                <a:solidFill>
                  <a:srgbClr val="2E7D32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38744" y="1664207"/>
            <a:ext cx="2752344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00" b="1">
                <a:solidFill>
                  <a:srgbClr val="0E9F9A"/>
                </a:solidFill>
                <a:latin typeface="Microsoft YaHei"/>
              </a:rPr>
              <a:t>农业主导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63256" y="2057400"/>
            <a:ext cx="3209544" cy="38404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0">
                <a:solidFill>
                  <a:srgbClr val="5B6F82"/>
                </a:solidFill>
                <a:latin typeface="Microsoft YaHei"/>
              </a:defRPr>
            </a:pPr>
            <a:r>
              <a:t>农业用水占全市用水量近四分之三。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543800" y="3090672"/>
            <a:ext cx="3611880" cy="1298448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543800" y="3090672"/>
            <a:ext cx="64008" cy="1298448"/>
          </a:xfrm>
          <a:prstGeom prst="rect">
            <a:avLst/>
          </a:prstGeom>
          <a:solidFill>
            <a:srgbClr val="0B3558"/>
          </a:solidFill>
          <a:ln w="7620">
            <a:solidFill>
              <a:srgbClr val="0B3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44968" y="3218688"/>
            <a:ext cx="411480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1">
                <a:solidFill>
                  <a:srgbClr val="0B3558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38744" y="3200400"/>
            <a:ext cx="2752344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00" b="1">
                <a:solidFill>
                  <a:srgbClr val="0E9F9A"/>
                </a:solidFill>
                <a:latin typeface="Microsoft YaHei"/>
              </a:rPr>
              <a:t>管理方向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63256" y="3593591"/>
            <a:ext cx="3209544" cy="38404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0">
                <a:solidFill>
                  <a:srgbClr val="5B6F82"/>
                </a:solidFill>
                <a:latin typeface="Microsoft YaHei"/>
              </a:defRPr>
            </a:pPr>
            <a:r>
              <a:t>灌区节水对总量控制最敏感。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6" y="6419088"/>
            <a:ext cx="813816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850" b="0">
                <a:solidFill>
                  <a:srgbClr val="5B6F82"/>
                </a:solidFill>
                <a:latin typeface="Microsoft YaHei"/>
              </a:defRPr>
            </a:pPr>
            <a:r>
              <a:t>来源：报告3.3.2节选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558"/>
          </a:solidFill>
          <a:ln w="7620">
            <a:solidFill>
              <a:srgbClr val="0B3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1051560"/>
            <a:ext cx="73152" cy="4480560"/>
          </a:xfrm>
          <a:prstGeom prst="rect">
            <a:avLst/>
          </a:prstGeom>
          <a:solidFill>
            <a:srgbClr val="0E9F9A"/>
          </a:solidFill>
          <a:ln w="7620">
            <a:solidFill>
              <a:srgbClr val="0E9F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9536" y="1078992"/>
            <a:ext cx="329184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700" b="1">
                <a:solidFill>
                  <a:srgbClr val="E8F2F2"/>
                </a:solidFill>
                <a:latin typeface="Microsoft YaHei"/>
              </a:defRPr>
            </a:pPr>
            <a:r>
              <a:t>CHAPTER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" y="2084831"/>
            <a:ext cx="1188720" cy="7132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57984" y="2194560"/>
            <a:ext cx="8046720" cy="58521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2900" b="1">
                <a:solidFill>
                  <a:srgbClr val="FFFFFF"/>
                </a:solidFill>
                <a:latin typeface="Microsoft YaHei"/>
              </a:defRPr>
            </a:pPr>
            <a:r>
              <a:t>用水合理性分析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3054096"/>
            <a:ext cx="7863840" cy="34747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00" b="0">
                <a:solidFill>
                  <a:srgbClr val="E8F2F2"/>
                </a:solidFill>
                <a:latin typeface="Microsoft YaHei"/>
              </a:rPr>
              <a:t>围绕作物结构、灌溉定额、供需平衡和节水潜力核定</a:t>
            </a:r>
            <a:r>
              <a:rPr sz="1400" b="1">
                <a:solidFill>
                  <a:srgbClr val="0E9F9A"/>
                </a:solidFill>
                <a:latin typeface="Microsoft YaHei"/>
              </a:rPr>
              <a:t>750万m3</a:t>
            </a:r>
            <a:r>
              <a:rPr sz="1400" b="0">
                <a:solidFill>
                  <a:srgbClr val="E8F2F2"/>
                </a:solidFill>
                <a:latin typeface="Microsoft YaHei"/>
              </a:rPr>
              <a:t>申请量。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12848" y="3767328"/>
            <a:ext cx="2743200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500" b="1">
                <a:solidFill>
                  <a:srgbClr val="E8F2F2"/>
                </a:solidFill>
                <a:latin typeface="Microsoft YaHei"/>
              </a:defRPr>
            </a:pPr>
            <a:r>
              <a:t>第 4 章 / 共 9 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12848" y="4224528"/>
            <a:ext cx="7132320" cy="31089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500" b="0">
                <a:solidFill>
                  <a:srgbClr val="E8F2F2"/>
                </a:solidFill>
                <a:latin typeface="Microsoft YaHei"/>
              </a:defRPr>
            </a:pPr>
            <a:r>
              <a:t>本章保留报告原始证据页，并在后续页面对应表格、图件或原文段落展开。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78440" y="5815584"/>
            <a:ext cx="676656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defRPr sz="1200" b="1">
                <a:solidFill>
                  <a:srgbClr val="E8F2F2"/>
                </a:solidFill>
                <a:latin typeface="Microsoft YaHei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7620">
            <a:solidFill>
              <a:srgbClr val="F6F8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47472" y="256032"/>
            <a:ext cx="73152" cy="310896"/>
          </a:xfrm>
          <a:prstGeom prst="rect">
            <a:avLst/>
          </a:prstGeom>
          <a:solidFill>
            <a:srgbClr val="0E9F9A"/>
          </a:solidFill>
          <a:ln w="7620">
            <a:solidFill>
              <a:srgbClr val="0E9F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93776" y="219456"/>
            <a:ext cx="777240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050" b="1">
                <a:solidFill>
                  <a:srgbClr val="5B6F82"/>
                </a:solidFill>
                <a:latin typeface="Microsoft YaHei"/>
              </a:defRPr>
            </a:pPr>
            <a:r>
              <a:t>第4章 用水合理性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" y="603504"/>
            <a:ext cx="10607040" cy="53035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2400" b="1">
                <a:solidFill>
                  <a:srgbClr val="132D46"/>
                </a:solidFill>
                <a:latin typeface="Microsoft YaHei"/>
              </a:defRPr>
            </a:pPr>
            <a:r>
              <a:t>节水路径覆盖工程、农艺、灌水技术和价格管理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36224" y="301752"/>
            <a:ext cx="438912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defRPr sz="900" b="1">
                <a:solidFill>
                  <a:srgbClr val="5B6F82"/>
                </a:solidFill>
                <a:latin typeface="Microsoft YaHei"/>
              </a:defRPr>
            </a:pPr>
            <a:r>
              <a:t>15</a:t>
            </a:r>
          </a:p>
        </p:txBody>
      </p:sp>
      <p:sp>
        <p:nvSpPr>
          <p:cNvPr id="7" name="Rectangle 6"/>
          <p:cNvSpPr/>
          <p:nvPr/>
        </p:nvSpPr>
        <p:spPr>
          <a:xfrm>
            <a:off x="493776" y="1097280"/>
            <a:ext cx="10881360" cy="13716"/>
          </a:xfrm>
          <a:prstGeom prst="rect">
            <a:avLst/>
          </a:prstGeom>
          <a:solidFill>
            <a:srgbClr val="C8D3D9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508760"/>
            <a:ext cx="10149840" cy="1417319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68096" y="1618488"/>
            <a:ext cx="420624" cy="310896"/>
          </a:xfrm>
          <a:prstGeom prst="rect">
            <a:avLst/>
          </a:prstGeom>
          <a:solidFill>
            <a:srgbClr val="0E9F9A"/>
          </a:solidFill>
          <a:ln w="7620">
            <a:solidFill>
              <a:srgbClr val="0E9F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664207"/>
            <a:ext cx="347472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16736" y="1581912"/>
            <a:ext cx="9363456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1">
                <a:solidFill>
                  <a:srgbClr val="132D46"/>
                </a:solidFill>
                <a:latin typeface="Microsoft YaHei"/>
              </a:defRPr>
            </a:pPr>
            <a:r>
              <a:t>干支渠采用砼护坡护底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16736" y="1837943"/>
            <a:ext cx="9345167" cy="101498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0">
                <a:solidFill>
                  <a:srgbClr val="5B6F82"/>
                </a:solidFill>
                <a:latin typeface="Microsoft YaHei"/>
              </a:defRPr>
            </a:pPr>
            <a:r>
              <a:t>干支渠采用砼护坡护底，末级渠系推广U型渠槽和低压管道。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3017520"/>
            <a:ext cx="10149840" cy="1417319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8096" y="3127248"/>
            <a:ext cx="420624" cy="310896"/>
          </a:xfrm>
          <a:prstGeom prst="rect">
            <a:avLst/>
          </a:prstGeom>
          <a:solidFill>
            <a:srgbClr val="0E9F9A"/>
          </a:solidFill>
          <a:ln w="7620">
            <a:solidFill>
              <a:srgbClr val="0E9F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172968"/>
            <a:ext cx="347472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16736" y="3090672"/>
            <a:ext cx="9363456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1">
                <a:solidFill>
                  <a:srgbClr val="132D46"/>
                </a:solidFill>
                <a:latin typeface="Microsoft YaHei"/>
              </a:defRPr>
            </a:pPr>
            <a:r>
              <a:t>推广畦灌、沟灌、喷灌、微喷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16736" y="3346703"/>
            <a:ext cx="9345167" cy="101498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0">
                <a:solidFill>
                  <a:srgbClr val="5B6F82"/>
                </a:solidFill>
                <a:latin typeface="Microsoft YaHei"/>
              </a:defRPr>
            </a:pPr>
            <a:r>
              <a:t>推广畦灌、沟灌、喷灌、微喷、滴灌、水肥一体化以及水稻节水控灌。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4526279"/>
            <a:ext cx="10149840" cy="1417319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68096" y="4636007"/>
            <a:ext cx="420624" cy="310896"/>
          </a:xfrm>
          <a:prstGeom prst="rect">
            <a:avLst/>
          </a:prstGeom>
          <a:solidFill>
            <a:srgbClr val="0E9F9A"/>
          </a:solidFill>
          <a:ln w="7620">
            <a:solidFill>
              <a:srgbClr val="0E9F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4681727"/>
            <a:ext cx="347472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16736" y="4599431"/>
            <a:ext cx="9363456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1">
                <a:solidFill>
                  <a:srgbClr val="132D46"/>
                </a:solidFill>
                <a:latin typeface="Microsoft YaHei"/>
              </a:defRPr>
            </a:pPr>
            <a:r>
              <a:t>依托农业水价综合改革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16736" y="4855464"/>
            <a:ext cx="9345167" cy="101498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0">
                <a:solidFill>
                  <a:srgbClr val="5B6F82"/>
                </a:solidFill>
                <a:latin typeface="Microsoft YaHei"/>
              </a:defRPr>
            </a:pPr>
            <a:r>
              <a:t>依托农业水价综合改革，实行按方收费和超定额累进加价。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3776" y="6419088"/>
            <a:ext cx="813816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850" b="0">
                <a:solidFill>
                  <a:srgbClr val="5B6F82"/>
                </a:solidFill>
                <a:latin typeface="Microsoft YaHei"/>
              </a:defRPr>
            </a:pPr>
            <a:r>
              <a:t>来源：报告4.1.3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7620">
            <a:solidFill>
              <a:srgbClr val="F6F8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47472" y="256032"/>
            <a:ext cx="73152" cy="310896"/>
          </a:xfrm>
          <a:prstGeom prst="rect">
            <a:avLst/>
          </a:prstGeom>
          <a:solidFill>
            <a:srgbClr val="0E9F9A"/>
          </a:solidFill>
          <a:ln w="7620">
            <a:solidFill>
              <a:srgbClr val="0E9F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93776" y="219456"/>
            <a:ext cx="777240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050" b="1">
                <a:solidFill>
                  <a:srgbClr val="5B6F82"/>
                </a:solidFill>
                <a:latin typeface="Microsoft YaHei"/>
              </a:defRPr>
            </a:pPr>
            <a:r>
              <a:t>第4章 用水合理性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" y="603504"/>
            <a:ext cx="10607040" cy="53035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2400" b="1">
                <a:solidFill>
                  <a:srgbClr val="132D46"/>
                </a:solidFill>
                <a:latin typeface="Microsoft YaHei"/>
              </a:rPr>
              <a:t>P=</a:t>
            </a:r>
            <a:r>
              <a:rPr sz="2400" b="1">
                <a:solidFill>
                  <a:srgbClr val="0E9F9A"/>
                </a:solidFill>
                <a:latin typeface="Microsoft YaHei"/>
              </a:rPr>
              <a:t>90%</a:t>
            </a:r>
            <a:r>
              <a:rPr sz="2400" b="1">
                <a:solidFill>
                  <a:srgbClr val="132D46"/>
                </a:solidFill>
                <a:latin typeface="Microsoft YaHei"/>
              </a:rPr>
              <a:t>条件下，中稻灌溉定额是主要控制项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36224" y="301752"/>
            <a:ext cx="438912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defRPr sz="900" b="1">
                <a:solidFill>
                  <a:srgbClr val="5B6F82"/>
                </a:solidFill>
                <a:latin typeface="Microsoft YaHei"/>
              </a:defRPr>
            </a:pPr>
            <a:r>
              <a:t>16</a:t>
            </a:r>
          </a:p>
        </p:txBody>
      </p:sp>
      <p:sp>
        <p:nvSpPr>
          <p:cNvPr id="7" name="Rectangle 6"/>
          <p:cNvSpPr/>
          <p:nvPr/>
        </p:nvSpPr>
        <p:spPr>
          <a:xfrm>
            <a:off x="493776" y="1097280"/>
            <a:ext cx="10881360" cy="13716"/>
          </a:xfrm>
          <a:prstGeom prst="rect">
            <a:avLst/>
          </a:prstGeom>
          <a:solidFill>
            <a:srgbClr val="C8D3D9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1792" y="1554480"/>
          <a:ext cx="662940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7350"/>
                <a:gridCol w="1657350"/>
                <a:gridCol w="1657350"/>
                <a:gridCol w="1657350"/>
              </a:tblGrid>
              <a:tr h="859536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作物</a:t>
                      </a:r>
                    </a:p>
                  </a:txBody>
                  <a:tcPr anchor="ctr" marL="36576" marR="36576" marT="18288" marB="18288">
                    <a:solidFill>
                      <a:srgbClr val="E8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50%水文年</a:t>
                      </a:r>
                    </a:p>
                  </a:txBody>
                  <a:tcPr anchor="ctr" marL="36576" marR="36576" marT="18288" marB="18288">
                    <a:solidFill>
                      <a:srgbClr val="E8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75%水文年</a:t>
                      </a:r>
                    </a:p>
                  </a:txBody>
                  <a:tcPr anchor="ctr" marL="36576" marR="36576" marT="18288" marB="18288">
                    <a:solidFill>
                      <a:srgbClr val="E8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90%水文年</a:t>
                      </a:r>
                    </a:p>
                  </a:txBody>
                  <a:tcPr anchor="ctr" marL="36576" marR="36576" marT="18288" marB="18288">
                    <a:solidFill>
                      <a:srgbClr val="E8F2F2"/>
                    </a:solidFill>
                  </a:tcPr>
                </a:tc>
              </a:tr>
              <a:tr h="859536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水田（中稻）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464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533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584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  <a:tr h="859536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油菜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60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87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87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  <a:tr h="859536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小麦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37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66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66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  <a:tr h="859536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玉米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90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134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134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7543800" y="1554480"/>
            <a:ext cx="3611880" cy="1298448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543800" y="1554480"/>
            <a:ext cx="64008" cy="1298448"/>
          </a:xfrm>
          <a:prstGeom prst="rect">
            <a:avLst/>
          </a:prstGeom>
          <a:solidFill>
            <a:srgbClr val="B64A31"/>
          </a:solidFill>
          <a:ln w="7620">
            <a:solidFill>
              <a:srgbClr val="B64A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44968" y="1682495"/>
            <a:ext cx="411480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1">
                <a:solidFill>
                  <a:srgbClr val="B64A31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38744" y="1664207"/>
            <a:ext cx="2752344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00" b="1">
                <a:solidFill>
                  <a:srgbClr val="0E9F9A"/>
                </a:solidFill>
                <a:latin typeface="Microsoft YaHei"/>
              </a:rPr>
              <a:t>控制作物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63256" y="2057400"/>
            <a:ext cx="3209544" cy="38404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00" b="0">
                <a:solidFill>
                  <a:srgbClr val="5B6F82"/>
                </a:solidFill>
                <a:latin typeface="Microsoft YaHei"/>
              </a:rPr>
              <a:t>中稻P=</a:t>
            </a:r>
            <a:r>
              <a:rPr sz="1400" b="1">
                <a:solidFill>
                  <a:srgbClr val="0E9F9A"/>
                </a:solidFill>
                <a:latin typeface="Microsoft YaHei"/>
              </a:rPr>
              <a:t>90%</a:t>
            </a:r>
            <a:r>
              <a:rPr sz="1400" b="0">
                <a:solidFill>
                  <a:srgbClr val="5B6F82"/>
                </a:solidFill>
                <a:latin typeface="Microsoft YaHei"/>
              </a:rPr>
              <a:t>定额显著高于其他作物。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543800" y="3090672"/>
            <a:ext cx="3611880" cy="1298448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543800" y="3090672"/>
            <a:ext cx="64008" cy="1298448"/>
          </a:xfrm>
          <a:prstGeom prst="rect">
            <a:avLst/>
          </a:prstGeom>
          <a:solidFill>
            <a:srgbClr val="0E9F9A"/>
          </a:solidFill>
          <a:ln w="7620">
            <a:solidFill>
              <a:srgbClr val="0E9F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44968" y="3218688"/>
            <a:ext cx="411480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1">
                <a:solidFill>
                  <a:srgbClr val="0E9F9A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38744" y="3200400"/>
            <a:ext cx="2752344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00" b="1">
                <a:solidFill>
                  <a:srgbClr val="0E9F9A"/>
                </a:solidFill>
                <a:latin typeface="Microsoft YaHei"/>
              </a:rPr>
              <a:t>核算逻辑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63256" y="3593591"/>
            <a:ext cx="3209544" cy="38404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0">
                <a:solidFill>
                  <a:srgbClr val="5B6F82"/>
                </a:solidFill>
                <a:latin typeface="Microsoft YaHei"/>
              </a:defRPr>
            </a:pPr>
            <a:r>
              <a:t>净需水量由种植面积乘以相应定额得到。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6" y="6419088"/>
            <a:ext cx="813816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850" b="0">
                <a:solidFill>
                  <a:srgbClr val="5B6F82"/>
                </a:solidFill>
                <a:latin typeface="Microsoft YaHei"/>
              </a:defRPr>
            </a:pPr>
            <a:r>
              <a:t>来源：报告表4.2-2节选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7620">
            <a:solidFill>
              <a:srgbClr val="F6F8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47472" y="256032"/>
            <a:ext cx="73152" cy="310896"/>
          </a:xfrm>
          <a:prstGeom prst="rect">
            <a:avLst/>
          </a:prstGeom>
          <a:solidFill>
            <a:srgbClr val="0E9F9A"/>
          </a:solidFill>
          <a:ln w="7620">
            <a:solidFill>
              <a:srgbClr val="0E9F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93776" y="219456"/>
            <a:ext cx="777240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050" b="1">
                <a:solidFill>
                  <a:srgbClr val="5B6F82"/>
                </a:solidFill>
                <a:latin typeface="Microsoft YaHei"/>
              </a:defRPr>
            </a:pPr>
            <a:r>
              <a:t>第4章 用水合理性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" y="603504"/>
            <a:ext cx="10607040" cy="53035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2400" b="1">
                <a:solidFill>
                  <a:srgbClr val="132D46"/>
                </a:solidFill>
                <a:latin typeface="Microsoft YaHei"/>
              </a:defRPr>
            </a:pPr>
            <a:r>
              <a:t>供水平衡显示外调补源是实现保证率的关键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36224" y="301752"/>
            <a:ext cx="438912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defRPr sz="900" b="1">
                <a:solidFill>
                  <a:srgbClr val="5B6F82"/>
                </a:solidFill>
                <a:latin typeface="Microsoft YaHei"/>
              </a:defRPr>
            </a:pPr>
            <a:r>
              <a:t>17</a:t>
            </a:r>
          </a:p>
        </p:txBody>
      </p:sp>
      <p:sp>
        <p:nvSpPr>
          <p:cNvPr id="7" name="Rectangle 6"/>
          <p:cNvSpPr/>
          <p:nvPr/>
        </p:nvSpPr>
        <p:spPr>
          <a:xfrm>
            <a:off x="493776" y="1097280"/>
            <a:ext cx="10881360" cy="13716"/>
          </a:xfrm>
          <a:prstGeom prst="rect">
            <a:avLst/>
          </a:prstGeom>
          <a:solidFill>
            <a:srgbClr val="C8D3D9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" y="1481328"/>
            <a:ext cx="6537960" cy="4443984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295582"/>
            <a:ext cx="6263640" cy="2815474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7543800" y="1554480"/>
            <a:ext cx="3611880" cy="1225296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543800" y="1554480"/>
            <a:ext cx="64008" cy="1225296"/>
          </a:xfrm>
          <a:prstGeom prst="rect">
            <a:avLst/>
          </a:prstGeom>
          <a:solidFill>
            <a:srgbClr val="B64A31"/>
          </a:solidFill>
          <a:ln w="7620">
            <a:solidFill>
              <a:srgbClr val="B64A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44968" y="1682495"/>
            <a:ext cx="411480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1">
                <a:solidFill>
                  <a:srgbClr val="B64A31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38744" y="1664207"/>
            <a:ext cx="2752344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00" b="1">
                <a:solidFill>
                  <a:srgbClr val="0E9F9A"/>
                </a:solidFill>
                <a:latin typeface="Microsoft YaHei"/>
              </a:rPr>
              <a:t>本地可供水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63256" y="2057400"/>
            <a:ext cx="3209544" cy="38404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00" b="0">
                <a:solidFill>
                  <a:srgbClr val="5B6F82"/>
                </a:solidFill>
                <a:latin typeface="Microsoft YaHei"/>
              </a:rPr>
              <a:t>报告图示本地水源不能独立覆盖</a:t>
            </a:r>
            <a:r>
              <a:rPr sz="1400" b="1">
                <a:solidFill>
                  <a:srgbClr val="0E9F9A"/>
                </a:solidFill>
                <a:latin typeface="Microsoft YaHei"/>
              </a:rPr>
              <a:t>750万m3</a:t>
            </a:r>
            <a:r>
              <a:rPr sz="1400" b="0">
                <a:solidFill>
                  <a:srgbClr val="5B6F82"/>
                </a:solidFill>
                <a:latin typeface="Microsoft YaHei"/>
              </a:rPr>
              <a:t>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43800" y="3017520"/>
            <a:ext cx="3611880" cy="1225296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543800" y="3017520"/>
            <a:ext cx="64008" cy="1225296"/>
          </a:xfrm>
          <a:prstGeom prst="rect">
            <a:avLst/>
          </a:prstGeom>
          <a:solidFill>
            <a:srgbClr val="0E9F9A"/>
          </a:solidFill>
          <a:ln w="7620">
            <a:solidFill>
              <a:srgbClr val="0E9F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44968" y="3145536"/>
            <a:ext cx="411480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1">
                <a:solidFill>
                  <a:srgbClr val="0E9F9A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38744" y="3127248"/>
            <a:ext cx="2752344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00" b="1">
                <a:solidFill>
                  <a:srgbClr val="0E9F9A"/>
                </a:solidFill>
                <a:latin typeface="Microsoft YaHei"/>
              </a:rPr>
              <a:t>三干渠补源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63256" y="3520439"/>
            <a:ext cx="3209544" cy="38404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0">
                <a:solidFill>
                  <a:srgbClr val="5B6F82"/>
                </a:solidFill>
                <a:latin typeface="Microsoft YaHei"/>
              </a:defRPr>
            </a:pPr>
            <a:r>
              <a:t>外调补源承担主要缺口。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543800" y="4480560"/>
            <a:ext cx="3611880" cy="1225296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543800" y="4480560"/>
            <a:ext cx="64008" cy="1225296"/>
          </a:xfrm>
          <a:prstGeom prst="rect">
            <a:avLst/>
          </a:prstGeom>
          <a:solidFill>
            <a:srgbClr val="0B3558"/>
          </a:solidFill>
          <a:ln w="7620">
            <a:solidFill>
              <a:srgbClr val="0B3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44968" y="4608576"/>
            <a:ext cx="411480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1">
                <a:solidFill>
                  <a:srgbClr val="0B3558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38744" y="4590288"/>
            <a:ext cx="2752344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00" b="1">
                <a:solidFill>
                  <a:srgbClr val="0E9F9A"/>
                </a:solidFill>
                <a:latin typeface="Microsoft YaHei"/>
              </a:rPr>
              <a:t>调度要求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63256" y="4983480"/>
            <a:ext cx="3209544" cy="38404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0">
                <a:solidFill>
                  <a:srgbClr val="5B6F82"/>
                </a:solidFill>
                <a:latin typeface="Microsoft YaHei"/>
              </a:defRPr>
            </a:pPr>
            <a:r>
              <a:t>需按月度缺水过程落实引水协议。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3776" y="6419088"/>
            <a:ext cx="813816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850" b="0">
                <a:solidFill>
                  <a:srgbClr val="5B6F82"/>
                </a:solidFill>
                <a:latin typeface="Microsoft YaHei"/>
              </a:defRPr>
            </a:pPr>
            <a:r>
              <a:t>来源：报告供水平衡图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7620">
            <a:solidFill>
              <a:srgbClr val="F6F8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47472" y="256032"/>
            <a:ext cx="73152" cy="310896"/>
          </a:xfrm>
          <a:prstGeom prst="rect">
            <a:avLst/>
          </a:prstGeom>
          <a:solidFill>
            <a:srgbClr val="0E9F9A"/>
          </a:solidFill>
          <a:ln w="7620">
            <a:solidFill>
              <a:srgbClr val="0E9F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93776" y="219456"/>
            <a:ext cx="777240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050" b="1">
                <a:solidFill>
                  <a:srgbClr val="5B6F82"/>
                </a:solidFill>
                <a:latin typeface="Microsoft YaHei"/>
              </a:defRPr>
            </a:pPr>
            <a:r>
              <a:t>第4章 用水合理性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" y="603504"/>
            <a:ext cx="10607040" cy="53035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2400" b="1">
                <a:solidFill>
                  <a:srgbClr val="132D46"/>
                </a:solidFill>
                <a:latin typeface="Microsoft YaHei"/>
              </a:rPr>
              <a:t>全年供水、耗水和退水形成</a:t>
            </a:r>
            <a:r>
              <a:rPr sz="2400" b="1">
                <a:solidFill>
                  <a:srgbClr val="0E9F9A"/>
                </a:solidFill>
                <a:latin typeface="Microsoft YaHei"/>
              </a:rPr>
              <a:t>750</a:t>
            </a:r>
            <a:r>
              <a:rPr sz="2400" b="1">
                <a:solidFill>
                  <a:srgbClr val="132D46"/>
                </a:solidFill>
                <a:latin typeface="Microsoft YaHei"/>
              </a:rPr>
              <a:t>—</a:t>
            </a:r>
            <a:r>
              <a:rPr sz="2400" b="1">
                <a:solidFill>
                  <a:srgbClr val="0E9F9A"/>
                </a:solidFill>
                <a:latin typeface="Microsoft YaHei"/>
              </a:rPr>
              <a:t>600</a:t>
            </a:r>
            <a:r>
              <a:rPr sz="2400" b="1">
                <a:solidFill>
                  <a:srgbClr val="132D46"/>
                </a:solidFill>
                <a:latin typeface="Microsoft YaHei"/>
              </a:rPr>
              <a:t>—</a:t>
            </a:r>
            <a:r>
              <a:rPr sz="2400" b="1">
                <a:solidFill>
                  <a:srgbClr val="0E9F9A"/>
                </a:solidFill>
                <a:latin typeface="Microsoft YaHei"/>
              </a:rPr>
              <a:t>150万m3</a:t>
            </a:r>
            <a:r>
              <a:rPr sz="2400" b="1">
                <a:solidFill>
                  <a:srgbClr val="132D46"/>
                </a:solidFill>
                <a:latin typeface="Microsoft YaHei"/>
              </a:rPr>
              <a:t>闭合关系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36224" y="301752"/>
            <a:ext cx="438912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defRPr sz="900" b="1">
                <a:solidFill>
                  <a:srgbClr val="5B6F82"/>
                </a:solidFill>
                <a:latin typeface="Microsoft YaHei"/>
              </a:defRPr>
            </a:pPr>
            <a:r>
              <a:t>18</a:t>
            </a:r>
          </a:p>
        </p:txBody>
      </p:sp>
      <p:sp>
        <p:nvSpPr>
          <p:cNvPr id="7" name="Rectangle 6"/>
          <p:cNvSpPr/>
          <p:nvPr/>
        </p:nvSpPr>
        <p:spPr>
          <a:xfrm>
            <a:off x="493776" y="1097280"/>
            <a:ext cx="10881360" cy="13716"/>
          </a:xfrm>
          <a:prstGeom prst="rect">
            <a:avLst/>
          </a:prstGeom>
          <a:solidFill>
            <a:srgbClr val="C8D3D9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1792" y="1554480"/>
          <a:ext cx="662940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2450"/>
                <a:gridCol w="552450"/>
                <a:gridCol w="552450"/>
                <a:gridCol w="552450"/>
                <a:gridCol w="552450"/>
                <a:gridCol w="552450"/>
                <a:gridCol w="552450"/>
                <a:gridCol w="552450"/>
                <a:gridCol w="552450"/>
                <a:gridCol w="552450"/>
                <a:gridCol w="552450"/>
                <a:gridCol w="552450"/>
              </a:tblGrid>
              <a:tr h="107442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月份</a:t>
                      </a:r>
                    </a:p>
                  </a:txBody>
                  <a:tcPr anchor="ctr" marL="36576" marR="36576" marT="18288" marB="18288">
                    <a:solidFill>
                      <a:srgbClr val="E8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2</a:t>
                      </a:r>
                    </a:p>
                  </a:txBody>
                  <a:tcPr anchor="ctr" marL="36576" marR="36576" marT="18288" marB="18288">
                    <a:solidFill>
                      <a:srgbClr val="E8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3</a:t>
                      </a:r>
                    </a:p>
                  </a:txBody>
                  <a:tcPr anchor="ctr" marL="36576" marR="36576" marT="18288" marB="18288">
                    <a:solidFill>
                      <a:srgbClr val="E8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4</a:t>
                      </a:r>
                    </a:p>
                  </a:txBody>
                  <a:tcPr anchor="ctr" marL="36576" marR="36576" marT="18288" marB="18288">
                    <a:solidFill>
                      <a:srgbClr val="E8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5</a:t>
                      </a:r>
                    </a:p>
                  </a:txBody>
                  <a:tcPr anchor="ctr" marL="36576" marR="36576" marT="18288" marB="18288">
                    <a:solidFill>
                      <a:srgbClr val="E8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6</a:t>
                      </a:r>
                    </a:p>
                  </a:txBody>
                  <a:tcPr anchor="ctr" marL="36576" marR="36576" marT="18288" marB="18288">
                    <a:solidFill>
                      <a:srgbClr val="E8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7</a:t>
                      </a:r>
                    </a:p>
                  </a:txBody>
                  <a:tcPr anchor="ctr" marL="36576" marR="36576" marT="18288" marB="18288">
                    <a:solidFill>
                      <a:srgbClr val="E8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8</a:t>
                      </a:r>
                    </a:p>
                  </a:txBody>
                  <a:tcPr anchor="ctr" marL="36576" marR="36576" marT="18288" marB="18288">
                    <a:solidFill>
                      <a:srgbClr val="E8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9</a:t>
                      </a:r>
                    </a:p>
                  </a:txBody>
                  <a:tcPr anchor="ctr" marL="36576" marR="36576" marT="18288" marB="18288">
                    <a:solidFill>
                      <a:srgbClr val="E8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10</a:t>
                      </a:r>
                    </a:p>
                  </a:txBody>
                  <a:tcPr anchor="ctr" marL="36576" marR="36576" marT="18288" marB="18288">
                    <a:solidFill>
                      <a:srgbClr val="E8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11</a:t>
                      </a:r>
                    </a:p>
                  </a:txBody>
                  <a:tcPr anchor="ctr" marL="36576" marR="36576" marT="18288" marB="18288">
                    <a:solidFill>
                      <a:srgbClr val="E8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汇总</a:t>
                      </a:r>
                    </a:p>
                  </a:txBody>
                  <a:tcPr anchor="ctr" marL="36576" marR="36576" marT="18288" marB="18288">
                    <a:solidFill>
                      <a:srgbClr val="E8F2F2"/>
                    </a:solidFill>
                  </a:tcPr>
                </a:tc>
              </a:tr>
              <a:tr h="107442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供水量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7.50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52.50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52.50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123.75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93.75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217.50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153.75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30.00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11.25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7.50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750.00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  <a:tr h="107442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耗水量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6.00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42.00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42.00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99.00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75.00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174.00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123.00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24.00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9.00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6.00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600.00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  <a:tr h="107442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退水量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1.50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10.50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10.50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24.75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18.75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43.50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30.75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6.00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2.25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1.50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32D46"/>
                          </a:solidFill>
                          <a:latin typeface="Microsoft YaHei"/>
                        </a:defRPr>
                      </a:pPr>
                      <a:r>
                        <a:t>150.00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7543800" y="1554480"/>
            <a:ext cx="3611880" cy="1298448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543800" y="1554480"/>
            <a:ext cx="64008" cy="1298448"/>
          </a:xfrm>
          <a:prstGeom prst="rect">
            <a:avLst/>
          </a:prstGeom>
          <a:solidFill>
            <a:srgbClr val="B64A31"/>
          </a:solidFill>
          <a:ln w="7620">
            <a:solidFill>
              <a:srgbClr val="B64A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44968" y="1682495"/>
            <a:ext cx="411480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1">
                <a:solidFill>
                  <a:srgbClr val="B64A31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38744" y="1664207"/>
            <a:ext cx="2752344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00" b="1">
                <a:solidFill>
                  <a:srgbClr val="0E9F9A"/>
                </a:solidFill>
                <a:latin typeface="Microsoft YaHei"/>
              </a:rPr>
              <a:t>高峰月份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63256" y="2057400"/>
            <a:ext cx="3209544" cy="38404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00" b="1">
                <a:solidFill>
                  <a:srgbClr val="0E9F9A"/>
                </a:solidFill>
                <a:latin typeface="Microsoft YaHei"/>
              </a:rPr>
              <a:t>7月</a:t>
            </a:r>
            <a:r>
              <a:rPr sz="1400" b="0">
                <a:solidFill>
                  <a:srgbClr val="5B6F82"/>
                </a:solidFill>
                <a:latin typeface="Microsoft YaHei"/>
              </a:rPr>
              <a:t>供水量达到</a:t>
            </a:r>
            <a:r>
              <a:rPr sz="1400" b="1">
                <a:solidFill>
                  <a:srgbClr val="0E9F9A"/>
                </a:solidFill>
                <a:latin typeface="Microsoft YaHei"/>
              </a:rPr>
              <a:t>217.50万m3</a:t>
            </a:r>
            <a:r>
              <a:rPr sz="1400" b="0">
                <a:solidFill>
                  <a:srgbClr val="5B6F82"/>
                </a:solidFill>
                <a:latin typeface="Microsoft YaHei"/>
              </a:rPr>
              <a:t>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543800" y="3090672"/>
            <a:ext cx="3611880" cy="1298448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543800" y="3090672"/>
            <a:ext cx="64008" cy="1298448"/>
          </a:xfrm>
          <a:prstGeom prst="rect">
            <a:avLst/>
          </a:prstGeom>
          <a:solidFill>
            <a:srgbClr val="0E9F9A"/>
          </a:solidFill>
          <a:ln w="7620">
            <a:solidFill>
              <a:srgbClr val="0E9F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44968" y="3218688"/>
            <a:ext cx="411480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1">
                <a:solidFill>
                  <a:srgbClr val="0E9F9A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38744" y="3200400"/>
            <a:ext cx="2752344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00" b="1">
                <a:solidFill>
                  <a:srgbClr val="0E9F9A"/>
                </a:solidFill>
                <a:latin typeface="Microsoft YaHei"/>
              </a:rPr>
              <a:t>退水口径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63256" y="3593591"/>
            <a:ext cx="3209544" cy="38404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00" b="0">
                <a:solidFill>
                  <a:srgbClr val="5B6F82"/>
                </a:solidFill>
                <a:latin typeface="Microsoft YaHei"/>
              </a:rPr>
              <a:t>退水量按供水量</a:t>
            </a:r>
            <a:r>
              <a:rPr sz="1400" b="1">
                <a:solidFill>
                  <a:srgbClr val="0E9F9A"/>
                </a:solidFill>
                <a:latin typeface="Microsoft YaHei"/>
              </a:rPr>
              <a:t>20%</a:t>
            </a:r>
            <a:r>
              <a:rPr sz="1400" b="0">
                <a:solidFill>
                  <a:srgbClr val="5B6F82"/>
                </a:solidFill>
                <a:latin typeface="Microsoft YaHei"/>
              </a:rPr>
              <a:t>估算。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6" y="6419088"/>
            <a:ext cx="813816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850" b="0">
                <a:solidFill>
                  <a:srgbClr val="5B6F82"/>
                </a:solidFill>
                <a:latin typeface="Microsoft YaHei"/>
              </a:defRPr>
            </a:pPr>
            <a:r>
              <a:t>来源：报告规划水平年耗水及退水量表节选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558"/>
          </a:solidFill>
          <a:ln w="7620">
            <a:solidFill>
              <a:srgbClr val="0B3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1051560"/>
            <a:ext cx="73152" cy="4480560"/>
          </a:xfrm>
          <a:prstGeom prst="rect">
            <a:avLst/>
          </a:prstGeom>
          <a:solidFill>
            <a:srgbClr val="0E9F9A"/>
          </a:solidFill>
          <a:ln w="7620">
            <a:solidFill>
              <a:srgbClr val="0E9F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9536" y="1078992"/>
            <a:ext cx="329184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700" b="1">
                <a:solidFill>
                  <a:srgbClr val="E8F2F2"/>
                </a:solidFill>
                <a:latin typeface="Microsoft YaHei"/>
              </a:defRPr>
            </a:pPr>
            <a:r>
              <a:t>CHAPTER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" y="2084831"/>
            <a:ext cx="1188720" cy="7132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57984" y="2194560"/>
            <a:ext cx="8046720" cy="58521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2900" b="1">
                <a:solidFill>
                  <a:srgbClr val="FFFFFF"/>
                </a:solidFill>
                <a:latin typeface="Microsoft YaHei"/>
              </a:defRPr>
            </a:pPr>
            <a:r>
              <a:t>取水水源论证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3054096"/>
            <a:ext cx="7863840" cy="34747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0">
                <a:solidFill>
                  <a:srgbClr val="E8F2F2"/>
                </a:solidFill>
                <a:latin typeface="Microsoft YaHei"/>
              </a:defRPr>
            </a:pPr>
            <a:r>
              <a:t>验证联合水源方案、资料基础、水质、取水口位置及水量水位可靠性。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12848" y="3767328"/>
            <a:ext cx="2743200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500" b="1">
                <a:solidFill>
                  <a:srgbClr val="E8F2F2"/>
                </a:solidFill>
                <a:latin typeface="Microsoft YaHei"/>
              </a:defRPr>
            </a:pPr>
            <a:r>
              <a:t>第 5 章 / 共 9 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12848" y="4224528"/>
            <a:ext cx="7132320" cy="31089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500" b="0">
                <a:solidFill>
                  <a:srgbClr val="E8F2F2"/>
                </a:solidFill>
                <a:latin typeface="Microsoft YaHei"/>
              </a:defRPr>
            </a:pPr>
            <a:r>
              <a:t>本章保留报告原始证据页，并在后续页面对应表格、图件或原文段落展开。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78440" y="5815584"/>
            <a:ext cx="676656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defRPr sz="1200" b="1">
                <a:solidFill>
                  <a:srgbClr val="E8F2F2"/>
                </a:solidFill>
                <a:latin typeface="Microsoft YaHei"/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7620">
            <a:solidFill>
              <a:srgbClr val="F6F8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47472" y="256032"/>
            <a:ext cx="73152" cy="310896"/>
          </a:xfrm>
          <a:prstGeom prst="rect">
            <a:avLst/>
          </a:prstGeom>
          <a:solidFill>
            <a:srgbClr val="0E9F9A"/>
          </a:solidFill>
          <a:ln w="7620">
            <a:solidFill>
              <a:srgbClr val="0E9F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93776" y="219456"/>
            <a:ext cx="777240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050" b="1">
                <a:solidFill>
                  <a:srgbClr val="5B6F82"/>
                </a:solidFill>
                <a:latin typeface="Microsoft YaHei"/>
              </a:defRPr>
            </a:pPr>
            <a:r>
              <a:t>第5章 取水水源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" y="603504"/>
            <a:ext cx="10607040" cy="53035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2400" b="1">
                <a:solidFill>
                  <a:srgbClr val="132D46"/>
                </a:solidFill>
                <a:latin typeface="Microsoft YaHei"/>
              </a:defRPr>
            </a:pPr>
            <a:r>
              <a:t>项目采用玉泉水库与东风三干渠联合水源方案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36224" y="301752"/>
            <a:ext cx="438912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defRPr sz="900" b="1">
                <a:solidFill>
                  <a:srgbClr val="5B6F82"/>
                </a:solidFill>
                <a:latin typeface="Microsoft YaHei"/>
              </a:defRPr>
            </a:pPr>
            <a:r>
              <a:t>20</a:t>
            </a:r>
          </a:p>
        </p:txBody>
      </p:sp>
      <p:sp>
        <p:nvSpPr>
          <p:cNvPr id="7" name="Rectangle 6"/>
          <p:cNvSpPr/>
          <p:nvPr/>
        </p:nvSpPr>
        <p:spPr>
          <a:xfrm>
            <a:off x="493776" y="1097280"/>
            <a:ext cx="10881360" cy="13716"/>
          </a:xfrm>
          <a:prstGeom prst="rect">
            <a:avLst/>
          </a:prstGeom>
          <a:solidFill>
            <a:srgbClr val="C8D3D9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508760"/>
            <a:ext cx="6400800" cy="1417319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68096" y="1618488"/>
            <a:ext cx="420624" cy="310896"/>
          </a:xfrm>
          <a:prstGeom prst="rect">
            <a:avLst/>
          </a:prstGeom>
          <a:solidFill>
            <a:srgbClr val="0E9F9A"/>
          </a:solidFill>
          <a:ln w="7620">
            <a:solidFill>
              <a:srgbClr val="0E9F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664207"/>
            <a:ext cx="347472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16736" y="1581912"/>
            <a:ext cx="5614416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1">
                <a:solidFill>
                  <a:srgbClr val="132D46"/>
                </a:solidFill>
                <a:latin typeface="Microsoft YaHei"/>
              </a:defRPr>
            </a:pPr>
            <a:r>
              <a:t>玉泉水库长期承担本灌区农业供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16736" y="1837943"/>
            <a:ext cx="5596128" cy="101498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00" b="0">
                <a:solidFill>
                  <a:srgbClr val="5B6F82"/>
                </a:solidFill>
                <a:latin typeface="Microsoft YaHei"/>
              </a:rPr>
              <a:t>玉泉水库长期承担本灌区农业供水，供水</a:t>
            </a:r>
            <a:r>
              <a:rPr sz="1400" b="1">
                <a:solidFill>
                  <a:srgbClr val="0E9F9A"/>
                </a:solidFill>
                <a:latin typeface="Microsoft YaHei"/>
              </a:rPr>
              <a:t>目标</a:t>
            </a:r>
            <a:r>
              <a:rPr sz="1400" b="0">
                <a:solidFill>
                  <a:srgbClr val="5B6F82"/>
                </a:solidFill>
                <a:latin typeface="Microsoft YaHei"/>
              </a:rPr>
              <a:t>明确。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3017520"/>
            <a:ext cx="6400800" cy="1417319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8096" y="3127248"/>
            <a:ext cx="420624" cy="310896"/>
          </a:xfrm>
          <a:prstGeom prst="rect">
            <a:avLst/>
          </a:prstGeom>
          <a:solidFill>
            <a:srgbClr val="0E9F9A"/>
          </a:solidFill>
          <a:ln w="7620">
            <a:solidFill>
              <a:srgbClr val="0E9F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172968"/>
            <a:ext cx="347472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16736" y="3090672"/>
            <a:ext cx="5614416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1">
                <a:solidFill>
                  <a:srgbClr val="132D46"/>
                </a:solidFill>
                <a:latin typeface="Microsoft YaHei"/>
              </a:defRPr>
            </a:pPr>
            <a:r>
              <a:t>仅依靠玉泉水库天然来水及现有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16736" y="3346703"/>
            <a:ext cx="5596128" cy="101498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0">
                <a:solidFill>
                  <a:srgbClr val="5B6F82"/>
                </a:solidFill>
                <a:latin typeface="Microsoft YaHei"/>
              </a:defRPr>
            </a:pPr>
            <a:r>
              <a:t>仅依靠玉泉水库天然来水及现有库容，不足以完全支撑灌区需求。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4526279"/>
            <a:ext cx="6400800" cy="1417319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68096" y="4636007"/>
            <a:ext cx="420624" cy="310896"/>
          </a:xfrm>
          <a:prstGeom prst="rect">
            <a:avLst/>
          </a:prstGeom>
          <a:solidFill>
            <a:srgbClr val="0E9F9A"/>
          </a:solidFill>
          <a:ln w="7620">
            <a:solidFill>
              <a:srgbClr val="0E9F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4681727"/>
            <a:ext cx="347472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16736" y="4599431"/>
            <a:ext cx="5614416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1">
                <a:solidFill>
                  <a:srgbClr val="132D46"/>
                </a:solidFill>
                <a:latin typeface="Microsoft YaHei"/>
              </a:defRPr>
            </a:pPr>
            <a:r>
              <a:t>报告提出由管理单位与三干渠主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16736" y="4855464"/>
            <a:ext cx="5596128" cy="101498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0">
                <a:solidFill>
                  <a:srgbClr val="5B6F82"/>
                </a:solidFill>
                <a:latin typeface="Microsoft YaHei"/>
              </a:defRPr>
            </a:pPr>
            <a:r>
              <a:t>报告提出由管理单位与三干渠主管部门正式签订引水协议。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24927" y="1572768"/>
            <a:ext cx="3886200" cy="877824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52944" y="1700784"/>
            <a:ext cx="3666744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800" b="1">
                <a:solidFill>
                  <a:srgbClr val="0E9F9A"/>
                </a:solidFill>
                <a:latin typeface="Microsoft YaHei"/>
              </a:rPr>
              <a:t>4.00km2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52944" y="2084832"/>
            <a:ext cx="3666744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0">
                <a:solidFill>
                  <a:srgbClr val="5B6F82"/>
                </a:solidFill>
                <a:latin typeface="Microsoft YaHei"/>
              </a:defRPr>
            </a:pPr>
            <a:r>
              <a:t>水库集雨面积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424927" y="2743200"/>
            <a:ext cx="3886200" cy="877824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52944" y="2871216"/>
            <a:ext cx="3666744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800" b="1">
                <a:solidFill>
                  <a:srgbClr val="0E9F9A"/>
                </a:solidFill>
                <a:latin typeface="Microsoft YaHei"/>
              </a:rPr>
              <a:t>180万m3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52944" y="3255264"/>
            <a:ext cx="3666744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0">
                <a:solidFill>
                  <a:srgbClr val="5B6F82"/>
                </a:solidFill>
                <a:latin typeface="Microsoft YaHei"/>
              </a:defRPr>
            </a:pPr>
            <a:r>
              <a:t>多年平均径流量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24927" y="3913632"/>
            <a:ext cx="3886200" cy="877824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52944" y="4041648"/>
            <a:ext cx="3666744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800" b="1">
                <a:solidFill>
                  <a:srgbClr val="0E9F9A"/>
                </a:solidFill>
                <a:latin typeface="Microsoft YaHei"/>
              </a:rPr>
              <a:t>225万m3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52944" y="4425696"/>
            <a:ext cx="3666744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0">
                <a:solidFill>
                  <a:srgbClr val="5B6F82"/>
                </a:solidFill>
                <a:latin typeface="Microsoft YaHei"/>
              </a:defRPr>
            </a:pPr>
            <a:r>
              <a:t>正常蓄水位库容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3776" y="6419088"/>
            <a:ext cx="813816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850" b="0">
                <a:solidFill>
                  <a:srgbClr val="5B6F82"/>
                </a:solidFill>
                <a:latin typeface="Microsoft YaHei"/>
              </a:defRPr>
            </a:pPr>
            <a:r>
              <a:t>来源：报告5.1、5.2.4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7620">
            <a:solidFill>
              <a:srgbClr val="F6F8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47472" y="256032"/>
            <a:ext cx="73152" cy="310896"/>
          </a:xfrm>
          <a:prstGeom prst="rect">
            <a:avLst/>
          </a:prstGeom>
          <a:solidFill>
            <a:srgbClr val="0E9F9A"/>
          </a:solidFill>
          <a:ln w="7620">
            <a:solidFill>
              <a:srgbClr val="0E9F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93776" y="219456"/>
            <a:ext cx="777240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050" b="1">
                <a:solidFill>
                  <a:srgbClr val="5B6F82"/>
                </a:solidFill>
                <a:latin typeface="Microsoft YaHei"/>
              </a:defRPr>
            </a:pPr>
            <a:r>
              <a:t>第5章 取水水源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" y="603504"/>
            <a:ext cx="10607040" cy="53035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2400" b="1">
                <a:solidFill>
                  <a:srgbClr val="132D46"/>
                </a:solidFill>
                <a:latin typeface="Microsoft YaHei"/>
              </a:defRPr>
            </a:pPr>
            <a:r>
              <a:t>取水口与坝下渠系衔接紧密，工程路径清晰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36224" y="301752"/>
            <a:ext cx="438912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defRPr sz="900" b="1">
                <a:solidFill>
                  <a:srgbClr val="5B6F82"/>
                </a:solidFill>
                <a:latin typeface="Microsoft YaHei"/>
              </a:defRPr>
            </a:pPr>
            <a:r>
              <a:t>21</a:t>
            </a:r>
          </a:p>
        </p:txBody>
      </p:sp>
      <p:sp>
        <p:nvSpPr>
          <p:cNvPr id="7" name="Rectangle 6"/>
          <p:cNvSpPr/>
          <p:nvPr/>
        </p:nvSpPr>
        <p:spPr>
          <a:xfrm>
            <a:off x="493776" y="1097280"/>
            <a:ext cx="10881360" cy="13716"/>
          </a:xfrm>
          <a:prstGeom prst="rect">
            <a:avLst/>
          </a:prstGeom>
          <a:solidFill>
            <a:srgbClr val="C8D3D9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" y="1481328"/>
            <a:ext cx="6537960" cy="4443984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23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4355" y="1627632"/>
            <a:ext cx="5814545" cy="415137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7543800" y="1554480"/>
            <a:ext cx="3611880" cy="1225296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543800" y="1554480"/>
            <a:ext cx="64008" cy="1225296"/>
          </a:xfrm>
          <a:prstGeom prst="rect">
            <a:avLst/>
          </a:prstGeom>
          <a:solidFill>
            <a:srgbClr val="0E9F9A"/>
          </a:solidFill>
          <a:ln w="7620">
            <a:solidFill>
              <a:srgbClr val="0E9F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44968" y="1682495"/>
            <a:ext cx="411480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1">
                <a:solidFill>
                  <a:srgbClr val="0E9F9A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38744" y="1664207"/>
            <a:ext cx="2752344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00" b="1">
                <a:solidFill>
                  <a:srgbClr val="0E9F9A"/>
                </a:solidFill>
                <a:latin typeface="Microsoft YaHei"/>
              </a:rPr>
              <a:t>取水口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63256" y="2057400"/>
            <a:ext cx="3209544" cy="38404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0">
                <a:solidFill>
                  <a:srgbClr val="5B6F82"/>
                </a:solidFill>
                <a:latin typeface="Microsoft YaHei"/>
              </a:defRPr>
            </a:pPr>
            <a:r>
              <a:t>位于玉泉水库坝址处节制闸。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43800" y="3017520"/>
            <a:ext cx="3611880" cy="1225296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543800" y="3017520"/>
            <a:ext cx="64008" cy="1225296"/>
          </a:xfrm>
          <a:prstGeom prst="rect">
            <a:avLst/>
          </a:prstGeom>
          <a:solidFill>
            <a:srgbClr val="2E7D32"/>
          </a:solidFill>
          <a:ln w="762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44968" y="3145536"/>
            <a:ext cx="411480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1">
                <a:solidFill>
                  <a:srgbClr val="2E7D32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38744" y="3127248"/>
            <a:ext cx="2752344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00" b="1">
                <a:solidFill>
                  <a:srgbClr val="0E9F9A"/>
                </a:solidFill>
                <a:latin typeface="Microsoft YaHei"/>
              </a:rPr>
              <a:t>输水路径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63256" y="3520439"/>
            <a:ext cx="3209544" cy="38404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0">
                <a:solidFill>
                  <a:srgbClr val="5B6F82"/>
                </a:solidFill>
                <a:latin typeface="Microsoft YaHei"/>
              </a:defRPr>
            </a:pPr>
            <a:r>
              <a:t>衔接既有干支渠进入灌区。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543800" y="4480560"/>
            <a:ext cx="3611880" cy="1225296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543800" y="4480560"/>
            <a:ext cx="64008" cy="1225296"/>
          </a:xfrm>
          <a:prstGeom prst="rect">
            <a:avLst/>
          </a:prstGeom>
          <a:solidFill>
            <a:srgbClr val="B64A31"/>
          </a:solidFill>
          <a:ln w="7620">
            <a:solidFill>
              <a:srgbClr val="B64A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44968" y="4608576"/>
            <a:ext cx="411480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1">
                <a:solidFill>
                  <a:srgbClr val="B64A31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38744" y="4590288"/>
            <a:ext cx="2752344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00" b="1">
                <a:solidFill>
                  <a:srgbClr val="0E9F9A"/>
                </a:solidFill>
                <a:latin typeface="Microsoft YaHei"/>
              </a:rPr>
              <a:t>运行边界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63256" y="4983480"/>
            <a:ext cx="3209544" cy="38404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0">
                <a:solidFill>
                  <a:srgbClr val="5B6F82"/>
                </a:solidFill>
                <a:latin typeface="Microsoft YaHei"/>
              </a:defRPr>
            </a:pPr>
            <a:r>
              <a:t>受库水位、生态流量和补水协议约束。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3776" y="6419088"/>
            <a:ext cx="813816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850" b="0">
                <a:solidFill>
                  <a:srgbClr val="5B6F82"/>
                </a:solidFill>
                <a:latin typeface="Microsoft YaHei"/>
              </a:defRPr>
            </a:pPr>
            <a:r>
              <a:t>来源：报告附图三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558"/>
          </a:solidFill>
          <a:ln w="7620">
            <a:solidFill>
              <a:srgbClr val="0B3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1051560"/>
            <a:ext cx="73152" cy="4480560"/>
          </a:xfrm>
          <a:prstGeom prst="rect">
            <a:avLst/>
          </a:prstGeom>
          <a:solidFill>
            <a:srgbClr val="0E9F9A"/>
          </a:solidFill>
          <a:ln w="7620">
            <a:solidFill>
              <a:srgbClr val="0E9F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9536" y="1078992"/>
            <a:ext cx="329184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700" b="1">
                <a:solidFill>
                  <a:srgbClr val="E8F2F2"/>
                </a:solidFill>
                <a:latin typeface="Microsoft YaHei"/>
              </a:defRPr>
            </a:pPr>
            <a:r>
              <a:t>CHAPTER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" y="2084831"/>
            <a:ext cx="1188720" cy="7132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57984" y="2194560"/>
            <a:ext cx="8046720" cy="58521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2900" b="1">
                <a:solidFill>
                  <a:srgbClr val="FFFFFF"/>
                </a:solidFill>
                <a:latin typeface="Microsoft YaHei"/>
              </a:defRPr>
            </a:pPr>
            <a:r>
              <a:t>取水影响论证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3054096"/>
            <a:ext cx="7863840" cy="34747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0">
                <a:solidFill>
                  <a:srgbClr val="E8F2F2"/>
                </a:solidFill>
                <a:latin typeface="Microsoft YaHei"/>
              </a:defRPr>
            </a:pPr>
            <a:r>
              <a:t>分析取水对区域水资源配置、生态下泄、水功能区和其他用户的影响。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12848" y="3767328"/>
            <a:ext cx="2743200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500" b="1">
                <a:solidFill>
                  <a:srgbClr val="E8F2F2"/>
                </a:solidFill>
                <a:latin typeface="Microsoft YaHei"/>
              </a:defRPr>
            </a:pPr>
            <a:r>
              <a:t>第 6 章 / 共 9 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12848" y="4224528"/>
            <a:ext cx="7132320" cy="31089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500" b="0">
                <a:solidFill>
                  <a:srgbClr val="E8F2F2"/>
                </a:solidFill>
                <a:latin typeface="Microsoft YaHei"/>
              </a:defRPr>
            </a:pPr>
            <a:r>
              <a:t>本章保留报告原始证据页，并在后续页面对应表格、图件或原文段落展开。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78440" y="5815584"/>
            <a:ext cx="676656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defRPr sz="1200" b="1">
                <a:solidFill>
                  <a:srgbClr val="E8F2F2"/>
                </a:solidFill>
                <a:latin typeface="Microsoft YaHei"/>
              </a:defRPr>
            </a:pPr>
            <a: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7620">
            <a:solidFill>
              <a:srgbClr val="F6F8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47472" y="256032"/>
            <a:ext cx="73152" cy="310896"/>
          </a:xfrm>
          <a:prstGeom prst="rect">
            <a:avLst/>
          </a:prstGeom>
          <a:solidFill>
            <a:srgbClr val="0E9F9A"/>
          </a:solidFill>
          <a:ln w="7620">
            <a:solidFill>
              <a:srgbClr val="0E9F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93776" y="219456"/>
            <a:ext cx="777240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050" b="1">
                <a:solidFill>
                  <a:srgbClr val="5B6F82"/>
                </a:solidFill>
                <a:latin typeface="Microsoft YaHei"/>
              </a:defRPr>
            </a:pPr>
            <a:r>
              <a:t>第6章 取水影响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" y="603504"/>
            <a:ext cx="10607040" cy="53035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2400" b="1">
                <a:solidFill>
                  <a:srgbClr val="132D46"/>
                </a:solidFill>
                <a:latin typeface="Microsoft YaHei"/>
              </a:defRPr>
            </a:pPr>
            <a:r>
              <a:t>取水影响总体可控，但前提是生态下泄和补源计划刚性执行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36224" y="301752"/>
            <a:ext cx="438912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defRPr sz="900" b="1">
                <a:solidFill>
                  <a:srgbClr val="5B6F82"/>
                </a:solidFill>
                <a:latin typeface="Microsoft YaHei"/>
              </a:defRPr>
            </a:pPr>
            <a:r>
              <a:t>23</a:t>
            </a:r>
          </a:p>
        </p:txBody>
      </p:sp>
      <p:sp>
        <p:nvSpPr>
          <p:cNvPr id="7" name="Rectangle 6"/>
          <p:cNvSpPr/>
          <p:nvPr/>
        </p:nvSpPr>
        <p:spPr>
          <a:xfrm>
            <a:off x="493776" y="1097280"/>
            <a:ext cx="10881360" cy="13716"/>
          </a:xfrm>
          <a:prstGeom prst="rect">
            <a:avLst/>
          </a:prstGeom>
          <a:solidFill>
            <a:srgbClr val="C8D3D9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508760"/>
            <a:ext cx="6400800" cy="1417319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68096" y="1618488"/>
            <a:ext cx="420624" cy="310896"/>
          </a:xfrm>
          <a:prstGeom prst="rect">
            <a:avLst/>
          </a:prstGeom>
          <a:solidFill>
            <a:srgbClr val="0E9F9A"/>
          </a:solidFill>
          <a:ln w="7620">
            <a:solidFill>
              <a:srgbClr val="0E9F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664207"/>
            <a:ext cx="347472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16736" y="1581912"/>
            <a:ext cx="5614416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1">
                <a:solidFill>
                  <a:srgbClr val="132D46"/>
                </a:solidFill>
                <a:latin typeface="Microsoft YaHei"/>
              </a:defRPr>
            </a:pPr>
            <a:r>
              <a:t>在执行三干渠引水协议及年度调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16736" y="1837943"/>
            <a:ext cx="5596128" cy="101498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0">
                <a:solidFill>
                  <a:srgbClr val="5B6F82"/>
                </a:solidFill>
                <a:latin typeface="Microsoft YaHei"/>
              </a:defRPr>
            </a:pPr>
            <a:r>
              <a:t>在执行三干渠引水协议及年度调度计划的情况下，项目取水对区域地表水资源及配置方案无显著影响。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3017520"/>
            <a:ext cx="6400800" cy="1417319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8096" y="3127248"/>
            <a:ext cx="420624" cy="310896"/>
          </a:xfrm>
          <a:prstGeom prst="rect">
            <a:avLst/>
          </a:prstGeom>
          <a:solidFill>
            <a:srgbClr val="0E9F9A"/>
          </a:solidFill>
          <a:ln w="7620">
            <a:solidFill>
              <a:srgbClr val="0E9F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172968"/>
            <a:ext cx="347472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16736" y="3090672"/>
            <a:ext cx="5614416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1">
                <a:solidFill>
                  <a:srgbClr val="132D46"/>
                </a:solidFill>
                <a:latin typeface="Microsoft YaHei"/>
              </a:defRPr>
            </a:pPr>
            <a:r>
              <a:t>项目预留生态下泄流量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16736" y="3346703"/>
            <a:ext cx="5596128" cy="101498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0">
                <a:solidFill>
                  <a:srgbClr val="5B6F82"/>
                </a:solidFill>
                <a:latin typeface="Microsoft YaHei"/>
              </a:defRPr>
            </a:pPr>
            <a:r>
              <a:t>项目预留生态下泄流量，水库运行库容保持在死库容以上。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4526279"/>
            <a:ext cx="6400800" cy="1417319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68096" y="4636007"/>
            <a:ext cx="420624" cy="310896"/>
          </a:xfrm>
          <a:prstGeom prst="rect">
            <a:avLst/>
          </a:prstGeom>
          <a:solidFill>
            <a:srgbClr val="0E9F9A"/>
          </a:solidFill>
          <a:ln w="7620">
            <a:solidFill>
              <a:srgbClr val="0E9F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4681727"/>
            <a:ext cx="347472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16736" y="4599431"/>
            <a:ext cx="5614416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1">
                <a:solidFill>
                  <a:srgbClr val="132D46"/>
                </a:solidFill>
                <a:latin typeface="Microsoft YaHei"/>
              </a:defRPr>
            </a:pPr>
            <a:r>
              <a:t>项目无生产、生活废污水排放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16736" y="4855464"/>
            <a:ext cx="5596128" cy="101498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0">
                <a:solidFill>
                  <a:srgbClr val="5B6F82"/>
                </a:solidFill>
                <a:latin typeface="Microsoft YaHei"/>
              </a:defRPr>
            </a:pPr>
            <a:r>
              <a:t>项目无生产、生活废污水排放，不改变现状水域水质本底值。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24927" y="1572768"/>
            <a:ext cx="3886200" cy="877824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52944" y="1700784"/>
            <a:ext cx="3666744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800" b="1">
                <a:solidFill>
                  <a:srgbClr val="0E9F9A"/>
                </a:solidFill>
                <a:latin typeface="Microsoft YaHei"/>
              </a:rPr>
              <a:t>6.4万m3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52944" y="2084832"/>
            <a:ext cx="3666744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0">
                <a:solidFill>
                  <a:srgbClr val="5B6F82"/>
                </a:solidFill>
                <a:latin typeface="Microsoft YaHei"/>
              </a:defRPr>
            </a:pPr>
            <a:r>
              <a:t>死库容下限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424927" y="2743200"/>
            <a:ext cx="3886200" cy="877824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52944" y="2871216"/>
            <a:ext cx="3666744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800" b="1">
                <a:solidFill>
                  <a:srgbClr val="2E7D32"/>
                </a:solidFill>
                <a:latin typeface="Microsoft YaHei"/>
              </a:defRPr>
            </a:pPr>
            <a:r>
              <a:t>生态下泄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52944" y="3255264"/>
            <a:ext cx="3666744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0">
                <a:solidFill>
                  <a:srgbClr val="5B6F82"/>
                </a:solidFill>
                <a:latin typeface="Microsoft YaHei"/>
              </a:defRPr>
            </a:pPr>
            <a:r>
              <a:t>优先保障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24927" y="3913632"/>
            <a:ext cx="3886200" cy="877824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52944" y="4041648"/>
            <a:ext cx="3666744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800" b="1">
                <a:solidFill>
                  <a:srgbClr val="0B3558"/>
                </a:solidFill>
                <a:latin typeface="Microsoft YaHei"/>
              </a:defRPr>
            </a:pPr>
            <a:r>
              <a:t>其他用户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52944" y="4425696"/>
            <a:ext cx="3666744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0">
                <a:solidFill>
                  <a:srgbClr val="5B6F82"/>
                </a:solidFill>
                <a:latin typeface="Microsoft YaHei"/>
              </a:defRPr>
            </a:pPr>
            <a:r>
              <a:t>报告未列城镇工业用户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3776" y="6419088"/>
            <a:ext cx="813816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850" b="0">
                <a:solidFill>
                  <a:srgbClr val="5B6F82"/>
                </a:solidFill>
                <a:latin typeface="Microsoft YaHei"/>
              </a:defRPr>
            </a:pPr>
            <a:r>
              <a:t>来源：报告第6章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558"/>
          </a:solidFill>
          <a:ln w="7620">
            <a:solidFill>
              <a:srgbClr val="0B3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1051560"/>
            <a:ext cx="73152" cy="4480560"/>
          </a:xfrm>
          <a:prstGeom prst="rect">
            <a:avLst/>
          </a:prstGeom>
          <a:solidFill>
            <a:srgbClr val="0E9F9A"/>
          </a:solidFill>
          <a:ln w="7620">
            <a:solidFill>
              <a:srgbClr val="0E9F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9536" y="1078992"/>
            <a:ext cx="329184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700" b="1">
                <a:solidFill>
                  <a:srgbClr val="E8F2F2"/>
                </a:solidFill>
                <a:latin typeface="Microsoft YaHei"/>
              </a:defRPr>
            </a:pPr>
            <a:r>
              <a:t>CHAPTER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" y="2084831"/>
            <a:ext cx="1188720" cy="7132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57984" y="2194560"/>
            <a:ext cx="8046720" cy="58521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2900" b="1">
                <a:solidFill>
                  <a:srgbClr val="FFFFFF"/>
                </a:solidFill>
                <a:latin typeface="Microsoft YaHei"/>
              </a:defRPr>
            </a:pPr>
            <a:r>
              <a:t>退水影响论证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3054096"/>
            <a:ext cx="7863840" cy="34747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00" b="0">
                <a:solidFill>
                  <a:srgbClr val="E8F2F2"/>
                </a:solidFill>
                <a:latin typeface="Microsoft YaHei"/>
              </a:rPr>
              <a:t>说明农业回归水的组成、时空规律、受纳路径、水质</a:t>
            </a:r>
            <a:r>
              <a:rPr sz="1400" b="1">
                <a:solidFill>
                  <a:srgbClr val="0E9F9A"/>
                </a:solidFill>
                <a:latin typeface="Microsoft YaHei"/>
              </a:rPr>
              <a:t>风险</a:t>
            </a:r>
            <a:r>
              <a:rPr sz="1400" b="0">
                <a:solidFill>
                  <a:srgbClr val="E8F2F2"/>
                </a:solidFill>
                <a:latin typeface="Microsoft YaHei"/>
              </a:rPr>
              <a:t>和生态作用。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12848" y="3767328"/>
            <a:ext cx="2743200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500" b="1">
                <a:solidFill>
                  <a:srgbClr val="E8F2F2"/>
                </a:solidFill>
                <a:latin typeface="Microsoft YaHei"/>
              </a:defRPr>
            </a:pPr>
            <a:r>
              <a:t>第 7 章 / 共 9 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12848" y="4224528"/>
            <a:ext cx="7132320" cy="31089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500" b="0">
                <a:solidFill>
                  <a:srgbClr val="E8F2F2"/>
                </a:solidFill>
                <a:latin typeface="Microsoft YaHei"/>
              </a:defRPr>
            </a:pPr>
            <a:r>
              <a:t>本章保留报告原始证据页，并在后续页面对应表格、图件或原文段落展开。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78440" y="5815584"/>
            <a:ext cx="676656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defRPr sz="1200" b="1">
                <a:solidFill>
                  <a:srgbClr val="E8F2F2"/>
                </a:solidFill>
                <a:latin typeface="Microsoft YaHei"/>
              </a:defRPr>
            </a:pPr>
            <a: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7620">
            <a:solidFill>
              <a:srgbClr val="F6F8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47472" y="256032"/>
            <a:ext cx="73152" cy="310896"/>
          </a:xfrm>
          <a:prstGeom prst="rect">
            <a:avLst/>
          </a:prstGeom>
          <a:solidFill>
            <a:srgbClr val="0E9F9A"/>
          </a:solidFill>
          <a:ln w="7620">
            <a:solidFill>
              <a:srgbClr val="0E9F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93776" y="219456"/>
            <a:ext cx="777240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050" b="1">
                <a:solidFill>
                  <a:srgbClr val="5B6F82"/>
                </a:solidFill>
                <a:latin typeface="Microsoft YaHei"/>
              </a:defRPr>
            </a:pPr>
            <a:r>
              <a:t>第7章 退水影响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" y="603504"/>
            <a:ext cx="10607040" cy="53035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2400" b="1">
                <a:solidFill>
                  <a:srgbClr val="132D46"/>
                </a:solidFill>
                <a:latin typeface="Microsoft YaHei"/>
              </a:defRPr>
            </a:pPr>
            <a:r>
              <a:t>退水影响范围覆盖子龙、合意和玉泉三村灌区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36224" y="301752"/>
            <a:ext cx="438912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defRPr sz="900" b="1">
                <a:solidFill>
                  <a:srgbClr val="5B6F82"/>
                </a:solidFill>
                <a:latin typeface="Microsoft YaHei"/>
              </a:defRPr>
            </a:pPr>
            <a:r>
              <a:t>25</a:t>
            </a:r>
          </a:p>
        </p:txBody>
      </p:sp>
      <p:sp>
        <p:nvSpPr>
          <p:cNvPr id="7" name="Rectangle 6"/>
          <p:cNvSpPr/>
          <p:nvPr/>
        </p:nvSpPr>
        <p:spPr>
          <a:xfrm>
            <a:off x="493776" y="1097280"/>
            <a:ext cx="10881360" cy="13716"/>
          </a:xfrm>
          <a:prstGeom prst="rect">
            <a:avLst/>
          </a:prstGeom>
          <a:solidFill>
            <a:srgbClr val="C8D3D9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" y="1481328"/>
            <a:ext cx="6537960" cy="4443984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24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839" y="1627632"/>
            <a:ext cx="5865576" cy="415137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7543800" y="1554480"/>
            <a:ext cx="3611880" cy="1225296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543800" y="1554480"/>
            <a:ext cx="64008" cy="1225296"/>
          </a:xfrm>
          <a:prstGeom prst="rect">
            <a:avLst/>
          </a:prstGeom>
          <a:solidFill>
            <a:srgbClr val="0E9F9A"/>
          </a:solidFill>
          <a:ln w="7620">
            <a:solidFill>
              <a:srgbClr val="0E9F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44968" y="1682495"/>
            <a:ext cx="411480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1">
                <a:solidFill>
                  <a:srgbClr val="0E9F9A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38744" y="1664207"/>
            <a:ext cx="2752344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00" b="1">
                <a:solidFill>
                  <a:srgbClr val="0E9F9A"/>
                </a:solidFill>
                <a:latin typeface="Microsoft YaHei"/>
              </a:rPr>
              <a:t>退水性质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63256" y="2057400"/>
            <a:ext cx="3209544" cy="38404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0">
                <a:solidFill>
                  <a:srgbClr val="5B6F82"/>
                </a:solidFill>
                <a:latin typeface="Microsoft YaHei"/>
              </a:defRPr>
            </a:pPr>
            <a:r>
              <a:t>田间渗漏水和灌溉尾水。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43800" y="3017520"/>
            <a:ext cx="3611880" cy="1225296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543800" y="3017520"/>
            <a:ext cx="64008" cy="1225296"/>
          </a:xfrm>
          <a:prstGeom prst="rect">
            <a:avLst/>
          </a:prstGeom>
          <a:solidFill>
            <a:srgbClr val="B64A31"/>
          </a:solidFill>
          <a:ln w="7620">
            <a:solidFill>
              <a:srgbClr val="B64A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44968" y="3145536"/>
            <a:ext cx="411480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1">
                <a:solidFill>
                  <a:srgbClr val="B64A31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38744" y="3127248"/>
            <a:ext cx="2752344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00" b="1">
                <a:solidFill>
                  <a:srgbClr val="0E9F9A"/>
                </a:solidFill>
                <a:latin typeface="Microsoft YaHei"/>
              </a:rPr>
              <a:t>退水规模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63256" y="3520439"/>
            <a:ext cx="3209544" cy="38404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00" b="0">
                <a:solidFill>
                  <a:srgbClr val="5B6F82"/>
                </a:solidFill>
                <a:latin typeface="Microsoft YaHei"/>
              </a:rPr>
              <a:t>年退水量</a:t>
            </a:r>
            <a:r>
              <a:rPr sz="1400" b="1">
                <a:solidFill>
                  <a:srgbClr val="0E9F9A"/>
                </a:solidFill>
                <a:latin typeface="Microsoft YaHei"/>
              </a:rPr>
              <a:t>150万m3</a:t>
            </a:r>
            <a:r>
              <a:rPr sz="1400" b="0">
                <a:solidFill>
                  <a:srgbClr val="5B6F82"/>
                </a:solidFill>
                <a:latin typeface="Microsoft YaHei"/>
              </a:rPr>
              <a:t>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543800" y="4480560"/>
            <a:ext cx="3611880" cy="1225296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543800" y="4480560"/>
            <a:ext cx="64008" cy="1225296"/>
          </a:xfrm>
          <a:prstGeom prst="rect">
            <a:avLst/>
          </a:prstGeom>
          <a:solidFill>
            <a:srgbClr val="2E7D32"/>
          </a:solidFill>
          <a:ln w="762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44968" y="4608576"/>
            <a:ext cx="411480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1">
                <a:solidFill>
                  <a:srgbClr val="2E7D32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38744" y="4590288"/>
            <a:ext cx="2752344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00" b="1">
                <a:solidFill>
                  <a:srgbClr val="0E9F9A"/>
                </a:solidFill>
                <a:latin typeface="Microsoft YaHei"/>
              </a:rPr>
              <a:t>空间特征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63256" y="4983480"/>
            <a:ext cx="3209544" cy="38404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0">
                <a:solidFill>
                  <a:srgbClr val="5B6F82"/>
                </a:solidFill>
                <a:latin typeface="Microsoft YaHei"/>
              </a:defRPr>
            </a:pPr>
            <a:r>
              <a:t>分散进入浅层地下水或周边地表水体。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3776" y="6419088"/>
            <a:ext cx="813816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850" b="0">
                <a:solidFill>
                  <a:srgbClr val="5B6F82"/>
                </a:solidFill>
                <a:latin typeface="Microsoft YaHei"/>
              </a:defRPr>
            </a:pPr>
            <a:r>
              <a:t>来源：报告附图四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7620">
            <a:solidFill>
              <a:srgbClr val="F6F8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47472" y="256032"/>
            <a:ext cx="73152" cy="310896"/>
          </a:xfrm>
          <a:prstGeom prst="rect">
            <a:avLst/>
          </a:prstGeom>
          <a:solidFill>
            <a:srgbClr val="0E9F9A"/>
          </a:solidFill>
          <a:ln w="7620">
            <a:solidFill>
              <a:srgbClr val="0E9F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93776" y="219456"/>
            <a:ext cx="777240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050" b="1">
                <a:solidFill>
                  <a:srgbClr val="5B6F82"/>
                </a:solidFill>
                <a:latin typeface="Microsoft YaHei"/>
              </a:defRPr>
            </a:pPr>
            <a:r>
              <a:t>第7章 退水影响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" y="603504"/>
            <a:ext cx="10607040" cy="53035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2400" b="1">
                <a:solidFill>
                  <a:srgbClr val="132D46"/>
                </a:solidFill>
                <a:latin typeface="Microsoft YaHei"/>
              </a:defRPr>
            </a:pPr>
            <a:r>
              <a:t>退水方案可行，但面源污染控制需要运行期验证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36224" y="301752"/>
            <a:ext cx="438912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defRPr sz="900" b="1">
                <a:solidFill>
                  <a:srgbClr val="5B6F82"/>
                </a:solidFill>
                <a:latin typeface="Microsoft YaHei"/>
              </a:defRPr>
            </a:pPr>
            <a:r>
              <a:t>26</a:t>
            </a:r>
          </a:p>
        </p:txBody>
      </p:sp>
      <p:sp>
        <p:nvSpPr>
          <p:cNvPr id="7" name="Rectangle 6"/>
          <p:cNvSpPr/>
          <p:nvPr/>
        </p:nvSpPr>
        <p:spPr>
          <a:xfrm>
            <a:off x="493776" y="1097280"/>
            <a:ext cx="10881360" cy="13716"/>
          </a:xfrm>
          <a:prstGeom prst="rect">
            <a:avLst/>
          </a:prstGeom>
          <a:solidFill>
            <a:srgbClr val="C8D3D9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508760"/>
            <a:ext cx="10149840" cy="1417319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68096" y="1618488"/>
            <a:ext cx="420624" cy="310896"/>
          </a:xfrm>
          <a:prstGeom prst="rect">
            <a:avLst/>
          </a:prstGeom>
          <a:solidFill>
            <a:srgbClr val="0E9F9A"/>
          </a:solidFill>
          <a:ln w="7620">
            <a:solidFill>
              <a:srgbClr val="0E9F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664207"/>
            <a:ext cx="347472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16736" y="1581912"/>
            <a:ext cx="9363456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1">
                <a:solidFill>
                  <a:srgbClr val="132D46"/>
                </a:solidFill>
                <a:latin typeface="Microsoft YaHei"/>
              </a:defRPr>
            </a:pPr>
            <a:r>
              <a:t>退水与灌水周期同步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16736" y="1837943"/>
            <a:ext cx="9345167" cy="101498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00" b="0">
                <a:solidFill>
                  <a:srgbClr val="5B6F82"/>
                </a:solidFill>
                <a:latin typeface="Microsoft YaHei"/>
              </a:rPr>
              <a:t>退水与灌水周期同步，</a:t>
            </a:r>
            <a:r>
              <a:rPr sz="1400" b="1">
                <a:solidFill>
                  <a:srgbClr val="0E9F9A"/>
                </a:solidFill>
                <a:latin typeface="Microsoft YaHei"/>
              </a:rPr>
              <a:t>7</a:t>
            </a:r>
            <a:r>
              <a:rPr sz="1400" b="0">
                <a:solidFill>
                  <a:srgbClr val="5B6F82"/>
                </a:solidFill>
                <a:latin typeface="Microsoft YaHei"/>
              </a:rPr>
              <a:t>—</a:t>
            </a:r>
            <a:r>
              <a:rPr sz="1400" b="1">
                <a:solidFill>
                  <a:srgbClr val="0E9F9A"/>
                </a:solidFill>
                <a:latin typeface="Microsoft YaHei"/>
              </a:rPr>
              <a:t>8月</a:t>
            </a:r>
            <a:r>
              <a:rPr sz="1400" b="0">
                <a:solidFill>
                  <a:srgbClr val="5B6F82"/>
                </a:solidFill>
                <a:latin typeface="Microsoft YaHei"/>
              </a:rPr>
              <a:t>为高峰，非灌溉季基本无退水。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3017520"/>
            <a:ext cx="10149840" cy="1417319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8096" y="3127248"/>
            <a:ext cx="420624" cy="310896"/>
          </a:xfrm>
          <a:prstGeom prst="rect">
            <a:avLst/>
          </a:prstGeom>
          <a:solidFill>
            <a:srgbClr val="0E9F9A"/>
          </a:solidFill>
          <a:ln w="7620">
            <a:solidFill>
              <a:srgbClr val="0E9F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172968"/>
            <a:ext cx="347472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16736" y="3090672"/>
            <a:ext cx="9363456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1">
                <a:solidFill>
                  <a:srgbClr val="132D46"/>
                </a:solidFill>
                <a:latin typeface="Microsoft YaHei"/>
              </a:defRPr>
            </a:pPr>
            <a:r>
              <a:t>土壤吸附、沟渠沉淀和植被拦截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16736" y="3346703"/>
            <a:ext cx="9345167" cy="101498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0">
                <a:solidFill>
                  <a:srgbClr val="5B6F82"/>
                </a:solidFill>
                <a:latin typeface="Microsoft YaHei"/>
              </a:defRPr>
            </a:pPr>
            <a:r>
              <a:t>土壤吸附、沟渠沉淀和植被拦截可降低污染负荷。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4526279"/>
            <a:ext cx="10149840" cy="1417319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68096" y="4636007"/>
            <a:ext cx="420624" cy="310896"/>
          </a:xfrm>
          <a:prstGeom prst="rect">
            <a:avLst/>
          </a:prstGeom>
          <a:solidFill>
            <a:srgbClr val="0E9F9A"/>
          </a:solidFill>
          <a:ln w="7620">
            <a:solidFill>
              <a:srgbClr val="0E9F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4681727"/>
            <a:ext cx="347472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16736" y="4599431"/>
            <a:ext cx="9363456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1">
                <a:solidFill>
                  <a:srgbClr val="132D46"/>
                </a:solidFill>
                <a:latin typeface="Microsoft YaHei"/>
              </a:defRPr>
            </a:pPr>
            <a:r>
              <a:t>仍需通过化肥农药减量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16736" y="4855464"/>
            <a:ext cx="9345167" cy="101498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00" b="0">
                <a:solidFill>
                  <a:srgbClr val="5B6F82"/>
                </a:solidFill>
                <a:latin typeface="Microsoft YaHei"/>
              </a:rPr>
              <a:t>仍需通过化肥农药减量、生态沟渠和关键断面监测验证环境</a:t>
            </a:r>
            <a:r>
              <a:rPr sz="1400" b="1">
                <a:solidFill>
                  <a:srgbClr val="0E9F9A"/>
                </a:solidFill>
                <a:latin typeface="Microsoft YaHei"/>
              </a:rPr>
              <a:t>风险</a:t>
            </a:r>
            <a:r>
              <a:rPr sz="1400" b="0">
                <a:solidFill>
                  <a:srgbClr val="5B6F82"/>
                </a:solidFill>
                <a:latin typeface="Microsoft YaHei"/>
              </a:rPr>
              <a:t>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3776" y="6419088"/>
            <a:ext cx="813816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850" b="0">
                <a:solidFill>
                  <a:srgbClr val="5B6F82"/>
                </a:solidFill>
                <a:latin typeface="Microsoft YaHei"/>
              </a:defRPr>
            </a:pPr>
            <a:r>
              <a:t>来源：报告7.1—7.5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558"/>
          </a:solidFill>
          <a:ln w="7620">
            <a:solidFill>
              <a:srgbClr val="0B3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1051560"/>
            <a:ext cx="73152" cy="4480560"/>
          </a:xfrm>
          <a:prstGeom prst="rect">
            <a:avLst/>
          </a:prstGeom>
          <a:solidFill>
            <a:srgbClr val="0E9F9A"/>
          </a:solidFill>
          <a:ln w="7620">
            <a:solidFill>
              <a:srgbClr val="0E9F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9536" y="1078992"/>
            <a:ext cx="329184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700" b="1">
                <a:solidFill>
                  <a:srgbClr val="E8F2F2"/>
                </a:solidFill>
                <a:latin typeface="Microsoft YaHei"/>
              </a:defRPr>
            </a:pPr>
            <a:r>
              <a:t>CHAPTER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" y="2084831"/>
            <a:ext cx="1188720" cy="7132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57984" y="2194560"/>
            <a:ext cx="8046720" cy="58521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2900" b="1">
                <a:solidFill>
                  <a:srgbClr val="FFFFFF"/>
                </a:solidFill>
                <a:latin typeface="Microsoft YaHei"/>
              </a:defRPr>
            </a:pPr>
            <a:r>
              <a:t>水资源节约、保护及管理措施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3054096"/>
            <a:ext cx="7863840" cy="34747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0">
                <a:solidFill>
                  <a:srgbClr val="E8F2F2"/>
                </a:solidFill>
                <a:latin typeface="Microsoft YaHei"/>
              </a:defRPr>
            </a:pPr>
            <a:r>
              <a:t>将工程节水转化为许可计划、计量监测、运维管护和水环境保护的长期闭环。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12848" y="3767328"/>
            <a:ext cx="2743200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500" b="1">
                <a:solidFill>
                  <a:srgbClr val="E8F2F2"/>
                </a:solidFill>
                <a:latin typeface="Microsoft YaHei"/>
              </a:defRPr>
            </a:pPr>
            <a:r>
              <a:t>第 8 章 / 共 9 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12848" y="4224528"/>
            <a:ext cx="7132320" cy="31089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500" b="0">
                <a:solidFill>
                  <a:srgbClr val="E8F2F2"/>
                </a:solidFill>
                <a:latin typeface="Microsoft YaHei"/>
              </a:defRPr>
            </a:pPr>
            <a:r>
              <a:t>本章保留报告原始证据页，并在后续页面对应表格、图件或原文段落展开。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78440" y="5815584"/>
            <a:ext cx="676656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defRPr sz="1200" b="1">
                <a:solidFill>
                  <a:srgbClr val="E8F2F2"/>
                </a:solidFill>
                <a:latin typeface="Microsoft YaHei"/>
              </a:defRPr>
            </a:pPr>
            <a: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7620">
            <a:solidFill>
              <a:srgbClr val="F6F8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47472" y="256032"/>
            <a:ext cx="73152" cy="310896"/>
          </a:xfrm>
          <a:prstGeom prst="rect">
            <a:avLst/>
          </a:prstGeom>
          <a:solidFill>
            <a:srgbClr val="0E9F9A"/>
          </a:solidFill>
          <a:ln w="7620">
            <a:solidFill>
              <a:srgbClr val="0E9F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93776" y="219456"/>
            <a:ext cx="777240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050" b="1">
                <a:solidFill>
                  <a:srgbClr val="5B6F82"/>
                </a:solidFill>
                <a:latin typeface="Microsoft YaHei"/>
              </a:defRPr>
            </a:pPr>
            <a:r>
              <a:t>第8章 管理措施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" y="603504"/>
            <a:ext cx="10607040" cy="53035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2400" b="1">
                <a:solidFill>
                  <a:srgbClr val="132D46"/>
                </a:solidFill>
                <a:latin typeface="Microsoft YaHei"/>
              </a:rPr>
              <a:t>管理</a:t>
            </a:r>
            <a:r>
              <a:rPr sz="2400" b="1">
                <a:solidFill>
                  <a:srgbClr val="0E9F9A"/>
                </a:solidFill>
                <a:latin typeface="Microsoft YaHei"/>
              </a:rPr>
              <a:t>措施</a:t>
            </a:r>
            <a:r>
              <a:rPr sz="2400" b="1">
                <a:solidFill>
                  <a:srgbClr val="132D46"/>
                </a:solidFill>
                <a:latin typeface="Microsoft YaHei"/>
              </a:rPr>
              <a:t>覆盖节水、保护、许可、计量和运维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36224" y="301752"/>
            <a:ext cx="438912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defRPr sz="900" b="1">
                <a:solidFill>
                  <a:srgbClr val="5B6F82"/>
                </a:solidFill>
                <a:latin typeface="Microsoft YaHei"/>
              </a:defRPr>
            </a:pPr>
            <a:r>
              <a:t>28</a:t>
            </a:r>
          </a:p>
        </p:txBody>
      </p:sp>
      <p:sp>
        <p:nvSpPr>
          <p:cNvPr id="7" name="Rectangle 6"/>
          <p:cNvSpPr/>
          <p:nvPr/>
        </p:nvSpPr>
        <p:spPr>
          <a:xfrm>
            <a:off x="493776" y="1097280"/>
            <a:ext cx="10881360" cy="13716"/>
          </a:xfrm>
          <a:prstGeom prst="rect">
            <a:avLst/>
          </a:prstGeom>
          <a:solidFill>
            <a:srgbClr val="C8D3D9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508760"/>
            <a:ext cx="10149840" cy="1040130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68096" y="1618488"/>
            <a:ext cx="420624" cy="310896"/>
          </a:xfrm>
          <a:prstGeom prst="rect">
            <a:avLst/>
          </a:prstGeom>
          <a:solidFill>
            <a:srgbClr val="0E9F9A"/>
          </a:solidFill>
          <a:ln w="7620">
            <a:solidFill>
              <a:srgbClr val="0E9F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664207"/>
            <a:ext cx="347472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16736" y="1581912"/>
            <a:ext cx="9363456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1">
                <a:solidFill>
                  <a:srgbClr val="132D46"/>
                </a:solidFill>
                <a:latin typeface="Microsoft YaHei"/>
              </a:defRPr>
            </a:pPr>
            <a:r>
              <a:t>推进干支渠及末级渠系防渗整治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16736" y="1837943"/>
            <a:ext cx="9345167" cy="63779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0">
                <a:solidFill>
                  <a:srgbClr val="5B6F82"/>
                </a:solidFill>
                <a:latin typeface="Microsoft YaHei"/>
              </a:defRPr>
            </a:pPr>
            <a:r>
              <a:t>推进干支渠及末级渠系防渗整治，推广低压管输和精准灌溉。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2640330"/>
            <a:ext cx="10149840" cy="1040130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8096" y="2750058"/>
            <a:ext cx="420624" cy="310896"/>
          </a:xfrm>
          <a:prstGeom prst="rect">
            <a:avLst/>
          </a:prstGeom>
          <a:solidFill>
            <a:srgbClr val="0E9F9A"/>
          </a:solidFill>
          <a:ln w="7620">
            <a:solidFill>
              <a:srgbClr val="0E9F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2795778"/>
            <a:ext cx="347472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16736" y="2713482"/>
            <a:ext cx="9363456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1">
                <a:solidFill>
                  <a:srgbClr val="132D46"/>
                </a:solidFill>
                <a:latin typeface="Microsoft YaHei"/>
              </a:defRPr>
            </a:pPr>
            <a:r>
              <a:t>推广测土配方施肥和生态农业技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16736" y="2969514"/>
            <a:ext cx="9345167" cy="63779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0">
                <a:solidFill>
                  <a:srgbClr val="5B6F82"/>
                </a:solidFill>
                <a:latin typeface="Microsoft YaHei"/>
              </a:defRPr>
            </a:pPr>
            <a:r>
              <a:t>推广测土配方施肥和生态农业技术，减少化学肥料用量和农业面源污染。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771900"/>
            <a:ext cx="10149840" cy="1040130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68096" y="3881628"/>
            <a:ext cx="420624" cy="310896"/>
          </a:xfrm>
          <a:prstGeom prst="rect">
            <a:avLst/>
          </a:prstGeom>
          <a:solidFill>
            <a:srgbClr val="0E9F9A"/>
          </a:solidFill>
          <a:ln w="7620">
            <a:solidFill>
              <a:srgbClr val="0E9F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3927348"/>
            <a:ext cx="347472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16736" y="3845052"/>
            <a:ext cx="9363456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1">
                <a:solidFill>
                  <a:srgbClr val="132D46"/>
                </a:solidFill>
                <a:latin typeface="Microsoft YaHei"/>
              </a:defRPr>
            </a:pPr>
            <a:r>
              <a:t>依法办理取水许可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16736" y="4101084"/>
            <a:ext cx="9345167" cy="63779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0">
                <a:solidFill>
                  <a:srgbClr val="5B6F82"/>
                </a:solidFill>
                <a:latin typeface="Microsoft YaHei"/>
              </a:defRPr>
            </a:pPr>
            <a:r>
              <a:t>依法办理取水许可，安装标准化计量设施，建立用水台账和数据上报制度。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4903470"/>
            <a:ext cx="10149840" cy="1040130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68096" y="5013198"/>
            <a:ext cx="420624" cy="310896"/>
          </a:xfrm>
          <a:prstGeom prst="rect">
            <a:avLst/>
          </a:prstGeom>
          <a:solidFill>
            <a:srgbClr val="0E9F9A"/>
          </a:solidFill>
          <a:ln w="7620">
            <a:solidFill>
              <a:srgbClr val="0E9F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4672" y="5058918"/>
            <a:ext cx="347472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16736" y="4976622"/>
            <a:ext cx="9363456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1">
                <a:solidFill>
                  <a:srgbClr val="132D46"/>
                </a:solidFill>
                <a:latin typeface="Microsoft YaHei"/>
              </a:defRPr>
            </a:pPr>
            <a:r>
              <a:t>建立水库及渠系专业化管护机制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16736" y="5232654"/>
            <a:ext cx="9345167" cy="63779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0">
                <a:solidFill>
                  <a:srgbClr val="5B6F82"/>
                </a:solidFill>
                <a:latin typeface="Microsoft YaHei"/>
              </a:defRPr>
            </a:pPr>
            <a:r>
              <a:t>建立水库及渠系专业化管护机制，开展工程巡查养护。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3776" y="6419088"/>
            <a:ext cx="813816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850" b="0">
                <a:solidFill>
                  <a:srgbClr val="5B6F82"/>
                </a:solidFill>
                <a:latin typeface="Microsoft YaHei"/>
              </a:defRPr>
            </a:pPr>
            <a:r>
              <a:t>来源：报告第8章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558"/>
          </a:solidFill>
          <a:ln w="7620">
            <a:solidFill>
              <a:srgbClr val="0B3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1051560"/>
            <a:ext cx="73152" cy="4480560"/>
          </a:xfrm>
          <a:prstGeom prst="rect">
            <a:avLst/>
          </a:prstGeom>
          <a:solidFill>
            <a:srgbClr val="0E9F9A"/>
          </a:solidFill>
          <a:ln w="7620">
            <a:solidFill>
              <a:srgbClr val="0E9F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9536" y="1078992"/>
            <a:ext cx="329184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700" b="1">
                <a:solidFill>
                  <a:srgbClr val="E8F2F2"/>
                </a:solidFill>
                <a:latin typeface="Microsoft YaHei"/>
              </a:defRPr>
            </a:pPr>
            <a:r>
              <a:t>CHAPTER 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" y="2084831"/>
            <a:ext cx="1188720" cy="7132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57984" y="2194560"/>
            <a:ext cx="8046720" cy="58521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2900" b="1">
                <a:solidFill>
                  <a:srgbClr val="FFFFFF"/>
                </a:solidFill>
                <a:latin typeface="Microsoft YaHei"/>
              </a:defRPr>
            </a:pPr>
            <a:r>
              <a:t>结论与建议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3054096"/>
            <a:ext cx="7863840" cy="34747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00" b="0">
                <a:solidFill>
                  <a:srgbClr val="E8F2F2"/>
                </a:solidFill>
                <a:latin typeface="Microsoft YaHei"/>
              </a:rPr>
              <a:t>归纳报告关于用水合理性、水源可靠性和取退水影响的</a:t>
            </a:r>
            <a:r>
              <a:rPr sz="1400" b="1">
                <a:solidFill>
                  <a:srgbClr val="0E9F9A"/>
                </a:solidFill>
                <a:latin typeface="Microsoft YaHei"/>
              </a:rPr>
              <a:t>结论</a:t>
            </a:r>
            <a:r>
              <a:rPr sz="1400" b="0">
                <a:solidFill>
                  <a:srgbClr val="E8F2F2"/>
                </a:solidFill>
                <a:latin typeface="Microsoft YaHei"/>
              </a:rPr>
              <a:t>，并转化为审批条件。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12848" y="3767328"/>
            <a:ext cx="2743200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500" b="1">
                <a:solidFill>
                  <a:srgbClr val="E8F2F2"/>
                </a:solidFill>
                <a:latin typeface="Microsoft YaHei"/>
              </a:defRPr>
            </a:pPr>
            <a:r>
              <a:t>第 9 章 / 共 9 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12848" y="4224528"/>
            <a:ext cx="7132320" cy="31089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500" b="0">
                <a:solidFill>
                  <a:srgbClr val="E8F2F2"/>
                </a:solidFill>
                <a:latin typeface="Microsoft YaHei"/>
              </a:defRPr>
            </a:pPr>
            <a:r>
              <a:t>本章保留报告原始证据页，并在后续页面对应表格、图件或原文段落展开。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78440" y="5815584"/>
            <a:ext cx="676656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defRPr sz="1200" b="1">
                <a:solidFill>
                  <a:srgbClr val="E8F2F2"/>
                </a:solidFill>
                <a:latin typeface="Microsoft YaHei"/>
              </a:defRPr>
            </a:pPr>
            <a: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7620">
            <a:solidFill>
              <a:srgbClr val="F6F8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47472" y="256032"/>
            <a:ext cx="73152" cy="310896"/>
          </a:xfrm>
          <a:prstGeom prst="rect">
            <a:avLst/>
          </a:prstGeom>
          <a:solidFill>
            <a:srgbClr val="0E9F9A"/>
          </a:solidFill>
          <a:ln w="7620">
            <a:solidFill>
              <a:srgbClr val="0E9F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93776" y="219456"/>
            <a:ext cx="777240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050" b="1">
                <a:solidFill>
                  <a:srgbClr val="5B6F82"/>
                </a:solidFill>
                <a:latin typeface="Microsoft YaHei"/>
              </a:defRPr>
            </a:pPr>
            <a:r>
              <a:t>第9章 结论建议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" y="603504"/>
            <a:ext cx="10607040" cy="53035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2400" b="1">
                <a:solidFill>
                  <a:srgbClr val="132D46"/>
                </a:solidFill>
                <a:latin typeface="Microsoft YaHei"/>
              </a:defRPr>
            </a:pPr>
            <a:r>
              <a:t>报告总体认为项目取用水合理、联合水源方案可行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36224" y="301752"/>
            <a:ext cx="438912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defRPr sz="900" b="1">
                <a:solidFill>
                  <a:srgbClr val="5B6F82"/>
                </a:solidFill>
                <a:latin typeface="Microsoft YaHei"/>
              </a:defRPr>
            </a:pPr>
            <a:r>
              <a:t>30</a:t>
            </a:r>
          </a:p>
        </p:txBody>
      </p:sp>
      <p:sp>
        <p:nvSpPr>
          <p:cNvPr id="7" name="Rectangle 6"/>
          <p:cNvSpPr/>
          <p:nvPr/>
        </p:nvSpPr>
        <p:spPr>
          <a:xfrm>
            <a:off x="493776" y="1097280"/>
            <a:ext cx="10881360" cy="13716"/>
          </a:xfrm>
          <a:prstGeom prst="rect">
            <a:avLst/>
          </a:prstGeom>
          <a:solidFill>
            <a:srgbClr val="C8D3D9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508760"/>
            <a:ext cx="6400800" cy="1417319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68096" y="1618488"/>
            <a:ext cx="420624" cy="310896"/>
          </a:xfrm>
          <a:prstGeom prst="rect">
            <a:avLst/>
          </a:prstGeom>
          <a:solidFill>
            <a:srgbClr val="0E9F9A"/>
          </a:solidFill>
          <a:ln w="7620">
            <a:solidFill>
              <a:srgbClr val="0E9F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664207"/>
            <a:ext cx="347472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16736" y="1581912"/>
            <a:ext cx="5614416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1">
                <a:solidFill>
                  <a:srgbClr val="132D46"/>
                </a:solidFill>
                <a:latin typeface="Microsoft YaHei"/>
              </a:defRPr>
            </a:pPr>
            <a:r>
              <a:t>项目服务于现有农业灌溉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16736" y="1837943"/>
            <a:ext cx="5596128" cy="101498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0">
                <a:solidFill>
                  <a:srgbClr val="5B6F82"/>
                </a:solidFill>
                <a:latin typeface="Microsoft YaHei"/>
              </a:defRPr>
            </a:pPr>
            <a:r>
              <a:t>项目服务于现有农业灌溉，规划水平年不以扩大种植规模增加需水。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3017520"/>
            <a:ext cx="6400800" cy="1417319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8096" y="3127248"/>
            <a:ext cx="420624" cy="310896"/>
          </a:xfrm>
          <a:prstGeom prst="rect">
            <a:avLst/>
          </a:prstGeom>
          <a:solidFill>
            <a:srgbClr val="0E9F9A"/>
          </a:solidFill>
          <a:ln w="7620">
            <a:solidFill>
              <a:srgbClr val="0E9F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172968"/>
            <a:ext cx="347472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16736" y="3090672"/>
            <a:ext cx="5614416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1">
                <a:solidFill>
                  <a:srgbClr val="132D46"/>
                </a:solidFill>
                <a:latin typeface="Microsoft YaHei"/>
              </a:defRPr>
            </a:pPr>
            <a:r>
              <a:t>玉泉水库天然来水与东风三干渠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16736" y="3346703"/>
            <a:ext cx="5596128" cy="101498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0">
                <a:solidFill>
                  <a:srgbClr val="5B6F82"/>
                </a:solidFill>
                <a:latin typeface="Microsoft YaHei"/>
              </a:defRPr>
            </a:pPr>
            <a:r>
              <a:t>玉泉水库天然来水与东风三干渠补水组成联合水源。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4526279"/>
            <a:ext cx="6400800" cy="1417319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68096" y="4636007"/>
            <a:ext cx="420624" cy="310896"/>
          </a:xfrm>
          <a:prstGeom prst="rect">
            <a:avLst/>
          </a:prstGeom>
          <a:solidFill>
            <a:srgbClr val="0E9F9A"/>
          </a:solidFill>
          <a:ln w="7620">
            <a:solidFill>
              <a:srgbClr val="0E9F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4681727"/>
            <a:ext cx="347472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16736" y="4599431"/>
            <a:ext cx="5614416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1">
                <a:solidFill>
                  <a:srgbClr val="132D46"/>
                </a:solidFill>
                <a:latin typeface="Microsoft YaHei"/>
              </a:defRPr>
            </a:pPr>
            <a:r>
              <a:t>落实生态下泄、库水位控制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16736" y="4855464"/>
            <a:ext cx="5596128" cy="101498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0">
                <a:solidFill>
                  <a:srgbClr val="5B6F82"/>
                </a:solidFill>
                <a:latin typeface="Microsoft YaHei"/>
              </a:defRPr>
            </a:pPr>
            <a:r>
              <a:t>落实生态下泄、库水位控制、农业面源治理和水质监测后，取水与退水影响总体可控。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24927" y="1572768"/>
            <a:ext cx="3886200" cy="877824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52944" y="1700784"/>
            <a:ext cx="3666744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800" b="1">
                <a:solidFill>
                  <a:srgbClr val="0E9F9A"/>
                </a:solidFill>
                <a:latin typeface="Microsoft YaHei"/>
              </a:rPr>
              <a:t>750万m3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52944" y="2084832"/>
            <a:ext cx="3666744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0">
                <a:solidFill>
                  <a:srgbClr val="5B6F82"/>
                </a:solidFill>
                <a:latin typeface="Microsoft YaHei"/>
              </a:defRPr>
            </a:pPr>
            <a:r>
              <a:t>年申请取水量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424927" y="2743200"/>
            <a:ext cx="3886200" cy="877824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52944" y="2871216"/>
            <a:ext cx="3666744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800" b="1">
                <a:solidFill>
                  <a:srgbClr val="2E7D32"/>
                </a:solidFill>
                <a:latin typeface="Microsoft YaHei"/>
              </a:defRPr>
            </a:pPr>
            <a:r>
              <a:t>联合水源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52944" y="3255264"/>
            <a:ext cx="3666744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0">
                <a:solidFill>
                  <a:srgbClr val="5B6F82"/>
                </a:solidFill>
                <a:latin typeface="Microsoft YaHei"/>
              </a:defRPr>
            </a:pPr>
            <a:r>
              <a:t>水库+三干渠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24927" y="3913632"/>
            <a:ext cx="3886200" cy="877824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52944" y="4041648"/>
            <a:ext cx="3666744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800" b="1">
                <a:solidFill>
                  <a:srgbClr val="0B3558"/>
                </a:solidFill>
                <a:latin typeface="Microsoft YaHei"/>
              </a:defRPr>
            </a:pPr>
            <a:r>
              <a:t>总体可控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52944" y="4425696"/>
            <a:ext cx="3666744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0">
                <a:solidFill>
                  <a:srgbClr val="5B6F82"/>
                </a:solidFill>
                <a:latin typeface="Microsoft YaHei"/>
              </a:defRPr>
            </a:pPr>
            <a:r>
              <a:t>取退水影响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3776" y="6419088"/>
            <a:ext cx="813816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850" b="0">
                <a:solidFill>
                  <a:srgbClr val="5B6F82"/>
                </a:solidFill>
                <a:latin typeface="Microsoft YaHei"/>
              </a:defRPr>
            </a:pPr>
            <a:r>
              <a:t>来源：报告第9章结论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558"/>
          </a:solidFill>
          <a:ln w="7620">
            <a:solidFill>
              <a:srgbClr val="0B3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76656"/>
            <a:ext cx="6766560" cy="51206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建议把五项条件写入许可与后续实施要求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664208"/>
            <a:ext cx="5285232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1792" y="1664208"/>
            <a:ext cx="64008" cy="1115568"/>
          </a:xfrm>
          <a:prstGeom prst="rect">
            <a:avLst/>
          </a:prstGeom>
          <a:solidFill>
            <a:srgbClr val="B64A31"/>
          </a:solidFill>
          <a:ln w="7620">
            <a:solidFill>
              <a:srgbClr val="B64A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92224"/>
            <a:ext cx="411480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1">
                <a:solidFill>
                  <a:srgbClr val="B64A31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16736" y="1773936"/>
            <a:ext cx="4425696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00" b="1">
                <a:solidFill>
                  <a:srgbClr val="0E9F9A"/>
                </a:solidFill>
                <a:latin typeface="Microsoft YaHei"/>
              </a:rPr>
              <a:t>统一计算口径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167128"/>
            <a:ext cx="4882896" cy="38404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0">
                <a:solidFill>
                  <a:srgbClr val="5B6F82"/>
                </a:solidFill>
                <a:latin typeface="Microsoft YaHei"/>
              </a:defRPr>
            </a:pPr>
            <a:r>
              <a:t>复核设计径流、生态流量、本地可供水量和外调补水量。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181344" y="1664208"/>
            <a:ext cx="5285232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81344" y="1664208"/>
            <a:ext cx="64008" cy="1115568"/>
          </a:xfrm>
          <a:prstGeom prst="rect">
            <a:avLst/>
          </a:prstGeom>
          <a:solidFill>
            <a:srgbClr val="0E9F9A"/>
          </a:solidFill>
          <a:ln w="7620">
            <a:solidFill>
              <a:srgbClr val="0E9F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82512" y="1792224"/>
            <a:ext cx="411480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1">
                <a:solidFill>
                  <a:srgbClr val="0E9F9A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76288" y="1773936"/>
            <a:ext cx="4425696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00" b="1">
                <a:solidFill>
                  <a:srgbClr val="0E9F9A"/>
                </a:solidFill>
                <a:latin typeface="Microsoft YaHei"/>
              </a:rPr>
              <a:t>落实引水协议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167128"/>
            <a:ext cx="4882896" cy="38404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0">
                <a:solidFill>
                  <a:srgbClr val="5B6F82"/>
                </a:solidFill>
                <a:latin typeface="Microsoft YaHei"/>
              </a:defRPr>
            </a:pPr>
            <a:r>
              <a:t>明确三干渠月度流量、时段、调度原则和年度总引水量。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" y="3017520"/>
            <a:ext cx="5285232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" y="3017520"/>
            <a:ext cx="64008" cy="1115568"/>
          </a:xfrm>
          <a:prstGeom prst="rect">
            <a:avLst/>
          </a:prstGeom>
          <a:solidFill>
            <a:srgbClr val="0B3558"/>
          </a:solidFill>
          <a:ln w="7620">
            <a:solidFill>
              <a:srgbClr val="0B3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145536"/>
            <a:ext cx="411480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1">
                <a:solidFill>
                  <a:srgbClr val="0B3558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16736" y="3127248"/>
            <a:ext cx="4425696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00" b="1">
                <a:solidFill>
                  <a:srgbClr val="0E9F9A"/>
                </a:solidFill>
                <a:latin typeface="Microsoft YaHei"/>
              </a:rPr>
              <a:t>锁定总量指标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" y="3520439"/>
            <a:ext cx="4882896" cy="38404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00" b="0">
                <a:solidFill>
                  <a:srgbClr val="5B6F82"/>
                </a:solidFill>
                <a:latin typeface="Microsoft YaHei"/>
              </a:rPr>
              <a:t>将</a:t>
            </a:r>
            <a:r>
              <a:rPr sz="1400" b="1">
                <a:solidFill>
                  <a:srgbClr val="0E9F9A"/>
                </a:solidFill>
                <a:latin typeface="Microsoft YaHei"/>
              </a:rPr>
              <a:t>750万m3</a:t>
            </a:r>
            <a:r>
              <a:rPr sz="1400" b="0">
                <a:solidFill>
                  <a:srgbClr val="5B6F82"/>
                </a:solidFill>
                <a:latin typeface="Microsoft YaHei"/>
              </a:rPr>
              <a:t>取水量纳入年度计划和区域总量统筹。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81344" y="3017520"/>
            <a:ext cx="5285232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81344" y="3017520"/>
            <a:ext cx="64008" cy="1115568"/>
          </a:xfrm>
          <a:prstGeom prst="rect">
            <a:avLst/>
          </a:prstGeom>
          <a:solidFill>
            <a:srgbClr val="2E7D32"/>
          </a:solidFill>
          <a:ln w="762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82512" y="3145536"/>
            <a:ext cx="411480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1">
                <a:solidFill>
                  <a:srgbClr val="2E7D32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76288" y="3127248"/>
            <a:ext cx="4425696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00" b="1">
                <a:solidFill>
                  <a:srgbClr val="0E9F9A"/>
                </a:solidFill>
                <a:latin typeface="Microsoft YaHei"/>
              </a:rPr>
              <a:t>完善监测闭环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3520439"/>
            <a:ext cx="4882896" cy="38404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0">
                <a:solidFill>
                  <a:srgbClr val="5B6F82"/>
                </a:solidFill>
                <a:latin typeface="Microsoft YaHei"/>
              </a:defRPr>
            </a:pPr>
            <a:r>
              <a:t>覆盖取水、配水、库容、退水和关键水质断面。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" y="4370832"/>
            <a:ext cx="5285232" cy="1115568"/>
          </a:xfrm>
          <a:prstGeom prst="rect">
            <a:avLst/>
          </a:prstGeom>
          <a:solidFill>
            <a:srgbClr val="FFFFFF"/>
          </a:solidFill>
          <a:ln w="7620">
            <a:solidFill>
              <a:srgbClr val="C8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1792" y="4370832"/>
            <a:ext cx="64008" cy="1115568"/>
          </a:xfrm>
          <a:prstGeom prst="rect">
            <a:avLst/>
          </a:prstGeom>
          <a:solidFill>
            <a:srgbClr val="B64A31"/>
          </a:solidFill>
          <a:ln w="7620">
            <a:solidFill>
              <a:srgbClr val="B64A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4498848"/>
            <a:ext cx="411480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1">
                <a:solidFill>
                  <a:srgbClr val="B64A31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16736" y="4480560"/>
            <a:ext cx="4425696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00" b="1">
                <a:solidFill>
                  <a:srgbClr val="0E9F9A"/>
                </a:solidFill>
                <a:latin typeface="Microsoft YaHei"/>
              </a:rPr>
              <a:t>强化设施管护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" y="4873752"/>
            <a:ext cx="4882896" cy="38404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0">
                <a:solidFill>
                  <a:srgbClr val="5B6F82"/>
                </a:solidFill>
                <a:latin typeface="Microsoft YaHei"/>
              </a:defRPr>
            </a:pPr>
            <a:r>
              <a:t>推进末级渠系防渗、计量校验和长效运维经费。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6656" y="6053328"/>
            <a:ext cx="3657600" cy="2377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1">
                <a:solidFill>
                  <a:srgbClr val="E8F2F2"/>
                </a:solidFill>
                <a:latin typeface="Microsoft YaHei"/>
              </a:defRPr>
            </a:pPr>
            <a:r>
              <a:t>请专家审议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
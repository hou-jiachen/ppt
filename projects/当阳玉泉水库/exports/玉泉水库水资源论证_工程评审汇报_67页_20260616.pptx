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5ddf596df20576b.jp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9fba90e38da9757.jpg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5201fb4fa03c516.jpg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f4be70c81876c719.png"/>
</Relationships>
</file>

<file path=ppt/slides/_rels/slide3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ed410adbf18280a.png"/>
</Relationships>
</file>

<file path=ppt/slides/_rels/slide3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08823f198824cb9.png"/>
</Relationships>
</file>

<file path=ppt/slides/_rels/slide4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6ed5cd7b6ac08066.jpg"/>
</Relationships>
</file>

<file path=ppt/slides/_rels/slide5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e9fba90e38da9757.jpg"/>
</Relationships>
</file>

<file path=ppt/slides/_rels/slide5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3d91a3551c97c6c.jpg"/>
</Relationships>
</file>

<file path=ppt/slides/_rels/slide5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810500" y="-1333500"/>
            <a:ext cx="4953000" cy="4953000"/>
          </a:xfrm>
          <a:prstGeom prst="ellipse">
            <a:avLst/>
          </a:prstGeom>
          <a:solidFill>
            <a:srgbClr val="0E9F9A">
              <a:alpha val="18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7810500" y="2857500"/>
            <a:ext cx="6286500" cy="6286500"/>
          </a:xfrm>
          <a:prstGeom prst="ellipse">
            <a:avLst/>
          </a:prstGeom>
          <a:solidFill>
            <a:srgbClr val="63A35C">
              <a:alpha val="12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685800" y="876300"/>
            <a:ext cx="876300" cy="762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68655" y="1263968"/>
            <a:ext cx="25199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BAD3DF"/>
                </a:solidFill>
                <a:latin typeface="Arial"/>
                <a:ea typeface="Microsoft YaHei"/>
                <a:cs typeface="Arial"/>
              </a:rPr>
              <a:t>水资源论证 · 原文原图增强版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0555" y="2121218"/>
            <a:ext cx="3764947" cy="883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玉泉水库灌区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0555" y="2845118"/>
            <a:ext cx="4374023" cy="883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水资源论证报告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2942" y="3719036"/>
            <a:ext cx="7404735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DCE8EF"/>
                </a:solidFill>
                <a:latin typeface="Arial"/>
                <a:ea typeface="Microsoft YaHei"/>
                <a:cs typeface="Arial"/>
              </a:rPr>
              <a:t>按报告九章展开，完整呈现主要文字、表格、图件、计算过程与报告结论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85800" y="4953000"/>
            <a:ext cx="2381250" cy="876300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30580" y="5107305"/>
            <a:ext cx="759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67 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2962" y="5498306"/>
            <a:ext cx="12287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按信息量动态规划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352800" y="4953000"/>
            <a:ext cx="2381250" cy="876300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497580" y="5107305"/>
            <a:ext cx="59730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63A35C"/>
                </a:solidFill>
                <a:latin typeface="Arial"/>
                <a:ea typeface="Microsoft YaHei"/>
                <a:cs typeface="Arial"/>
              </a:rPr>
              <a:t>9 章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09962" y="5498306"/>
            <a:ext cx="9286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对应报告正文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019800" y="4953000"/>
            <a:ext cx="2381250" cy="876300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164580" y="5107305"/>
            <a:ext cx="174405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E8923A"/>
                </a:solidFill>
                <a:latin typeface="Arial"/>
                <a:ea typeface="Microsoft YaHei"/>
                <a:cs typeface="Arial"/>
              </a:rPr>
              <a:t>Office 2021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76962" y="5498306"/>
            <a:ext cx="9286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原生兼容验收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2465" y="6220778"/>
            <a:ext cx="296703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AD3DF"/>
                </a:solidFill>
                <a:latin typeface="Arial"/>
                <a:ea typeface="Microsoft YaHei"/>
                <a:cs typeface="Arial"/>
              </a:rPr>
              <a:t>建设单位：当阳市惠清水环境治理有限责任公司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46832" y="6220778"/>
            <a:ext cx="6917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BAD3DF"/>
                </a:solidFill>
                <a:latin typeface="Arial"/>
                <a:ea typeface="Microsoft YaHei"/>
                <a:cs typeface="Arial"/>
              </a:rPr>
              <a:t>2026年6月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项目概览 | 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947289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项目年申请取水量750万m³，服务三村17621.55亩农田灌溉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58178" y="2089309"/>
            <a:ext cx="1258170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750万m³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1512" y="2497931"/>
            <a:ext cx="9286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年申请取水量</a:t>
            </a:r>
          </a:p>
        </p:txBody>
      </p:sp>
      <p:sp>
        <p:nvSpPr>
          <p:cNvPr id="9" name="Rectangle 9"/>
          <p:cNvSpPr/>
          <p:nvPr/>
        </p:nvSpPr>
        <p:spPr>
          <a:xfrm>
            <a:off x="3348038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491865" y="2089309"/>
            <a:ext cx="169975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63A35C"/>
                </a:solidFill>
                <a:latin typeface="Arial"/>
                <a:ea typeface="Microsoft YaHei"/>
                <a:cs typeface="Arial"/>
              </a:rPr>
              <a:t>17621.55亩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05200" y="2497931"/>
            <a:ext cx="9286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灌区农田面积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81725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325552" y="2089309"/>
            <a:ext cx="953632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E8923A"/>
                </a:solidFill>
                <a:latin typeface="Arial"/>
                <a:ea typeface="Microsoft YaHei"/>
                <a:cs typeface="Arial"/>
              </a:rPr>
              <a:t>P=90%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38888" y="2497931"/>
            <a:ext cx="10787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灌溉设计保证率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015412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159240" y="2089309"/>
            <a:ext cx="1258170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0B3558"/>
                </a:solidFill>
                <a:latin typeface="Arial"/>
                <a:ea typeface="Microsoft YaHei"/>
                <a:cs typeface="Arial"/>
              </a:rPr>
              <a:t>150万m³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72575" y="2497931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年退水量</a:t>
            </a:r>
          </a:p>
        </p:txBody>
      </p:sp>
      <p:sp>
        <p:nvSpPr>
          <p:cNvPr id="18" name="Ellipse 18"/>
          <p:cNvSpPr/>
          <p:nvPr/>
        </p:nvSpPr>
        <p:spPr>
          <a:xfrm>
            <a:off x="590550" y="3305175"/>
            <a:ext cx="114300" cy="114300"/>
          </a:xfrm>
          <a:prstGeom prst="ellipse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18198" y="3258979"/>
            <a:ext cx="445055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取水水源为玉泉水库与东风三干渠联合水源。</a:t>
            </a:r>
          </a:p>
        </p:txBody>
      </p:sp>
      <p:sp>
        <p:nvSpPr>
          <p:cNvPr id="20" name="Ellipse 20"/>
          <p:cNvSpPr/>
          <p:nvPr/>
        </p:nvSpPr>
        <p:spPr>
          <a:xfrm>
            <a:off x="590550" y="3924300"/>
            <a:ext cx="114300" cy="114300"/>
          </a:xfrm>
          <a:prstGeom prst="ellipse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18198" y="3878104"/>
            <a:ext cx="613076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取水口位于玉泉水库坝址处节制闸，退水为分散农业灌溉回归水。</a:t>
            </a:r>
          </a:p>
        </p:txBody>
      </p:sp>
      <p:sp>
        <p:nvSpPr>
          <p:cNvPr id="22" name="Ellipse 22"/>
          <p:cNvSpPr/>
          <p:nvPr/>
        </p:nvSpPr>
        <p:spPr>
          <a:xfrm>
            <a:off x="590550" y="4543425"/>
            <a:ext cx="114300" cy="114300"/>
          </a:xfrm>
          <a:prstGeom prst="ellipse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18198" y="4497229"/>
            <a:ext cx="432454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现状水平年为2024年，规划水平年为2034年。</a:t>
            </a:r>
          </a:p>
        </p:txBody>
      </p:sp>
      <p:sp>
        <p:nvSpPr>
          <p:cNvPr id="24" name="Line 24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03872" y="6549866"/>
            <a:ext cx="170416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来源：报告基本情况表、2.3、2.4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汇报结构 | 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542043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九章内容按报告原始顺序完整展开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9110" y="1794510"/>
            <a:ext cx="2153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0595" y="1745932"/>
            <a:ext cx="5039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总论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5358" y="2110264"/>
            <a:ext cx="19026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目的、依据、等级与范围</a:t>
            </a:r>
          </a:p>
        </p:txBody>
      </p:sp>
      <p:sp>
        <p:nvSpPr>
          <p:cNvPr id="9" name="Line 9"/>
          <p:cNvSpPr/>
          <p:nvPr/>
        </p:nvSpPr>
        <p:spPr>
          <a:xfrm>
            <a:off x="514350" y="2819400"/>
            <a:ext cx="3286125" cy="9525"/>
          </a:xfrm>
          <a:custGeom>
            <a:avLst/>
            <a:gdLst/>
            <a:ahLst/>
            <a:cxnLst/>
            <a:rect l="l" t="t" r="r" b="b"/>
            <a:pathLst>
              <a:path w="3286125" h="9525">
                <a:moveTo>
                  <a:pt x="0" y="0"/>
                </a:moveTo>
                <a:lnTo>
                  <a:pt x="3286125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4213860" y="1794510"/>
            <a:ext cx="2153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3A35C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65345" y="17459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项目概况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70108" y="2110264"/>
            <a:ext cx="156257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工程、政策、取退水</a:t>
            </a:r>
          </a:p>
        </p:txBody>
      </p:sp>
      <p:sp>
        <p:nvSpPr>
          <p:cNvPr id="13" name="Line 13"/>
          <p:cNvSpPr/>
          <p:nvPr/>
        </p:nvSpPr>
        <p:spPr>
          <a:xfrm>
            <a:off x="4229100" y="2819400"/>
            <a:ext cx="3286125" cy="9525"/>
          </a:xfrm>
          <a:custGeom>
            <a:avLst/>
            <a:gdLst/>
            <a:ahLst/>
            <a:cxnLst/>
            <a:rect l="l" t="t" r="r" b="b"/>
            <a:pathLst>
              <a:path w="3286125" h="9525">
                <a:moveTo>
                  <a:pt x="0" y="0"/>
                </a:moveTo>
                <a:lnTo>
                  <a:pt x="3286125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928610" y="1794510"/>
            <a:ext cx="2153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923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80095" y="1745932"/>
            <a:ext cx="11970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区域水资源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84858" y="2110264"/>
            <a:ext cx="156257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资源条件与开发利用</a:t>
            </a:r>
          </a:p>
        </p:txBody>
      </p:sp>
      <p:sp>
        <p:nvSpPr>
          <p:cNvPr id="17" name="Line 17"/>
          <p:cNvSpPr/>
          <p:nvPr/>
        </p:nvSpPr>
        <p:spPr>
          <a:xfrm>
            <a:off x="7943850" y="2819400"/>
            <a:ext cx="3286125" cy="9525"/>
          </a:xfrm>
          <a:custGeom>
            <a:avLst/>
            <a:gdLst/>
            <a:ahLst/>
            <a:cxnLst/>
            <a:rect l="l" t="t" r="r" b="b"/>
            <a:pathLst>
              <a:path w="3286125" h="9525">
                <a:moveTo>
                  <a:pt x="0" y="0"/>
                </a:moveTo>
                <a:lnTo>
                  <a:pt x="3286125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499110" y="3128010"/>
            <a:ext cx="2153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50595" y="3079432"/>
            <a:ext cx="11970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用水合理性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5358" y="3443764"/>
            <a:ext cx="17325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需水、节水与水量平衡</a:t>
            </a:r>
          </a:p>
        </p:txBody>
      </p:sp>
      <p:sp>
        <p:nvSpPr>
          <p:cNvPr id="21" name="Line 21"/>
          <p:cNvSpPr/>
          <p:nvPr/>
        </p:nvSpPr>
        <p:spPr>
          <a:xfrm>
            <a:off x="514350" y="4152900"/>
            <a:ext cx="3286125" cy="9525"/>
          </a:xfrm>
          <a:custGeom>
            <a:avLst/>
            <a:gdLst/>
            <a:ahLst/>
            <a:cxnLst/>
            <a:rect l="l" t="t" r="r" b="b"/>
            <a:pathLst>
              <a:path w="3286125" h="9525">
                <a:moveTo>
                  <a:pt x="0" y="0"/>
                </a:moveTo>
                <a:lnTo>
                  <a:pt x="3286125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4213860" y="3128010"/>
            <a:ext cx="2153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3A35C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65345" y="30794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取水水源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70108" y="3443764"/>
            <a:ext cx="139255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联合供水与可靠性</a:t>
            </a:r>
          </a:p>
        </p:txBody>
      </p:sp>
      <p:sp>
        <p:nvSpPr>
          <p:cNvPr id="25" name="Line 25"/>
          <p:cNvSpPr/>
          <p:nvPr/>
        </p:nvSpPr>
        <p:spPr>
          <a:xfrm>
            <a:off x="4229100" y="4152900"/>
            <a:ext cx="3286125" cy="9525"/>
          </a:xfrm>
          <a:custGeom>
            <a:avLst/>
            <a:gdLst/>
            <a:ahLst/>
            <a:cxnLst/>
            <a:rect l="l" t="t" r="r" b="b"/>
            <a:pathLst>
              <a:path w="3286125" h="9525">
                <a:moveTo>
                  <a:pt x="0" y="0"/>
                </a:moveTo>
                <a:lnTo>
                  <a:pt x="3286125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928610" y="3128010"/>
            <a:ext cx="2153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923A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80095" y="30794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取水影响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84858" y="3443764"/>
            <a:ext cx="17325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资源、生态与其他用户</a:t>
            </a:r>
          </a:p>
        </p:txBody>
      </p:sp>
      <p:sp>
        <p:nvSpPr>
          <p:cNvPr id="29" name="Line 29"/>
          <p:cNvSpPr/>
          <p:nvPr/>
        </p:nvSpPr>
        <p:spPr>
          <a:xfrm>
            <a:off x="7943850" y="4152900"/>
            <a:ext cx="3286125" cy="9525"/>
          </a:xfrm>
          <a:custGeom>
            <a:avLst/>
            <a:gdLst/>
            <a:ahLst/>
            <a:cxnLst/>
            <a:rect l="l" t="t" r="r" b="b"/>
            <a:pathLst>
              <a:path w="3286125" h="9525">
                <a:moveTo>
                  <a:pt x="0" y="0"/>
                </a:moveTo>
                <a:lnTo>
                  <a:pt x="3286125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99110" y="4461510"/>
            <a:ext cx="2153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50595" y="44129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退水影响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5358" y="4777264"/>
            <a:ext cx="17325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退水路径、规律与影响</a:t>
            </a:r>
          </a:p>
        </p:txBody>
      </p:sp>
      <p:sp>
        <p:nvSpPr>
          <p:cNvPr id="33" name="Line 33"/>
          <p:cNvSpPr/>
          <p:nvPr/>
        </p:nvSpPr>
        <p:spPr>
          <a:xfrm>
            <a:off x="514350" y="5486400"/>
            <a:ext cx="3286125" cy="9525"/>
          </a:xfrm>
          <a:custGeom>
            <a:avLst/>
            <a:gdLst/>
            <a:ahLst/>
            <a:cxnLst/>
            <a:rect l="l" t="t" r="r" b="b"/>
            <a:pathLst>
              <a:path w="3286125" h="9525">
                <a:moveTo>
                  <a:pt x="0" y="0"/>
                </a:moveTo>
                <a:lnTo>
                  <a:pt x="3286125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213860" y="4461510"/>
            <a:ext cx="2153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63A35C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665345" y="44129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管理措施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670108" y="4777264"/>
            <a:ext cx="139255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节约、保护与管理</a:t>
            </a:r>
          </a:p>
        </p:txBody>
      </p:sp>
      <p:sp>
        <p:nvSpPr>
          <p:cNvPr id="37" name="Line 37"/>
          <p:cNvSpPr/>
          <p:nvPr/>
        </p:nvSpPr>
        <p:spPr>
          <a:xfrm>
            <a:off x="4229100" y="5486400"/>
            <a:ext cx="3286125" cy="9525"/>
          </a:xfrm>
          <a:custGeom>
            <a:avLst/>
            <a:gdLst/>
            <a:ahLst/>
            <a:cxnLst/>
            <a:rect l="l" t="t" r="r" b="b"/>
            <a:pathLst>
              <a:path w="3286125" h="9525">
                <a:moveTo>
                  <a:pt x="0" y="0"/>
                </a:moveTo>
                <a:lnTo>
                  <a:pt x="3286125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7928610" y="4461510"/>
            <a:ext cx="2153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923A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380095" y="4412932"/>
            <a:ext cx="96602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结论建议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84858" y="4777264"/>
            <a:ext cx="139255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结论、问题与建议</a:t>
            </a:r>
          </a:p>
        </p:txBody>
      </p:sp>
      <p:sp>
        <p:nvSpPr>
          <p:cNvPr id="41" name="Line 41"/>
          <p:cNvSpPr/>
          <p:nvPr/>
        </p:nvSpPr>
        <p:spPr>
          <a:xfrm>
            <a:off x="7943850" y="5486400"/>
            <a:ext cx="3286125" cy="9525"/>
          </a:xfrm>
          <a:custGeom>
            <a:avLst/>
            <a:gdLst/>
            <a:ahLst/>
            <a:cxnLst/>
            <a:rect l="l" t="t" r="r" b="b"/>
            <a:pathLst>
              <a:path w="3286125" h="9525">
                <a:moveTo>
                  <a:pt x="0" y="0"/>
                </a:moveTo>
                <a:lnTo>
                  <a:pt x="3286125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42" name="Line 42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503872" y="6549866"/>
            <a:ext cx="7910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来源：报告目录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85800" y="1104900"/>
            <a:ext cx="838200" cy="762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7477125" y="1095375"/>
            <a:ext cx="4667250" cy="4667250"/>
          </a:xfrm>
          <a:prstGeom prst="ellipse">
            <a:avLst/>
          </a:prstGeom>
          <a:solidFill>
            <a:srgbClr val="0E9F9A">
              <a:alpha val="1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68655" y="1721168"/>
            <a:ext cx="10266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A9CBD8"/>
                </a:solidFill>
                <a:latin typeface="Arial"/>
                <a:ea typeface="Microsoft YaHei"/>
                <a:cs typeface="Arial"/>
              </a:rPr>
              <a:t>CHAPTER 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4365" y="2467928"/>
            <a:ext cx="1237012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总论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2468" y="3909536"/>
            <a:ext cx="7634764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D4E3E9"/>
                </a:solidFill>
                <a:latin typeface="Arial"/>
                <a:ea typeface="Microsoft YaHei"/>
                <a:cs typeface="Arial"/>
              </a:rPr>
              <a:t>明确论证目的、工作任务、技术依据、工作等级、水平年和四类空间范围。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68974" y="5338762"/>
            <a:ext cx="941951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5250" b="1" dirty="0">
                <a:solidFill>
                  <a:srgbClr val="5AB7B1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1075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第1章 总论 | 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899088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水资源论证服务于合理取水、水资源保护和取水许可审批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09750"/>
            <a:ext cx="76200" cy="390525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02005" y="19307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论证目的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195" y="2222182"/>
            <a:ext cx="62246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贯彻“合理开发、高效利用、优化配置、全面节约和有效保护”的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8195" y="2546985"/>
            <a:ext cx="840295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水资源开发利用方针，加强水资源开发利用管理，实现水资源节约、保护和优化配置。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8195" y="3081338"/>
            <a:ext cx="642270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分析建设项目取水对水资源现状及其他用户的影响，提出补偿和保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8195" y="3406140"/>
            <a:ext cx="642270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护措施，预防取水、退水可能引发的水事纠纷，为水行政主管部门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8195" y="3730942"/>
            <a:ext cx="378237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审批取水许可申请提供科学技术依据。</a:t>
            </a:r>
          </a:p>
        </p:txBody>
      </p:sp>
      <p:sp>
        <p:nvSpPr>
          <p:cNvPr id="13" name="Line 13"/>
          <p:cNvSpPr/>
          <p:nvPr/>
        </p:nvSpPr>
        <p:spPr>
          <a:xfrm>
            <a:off x="7124700" y="1952625"/>
            <a:ext cx="9525" cy="3619500"/>
          </a:xfrm>
          <a:custGeom>
            <a:avLst/>
            <a:gdLst/>
            <a:ahLst/>
            <a:cxnLst/>
            <a:rect l="l" t="t" r="r" b="b"/>
            <a:pathLst>
              <a:path w="9525" h="3619500">
                <a:moveTo>
                  <a:pt x="0" y="0"/>
                </a:moveTo>
                <a:lnTo>
                  <a:pt x="0" y="361950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498080" y="19069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合理开发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09510" y="2280285"/>
            <a:ext cx="14706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水资源开发利用方针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98080" y="27451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高效利用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09510" y="3118485"/>
            <a:ext cx="14706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提高水资源利用效率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98080" y="35833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全面节约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09510" y="3956685"/>
            <a:ext cx="1310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落实节约用水要求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98080" y="44215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有效保护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09510" y="4794885"/>
            <a:ext cx="11506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控制取退水影响</a:t>
            </a:r>
          </a:p>
        </p:txBody>
      </p:sp>
      <p:sp>
        <p:nvSpPr>
          <p:cNvPr id="22" name="Line 22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03872" y="6549866"/>
            <a:ext cx="7525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来源：报告1.2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1075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第1章 总论 | 06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827679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论证任务覆盖范围、合理性、水源、影响和结论建议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09750"/>
            <a:ext cx="76200" cy="390525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02005" y="19307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主要任务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195" y="2222182"/>
            <a:ext cx="642270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确定分析范围、取水水源论证范围和取退水影响范围；调查评价区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8195" y="2546985"/>
            <a:ext cx="642270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域水资源状况及开发利用现状；从产业政策、水资源规划、配置与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8195" y="2871788"/>
            <a:ext cx="642270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管理方面分析取用水合理性；分析取水水源可靠性和可行性；分析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8195" y="3196590"/>
            <a:ext cx="40024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取退水影响并提出保护措施和结论建议。</a:t>
            </a:r>
          </a:p>
        </p:txBody>
      </p:sp>
      <p:sp>
        <p:nvSpPr>
          <p:cNvPr id="12" name="Line 12"/>
          <p:cNvSpPr/>
          <p:nvPr/>
        </p:nvSpPr>
        <p:spPr>
          <a:xfrm>
            <a:off x="7124700" y="1952625"/>
            <a:ext cx="9525" cy="3619500"/>
          </a:xfrm>
          <a:custGeom>
            <a:avLst/>
            <a:gdLst/>
            <a:ahLst/>
            <a:cxnLst/>
            <a:rect l="l" t="t" r="r" b="b"/>
            <a:pathLst>
              <a:path w="9525" h="3619500">
                <a:moveTo>
                  <a:pt x="0" y="0"/>
                </a:moveTo>
                <a:lnTo>
                  <a:pt x="0" y="361950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7498080" y="19069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范围确定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09510" y="2280285"/>
            <a:ext cx="17907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分析、水源、取退水影响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98080" y="2745105"/>
            <a:ext cx="93545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合理性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09510" y="3118485"/>
            <a:ext cx="1630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产业政策、规划与配置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98080" y="3583305"/>
            <a:ext cx="93545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可靠性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09510" y="3956685"/>
            <a:ext cx="1630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水源可行性与保障程度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98080" y="44215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影响分析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09510" y="4794885"/>
            <a:ext cx="1630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资源、生态及其他用户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98080" y="52597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结论建议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09510" y="5633085"/>
            <a:ext cx="14706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形成论证结论与措施</a:t>
            </a:r>
          </a:p>
        </p:txBody>
      </p:sp>
      <p:sp>
        <p:nvSpPr>
          <p:cNvPr id="23" name="Line 23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503872" y="6549866"/>
            <a:ext cx="7525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来源：报告1.2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1075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第1章 总论 | 07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934793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论证依据由许可制度、技术导则、用水定额和区域成果组成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09750"/>
            <a:ext cx="76200" cy="390525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02005" y="19307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法律制度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195" y="2222182"/>
            <a:ext cx="1038320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《中华人民共和国水法》《取水许可和水资源费征收管理条例》《建设项目水资源论证管理办法》《取水许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8195" y="2546985"/>
            <a:ext cx="40024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可管理办法》及最严格水资源管理制度。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2005" y="311372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标准规范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8195" y="3405188"/>
            <a:ext cx="899702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《建设项目水资源论证导则》GB/T35580-2017、《农田灌溉建设项目水资源论证导则》、水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8195" y="3729990"/>
            <a:ext cx="774287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资源供需平衡与水利计算规范、《湖北省农业用水定额》及农田灌溉水质标准。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2005" y="429672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区域资料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8195" y="4588192"/>
            <a:ext cx="1020718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湖北省、宜昌市2024年水资源公报，宜昌市环境质量年报，当阳市国土空间、流域治理及经济社会资料。</a:t>
            </a:r>
          </a:p>
        </p:txBody>
      </p:sp>
      <p:sp>
        <p:nvSpPr>
          <p:cNvPr id="15" name="Line 15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03872" y="6549866"/>
            <a:ext cx="7525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来源：报告1.3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1075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第1章 总论 | 08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720566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分类指标最高等级确定本项目论证等级为二级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790700"/>
            <a:ext cx="238125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11505" y="194024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分类指标</a:t>
            </a:r>
          </a:p>
        </p:txBody>
      </p:sp>
      <p:sp>
        <p:nvSpPr>
          <p:cNvPr id="8" name="Rectangle 8"/>
          <p:cNvSpPr/>
          <p:nvPr/>
        </p:nvSpPr>
        <p:spPr>
          <a:xfrm>
            <a:off x="2895600" y="1790700"/>
            <a:ext cx="161925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992755" y="194024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本项目值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514850" y="1790700"/>
            <a:ext cx="161925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612005" y="19402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一级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34100" y="1790700"/>
            <a:ext cx="180975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231255" y="19402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二级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943850" y="1790700"/>
            <a:ext cx="161925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041005" y="19402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三级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563100" y="1790700"/>
            <a:ext cx="209550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660255" y="19402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评定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14350" y="2286000"/>
            <a:ext cx="2381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11505" y="239744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灌溉面积</a:t>
            </a:r>
          </a:p>
        </p:txBody>
      </p:sp>
      <p:sp>
        <p:nvSpPr>
          <p:cNvPr id="20" name="Rectangle 20"/>
          <p:cNvSpPr/>
          <p:nvPr/>
        </p:nvSpPr>
        <p:spPr>
          <a:xfrm>
            <a:off x="2895600" y="2286000"/>
            <a:ext cx="1619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2992755" y="239744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1.76万亩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514850" y="2286000"/>
            <a:ext cx="1619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4612005" y="2397442"/>
            <a:ext cx="3313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≥30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134100" y="2286000"/>
            <a:ext cx="1809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231255" y="2397442"/>
            <a:ext cx="5113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30～1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943850" y="2286000"/>
            <a:ext cx="1619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041005" y="2397442"/>
            <a:ext cx="3133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＜1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563100" y="2286000"/>
            <a:ext cx="2095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660255" y="2397442"/>
            <a:ext cx="3943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二级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14350" y="2800350"/>
            <a:ext cx="238125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11505" y="291179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开发利用程度</a:t>
            </a:r>
          </a:p>
        </p:txBody>
      </p:sp>
      <p:sp>
        <p:nvSpPr>
          <p:cNvPr id="32" name="Rectangle 32"/>
          <p:cNvSpPr/>
          <p:nvPr/>
        </p:nvSpPr>
        <p:spPr>
          <a:xfrm>
            <a:off x="2895600" y="2800350"/>
            <a:ext cx="161925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2992755" y="2911792"/>
            <a:ext cx="5653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24.3%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514850" y="2800350"/>
            <a:ext cx="161925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4612005" y="2911792"/>
            <a:ext cx="4663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≥30%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134100" y="2800350"/>
            <a:ext cx="180975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6231255" y="2911792"/>
            <a:ext cx="88039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30%～10%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943850" y="2800350"/>
            <a:ext cx="161925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8041005" y="2911792"/>
            <a:ext cx="5473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＜10%</a:t>
            </a:r>
          </a:p>
        </p:txBody>
      </p:sp>
      <p:sp>
        <p:nvSpPr>
          <p:cNvPr id="40" name="Rectangle 40"/>
          <p:cNvSpPr/>
          <p:nvPr/>
        </p:nvSpPr>
        <p:spPr>
          <a:xfrm>
            <a:off x="9563100" y="2800350"/>
            <a:ext cx="2095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9660255" y="2911792"/>
            <a:ext cx="3943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二级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14350" y="3314700"/>
            <a:ext cx="2381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11505" y="342614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灌溉取水流量</a:t>
            </a:r>
          </a:p>
        </p:txBody>
      </p:sp>
      <p:sp>
        <p:nvSpPr>
          <p:cNvPr id="44" name="Rectangle 44"/>
          <p:cNvSpPr/>
          <p:nvPr/>
        </p:nvSpPr>
        <p:spPr>
          <a:xfrm>
            <a:off x="2895600" y="3314700"/>
            <a:ext cx="1619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2992755" y="3426142"/>
            <a:ext cx="86239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0.23m³/s</a:t>
            </a:r>
          </a:p>
        </p:txBody>
      </p:sp>
      <p:sp>
        <p:nvSpPr>
          <p:cNvPr id="46" name="Rectangle 46"/>
          <p:cNvSpPr/>
          <p:nvPr/>
        </p:nvSpPr>
        <p:spPr>
          <a:xfrm>
            <a:off x="4514850" y="3314700"/>
            <a:ext cx="1619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4612005" y="3426142"/>
            <a:ext cx="3313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≥20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134100" y="3314700"/>
            <a:ext cx="1809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6231255" y="3426142"/>
            <a:ext cx="5113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20～3</a:t>
            </a:r>
          </a:p>
        </p:txBody>
      </p:sp>
      <p:sp>
        <p:nvSpPr>
          <p:cNvPr id="50" name="Rectangle 50"/>
          <p:cNvSpPr/>
          <p:nvPr/>
        </p:nvSpPr>
        <p:spPr>
          <a:xfrm>
            <a:off x="7943850" y="3314700"/>
            <a:ext cx="1619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8041005" y="3426142"/>
            <a:ext cx="3133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＜3</a:t>
            </a:r>
          </a:p>
        </p:txBody>
      </p:sp>
      <p:sp>
        <p:nvSpPr>
          <p:cNvPr id="52" name="Rectangle 52"/>
          <p:cNvSpPr/>
          <p:nvPr/>
        </p:nvSpPr>
        <p:spPr>
          <a:xfrm>
            <a:off x="9563100" y="3314700"/>
            <a:ext cx="2095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9660255" y="3426142"/>
            <a:ext cx="3943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三级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99110" y="5890260"/>
            <a:ext cx="3390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论证工作等级由各分类指标的最高级别确定。</a:t>
            </a:r>
          </a:p>
        </p:txBody>
      </p:sp>
      <p:sp>
        <p:nvSpPr>
          <p:cNvPr id="55" name="Line 55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503872" y="6549866"/>
            <a:ext cx="9835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来源：报告表1.4-1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1075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第1章 总论 | 09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934793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分析范围覆盖当阳市，水源论证聚焦玉泉水库坝址以上流域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695450"/>
            <a:ext cx="7810500" cy="440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336" y="1790700"/>
            <a:ext cx="3182528" cy="421005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744902" y="1798796"/>
            <a:ext cx="103382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现状水平年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45855" y="2111692"/>
            <a:ext cx="6103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2024年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44902" y="2637949"/>
            <a:ext cx="103382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规划水平年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45855" y="2950845"/>
            <a:ext cx="6103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2034年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44902" y="3477101"/>
            <a:ext cx="63477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保证率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45855" y="3789998"/>
            <a:ext cx="128544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农业灌溉P=90%</a:t>
            </a:r>
          </a:p>
        </p:txBody>
      </p:sp>
      <p:sp>
        <p:nvSpPr>
          <p:cNvPr id="14" name="Line 14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03872" y="6549866"/>
            <a:ext cx="14346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来源：报告1.4—1.5、附图一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85800" y="1104900"/>
            <a:ext cx="838200" cy="762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7477125" y="1095375"/>
            <a:ext cx="4667250" cy="4667250"/>
          </a:xfrm>
          <a:prstGeom prst="ellipse">
            <a:avLst/>
          </a:prstGeom>
          <a:solidFill>
            <a:srgbClr val="0E9F9A">
              <a:alpha val="1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68655" y="1721168"/>
            <a:ext cx="10266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A9CBD8"/>
                </a:solidFill>
                <a:latin typeface="Arial"/>
                <a:ea typeface="Microsoft YaHei"/>
                <a:cs typeface="Arial"/>
              </a:rPr>
              <a:t>CHAPTER 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4365" y="2467928"/>
            <a:ext cx="3505295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建设项目概况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2468" y="3909536"/>
            <a:ext cx="786479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D4E3E9"/>
                </a:solidFill>
                <a:latin typeface="Arial"/>
                <a:ea typeface="Microsoft YaHei"/>
                <a:cs typeface="Arial"/>
              </a:rPr>
              <a:t>说明工程服务对象、政策与规划相符性、取水工程参数以及农业回归水方案。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68974" y="5338762"/>
            <a:ext cx="941951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5250" b="1" dirty="0">
                <a:solidFill>
                  <a:srgbClr val="5AB7B1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第2章 项目概况 | 11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899088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玉泉水库主要服务三村农业灌溉，并兼顾防洪与生态效益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09750"/>
            <a:ext cx="76200" cy="390525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02005" y="19307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项目功能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195" y="2222182"/>
            <a:ext cx="642270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玉泉水库位于当阳市，以农业灌溉为主，兼顾防洪、生态等综合效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8195" y="2546985"/>
            <a:ext cx="63236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益。供水范围覆盖子龙村、合意村、玉泉村等3个行政村，区域内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8195" y="2871788"/>
            <a:ext cx="29022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主要种植水稻、油菜及蔬菜。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2005" y="3438525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服务范围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8195" y="3729990"/>
            <a:ext cx="642270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根据当阳市农业农村局和玉泉水库管理处提供的资料，水库灌区农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8195" y="4054793"/>
            <a:ext cx="255022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田总面积为17621.55亩。</a:t>
            </a:r>
          </a:p>
        </p:txBody>
      </p:sp>
      <p:sp>
        <p:nvSpPr>
          <p:cNvPr id="14" name="Line 14"/>
          <p:cNvSpPr/>
          <p:nvPr/>
        </p:nvSpPr>
        <p:spPr>
          <a:xfrm>
            <a:off x="7124700" y="1952625"/>
            <a:ext cx="9525" cy="3619500"/>
          </a:xfrm>
          <a:custGeom>
            <a:avLst/>
            <a:gdLst/>
            <a:ahLst/>
            <a:cxnLst/>
            <a:rect l="l" t="t" r="r" b="b"/>
            <a:pathLst>
              <a:path w="9525" h="3619500">
                <a:moveTo>
                  <a:pt x="0" y="0"/>
                </a:moveTo>
                <a:lnTo>
                  <a:pt x="0" y="361950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7498080" y="1906905"/>
            <a:ext cx="139120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3个行政村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09510" y="2280285"/>
            <a:ext cx="17907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子龙村、合意村、玉泉村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98080" y="2745105"/>
            <a:ext cx="164113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17621.55亩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09510" y="3118485"/>
            <a:ext cx="11506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灌区农田总面积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98080" y="35833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农业灌溉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09510" y="3956685"/>
            <a:ext cx="1310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水库主要供水任务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98080" y="442150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防洪、生态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09510" y="4794885"/>
            <a:ext cx="990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兼顾综合效益</a:t>
            </a:r>
          </a:p>
        </p:txBody>
      </p:sp>
      <p:sp>
        <p:nvSpPr>
          <p:cNvPr id="23" name="Line 23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503872" y="6549866"/>
            <a:ext cx="7525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来源：报告2.1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第2章 项目概况 | 12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791975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项目符合粮食安全、农田水利和流域综合治理方向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09750"/>
            <a:ext cx="76200" cy="390525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02005" y="19307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产业政策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195" y="2222182"/>
            <a:ext cx="774287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项目属于水资源利用和优化配置的水利建设项目，符合产业结构调整鼓励方向。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2005" y="2788920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区域规划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8195" y="3080385"/>
            <a:ext cx="972312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湖北省和当阳市相关规划强调高标准农田、农业灌溉体系、水资源利用效率和公益性水利设施建设。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2005" y="3647123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水功能管理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8195" y="3938588"/>
            <a:ext cx="884301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取水规模应控制在水库承载范围，执行农业用水定额，采用节水技术并建立动态监测机制。</a:t>
            </a:r>
          </a:p>
        </p:txBody>
      </p:sp>
      <p:sp>
        <p:nvSpPr>
          <p:cNvPr id="13" name="Line 13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03872" y="6549866"/>
            <a:ext cx="7525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来源：报告2.2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第2章 项目概况 | 13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863384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取水依托既有坝址节制闸和渠系，不新增复杂取水工程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58178" y="2089309"/>
            <a:ext cx="1456120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0B3558"/>
                </a:solidFill>
                <a:latin typeface="Arial"/>
                <a:ea typeface="Microsoft YaHei"/>
                <a:cs typeface="Arial"/>
              </a:rPr>
              <a:t>0.81m³/s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1512" y="2497931"/>
            <a:ext cx="9286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最大取水流量</a:t>
            </a:r>
          </a:p>
        </p:txBody>
      </p:sp>
      <p:sp>
        <p:nvSpPr>
          <p:cNvPr id="9" name="Rectangle 9"/>
          <p:cNvSpPr/>
          <p:nvPr/>
        </p:nvSpPr>
        <p:spPr>
          <a:xfrm>
            <a:off x="3348038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491865" y="2089309"/>
            <a:ext cx="1425666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7.02万m³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05200" y="2497931"/>
            <a:ext cx="9286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日最大取水量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81725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325552" y="2089309"/>
            <a:ext cx="1258170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63A35C"/>
                </a:solidFill>
                <a:latin typeface="Arial"/>
                <a:ea typeface="Microsoft YaHei"/>
                <a:cs typeface="Arial"/>
              </a:rPr>
              <a:t>750万m³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38888" y="2497931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年取水量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015412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159240" y="2089309"/>
            <a:ext cx="618640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E8923A"/>
                </a:solidFill>
                <a:latin typeface="Arial"/>
                <a:ea typeface="Microsoft YaHei"/>
                <a:cs typeface="Arial"/>
              </a:rPr>
              <a:t>90%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72575" y="2497931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设计保证率</a:t>
            </a:r>
          </a:p>
        </p:txBody>
      </p:sp>
      <p:sp>
        <p:nvSpPr>
          <p:cNvPr id="18" name="Ellipse 18"/>
          <p:cNvSpPr/>
          <p:nvPr/>
        </p:nvSpPr>
        <p:spPr>
          <a:xfrm>
            <a:off x="590550" y="3305175"/>
            <a:ext cx="114300" cy="114300"/>
          </a:xfrm>
          <a:prstGeom prst="ellipse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18198" y="3258979"/>
            <a:ext cx="356844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取水口位于玉泉水库坝址处节制闸。</a:t>
            </a:r>
          </a:p>
        </p:txBody>
      </p:sp>
      <p:sp>
        <p:nvSpPr>
          <p:cNvPr id="20" name="Ellipse 20"/>
          <p:cNvSpPr/>
          <p:nvPr/>
        </p:nvSpPr>
        <p:spPr>
          <a:xfrm>
            <a:off x="590550" y="3924300"/>
            <a:ext cx="114300" cy="114300"/>
          </a:xfrm>
          <a:prstGeom prst="ellipse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18198" y="3878104"/>
            <a:ext cx="382047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水源通过既有引水闸和干支渠进入灌区。</a:t>
            </a:r>
          </a:p>
        </p:txBody>
      </p:sp>
      <p:sp>
        <p:nvSpPr>
          <p:cNvPr id="22" name="Line 22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03872" y="6549866"/>
            <a:ext cx="14126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来源：报告2.3、基本情况表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第2章 项目概况 | 14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720566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取水影响范围集中于玉泉水库水域及坝下渠系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695450"/>
            <a:ext cx="7810500" cy="440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237" y="1790700"/>
            <a:ext cx="5896726" cy="421005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744902" y="1798796"/>
            <a:ext cx="83429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取水对象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45855" y="2111692"/>
            <a:ext cx="7543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农业灌溉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44902" y="2637949"/>
            <a:ext cx="83429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工程节点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45855" y="2950845"/>
            <a:ext cx="9344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坝址节制闸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44902" y="3477101"/>
            <a:ext cx="83429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主要约束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45855" y="3789998"/>
            <a:ext cx="12944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水位与生态流量</a:t>
            </a:r>
          </a:p>
        </p:txBody>
      </p:sp>
      <p:sp>
        <p:nvSpPr>
          <p:cNvPr id="14" name="Line 14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03872" y="6549866"/>
            <a:ext cx="11926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来源：报告2.3、附图三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第2章 项目概况 | 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684861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退水为分散农业回归水，不设置集中排污口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09750"/>
            <a:ext cx="76200" cy="390525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02005" y="19307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退水方式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195" y="2222182"/>
            <a:ext cx="862298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农业灌溉回归水汇入玉泉水库下游农田水系，最终分散进入区域含水层或周边地表水体。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2005" y="2788920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退水规模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8195" y="3080385"/>
            <a:ext cx="681875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类比同地区灌区，回归水量按供水量的20%计，年退水量为150万m³。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2005" y="3647123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水质关注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8195" y="3938588"/>
            <a:ext cx="836995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退水水质主要受灌溉模式和化肥农药施用影响，重点关注COD、氨氮及氮磷面源污染。</a:t>
            </a:r>
          </a:p>
        </p:txBody>
      </p:sp>
      <p:sp>
        <p:nvSpPr>
          <p:cNvPr id="13" name="Line 13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03872" y="6549866"/>
            <a:ext cx="7525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来源：报告2.4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85800" y="1104900"/>
            <a:ext cx="838200" cy="762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7477125" y="1095375"/>
            <a:ext cx="4667250" cy="4667250"/>
          </a:xfrm>
          <a:prstGeom prst="ellipse">
            <a:avLst/>
          </a:prstGeom>
          <a:solidFill>
            <a:srgbClr val="0E9F9A">
              <a:alpha val="1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68655" y="1721168"/>
            <a:ext cx="10266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A9CBD8"/>
                </a:solidFill>
                <a:latin typeface="Arial"/>
                <a:ea typeface="Microsoft YaHei"/>
                <a:cs typeface="Arial"/>
              </a:rPr>
              <a:t>CHAPTER 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4365" y="2467928"/>
            <a:ext cx="6340650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水资源及其开发利用状况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2468" y="3909536"/>
            <a:ext cx="8324850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D4E3E9"/>
                </a:solidFill>
                <a:latin typeface="Arial"/>
                <a:ea typeface="Microsoft YaHei"/>
                <a:cs typeface="Arial"/>
              </a:rPr>
              <a:t>从区域地理、水文气象、资源量、供水工程、用水结构和控制指标审视项目条件。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68974" y="5338762"/>
            <a:ext cx="941951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5250" b="1" dirty="0">
                <a:solidFill>
                  <a:srgbClr val="5AB7B1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第3章 区域背景 | 17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827679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玉泉水库位于当阳市中西部、沮漳河流域玉泉河中游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695450"/>
            <a:ext cx="11163300" cy="440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305" y="1790700"/>
            <a:ext cx="5949389" cy="4210050"/>
          </a:xfrm>
          <a:prstGeom prst="rect">
            <a:avLst/>
          </a:prstGeom>
        </p:spPr>
      </p:pic>
      <p:sp>
        <p:nvSpPr>
          <p:cNvPr id="8" name="Line 8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03872" y="6549866"/>
            <a:ext cx="9835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来源：报告图3.1-1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第3章 区域背景 | 18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827679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地形与流域条件决定工程调蓄和渠系输配水的重要性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09750"/>
            <a:ext cx="76200" cy="390525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02005" y="19307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自然地理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195" y="2222182"/>
            <a:ext cx="1028419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当阳市地处鄂西山地向江汉平原过渡地带，地势西北高、东南低，以丘陵和岗地为主，形成“六岗、三平、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8195" y="2546985"/>
            <a:ext cx="214317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一分山”的地貌格局。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2005" y="311372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流域关系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8195" y="3405188"/>
            <a:ext cx="995414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当阳市主要属沮漳河流域。玉泉水库位于沮河一级支流玉泉河中游，坝址以上自然汇水面积4.00km²。</a:t>
            </a:r>
          </a:p>
        </p:txBody>
      </p:sp>
      <p:sp>
        <p:nvSpPr>
          <p:cNvPr id="12" name="Line 12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03872" y="6549866"/>
            <a:ext cx="12366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来源：报告3.1.1—3.1.2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第3章 区域背景 | 19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834820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2024年农业生产规模说明灌溉供水具有明确公共效益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790700"/>
            <a:ext cx="285750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11505" y="19402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指标</a:t>
            </a:r>
          </a:p>
        </p:txBody>
      </p:sp>
      <p:sp>
        <p:nvSpPr>
          <p:cNvPr id="8" name="Rectangle 8"/>
          <p:cNvSpPr/>
          <p:nvPr/>
        </p:nvSpPr>
        <p:spPr>
          <a:xfrm>
            <a:off x="3371850" y="1790700"/>
            <a:ext cx="190500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469005" y="19402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单位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276850" y="1790700"/>
            <a:ext cx="314325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374005" y="1940242"/>
            <a:ext cx="101721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2024年数量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420100" y="1790700"/>
            <a:ext cx="323850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517255" y="19402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同比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14350" y="228600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11505" y="23974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粮食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371850" y="2286000"/>
            <a:ext cx="1905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3469005" y="2397442"/>
            <a:ext cx="3943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万吨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276850" y="2286000"/>
            <a:ext cx="3143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374005" y="239744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47.56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420100" y="2286000"/>
            <a:ext cx="3238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517255" y="2397442"/>
            <a:ext cx="7543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基本持平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14350" y="2800350"/>
            <a:ext cx="2857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11505" y="291179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棉花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371850" y="2800350"/>
            <a:ext cx="19050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3469005" y="2911792"/>
            <a:ext cx="21431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吨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276850" y="2800350"/>
            <a:ext cx="314325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374005" y="2911792"/>
            <a:ext cx="3313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349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420100" y="2800350"/>
            <a:ext cx="3238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517255" y="2911792"/>
            <a:ext cx="6643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+4.18%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14350" y="331470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11505" y="34261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油料</a:t>
            </a:r>
          </a:p>
        </p:txBody>
      </p:sp>
      <p:sp>
        <p:nvSpPr>
          <p:cNvPr id="32" name="Rectangle 32"/>
          <p:cNvSpPr/>
          <p:nvPr/>
        </p:nvSpPr>
        <p:spPr>
          <a:xfrm>
            <a:off x="3371850" y="3314700"/>
            <a:ext cx="1905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3469005" y="3426142"/>
            <a:ext cx="3943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万吨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276850" y="3314700"/>
            <a:ext cx="3143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374005" y="342614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7.22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420100" y="3314700"/>
            <a:ext cx="3238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8517255" y="3426142"/>
            <a:ext cx="6643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+3.29%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14350" y="3829050"/>
            <a:ext cx="2857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11505" y="394049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园林水果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371850" y="3829050"/>
            <a:ext cx="19050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469005" y="3940492"/>
            <a:ext cx="3943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万吨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276850" y="3829050"/>
            <a:ext cx="314325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5374005" y="394049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57.49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420100" y="3829050"/>
            <a:ext cx="3238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8517255" y="3940492"/>
            <a:ext cx="6643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+3.92%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14350" y="434340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611505" y="44548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蔬菜</a:t>
            </a:r>
          </a:p>
        </p:txBody>
      </p:sp>
      <p:sp>
        <p:nvSpPr>
          <p:cNvPr id="48" name="Rectangle 48"/>
          <p:cNvSpPr/>
          <p:nvPr/>
        </p:nvSpPr>
        <p:spPr>
          <a:xfrm>
            <a:off x="3371850" y="4343400"/>
            <a:ext cx="1905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3469005" y="4454842"/>
            <a:ext cx="3943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万吨</a:t>
            </a:r>
          </a:p>
        </p:txBody>
      </p:sp>
      <p:sp>
        <p:nvSpPr>
          <p:cNvPr id="50" name="Rectangle 50"/>
          <p:cNvSpPr/>
          <p:nvPr/>
        </p:nvSpPr>
        <p:spPr>
          <a:xfrm>
            <a:off x="5276850" y="4343400"/>
            <a:ext cx="3143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5374005" y="445484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108.5</a:t>
            </a:r>
          </a:p>
        </p:txBody>
      </p:sp>
      <p:sp>
        <p:nvSpPr>
          <p:cNvPr id="52" name="Rectangle 52"/>
          <p:cNvSpPr/>
          <p:nvPr/>
        </p:nvSpPr>
        <p:spPr>
          <a:xfrm>
            <a:off x="8420100" y="4343400"/>
            <a:ext cx="3238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8517255" y="4454842"/>
            <a:ext cx="5653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+2.0%</a:t>
            </a:r>
          </a:p>
        </p:txBody>
      </p:sp>
      <p:sp>
        <p:nvSpPr>
          <p:cNvPr id="54" name="Line 54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503872" y="6549866"/>
            <a:ext cx="139612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来源：报告3.1.3、表3.1-1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第3章 区域背景 | 20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720566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降雨总体较丰富，但年内集中、年际波动明显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790700"/>
            <a:ext cx="342900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11505" y="194024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气象指标</a:t>
            </a:r>
          </a:p>
        </p:txBody>
      </p:sp>
      <p:sp>
        <p:nvSpPr>
          <p:cNvPr id="8" name="Rectangle 8"/>
          <p:cNvSpPr/>
          <p:nvPr/>
        </p:nvSpPr>
        <p:spPr>
          <a:xfrm>
            <a:off x="3943350" y="1790700"/>
            <a:ext cx="161925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040505" y="19402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单位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562600" y="1790700"/>
            <a:ext cx="314325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659755" y="1940242"/>
            <a:ext cx="601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漳河站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705850" y="1790700"/>
            <a:ext cx="295275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803005" y="1940242"/>
            <a:ext cx="601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沮河站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14350" y="2286000"/>
            <a:ext cx="3429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11505" y="2397442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多年平均降水量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943350" y="2286000"/>
            <a:ext cx="1619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040505" y="2397442"/>
            <a:ext cx="30432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mm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562600" y="2286000"/>
            <a:ext cx="3143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659755" y="239744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968.9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705850" y="2286000"/>
            <a:ext cx="2952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803005" y="239744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992.1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14350" y="2800350"/>
            <a:ext cx="34290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11505" y="2911792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多年平均蒸发量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943350" y="2800350"/>
            <a:ext cx="161925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040505" y="2911792"/>
            <a:ext cx="30432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mm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562600" y="2800350"/>
            <a:ext cx="314325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659755" y="2911792"/>
            <a:ext cx="6283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1424.5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705850" y="2800350"/>
            <a:ext cx="295275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803005" y="2911792"/>
            <a:ext cx="6283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1364.5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14350" y="3314700"/>
            <a:ext cx="3429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11505" y="342614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多年平均气温</a:t>
            </a:r>
          </a:p>
        </p:txBody>
      </p:sp>
      <p:sp>
        <p:nvSpPr>
          <p:cNvPr id="32" name="Rectangle 32"/>
          <p:cNvSpPr/>
          <p:nvPr/>
        </p:nvSpPr>
        <p:spPr>
          <a:xfrm>
            <a:off x="3943350" y="3314700"/>
            <a:ext cx="1619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4040505" y="3426142"/>
            <a:ext cx="1333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℃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562600" y="3314700"/>
            <a:ext cx="3143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659755" y="342614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15.6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705850" y="3314700"/>
            <a:ext cx="2952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8803005" y="342614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16.4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14350" y="3829050"/>
            <a:ext cx="34290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11505" y="394049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极端最高气温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943350" y="3829050"/>
            <a:ext cx="161925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4040505" y="3940492"/>
            <a:ext cx="1333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℃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562600" y="3829050"/>
            <a:ext cx="314325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5659755" y="394049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40.9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705850" y="3829050"/>
            <a:ext cx="295275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8803005" y="3940492"/>
            <a:ext cx="1333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14350" y="4343400"/>
            <a:ext cx="3429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611505" y="4454842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降雨集中期</a:t>
            </a:r>
          </a:p>
        </p:txBody>
      </p:sp>
      <p:sp>
        <p:nvSpPr>
          <p:cNvPr id="48" name="Rectangle 48"/>
          <p:cNvSpPr/>
          <p:nvPr/>
        </p:nvSpPr>
        <p:spPr>
          <a:xfrm>
            <a:off x="3943350" y="4343400"/>
            <a:ext cx="1619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4040505" y="4454842"/>
            <a:ext cx="3943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月份</a:t>
            </a:r>
          </a:p>
        </p:txBody>
      </p:sp>
      <p:sp>
        <p:nvSpPr>
          <p:cNvPr id="50" name="Rectangle 50"/>
          <p:cNvSpPr/>
          <p:nvPr/>
        </p:nvSpPr>
        <p:spPr>
          <a:xfrm>
            <a:off x="5562600" y="4343400"/>
            <a:ext cx="3143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5659755" y="4454842"/>
            <a:ext cx="6103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4—10月</a:t>
            </a:r>
          </a:p>
        </p:txBody>
      </p:sp>
      <p:sp>
        <p:nvSpPr>
          <p:cNvPr id="52" name="Rectangle 52"/>
          <p:cNvSpPr/>
          <p:nvPr/>
        </p:nvSpPr>
        <p:spPr>
          <a:xfrm>
            <a:off x="8705850" y="4343400"/>
            <a:ext cx="2952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8803005" y="4454842"/>
            <a:ext cx="128544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约占全年81.7%</a:t>
            </a:r>
          </a:p>
        </p:txBody>
      </p:sp>
      <p:sp>
        <p:nvSpPr>
          <p:cNvPr id="54" name="Line 54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503872" y="6549866"/>
            <a:ext cx="139612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来源：报告3.1.4、表3.1-2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第3章 区域背景 | 21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718781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2015—2019年当阳市水资源总量呈周期性波动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790700"/>
            <a:ext cx="171450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11505" y="19402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年份</a:t>
            </a:r>
          </a:p>
        </p:txBody>
      </p:sp>
      <p:sp>
        <p:nvSpPr>
          <p:cNvPr id="8" name="Rectangle 8"/>
          <p:cNvSpPr/>
          <p:nvPr/>
        </p:nvSpPr>
        <p:spPr>
          <a:xfrm>
            <a:off x="2228850" y="1790700"/>
            <a:ext cx="2333625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326005" y="1940242"/>
            <a:ext cx="128184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年降水量 亿m³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562475" y="1790700"/>
            <a:ext cx="2333625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659630" y="1940242"/>
            <a:ext cx="10928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地表水 亿m³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896100" y="1790700"/>
            <a:ext cx="2333625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993255" y="1940242"/>
            <a:ext cx="10928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地下水 亿m³</a:t>
            </a:r>
          </a:p>
        </p:txBody>
      </p:sp>
      <p:sp>
        <p:nvSpPr>
          <p:cNvPr id="14" name="Rectangle 14"/>
          <p:cNvSpPr/>
          <p:nvPr/>
        </p:nvSpPr>
        <p:spPr>
          <a:xfrm>
            <a:off x="9229725" y="1790700"/>
            <a:ext cx="2428875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326880" y="1940242"/>
            <a:ext cx="14708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水资源总量 亿m³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14350" y="2286000"/>
            <a:ext cx="1714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11505" y="2397442"/>
            <a:ext cx="4501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2015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228850" y="2286000"/>
            <a:ext cx="233362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326005" y="239744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20.00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562475" y="2286000"/>
            <a:ext cx="233362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4659630" y="239744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4.59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896100" y="2286000"/>
            <a:ext cx="233362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993255" y="239744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2.22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229725" y="2286000"/>
            <a:ext cx="242887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326880" y="239744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4.76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14350" y="2800350"/>
            <a:ext cx="1714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11505" y="2911792"/>
            <a:ext cx="4501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2016</a:t>
            </a:r>
          </a:p>
        </p:txBody>
      </p:sp>
      <p:sp>
        <p:nvSpPr>
          <p:cNvPr id="28" name="Rectangle 28"/>
          <p:cNvSpPr/>
          <p:nvPr/>
        </p:nvSpPr>
        <p:spPr>
          <a:xfrm>
            <a:off x="2228850" y="2800350"/>
            <a:ext cx="2333625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2326005" y="291179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26.15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562475" y="2800350"/>
            <a:ext cx="2333625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4659630" y="291179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13.05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896100" y="2800350"/>
            <a:ext cx="2333625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993255" y="291179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2.24</a:t>
            </a:r>
          </a:p>
        </p:txBody>
      </p:sp>
      <p:sp>
        <p:nvSpPr>
          <p:cNvPr id="34" name="Rectangle 34"/>
          <p:cNvSpPr/>
          <p:nvPr/>
        </p:nvSpPr>
        <p:spPr>
          <a:xfrm>
            <a:off x="9229725" y="2800350"/>
            <a:ext cx="2428875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9326880" y="291179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13.23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14350" y="3314700"/>
            <a:ext cx="1714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611505" y="3426142"/>
            <a:ext cx="4501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2017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228850" y="3314700"/>
            <a:ext cx="233362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2326005" y="342614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22.92</a:t>
            </a:r>
          </a:p>
        </p:txBody>
      </p:sp>
      <p:sp>
        <p:nvSpPr>
          <p:cNvPr id="40" name="Rectangle 40"/>
          <p:cNvSpPr/>
          <p:nvPr/>
        </p:nvSpPr>
        <p:spPr>
          <a:xfrm>
            <a:off x="4562475" y="3314700"/>
            <a:ext cx="233362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4659630" y="342614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8.61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896100" y="3314700"/>
            <a:ext cx="233362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993255" y="342614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2.39</a:t>
            </a:r>
          </a:p>
        </p:txBody>
      </p:sp>
      <p:sp>
        <p:nvSpPr>
          <p:cNvPr id="44" name="Rectangle 44"/>
          <p:cNvSpPr/>
          <p:nvPr/>
        </p:nvSpPr>
        <p:spPr>
          <a:xfrm>
            <a:off x="9229725" y="3314700"/>
            <a:ext cx="242887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9326880" y="342614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8.79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14350" y="3829050"/>
            <a:ext cx="1714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611505" y="3940492"/>
            <a:ext cx="4501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2018</a:t>
            </a:r>
          </a:p>
        </p:txBody>
      </p:sp>
      <p:sp>
        <p:nvSpPr>
          <p:cNvPr id="48" name="Rectangle 48"/>
          <p:cNvSpPr/>
          <p:nvPr/>
        </p:nvSpPr>
        <p:spPr>
          <a:xfrm>
            <a:off x="2228850" y="3829050"/>
            <a:ext cx="2333625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2326005" y="394049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23.61</a:t>
            </a:r>
          </a:p>
        </p:txBody>
      </p:sp>
      <p:sp>
        <p:nvSpPr>
          <p:cNvPr id="50" name="Rectangle 50"/>
          <p:cNvSpPr/>
          <p:nvPr/>
        </p:nvSpPr>
        <p:spPr>
          <a:xfrm>
            <a:off x="4562475" y="3829050"/>
            <a:ext cx="2333625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659630" y="394049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8.77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896100" y="3829050"/>
            <a:ext cx="2333625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6993255" y="394049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2.05</a:t>
            </a:r>
          </a:p>
        </p:txBody>
      </p:sp>
      <p:sp>
        <p:nvSpPr>
          <p:cNvPr id="54" name="Rectangle 54"/>
          <p:cNvSpPr/>
          <p:nvPr/>
        </p:nvSpPr>
        <p:spPr>
          <a:xfrm>
            <a:off x="9229725" y="3829050"/>
            <a:ext cx="2428875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9326880" y="394049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8.97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14350" y="4343400"/>
            <a:ext cx="1714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611505" y="4454842"/>
            <a:ext cx="4501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2019</a:t>
            </a:r>
          </a:p>
        </p:txBody>
      </p:sp>
      <p:sp>
        <p:nvSpPr>
          <p:cNvPr id="58" name="Rectangle 58"/>
          <p:cNvSpPr/>
          <p:nvPr/>
        </p:nvSpPr>
        <p:spPr>
          <a:xfrm>
            <a:off x="2228850" y="4343400"/>
            <a:ext cx="233362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2326005" y="445484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15.77</a:t>
            </a:r>
          </a:p>
        </p:txBody>
      </p:sp>
      <p:sp>
        <p:nvSpPr>
          <p:cNvPr id="60" name="Rectangle 60"/>
          <p:cNvSpPr/>
          <p:nvPr/>
        </p:nvSpPr>
        <p:spPr>
          <a:xfrm>
            <a:off x="4562475" y="4343400"/>
            <a:ext cx="233362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4659630" y="445484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2.60</a:t>
            </a:r>
          </a:p>
        </p:txBody>
      </p:sp>
      <p:sp>
        <p:nvSpPr>
          <p:cNvPr id="62" name="Rectangle 62"/>
          <p:cNvSpPr/>
          <p:nvPr/>
        </p:nvSpPr>
        <p:spPr>
          <a:xfrm>
            <a:off x="6896100" y="4343400"/>
            <a:ext cx="233362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6993255" y="445484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1.69</a:t>
            </a:r>
          </a:p>
        </p:txBody>
      </p:sp>
      <p:sp>
        <p:nvSpPr>
          <p:cNvPr id="64" name="Rectangle 64"/>
          <p:cNvSpPr/>
          <p:nvPr/>
        </p:nvSpPr>
        <p:spPr>
          <a:xfrm>
            <a:off x="9229725" y="4343400"/>
            <a:ext cx="242887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9326880" y="445484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2.81</a:t>
            </a:r>
          </a:p>
        </p:txBody>
      </p:sp>
      <p:sp>
        <p:nvSpPr>
          <p:cNvPr id="66" name="Line 66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503872" y="6549866"/>
            <a:ext cx="9835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来源：报告表3.2-1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第3章 区域背景 | 22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845531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2020—2024年水资源总量由14.61亿m³降至2.83亿m³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790700"/>
            <a:ext cx="171450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11505" y="19402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年份</a:t>
            </a:r>
          </a:p>
        </p:txBody>
      </p:sp>
      <p:sp>
        <p:nvSpPr>
          <p:cNvPr id="8" name="Rectangle 8"/>
          <p:cNvSpPr/>
          <p:nvPr/>
        </p:nvSpPr>
        <p:spPr>
          <a:xfrm>
            <a:off x="2228850" y="1790700"/>
            <a:ext cx="2333625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326005" y="1940242"/>
            <a:ext cx="128184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年降水量 亿m³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562475" y="1790700"/>
            <a:ext cx="2333625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659630" y="1940242"/>
            <a:ext cx="10928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地表水 亿m³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896100" y="1790700"/>
            <a:ext cx="2333625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993255" y="1940242"/>
            <a:ext cx="10928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地下水 亿m³</a:t>
            </a:r>
          </a:p>
        </p:txBody>
      </p:sp>
      <p:sp>
        <p:nvSpPr>
          <p:cNvPr id="14" name="Rectangle 14"/>
          <p:cNvSpPr/>
          <p:nvPr/>
        </p:nvSpPr>
        <p:spPr>
          <a:xfrm>
            <a:off x="9229725" y="1790700"/>
            <a:ext cx="2428875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326880" y="1940242"/>
            <a:ext cx="14708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水资源总量 亿m³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14350" y="2286000"/>
            <a:ext cx="1714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11505" y="2397442"/>
            <a:ext cx="4501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2020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228850" y="2286000"/>
            <a:ext cx="233362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326005" y="239744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30.86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562475" y="2286000"/>
            <a:ext cx="233362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4659630" y="239744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14.50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896100" y="2286000"/>
            <a:ext cx="233362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993255" y="239744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3.68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229725" y="2286000"/>
            <a:ext cx="242887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326880" y="239744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14.61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14350" y="2800350"/>
            <a:ext cx="1714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11505" y="2911792"/>
            <a:ext cx="4501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2021</a:t>
            </a:r>
          </a:p>
        </p:txBody>
      </p:sp>
      <p:sp>
        <p:nvSpPr>
          <p:cNvPr id="28" name="Rectangle 28"/>
          <p:cNvSpPr/>
          <p:nvPr/>
        </p:nvSpPr>
        <p:spPr>
          <a:xfrm>
            <a:off x="2228850" y="2800350"/>
            <a:ext cx="2333625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2326005" y="291179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18.55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562475" y="2800350"/>
            <a:ext cx="2333625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4659630" y="291179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4.65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896100" y="2800350"/>
            <a:ext cx="2333625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993255" y="291179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1.46</a:t>
            </a:r>
          </a:p>
        </p:txBody>
      </p:sp>
      <p:sp>
        <p:nvSpPr>
          <p:cNvPr id="34" name="Rectangle 34"/>
          <p:cNvSpPr/>
          <p:nvPr/>
        </p:nvSpPr>
        <p:spPr>
          <a:xfrm>
            <a:off x="9229725" y="2800350"/>
            <a:ext cx="2428875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9326880" y="291179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4.80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14350" y="3314700"/>
            <a:ext cx="1714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611505" y="3426142"/>
            <a:ext cx="4501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2022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228850" y="3314700"/>
            <a:ext cx="233362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2326005" y="342614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19.86</a:t>
            </a:r>
          </a:p>
        </p:txBody>
      </p:sp>
      <p:sp>
        <p:nvSpPr>
          <p:cNvPr id="40" name="Rectangle 40"/>
          <p:cNvSpPr/>
          <p:nvPr/>
        </p:nvSpPr>
        <p:spPr>
          <a:xfrm>
            <a:off x="4562475" y="3314700"/>
            <a:ext cx="233362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4659630" y="342614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5.08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896100" y="3314700"/>
            <a:ext cx="233362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993255" y="342614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1.80</a:t>
            </a:r>
          </a:p>
        </p:txBody>
      </p:sp>
      <p:sp>
        <p:nvSpPr>
          <p:cNvPr id="44" name="Rectangle 44"/>
          <p:cNvSpPr/>
          <p:nvPr/>
        </p:nvSpPr>
        <p:spPr>
          <a:xfrm>
            <a:off x="9229725" y="3314700"/>
            <a:ext cx="242887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9326880" y="342614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5.26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14350" y="3829050"/>
            <a:ext cx="1714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611505" y="3940492"/>
            <a:ext cx="4501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2023</a:t>
            </a:r>
          </a:p>
        </p:txBody>
      </p:sp>
      <p:sp>
        <p:nvSpPr>
          <p:cNvPr id="48" name="Rectangle 48"/>
          <p:cNvSpPr/>
          <p:nvPr/>
        </p:nvSpPr>
        <p:spPr>
          <a:xfrm>
            <a:off x="2228850" y="3829050"/>
            <a:ext cx="2333625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2326005" y="394049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19.88</a:t>
            </a:r>
          </a:p>
        </p:txBody>
      </p:sp>
      <p:sp>
        <p:nvSpPr>
          <p:cNvPr id="50" name="Rectangle 50"/>
          <p:cNvSpPr/>
          <p:nvPr/>
        </p:nvSpPr>
        <p:spPr>
          <a:xfrm>
            <a:off x="4562475" y="3829050"/>
            <a:ext cx="2333625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659630" y="394049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5.79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896100" y="3829050"/>
            <a:ext cx="2333625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6993255" y="394049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1.82</a:t>
            </a:r>
          </a:p>
        </p:txBody>
      </p:sp>
      <p:sp>
        <p:nvSpPr>
          <p:cNvPr id="54" name="Rectangle 54"/>
          <p:cNvSpPr/>
          <p:nvPr/>
        </p:nvSpPr>
        <p:spPr>
          <a:xfrm>
            <a:off x="9229725" y="3829050"/>
            <a:ext cx="2428875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9326880" y="394049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5.91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14350" y="4343400"/>
            <a:ext cx="1714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611505" y="4454842"/>
            <a:ext cx="4501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2024</a:t>
            </a:r>
          </a:p>
        </p:txBody>
      </p:sp>
      <p:sp>
        <p:nvSpPr>
          <p:cNvPr id="58" name="Rectangle 58"/>
          <p:cNvSpPr/>
          <p:nvPr/>
        </p:nvSpPr>
        <p:spPr>
          <a:xfrm>
            <a:off x="2228850" y="4343400"/>
            <a:ext cx="233362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2326005" y="445484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14.33</a:t>
            </a:r>
          </a:p>
        </p:txBody>
      </p:sp>
      <p:sp>
        <p:nvSpPr>
          <p:cNvPr id="60" name="Rectangle 60"/>
          <p:cNvSpPr/>
          <p:nvPr/>
        </p:nvSpPr>
        <p:spPr>
          <a:xfrm>
            <a:off x="4562475" y="4343400"/>
            <a:ext cx="233362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4659630" y="445484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2.66</a:t>
            </a:r>
          </a:p>
        </p:txBody>
      </p:sp>
      <p:sp>
        <p:nvSpPr>
          <p:cNvPr id="62" name="Rectangle 62"/>
          <p:cNvSpPr/>
          <p:nvPr/>
        </p:nvSpPr>
        <p:spPr>
          <a:xfrm>
            <a:off x="6896100" y="4343400"/>
            <a:ext cx="233362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6993255" y="445484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1.06</a:t>
            </a:r>
          </a:p>
        </p:txBody>
      </p:sp>
      <p:sp>
        <p:nvSpPr>
          <p:cNvPr id="64" name="Rectangle 64"/>
          <p:cNvSpPr/>
          <p:nvPr/>
        </p:nvSpPr>
        <p:spPr>
          <a:xfrm>
            <a:off x="9229725" y="4343400"/>
            <a:ext cx="2428875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9326880" y="445484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2.83</a:t>
            </a:r>
          </a:p>
        </p:txBody>
      </p:sp>
      <p:sp>
        <p:nvSpPr>
          <p:cNvPr id="66" name="Line 66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503872" y="6549866"/>
            <a:ext cx="9835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来源：报告表3.2-1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第3章 区域背景 | 23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711640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群利一队断面2024年水质达到地表水Ⅱ类标准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09750"/>
            <a:ext cx="76200" cy="390525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02005" y="19307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水质现状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195" y="2222182"/>
            <a:ext cx="642270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玉泉水库坝址以上流域以天然汇水区为主，受工业及生活面源污染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8195" y="2546985"/>
            <a:ext cx="60266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干扰程度较低。根据《2024年宜昌市环境质量年报》，水库下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8195" y="2871788"/>
            <a:ext cx="63236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游群利一队断面水质达到《地表水环境质量标准》Ⅱ类标准，满足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8195" y="3196590"/>
            <a:ext cx="334232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《农田灌溉水质标准》相关要求。</a:t>
            </a:r>
          </a:p>
        </p:txBody>
      </p:sp>
      <p:sp>
        <p:nvSpPr>
          <p:cNvPr id="12" name="Line 12"/>
          <p:cNvSpPr/>
          <p:nvPr/>
        </p:nvSpPr>
        <p:spPr>
          <a:xfrm>
            <a:off x="7124700" y="1952625"/>
            <a:ext cx="9525" cy="3619500"/>
          </a:xfrm>
          <a:custGeom>
            <a:avLst/>
            <a:gdLst/>
            <a:ahLst/>
            <a:cxnLst/>
            <a:rect l="l" t="t" r="r" b="b"/>
            <a:pathLst>
              <a:path w="9525" h="3619500">
                <a:moveTo>
                  <a:pt x="0" y="0"/>
                </a:moveTo>
                <a:lnTo>
                  <a:pt x="0" y="361950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7498080" y="1906905"/>
            <a:ext cx="50909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Ⅱ类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09510" y="2280285"/>
            <a:ext cx="1630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群利一队断面水质类别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98080" y="2745105"/>
            <a:ext cx="99425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2024年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09510" y="3118485"/>
            <a:ext cx="1630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环境质量年报评价年度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98080" y="3583305"/>
            <a:ext cx="192047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GB 3838-2002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09510" y="3956685"/>
            <a:ext cx="14706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地表水环境质量标准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98080" y="4421505"/>
            <a:ext cx="192047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GB 5084-2021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09510" y="4794885"/>
            <a:ext cx="1310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农田灌溉水质标准</a:t>
            </a:r>
          </a:p>
        </p:txBody>
      </p:sp>
      <p:sp>
        <p:nvSpPr>
          <p:cNvPr id="21" name="Line 21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503872" y="6549866"/>
            <a:ext cx="8735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来源：报告3.2.2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第3章 区域背景 | 24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791975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当阳市已形成蓄、引、提结合的区域供水工程体系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09750"/>
            <a:ext cx="76200" cy="390525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02005" y="19307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蓄水工程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195" y="2222182"/>
            <a:ext cx="601565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现有各类水库128座，总库容5.41亿m³，另有大量塘坝工程。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2005" y="2788920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引水工程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8195" y="3080385"/>
            <a:ext cx="79629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百里长渠、五七长渠以及东风渠二、三干渠和漳河干渠承担农业灌溉与生态补水。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2005" y="3647123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提水工程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8195" y="3938588"/>
            <a:ext cx="680775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现有提水泵站40座，总装机功率4289kW，设计提水流量19.58m³/s。</a:t>
            </a:r>
          </a:p>
        </p:txBody>
      </p:sp>
      <p:sp>
        <p:nvSpPr>
          <p:cNvPr id="13" name="Line 13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03872" y="6549866"/>
            <a:ext cx="8735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来源：报告3.3.1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第3章 区域背景 | 25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727707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2024年供水以地表水为主，蓄水工程贡献最大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58178" y="2089309"/>
            <a:ext cx="1593162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0B3558"/>
                </a:solidFill>
                <a:latin typeface="Arial"/>
                <a:ea typeface="Microsoft YaHei"/>
                <a:cs typeface="Arial"/>
              </a:rPr>
              <a:t>3.444亿m³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1512" y="2497931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总供水量</a:t>
            </a:r>
          </a:p>
        </p:txBody>
      </p:sp>
      <p:sp>
        <p:nvSpPr>
          <p:cNvPr id="9" name="Rectangle 9"/>
          <p:cNvSpPr/>
          <p:nvPr/>
        </p:nvSpPr>
        <p:spPr>
          <a:xfrm>
            <a:off x="3348038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491865" y="2089309"/>
            <a:ext cx="1593162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3.349亿m³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05200" y="2497931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地表水供水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81725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325552" y="2089309"/>
            <a:ext cx="1593162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63A35C"/>
                </a:solidFill>
                <a:latin typeface="Arial"/>
                <a:ea typeface="Microsoft YaHei"/>
                <a:cs typeface="Arial"/>
              </a:rPr>
              <a:t>1.648亿m³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38888" y="2497931"/>
            <a:ext cx="9286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蓄水工程供水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015412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159240" y="2089309"/>
            <a:ext cx="1593162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E8923A"/>
                </a:solidFill>
                <a:latin typeface="Arial"/>
                <a:ea typeface="Microsoft YaHei"/>
                <a:cs typeface="Arial"/>
              </a:rPr>
              <a:t>0.980亿m³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72575" y="2497931"/>
            <a:ext cx="9286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引水工程供水</a:t>
            </a:r>
          </a:p>
        </p:txBody>
      </p:sp>
      <p:sp>
        <p:nvSpPr>
          <p:cNvPr id="18" name="Ellipse 18"/>
          <p:cNvSpPr/>
          <p:nvPr/>
        </p:nvSpPr>
        <p:spPr>
          <a:xfrm>
            <a:off x="590550" y="3305175"/>
            <a:ext cx="114300" cy="114300"/>
          </a:xfrm>
          <a:prstGeom prst="ellipse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18198" y="3258979"/>
            <a:ext cx="246580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地表水供水占绝对主体。</a:t>
            </a:r>
          </a:p>
        </p:txBody>
      </p:sp>
      <p:sp>
        <p:nvSpPr>
          <p:cNvPr id="20" name="Ellipse 20"/>
          <p:cNvSpPr/>
          <p:nvPr/>
        </p:nvSpPr>
        <p:spPr>
          <a:xfrm>
            <a:off x="590550" y="3924300"/>
            <a:ext cx="114300" cy="114300"/>
          </a:xfrm>
          <a:prstGeom prst="ellipse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18198" y="3878104"/>
            <a:ext cx="382047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跨区干渠是枯水期农业补源的重要组成。</a:t>
            </a:r>
          </a:p>
        </p:txBody>
      </p:sp>
      <p:sp>
        <p:nvSpPr>
          <p:cNvPr id="22" name="Line 22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03872" y="6549866"/>
            <a:ext cx="8735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来源：报告3.3.1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第3章 区域背景 | 26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863384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当阳市农业用水占比高，亩均和人均用水仍有提升空间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790700"/>
            <a:ext cx="409575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11505" y="19402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指标</a:t>
            </a:r>
          </a:p>
        </p:txBody>
      </p:sp>
      <p:sp>
        <p:nvSpPr>
          <p:cNvPr id="8" name="Rectangle 8"/>
          <p:cNvSpPr/>
          <p:nvPr/>
        </p:nvSpPr>
        <p:spPr>
          <a:xfrm>
            <a:off x="4610100" y="1790700"/>
            <a:ext cx="228600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707255" y="1940242"/>
            <a:ext cx="601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当阳市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896100" y="1790700"/>
            <a:ext cx="228600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993255" y="1940242"/>
            <a:ext cx="601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宜昌市</a:t>
            </a:r>
          </a:p>
        </p:txBody>
      </p:sp>
      <p:sp>
        <p:nvSpPr>
          <p:cNvPr id="12" name="Rectangle 12"/>
          <p:cNvSpPr/>
          <p:nvPr/>
        </p:nvSpPr>
        <p:spPr>
          <a:xfrm>
            <a:off x="9182100" y="1790700"/>
            <a:ext cx="247650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279255" y="1940242"/>
            <a:ext cx="601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湖北省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14350" y="2286000"/>
            <a:ext cx="4095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11505" y="2397442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人均综合用水量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610100" y="2286000"/>
            <a:ext cx="2286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707255" y="2397442"/>
            <a:ext cx="5653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822m³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896100" y="2286000"/>
            <a:ext cx="2286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993255" y="2397442"/>
            <a:ext cx="5653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585m³</a:t>
            </a:r>
          </a:p>
        </p:txBody>
      </p:sp>
      <p:sp>
        <p:nvSpPr>
          <p:cNvPr id="20" name="Rectangle 20"/>
          <p:cNvSpPr/>
          <p:nvPr/>
        </p:nvSpPr>
        <p:spPr>
          <a:xfrm>
            <a:off x="9182100" y="2286000"/>
            <a:ext cx="2476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279255" y="2397442"/>
            <a:ext cx="5653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583m³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14350" y="2800350"/>
            <a:ext cx="409575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11505" y="2911792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农田灌溉亩均用水量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610100" y="2800350"/>
            <a:ext cx="22860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707255" y="2911792"/>
            <a:ext cx="5653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386m³</a:t>
            </a:r>
          </a:p>
        </p:txBody>
      </p:sp>
      <p:sp>
        <p:nvSpPr>
          <p:cNvPr id="26" name="Rectangle 26"/>
          <p:cNvSpPr/>
          <p:nvPr/>
        </p:nvSpPr>
        <p:spPr>
          <a:xfrm>
            <a:off x="6896100" y="2800350"/>
            <a:ext cx="22860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993255" y="2911792"/>
            <a:ext cx="5653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357m³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182100" y="2800350"/>
            <a:ext cx="2476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279255" y="2911792"/>
            <a:ext cx="5653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378m³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14350" y="3314700"/>
            <a:ext cx="4095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11505" y="3426142"/>
            <a:ext cx="12912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万元GDP用水量</a:t>
            </a:r>
          </a:p>
        </p:txBody>
      </p:sp>
      <p:sp>
        <p:nvSpPr>
          <p:cNvPr id="32" name="Rectangle 32"/>
          <p:cNvSpPr/>
          <p:nvPr/>
        </p:nvSpPr>
        <p:spPr>
          <a:xfrm>
            <a:off x="4610100" y="3314700"/>
            <a:ext cx="2286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4707255" y="3426142"/>
            <a:ext cx="6643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47.1m³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896100" y="3314700"/>
            <a:ext cx="2286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993255" y="3426142"/>
            <a:ext cx="6643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31.2m³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182100" y="3314700"/>
            <a:ext cx="2476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279255" y="3426142"/>
            <a:ext cx="6643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53.0m³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14350" y="3829050"/>
            <a:ext cx="409575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11505" y="394049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农业用水占比</a:t>
            </a:r>
          </a:p>
        </p:txBody>
      </p:sp>
      <p:sp>
        <p:nvSpPr>
          <p:cNvPr id="40" name="Rectangle 40"/>
          <p:cNvSpPr/>
          <p:nvPr/>
        </p:nvSpPr>
        <p:spPr>
          <a:xfrm>
            <a:off x="4610100" y="3829050"/>
            <a:ext cx="22860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4707255" y="3940492"/>
            <a:ext cx="6643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74.06%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896100" y="3829050"/>
            <a:ext cx="22860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993255" y="3940492"/>
            <a:ext cx="1333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44" name="Rectangle 44"/>
          <p:cNvSpPr/>
          <p:nvPr/>
        </p:nvSpPr>
        <p:spPr>
          <a:xfrm>
            <a:off x="9182100" y="3829050"/>
            <a:ext cx="2476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9279255" y="3940492"/>
            <a:ext cx="1333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46" name="Line 46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503872" y="6549866"/>
            <a:ext cx="139612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来源：报告3.3.2、表3.3-1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第3章 区域背景 | 27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934793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报告识别出开发程度、效率、季节缺水和水质保护四类问题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09750"/>
            <a:ext cx="76200" cy="390525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02005" y="19307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主要问题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195" y="2222182"/>
            <a:ext cx="988814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（1）水资源开发利用程度较高；（2）人均、亩均及万元GDP用水效率不均衡，农业仍有节水潜力；（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8195" y="2546985"/>
            <a:ext cx="1018517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3）降雨年际和年内分布不均，作物需水高峰易出现季节性缺水；（4）农业面源与养殖污染对区域水源保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8195" y="2871788"/>
            <a:ext cx="136207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护形成压力。</a:t>
            </a:r>
          </a:p>
        </p:txBody>
      </p:sp>
      <p:sp>
        <p:nvSpPr>
          <p:cNvPr id="11" name="Line 11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03872" y="6549866"/>
            <a:ext cx="8735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来源：报告3.3.3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27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第3章 区域背景 | 28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763411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2024年当阳市实际用水总量未超过年度控制指标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58178" y="2089309"/>
            <a:ext cx="1593162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0B3558"/>
                </a:solidFill>
                <a:latin typeface="Arial"/>
                <a:ea typeface="Microsoft YaHei"/>
                <a:cs typeface="Arial"/>
              </a:rPr>
              <a:t>35000万m³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1512" y="2497931"/>
            <a:ext cx="17087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2024年用水总量控制指标</a:t>
            </a:r>
          </a:p>
        </p:txBody>
      </p:sp>
      <p:sp>
        <p:nvSpPr>
          <p:cNvPr id="9" name="Rectangle 9"/>
          <p:cNvSpPr/>
          <p:nvPr/>
        </p:nvSpPr>
        <p:spPr>
          <a:xfrm>
            <a:off x="3348038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491865" y="2089309"/>
            <a:ext cx="1593162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34437万m³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05200" y="2497931"/>
            <a:ext cx="14087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2024年实际用水总量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81725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325552" y="2089309"/>
            <a:ext cx="1121128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E8923A"/>
                </a:solidFill>
                <a:latin typeface="Arial"/>
                <a:ea typeface="Microsoft YaHei"/>
                <a:cs typeface="Arial"/>
              </a:rPr>
              <a:t>98.39%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38888" y="2497931"/>
            <a:ext cx="12287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控制指标占用比例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015412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159240" y="2089309"/>
            <a:ext cx="786136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63A35C"/>
                </a:solidFill>
                <a:latin typeface="Arial"/>
                <a:ea typeface="Microsoft YaHei"/>
                <a:cs typeface="Arial"/>
              </a:rPr>
              <a:t>100%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72575" y="2497931"/>
            <a:ext cx="1678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现状水功能区水质达标率</a:t>
            </a:r>
          </a:p>
        </p:txBody>
      </p:sp>
      <p:sp>
        <p:nvSpPr>
          <p:cNvPr id="18" name="Ellipse 18"/>
          <p:cNvSpPr/>
          <p:nvPr/>
        </p:nvSpPr>
        <p:spPr>
          <a:xfrm>
            <a:off x="590550" y="3305175"/>
            <a:ext cx="114300" cy="114300"/>
          </a:xfrm>
          <a:prstGeom prst="ellipse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18198" y="3258979"/>
            <a:ext cx="4715189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报告判断2024年实际用水总量未超过控制指标。</a:t>
            </a:r>
          </a:p>
        </p:txBody>
      </p:sp>
      <p:sp>
        <p:nvSpPr>
          <p:cNvPr id="20" name="Ellipse 20"/>
          <p:cNvSpPr/>
          <p:nvPr/>
        </p:nvSpPr>
        <p:spPr>
          <a:xfrm>
            <a:off x="590550" y="3924300"/>
            <a:ext cx="114300" cy="114300"/>
          </a:xfrm>
          <a:prstGeom prst="ellipse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18198" y="3878104"/>
            <a:ext cx="5952244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万元工业增加值用水量降幅为54.6%，已达到2025年考核目标。</a:t>
            </a:r>
          </a:p>
        </p:txBody>
      </p:sp>
      <p:sp>
        <p:nvSpPr>
          <p:cNvPr id="22" name="Line 22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03872" y="6549866"/>
            <a:ext cx="153364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来源：报告基本情况表、3.4.1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28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85800" y="1104900"/>
            <a:ext cx="838200" cy="762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7477125" y="1095375"/>
            <a:ext cx="4667250" cy="4667250"/>
          </a:xfrm>
          <a:prstGeom prst="ellipse">
            <a:avLst/>
          </a:prstGeom>
          <a:solidFill>
            <a:srgbClr val="0E9F9A">
              <a:alpha val="1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68655" y="1721168"/>
            <a:ext cx="10266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A9CBD8"/>
                </a:solidFill>
                <a:latin typeface="Arial"/>
                <a:ea typeface="Microsoft YaHei"/>
                <a:cs typeface="Arial"/>
              </a:rPr>
              <a:t>CHAPTER 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4365" y="2467928"/>
            <a:ext cx="4072366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用水合理性分析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2468" y="3909536"/>
            <a:ext cx="8554879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D4E3E9"/>
                </a:solidFill>
                <a:latin typeface="Arial"/>
                <a:ea typeface="Microsoft YaHei"/>
                <a:cs typeface="Arial"/>
              </a:rPr>
              <a:t>展示历史灌溉、节水工程、作物结构与定额、来水频率、联合调度、耗退水和用水核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2468" y="4238149"/>
            <a:ext cx="503873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D4E3E9"/>
                </a:solidFill>
                <a:latin typeface="Arial"/>
                <a:ea typeface="Microsoft YaHei"/>
                <a:cs typeface="Arial"/>
              </a:rPr>
              <a:t>定。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68974" y="5338762"/>
            <a:ext cx="941951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5250" b="1" dirty="0">
                <a:solidFill>
                  <a:srgbClr val="5AB7B1"/>
                </a:solidFill>
                <a:latin typeface="Arial"/>
                <a:ea typeface="Microsoft YaHei"/>
                <a:cs typeface="Arial"/>
              </a:rPr>
              <a:t>29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5801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第4章 用水合理性 | 30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6920027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2024枯水年毛灌溉用水量显著高于平水年份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790700"/>
            <a:ext cx="180975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11505" y="19402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年度</a:t>
            </a:r>
          </a:p>
        </p:txBody>
      </p:sp>
      <p:sp>
        <p:nvSpPr>
          <p:cNvPr id="8" name="Rectangle 8"/>
          <p:cNvSpPr/>
          <p:nvPr/>
        </p:nvSpPr>
        <p:spPr>
          <a:xfrm>
            <a:off x="2324100" y="1790700"/>
            <a:ext cx="219075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421255" y="194024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年降雨量</a:t>
            </a:r>
          </a:p>
        </p:txBody>
      </p:sp>
      <p:sp>
        <p:nvSpPr>
          <p:cNvPr id="10" name="Rectangle 10"/>
          <p:cNvSpPr/>
          <p:nvPr/>
        </p:nvSpPr>
        <p:spPr>
          <a:xfrm>
            <a:off x="4514850" y="1790700"/>
            <a:ext cx="209550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612005" y="194024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丰枯等级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610350" y="1790700"/>
            <a:ext cx="257175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707505" y="194024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净需水量</a:t>
            </a:r>
          </a:p>
        </p:txBody>
      </p:sp>
      <p:sp>
        <p:nvSpPr>
          <p:cNvPr id="14" name="Rectangle 14"/>
          <p:cNvSpPr/>
          <p:nvPr/>
        </p:nvSpPr>
        <p:spPr>
          <a:xfrm>
            <a:off x="9182100" y="1790700"/>
            <a:ext cx="247650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279255" y="194024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毛用水量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14350" y="2286000"/>
            <a:ext cx="1809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11505" y="2397442"/>
            <a:ext cx="4501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2023</a:t>
            </a:r>
          </a:p>
        </p:txBody>
      </p:sp>
      <p:sp>
        <p:nvSpPr>
          <p:cNvPr id="18" name="Rectangle 18"/>
          <p:cNvSpPr/>
          <p:nvPr/>
        </p:nvSpPr>
        <p:spPr>
          <a:xfrm>
            <a:off x="2324100" y="2286000"/>
            <a:ext cx="2190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2421255" y="2397442"/>
            <a:ext cx="7993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800.5mm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514850" y="2286000"/>
            <a:ext cx="2095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4612005" y="2397442"/>
            <a:ext cx="5743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平水年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610350" y="2286000"/>
            <a:ext cx="2571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707505" y="2397442"/>
            <a:ext cx="10424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458.16万m³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182100" y="2286000"/>
            <a:ext cx="2476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279255" y="2397442"/>
            <a:ext cx="10424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810.90万m³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14350" y="2800350"/>
            <a:ext cx="180975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11505" y="2911792"/>
            <a:ext cx="4501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2024</a:t>
            </a:r>
          </a:p>
        </p:txBody>
      </p:sp>
      <p:sp>
        <p:nvSpPr>
          <p:cNvPr id="28" name="Rectangle 28"/>
          <p:cNvSpPr/>
          <p:nvPr/>
        </p:nvSpPr>
        <p:spPr>
          <a:xfrm>
            <a:off x="2324100" y="2800350"/>
            <a:ext cx="219075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2421255" y="2911792"/>
            <a:ext cx="7993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542.0mm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514850" y="2800350"/>
            <a:ext cx="2095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4612005" y="2911792"/>
            <a:ext cx="5743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枯水年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610350" y="2800350"/>
            <a:ext cx="257175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707505" y="2911792"/>
            <a:ext cx="10424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508.34万m³</a:t>
            </a:r>
          </a:p>
        </p:txBody>
      </p:sp>
      <p:sp>
        <p:nvSpPr>
          <p:cNvPr id="34" name="Rectangle 34"/>
          <p:cNvSpPr/>
          <p:nvPr/>
        </p:nvSpPr>
        <p:spPr>
          <a:xfrm>
            <a:off x="9182100" y="2800350"/>
            <a:ext cx="2476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9279255" y="2911792"/>
            <a:ext cx="10424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901.31万m³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14350" y="3314700"/>
            <a:ext cx="1809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611505" y="3426142"/>
            <a:ext cx="4501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2025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324100" y="3314700"/>
            <a:ext cx="2190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2421255" y="3426142"/>
            <a:ext cx="7993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820.0mm</a:t>
            </a:r>
          </a:p>
        </p:txBody>
      </p:sp>
      <p:sp>
        <p:nvSpPr>
          <p:cNvPr id="40" name="Rectangle 40"/>
          <p:cNvSpPr/>
          <p:nvPr/>
        </p:nvSpPr>
        <p:spPr>
          <a:xfrm>
            <a:off x="4514850" y="3314700"/>
            <a:ext cx="2095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4612005" y="3426142"/>
            <a:ext cx="5743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平水年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610350" y="3314700"/>
            <a:ext cx="2571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707505" y="3426142"/>
            <a:ext cx="10424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466.09万m³</a:t>
            </a:r>
          </a:p>
        </p:txBody>
      </p:sp>
      <p:sp>
        <p:nvSpPr>
          <p:cNvPr id="44" name="Rectangle 44"/>
          <p:cNvSpPr/>
          <p:nvPr/>
        </p:nvSpPr>
        <p:spPr>
          <a:xfrm>
            <a:off x="9182100" y="3314700"/>
            <a:ext cx="2476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9279255" y="3426142"/>
            <a:ext cx="10424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817.70万m³</a:t>
            </a:r>
          </a:p>
        </p:txBody>
      </p:sp>
      <p:sp>
        <p:nvSpPr>
          <p:cNvPr id="46" name="Line 46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503872" y="6549866"/>
            <a:ext cx="9835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来源：报告表4.1-1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30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5801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第4章 用水合理性 | 31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7562707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既有渠系改造和信息化设施构成节水与调度基础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09750"/>
            <a:ext cx="76200" cy="390525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02005" y="193071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工程建设情况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195" y="2222182"/>
            <a:ext cx="60266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湖北省当阳市2018年农业水价综合改革项目已实施渠道整治、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8195" y="2546985"/>
            <a:ext cx="642270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节制闸和剅闸改造、量水设施建设，并对东风三干渠和玉泉渠实行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8195" y="2871788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闸门远程智能控制。</a:t>
            </a:r>
          </a:p>
        </p:txBody>
      </p:sp>
      <p:sp>
        <p:nvSpPr>
          <p:cNvPr id="11" name="Line 11"/>
          <p:cNvSpPr/>
          <p:nvPr/>
        </p:nvSpPr>
        <p:spPr>
          <a:xfrm>
            <a:off x="7124700" y="1952625"/>
            <a:ext cx="9525" cy="3619500"/>
          </a:xfrm>
          <a:custGeom>
            <a:avLst/>
            <a:gdLst/>
            <a:ahLst/>
            <a:cxnLst/>
            <a:rect l="l" t="t" r="r" b="b"/>
            <a:pathLst>
              <a:path w="9525" h="3619500">
                <a:moveTo>
                  <a:pt x="0" y="0"/>
                </a:moveTo>
                <a:lnTo>
                  <a:pt x="0" y="361950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7498080" y="1906905"/>
            <a:ext cx="92074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1480m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09510" y="2280285"/>
            <a:ext cx="15026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T200灌排渠整治长度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98080" y="2745105"/>
            <a:ext cx="759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660m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09510" y="3118485"/>
            <a:ext cx="11506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浆砌石护砌长度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98080" y="3583305"/>
            <a:ext cx="125889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2座、7处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09510" y="3956685"/>
            <a:ext cx="1310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节制闸与剅闸改造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98080" y="4421505"/>
            <a:ext cx="50909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4处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09510" y="4794885"/>
            <a:ext cx="8305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新建量水堰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98080" y="5259705"/>
            <a:ext cx="67081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25处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09510" y="5633085"/>
            <a:ext cx="1630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精准计量与信息化设施</a:t>
            </a:r>
          </a:p>
        </p:txBody>
      </p:sp>
      <p:sp>
        <p:nvSpPr>
          <p:cNvPr id="22" name="Line 22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03872" y="6549866"/>
            <a:ext cx="8735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来源：报告4.1.2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31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5801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第4章 用水合理性 | 32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934793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节水措施覆盖渠系防渗、分类灌溉、水肥一体化与价格管理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09750"/>
            <a:ext cx="76200" cy="390525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02005" y="19307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工程节水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195" y="2222182"/>
            <a:ext cx="85239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干支渠采用砼护坡护底，末级渠系推广U型渠槽和低压管道，减少传统土渠渗漏与蒸发。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2005" y="2788920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农业技术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8195" y="3080385"/>
            <a:ext cx="82049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推广畦灌、沟灌、喷灌、微喷、滴灌、水肥一体化以及水稻“薄、浅、湿、晒”控灌。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2005" y="3647123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管理节水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8195" y="3938588"/>
            <a:ext cx="906303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依托农业水价综合改革，实行按方收费、超定额累进加价，结合墒情和作物生育期科学配水。</a:t>
            </a:r>
          </a:p>
        </p:txBody>
      </p:sp>
      <p:sp>
        <p:nvSpPr>
          <p:cNvPr id="13" name="Line 13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03872" y="6549866"/>
            <a:ext cx="8735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来源：报告4.1.3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32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5801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第4章 用水合理性 | 33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720566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规划水平年维持现状作物种植结构与规模不变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790700"/>
            <a:ext cx="209550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11505" y="19402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作物</a:t>
            </a:r>
          </a:p>
        </p:txBody>
      </p:sp>
      <p:sp>
        <p:nvSpPr>
          <p:cNvPr id="8" name="Rectangle 8"/>
          <p:cNvSpPr/>
          <p:nvPr/>
        </p:nvSpPr>
        <p:spPr>
          <a:xfrm>
            <a:off x="2609850" y="1790700"/>
            <a:ext cx="285750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2707005" y="1940242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现状水平年复种指数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467350" y="1790700"/>
            <a:ext cx="285750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564505" y="1940242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规划水平年复种指数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324850" y="1790700"/>
            <a:ext cx="333375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422005" y="194024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规划说明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14350" y="2286000"/>
            <a:ext cx="2095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11505" y="23974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中稻</a:t>
            </a:r>
          </a:p>
        </p:txBody>
      </p:sp>
      <p:sp>
        <p:nvSpPr>
          <p:cNvPr id="16" name="Rectangle 16"/>
          <p:cNvSpPr/>
          <p:nvPr/>
        </p:nvSpPr>
        <p:spPr>
          <a:xfrm>
            <a:off x="2609850" y="228600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2707005" y="239744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0.684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467350" y="228600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564505" y="239744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0.684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324850" y="2286000"/>
            <a:ext cx="3333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422005" y="2397442"/>
            <a:ext cx="14744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种植规模保持不变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14350" y="2800350"/>
            <a:ext cx="2095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11505" y="291179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油菜</a:t>
            </a:r>
          </a:p>
        </p:txBody>
      </p:sp>
      <p:sp>
        <p:nvSpPr>
          <p:cNvPr id="24" name="Rectangle 24"/>
          <p:cNvSpPr/>
          <p:nvPr/>
        </p:nvSpPr>
        <p:spPr>
          <a:xfrm>
            <a:off x="2609850" y="2800350"/>
            <a:ext cx="2857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2707005" y="291179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0.578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467350" y="2800350"/>
            <a:ext cx="2857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564505" y="291179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0.578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324850" y="2800350"/>
            <a:ext cx="333375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422005" y="2911792"/>
            <a:ext cx="14744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种植规模保持不变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14350" y="3314700"/>
            <a:ext cx="2095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11505" y="34261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小麦</a:t>
            </a:r>
          </a:p>
        </p:txBody>
      </p:sp>
      <p:sp>
        <p:nvSpPr>
          <p:cNvPr id="32" name="Rectangle 32"/>
          <p:cNvSpPr/>
          <p:nvPr/>
        </p:nvSpPr>
        <p:spPr>
          <a:xfrm>
            <a:off x="2609850" y="331470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2707005" y="342614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0.481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467350" y="331470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564505" y="342614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0.481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324850" y="3314700"/>
            <a:ext cx="3333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8422005" y="3426142"/>
            <a:ext cx="14744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种植规模保持不变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14350" y="3829050"/>
            <a:ext cx="2095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11505" y="394049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玉米</a:t>
            </a:r>
          </a:p>
        </p:txBody>
      </p:sp>
      <p:sp>
        <p:nvSpPr>
          <p:cNvPr id="40" name="Rectangle 40"/>
          <p:cNvSpPr/>
          <p:nvPr/>
        </p:nvSpPr>
        <p:spPr>
          <a:xfrm>
            <a:off x="2609850" y="3829050"/>
            <a:ext cx="2857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2707005" y="394049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0.019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467350" y="3829050"/>
            <a:ext cx="2857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5564505" y="394049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0.019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324850" y="3829050"/>
            <a:ext cx="333375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8422005" y="3940492"/>
            <a:ext cx="14744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种植规模保持不变</a:t>
            </a:r>
          </a:p>
        </p:txBody>
      </p:sp>
      <p:sp>
        <p:nvSpPr>
          <p:cNvPr id="46" name="Line 46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503872" y="6549866"/>
            <a:ext cx="139612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来源：报告4.2.1、表4.2-1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33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5801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第4章 用水合理性 | 34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683076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P=90%条件下，中稻灌溉定额为主要控制项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790700"/>
            <a:ext cx="266700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11505" y="19402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作物</a:t>
            </a:r>
          </a:p>
        </p:txBody>
      </p:sp>
      <p:sp>
        <p:nvSpPr>
          <p:cNvPr id="8" name="Rectangle 8"/>
          <p:cNvSpPr/>
          <p:nvPr/>
        </p:nvSpPr>
        <p:spPr>
          <a:xfrm>
            <a:off x="3181350" y="1790700"/>
            <a:ext cx="209550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278505" y="1940242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P=50%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276850" y="1790700"/>
            <a:ext cx="209550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374005" y="1940242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P=75%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372350" y="1790700"/>
            <a:ext cx="209550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469505" y="1940242"/>
            <a:ext cx="5919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P=90%</a:t>
            </a:r>
          </a:p>
        </p:txBody>
      </p:sp>
      <p:sp>
        <p:nvSpPr>
          <p:cNvPr id="14" name="Rectangle 14"/>
          <p:cNvSpPr/>
          <p:nvPr/>
        </p:nvSpPr>
        <p:spPr>
          <a:xfrm>
            <a:off x="9467850" y="1790700"/>
            <a:ext cx="219075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565005" y="19402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单位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14350" y="2286000"/>
            <a:ext cx="2667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11505" y="23974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中稻</a:t>
            </a:r>
          </a:p>
        </p:txBody>
      </p:sp>
      <p:sp>
        <p:nvSpPr>
          <p:cNvPr id="18" name="Rectangle 18"/>
          <p:cNvSpPr/>
          <p:nvPr/>
        </p:nvSpPr>
        <p:spPr>
          <a:xfrm>
            <a:off x="3181350" y="2286000"/>
            <a:ext cx="2095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3278505" y="2397442"/>
            <a:ext cx="3313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464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276850" y="2286000"/>
            <a:ext cx="2095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5374005" y="2397442"/>
            <a:ext cx="3313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533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372350" y="2286000"/>
            <a:ext cx="2095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469505" y="2397442"/>
            <a:ext cx="3313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584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467850" y="2286000"/>
            <a:ext cx="2190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565005" y="2397442"/>
            <a:ext cx="8263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m³/亩·年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14350" y="2800350"/>
            <a:ext cx="26670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11505" y="291179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油菜</a:t>
            </a:r>
          </a:p>
        </p:txBody>
      </p:sp>
      <p:sp>
        <p:nvSpPr>
          <p:cNvPr id="28" name="Rectangle 28"/>
          <p:cNvSpPr/>
          <p:nvPr/>
        </p:nvSpPr>
        <p:spPr>
          <a:xfrm>
            <a:off x="3181350" y="2800350"/>
            <a:ext cx="2095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3278505" y="2911792"/>
            <a:ext cx="2323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276850" y="2800350"/>
            <a:ext cx="2095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5374005" y="2911792"/>
            <a:ext cx="2323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87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372350" y="2800350"/>
            <a:ext cx="2095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469505" y="2911792"/>
            <a:ext cx="2323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87</a:t>
            </a:r>
          </a:p>
        </p:txBody>
      </p:sp>
      <p:sp>
        <p:nvSpPr>
          <p:cNvPr id="34" name="Rectangle 34"/>
          <p:cNvSpPr/>
          <p:nvPr/>
        </p:nvSpPr>
        <p:spPr>
          <a:xfrm>
            <a:off x="9467850" y="2800350"/>
            <a:ext cx="219075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9565005" y="2911792"/>
            <a:ext cx="8263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m³/亩·年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14350" y="3314700"/>
            <a:ext cx="2667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611505" y="34261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小麦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181350" y="3314700"/>
            <a:ext cx="2095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3278505" y="3426142"/>
            <a:ext cx="2323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276850" y="3314700"/>
            <a:ext cx="2095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5374005" y="3426142"/>
            <a:ext cx="2323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  <p:sp>
        <p:nvSpPr>
          <p:cNvPr id="42" name="Rectangle 42"/>
          <p:cNvSpPr/>
          <p:nvPr/>
        </p:nvSpPr>
        <p:spPr>
          <a:xfrm>
            <a:off x="7372350" y="3314700"/>
            <a:ext cx="2095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7469505" y="3426142"/>
            <a:ext cx="2323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  <p:sp>
        <p:nvSpPr>
          <p:cNvPr id="44" name="Rectangle 44"/>
          <p:cNvSpPr/>
          <p:nvPr/>
        </p:nvSpPr>
        <p:spPr>
          <a:xfrm>
            <a:off x="9467850" y="3314700"/>
            <a:ext cx="2190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9565005" y="3426142"/>
            <a:ext cx="8263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m³/亩·年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14350" y="3829050"/>
            <a:ext cx="26670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611505" y="394049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玉米</a:t>
            </a:r>
          </a:p>
        </p:txBody>
      </p:sp>
      <p:sp>
        <p:nvSpPr>
          <p:cNvPr id="48" name="Rectangle 48"/>
          <p:cNvSpPr/>
          <p:nvPr/>
        </p:nvSpPr>
        <p:spPr>
          <a:xfrm>
            <a:off x="3181350" y="3829050"/>
            <a:ext cx="2095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3278505" y="3940492"/>
            <a:ext cx="2323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90</a:t>
            </a:r>
          </a:p>
        </p:txBody>
      </p:sp>
      <p:sp>
        <p:nvSpPr>
          <p:cNvPr id="50" name="Rectangle 50"/>
          <p:cNvSpPr/>
          <p:nvPr/>
        </p:nvSpPr>
        <p:spPr>
          <a:xfrm>
            <a:off x="5276850" y="3829050"/>
            <a:ext cx="2095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5374005" y="3940492"/>
            <a:ext cx="3313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134</a:t>
            </a:r>
          </a:p>
        </p:txBody>
      </p:sp>
      <p:sp>
        <p:nvSpPr>
          <p:cNvPr id="52" name="Rectangle 52"/>
          <p:cNvSpPr/>
          <p:nvPr/>
        </p:nvSpPr>
        <p:spPr>
          <a:xfrm>
            <a:off x="7372350" y="3829050"/>
            <a:ext cx="2095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7469505" y="3940492"/>
            <a:ext cx="33132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134</a:t>
            </a:r>
          </a:p>
        </p:txBody>
      </p:sp>
      <p:sp>
        <p:nvSpPr>
          <p:cNvPr id="54" name="Rectangle 54"/>
          <p:cNvSpPr/>
          <p:nvPr/>
        </p:nvSpPr>
        <p:spPr>
          <a:xfrm>
            <a:off x="9467850" y="3829050"/>
            <a:ext cx="219075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9565005" y="3940492"/>
            <a:ext cx="8263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m³/亩·年</a:t>
            </a:r>
          </a:p>
        </p:txBody>
      </p:sp>
      <p:sp>
        <p:nvSpPr>
          <p:cNvPr id="56" name="Line 56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503872" y="6549866"/>
            <a:ext cx="9835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来源：报告表4.2-2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34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5801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第4章 用水合理性 | 35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827679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灌溉需水量依据作物面积、灌溉定额和利用系数计算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09750"/>
            <a:ext cx="76200" cy="390525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02005" y="19307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计算方法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195" y="2222182"/>
            <a:ext cx="642270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各作物净灌溉需水量由种植面积乘以相应水文年灌溉定额得到；总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8195" y="2546985"/>
            <a:ext cx="642270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净灌溉需水量除以灌溉水有效利用系数，得到渠首毛灌溉需水量。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2005" y="311372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规划参数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8195" y="3405188"/>
            <a:ext cx="60266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报告采用2024年现状灌溉水利用系数，并结合灌区续建配套与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8195" y="3729990"/>
            <a:ext cx="572962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节水改造，将2034年规划水平年灌溉水利用系数确定为0.6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8195" y="4054792"/>
            <a:ext cx="5039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50。</a:t>
            </a:r>
          </a:p>
        </p:txBody>
      </p:sp>
      <p:sp>
        <p:nvSpPr>
          <p:cNvPr id="14" name="Line 14"/>
          <p:cNvSpPr/>
          <p:nvPr/>
        </p:nvSpPr>
        <p:spPr>
          <a:xfrm>
            <a:off x="7124700" y="1952625"/>
            <a:ext cx="9525" cy="3619500"/>
          </a:xfrm>
          <a:custGeom>
            <a:avLst/>
            <a:gdLst/>
            <a:ahLst/>
            <a:cxnLst/>
            <a:rect l="l" t="t" r="r" b="b"/>
            <a:pathLst>
              <a:path w="9525" h="3619500">
                <a:moveTo>
                  <a:pt x="0" y="0"/>
                </a:moveTo>
                <a:lnTo>
                  <a:pt x="0" y="361950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7498080" y="1906905"/>
            <a:ext cx="164113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17621.55亩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09510" y="2280285"/>
            <a:ext cx="11506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灌区农田总面积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98080" y="2745105"/>
            <a:ext cx="92074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P=90%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09510" y="3118485"/>
            <a:ext cx="11506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灌溉设计保证率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98080" y="3583305"/>
            <a:ext cx="99425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2034年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09510" y="3956685"/>
            <a:ext cx="8305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规划水平年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98080" y="4421505"/>
            <a:ext cx="8619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0.650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09510" y="4794885"/>
            <a:ext cx="14706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规划灌溉水利用系数</a:t>
            </a:r>
          </a:p>
        </p:txBody>
      </p:sp>
      <p:sp>
        <p:nvSpPr>
          <p:cNvPr id="23" name="Line 23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503872" y="6549866"/>
            <a:ext cx="139612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来源：报告4.2.1、表4.2-3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35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5801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第4章 用水合理性 | 36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684861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来水频率分析采用经验点据与理论频率曲线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695450"/>
            <a:ext cx="7810500" cy="440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215" y="1790700"/>
            <a:ext cx="5048771" cy="421005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744902" y="1798796"/>
            <a:ext cx="83429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设计情景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45855" y="2111692"/>
            <a:ext cx="15914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P=50%、75%、90%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44902" y="2637949"/>
            <a:ext cx="83429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参证资料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45855" y="2950845"/>
            <a:ext cx="16454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2007—2025逐月雨量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44902" y="3477101"/>
            <a:ext cx="43524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用途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45855" y="3789998"/>
            <a:ext cx="12944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推算设计径流量</a:t>
            </a:r>
          </a:p>
        </p:txBody>
      </p:sp>
      <p:sp>
        <p:nvSpPr>
          <p:cNvPr id="14" name="Line 14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03872" y="6549866"/>
            <a:ext cx="109358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来源：报告4.2.2原图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5801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第4章 用水合理性 | 37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542043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可供水量必须先扣除下游生态流量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09750"/>
            <a:ext cx="76200" cy="390525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02005" y="193071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生态流量原文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195" y="2222182"/>
            <a:ext cx="789689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报告采用Tennant法计算下游生态流量，生态流量不小于多年平均径流量的10%。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2005" y="2788920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可供水量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8195" y="3080385"/>
            <a:ext cx="993214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不同保证率下的可供水量，由设计径流量扣除生态流量后确定；项目缺水量为750万m³申请取水量与水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8195" y="3405188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库净可供水量之差。</a:t>
            </a:r>
          </a:p>
        </p:txBody>
      </p:sp>
      <p:sp>
        <p:nvSpPr>
          <p:cNvPr id="12" name="Line 12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03872" y="6549866"/>
            <a:ext cx="8735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来源：报告4.2.2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37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5801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第4章 用水合理性 | 38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999061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供水平衡图（一）：本地可供水60.59万m³，三干渠引水689.4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1965" y="1256348"/>
            <a:ext cx="1082347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1万m³</a:t>
            </a:r>
          </a:p>
        </p:txBody>
      </p:sp>
      <p:sp>
        <p:nvSpPr>
          <p:cNvPr id="7" name="Rectangle 7"/>
          <p:cNvSpPr/>
          <p:nvPr/>
        </p:nvSpPr>
        <p:spPr>
          <a:xfrm>
            <a:off x="514350" y="1695450"/>
            <a:ext cx="11163300" cy="440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452" y="1790700"/>
            <a:ext cx="9375095" cy="4210050"/>
          </a:xfrm>
          <a:prstGeom prst="rect">
            <a:avLst/>
          </a:prstGeom>
        </p:spPr>
      </p:pic>
      <p:sp>
        <p:nvSpPr>
          <p:cNvPr id="9" name="Line 9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503872" y="6549866"/>
            <a:ext cx="12311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来源：报告供水平衡原图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38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5801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第4章 用水合理性 | 39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999061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供水平衡图（二）：本地可供水94.57万m³，三干渠引水655.4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1965" y="1256348"/>
            <a:ext cx="1082347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3万m³</a:t>
            </a:r>
          </a:p>
        </p:txBody>
      </p:sp>
      <p:sp>
        <p:nvSpPr>
          <p:cNvPr id="7" name="Rectangle 7"/>
          <p:cNvSpPr/>
          <p:nvPr/>
        </p:nvSpPr>
        <p:spPr>
          <a:xfrm>
            <a:off x="514350" y="1695450"/>
            <a:ext cx="11163300" cy="440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911" y="1790700"/>
            <a:ext cx="9366179" cy="4210050"/>
          </a:xfrm>
          <a:prstGeom prst="rect">
            <a:avLst/>
          </a:prstGeom>
        </p:spPr>
      </p:pic>
      <p:sp>
        <p:nvSpPr>
          <p:cNvPr id="9" name="Line 9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503872" y="6549866"/>
            <a:ext cx="12311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来源：报告供水平衡原图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39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5801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第4章 用水合理性 | 40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790190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报告正文及图件分别出现两组P=90%供水平衡参数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58178" y="2089309"/>
            <a:ext cx="1593162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94B45"/>
                </a:solidFill>
                <a:latin typeface="Arial"/>
                <a:ea typeface="Microsoft YaHei"/>
                <a:cs typeface="Arial"/>
              </a:rPr>
              <a:t>60.59万m³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1512" y="2497931"/>
            <a:ext cx="137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第一组本地可供水量</a:t>
            </a:r>
          </a:p>
        </p:txBody>
      </p:sp>
      <p:sp>
        <p:nvSpPr>
          <p:cNvPr id="9" name="Rectangle 9"/>
          <p:cNvSpPr/>
          <p:nvPr/>
        </p:nvSpPr>
        <p:spPr>
          <a:xfrm>
            <a:off x="3348038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491865" y="2089309"/>
            <a:ext cx="1760658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E8923A"/>
                </a:solidFill>
                <a:latin typeface="Arial"/>
                <a:ea typeface="Microsoft YaHei"/>
                <a:cs typeface="Arial"/>
              </a:rPr>
              <a:t>689.41万m³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05200" y="2497931"/>
            <a:ext cx="137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第一组三干渠引水量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81725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325552" y="2089309"/>
            <a:ext cx="1593162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94.57万m³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38888" y="2497931"/>
            <a:ext cx="137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第二组本地可供水量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015412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159240" y="2089309"/>
            <a:ext cx="1760658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63A35C"/>
                </a:solidFill>
                <a:latin typeface="Arial"/>
                <a:ea typeface="Microsoft YaHei"/>
                <a:cs typeface="Arial"/>
              </a:rPr>
              <a:t>655.43万m³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72575" y="2497931"/>
            <a:ext cx="137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第二组三干渠引水量</a:t>
            </a:r>
          </a:p>
        </p:txBody>
      </p:sp>
      <p:sp>
        <p:nvSpPr>
          <p:cNvPr id="18" name="Ellipse 18"/>
          <p:cNvSpPr/>
          <p:nvPr/>
        </p:nvSpPr>
        <p:spPr>
          <a:xfrm>
            <a:off x="590550" y="3305175"/>
            <a:ext cx="114300" cy="114300"/>
          </a:xfrm>
          <a:prstGeom prst="ellipse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18198" y="3258979"/>
            <a:ext cx="6391199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报告4.2.2中分别列示P=90%可供水量60.59万m³和94.57万m³。</a:t>
            </a:r>
          </a:p>
        </p:txBody>
      </p:sp>
      <p:sp>
        <p:nvSpPr>
          <p:cNvPr id="20" name="Ellipse 20"/>
          <p:cNvSpPr/>
          <p:nvPr/>
        </p:nvSpPr>
        <p:spPr>
          <a:xfrm>
            <a:off x="590550" y="3924300"/>
            <a:ext cx="114300" cy="114300"/>
          </a:xfrm>
          <a:prstGeom prst="ellipse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18198" y="3878104"/>
            <a:ext cx="5332667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报告相应列示三干渠引水量689.41万m³和655.43万m³。</a:t>
            </a:r>
          </a:p>
        </p:txBody>
      </p:sp>
      <p:sp>
        <p:nvSpPr>
          <p:cNvPr id="22" name="Line 22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03872" y="6549866"/>
            <a:ext cx="205620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来源：报告4.2.2、5.2.4及供水平衡原图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5801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第4章 用水合理性 | 41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7848343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全年灌溉供水集中于5—8月，7月达到217.50万m³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790700"/>
            <a:ext cx="247650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11505" y="19402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月份</a:t>
            </a:r>
          </a:p>
        </p:txBody>
      </p:sp>
      <p:sp>
        <p:nvSpPr>
          <p:cNvPr id="8" name="Rectangle 8"/>
          <p:cNvSpPr/>
          <p:nvPr/>
        </p:nvSpPr>
        <p:spPr>
          <a:xfrm>
            <a:off x="2990850" y="1790700"/>
            <a:ext cx="285750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088005" y="1940242"/>
            <a:ext cx="601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供水量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848350" y="1790700"/>
            <a:ext cx="285750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945505" y="1940242"/>
            <a:ext cx="601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耗水量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705850" y="1790700"/>
            <a:ext cx="295275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803005" y="1940242"/>
            <a:ext cx="601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退水量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14350" y="2286000"/>
            <a:ext cx="2476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11505" y="2397442"/>
            <a:ext cx="3272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2月</a:t>
            </a:r>
          </a:p>
        </p:txBody>
      </p:sp>
      <p:sp>
        <p:nvSpPr>
          <p:cNvPr id="16" name="Rectangle 16"/>
          <p:cNvSpPr/>
          <p:nvPr/>
        </p:nvSpPr>
        <p:spPr>
          <a:xfrm>
            <a:off x="2990850" y="228600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3088005" y="239744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7.50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848350" y="228600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945505" y="239744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6.00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705850" y="2286000"/>
            <a:ext cx="2952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803005" y="239744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1.50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14350" y="2800350"/>
            <a:ext cx="2476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11505" y="2911792"/>
            <a:ext cx="3272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3月</a:t>
            </a:r>
          </a:p>
        </p:txBody>
      </p:sp>
      <p:sp>
        <p:nvSpPr>
          <p:cNvPr id="24" name="Rectangle 24"/>
          <p:cNvSpPr/>
          <p:nvPr/>
        </p:nvSpPr>
        <p:spPr>
          <a:xfrm>
            <a:off x="2990850" y="2800350"/>
            <a:ext cx="2857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3088005" y="291179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52.50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848350" y="2800350"/>
            <a:ext cx="2857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945505" y="291179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42.00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705850" y="2800350"/>
            <a:ext cx="295275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803005" y="291179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10.50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14350" y="3314700"/>
            <a:ext cx="2476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11505" y="3426142"/>
            <a:ext cx="3272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4月</a:t>
            </a:r>
          </a:p>
        </p:txBody>
      </p:sp>
      <p:sp>
        <p:nvSpPr>
          <p:cNvPr id="32" name="Rectangle 32"/>
          <p:cNvSpPr/>
          <p:nvPr/>
        </p:nvSpPr>
        <p:spPr>
          <a:xfrm>
            <a:off x="2990850" y="331470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3088005" y="342614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52.50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848350" y="331470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945505" y="342614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42.00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705850" y="3314700"/>
            <a:ext cx="2952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8803005" y="342614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10.50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14350" y="3829050"/>
            <a:ext cx="2476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11505" y="3940492"/>
            <a:ext cx="3272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5月</a:t>
            </a:r>
          </a:p>
        </p:txBody>
      </p:sp>
      <p:sp>
        <p:nvSpPr>
          <p:cNvPr id="40" name="Rectangle 40"/>
          <p:cNvSpPr/>
          <p:nvPr/>
        </p:nvSpPr>
        <p:spPr>
          <a:xfrm>
            <a:off x="2990850" y="3829050"/>
            <a:ext cx="2857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088005" y="3940492"/>
            <a:ext cx="6283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123.75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848350" y="3829050"/>
            <a:ext cx="2857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5945505" y="394049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99.00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705850" y="3829050"/>
            <a:ext cx="295275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8803005" y="394049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24.75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14350" y="4343400"/>
            <a:ext cx="2476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611505" y="4454842"/>
            <a:ext cx="3272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6月</a:t>
            </a:r>
          </a:p>
        </p:txBody>
      </p:sp>
      <p:sp>
        <p:nvSpPr>
          <p:cNvPr id="48" name="Rectangle 48"/>
          <p:cNvSpPr/>
          <p:nvPr/>
        </p:nvSpPr>
        <p:spPr>
          <a:xfrm>
            <a:off x="2990850" y="434340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3088005" y="445484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93.75</a:t>
            </a:r>
          </a:p>
        </p:txBody>
      </p:sp>
      <p:sp>
        <p:nvSpPr>
          <p:cNvPr id="50" name="Rectangle 50"/>
          <p:cNvSpPr/>
          <p:nvPr/>
        </p:nvSpPr>
        <p:spPr>
          <a:xfrm>
            <a:off x="5848350" y="434340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5945505" y="445484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75.00</a:t>
            </a:r>
          </a:p>
        </p:txBody>
      </p:sp>
      <p:sp>
        <p:nvSpPr>
          <p:cNvPr id="52" name="Rectangle 52"/>
          <p:cNvSpPr/>
          <p:nvPr/>
        </p:nvSpPr>
        <p:spPr>
          <a:xfrm>
            <a:off x="8705850" y="4343400"/>
            <a:ext cx="2952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8803005" y="445484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18.75</a:t>
            </a:r>
          </a:p>
        </p:txBody>
      </p:sp>
      <p:sp>
        <p:nvSpPr>
          <p:cNvPr id="54" name="Rectangle 54"/>
          <p:cNvSpPr/>
          <p:nvPr/>
        </p:nvSpPr>
        <p:spPr>
          <a:xfrm>
            <a:off x="514350" y="4857750"/>
            <a:ext cx="2476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611505" y="4969192"/>
            <a:ext cx="3272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7月</a:t>
            </a:r>
          </a:p>
        </p:txBody>
      </p:sp>
      <p:sp>
        <p:nvSpPr>
          <p:cNvPr id="56" name="Rectangle 56"/>
          <p:cNvSpPr/>
          <p:nvPr/>
        </p:nvSpPr>
        <p:spPr>
          <a:xfrm>
            <a:off x="2990850" y="4857750"/>
            <a:ext cx="2857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3088005" y="4969192"/>
            <a:ext cx="6283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217.50</a:t>
            </a:r>
          </a:p>
        </p:txBody>
      </p:sp>
      <p:sp>
        <p:nvSpPr>
          <p:cNvPr id="58" name="Rectangle 58"/>
          <p:cNvSpPr/>
          <p:nvPr/>
        </p:nvSpPr>
        <p:spPr>
          <a:xfrm>
            <a:off x="5848350" y="4857750"/>
            <a:ext cx="2857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5945505" y="4969192"/>
            <a:ext cx="6283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174.00</a:t>
            </a:r>
          </a:p>
        </p:txBody>
      </p:sp>
      <p:sp>
        <p:nvSpPr>
          <p:cNvPr id="60" name="Rectangle 60"/>
          <p:cNvSpPr/>
          <p:nvPr/>
        </p:nvSpPr>
        <p:spPr>
          <a:xfrm>
            <a:off x="8705850" y="4857750"/>
            <a:ext cx="295275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8803005" y="496919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43.50</a:t>
            </a:r>
          </a:p>
        </p:txBody>
      </p:sp>
      <p:sp>
        <p:nvSpPr>
          <p:cNvPr id="62" name="Line 62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503872" y="6549866"/>
            <a:ext cx="211121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来源：报告月度耗水及退水量表（上半表）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41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5801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第4章 用水合理性 | 42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799116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8—11月供水逐步回落，全年供水、耗水和退水闭合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790700"/>
            <a:ext cx="247650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11505" y="19402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月份</a:t>
            </a:r>
          </a:p>
        </p:txBody>
      </p:sp>
      <p:sp>
        <p:nvSpPr>
          <p:cNvPr id="8" name="Rectangle 8"/>
          <p:cNvSpPr/>
          <p:nvPr/>
        </p:nvSpPr>
        <p:spPr>
          <a:xfrm>
            <a:off x="2990850" y="1790700"/>
            <a:ext cx="285750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088005" y="1940242"/>
            <a:ext cx="601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供水量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848350" y="1790700"/>
            <a:ext cx="285750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945505" y="1940242"/>
            <a:ext cx="601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耗水量</a:t>
            </a:r>
          </a:p>
        </p:txBody>
      </p:sp>
      <p:sp>
        <p:nvSpPr>
          <p:cNvPr id="12" name="Rectangle 12"/>
          <p:cNvSpPr/>
          <p:nvPr/>
        </p:nvSpPr>
        <p:spPr>
          <a:xfrm>
            <a:off x="8705850" y="1790700"/>
            <a:ext cx="295275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803005" y="1940242"/>
            <a:ext cx="601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退水量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14350" y="2286000"/>
            <a:ext cx="2476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11505" y="2397442"/>
            <a:ext cx="3272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8月</a:t>
            </a:r>
          </a:p>
        </p:txBody>
      </p:sp>
      <p:sp>
        <p:nvSpPr>
          <p:cNvPr id="16" name="Rectangle 16"/>
          <p:cNvSpPr/>
          <p:nvPr/>
        </p:nvSpPr>
        <p:spPr>
          <a:xfrm>
            <a:off x="2990850" y="228600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3088005" y="2397442"/>
            <a:ext cx="6283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153.75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848350" y="228600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945505" y="2397442"/>
            <a:ext cx="6283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123.00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705850" y="2286000"/>
            <a:ext cx="2952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803005" y="239744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30.75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14350" y="2800350"/>
            <a:ext cx="2476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11505" y="2911792"/>
            <a:ext cx="3272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9月</a:t>
            </a:r>
          </a:p>
        </p:txBody>
      </p:sp>
      <p:sp>
        <p:nvSpPr>
          <p:cNvPr id="24" name="Rectangle 24"/>
          <p:cNvSpPr/>
          <p:nvPr/>
        </p:nvSpPr>
        <p:spPr>
          <a:xfrm>
            <a:off x="2990850" y="2800350"/>
            <a:ext cx="2857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3088005" y="291179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30.00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848350" y="2800350"/>
            <a:ext cx="2857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945505" y="291179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24.00</a:t>
            </a:r>
          </a:p>
        </p:txBody>
      </p:sp>
      <p:sp>
        <p:nvSpPr>
          <p:cNvPr id="28" name="Rectangle 28"/>
          <p:cNvSpPr/>
          <p:nvPr/>
        </p:nvSpPr>
        <p:spPr>
          <a:xfrm>
            <a:off x="8705850" y="2800350"/>
            <a:ext cx="295275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803005" y="291179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6.00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14350" y="3314700"/>
            <a:ext cx="2476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11505" y="3426142"/>
            <a:ext cx="4312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10月</a:t>
            </a:r>
          </a:p>
        </p:txBody>
      </p:sp>
      <p:sp>
        <p:nvSpPr>
          <p:cNvPr id="32" name="Rectangle 32"/>
          <p:cNvSpPr/>
          <p:nvPr/>
        </p:nvSpPr>
        <p:spPr>
          <a:xfrm>
            <a:off x="2990850" y="331470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3088005" y="3426142"/>
            <a:ext cx="5293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11.25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848350" y="331470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945505" y="342614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9.00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705850" y="3314700"/>
            <a:ext cx="2952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8803005" y="342614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2.25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14350" y="3829050"/>
            <a:ext cx="2476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11505" y="3940492"/>
            <a:ext cx="4312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11月</a:t>
            </a:r>
          </a:p>
        </p:txBody>
      </p:sp>
      <p:sp>
        <p:nvSpPr>
          <p:cNvPr id="40" name="Rectangle 40"/>
          <p:cNvSpPr/>
          <p:nvPr/>
        </p:nvSpPr>
        <p:spPr>
          <a:xfrm>
            <a:off x="2990850" y="3829050"/>
            <a:ext cx="2857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088005" y="394049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7.50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848350" y="3829050"/>
            <a:ext cx="2857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5945505" y="394049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6.00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705850" y="3829050"/>
            <a:ext cx="295275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8803005" y="3940492"/>
            <a:ext cx="4303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1.50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14350" y="4343400"/>
            <a:ext cx="2476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611505" y="4454842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全年</a:t>
            </a:r>
          </a:p>
        </p:txBody>
      </p:sp>
      <p:sp>
        <p:nvSpPr>
          <p:cNvPr id="48" name="Rectangle 48"/>
          <p:cNvSpPr/>
          <p:nvPr/>
        </p:nvSpPr>
        <p:spPr>
          <a:xfrm>
            <a:off x="2990850" y="434340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3088005" y="4454842"/>
            <a:ext cx="6283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750.00</a:t>
            </a:r>
          </a:p>
        </p:txBody>
      </p:sp>
      <p:sp>
        <p:nvSpPr>
          <p:cNvPr id="50" name="Rectangle 50"/>
          <p:cNvSpPr/>
          <p:nvPr/>
        </p:nvSpPr>
        <p:spPr>
          <a:xfrm>
            <a:off x="5848350" y="434340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5945505" y="4454842"/>
            <a:ext cx="6283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600.00</a:t>
            </a:r>
          </a:p>
        </p:txBody>
      </p:sp>
      <p:sp>
        <p:nvSpPr>
          <p:cNvPr id="52" name="Rectangle 52"/>
          <p:cNvSpPr/>
          <p:nvPr/>
        </p:nvSpPr>
        <p:spPr>
          <a:xfrm>
            <a:off x="8705850" y="4343400"/>
            <a:ext cx="29527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8803005" y="4454842"/>
            <a:ext cx="6283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150.00</a:t>
            </a:r>
          </a:p>
        </p:txBody>
      </p:sp>
      <p:sp>
        <p:nvSpPr>
          <p:cNvPr id="54" name="Line 54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503872" y="6549866"/>
            <a:ext cx="211121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来源：报告月度耗水及退水量表（下半表）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42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5801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第4章 用水合理性 | 43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679506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报告按20%回归水比例核定耗水量与退水量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58178" y="2089309"/>
            <a:ext cx="1258170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0B3558"/>
                </a:solidFill>
                <a:latin typeface="Arial"/>
                <a:ea typeface="Microsoft YaHei"/>
                <a:cs typeface="Arial"/>
              </a:rPr>
              <a:t>750万m³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1512" y="2497931"/>
            <a:ext cx="9286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年申请取水量</a:t>
            </a:r>
          </a:p>
        </p:txBody>
      </p:sp>
      <p:sp>
        <p:nvSpPr>
          <p:cNvPr id="9" name="Rectangle 9"/>
          <p:cNvSpPr/>
          <p:nvPr/>
        </p:nvSpPr>
        <p:spPr>
          <a:xfrm>
            <a:off x="3348038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491865" y="2089309"/>
            <a:ext cx="618640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E8923A"/>
                </a:solidFill>
                <a:latin typeface="Arial"/>
                <a:ea typeface="Microsoft YaHei"/>
                <a:cs typeface="Arial"/>
              </a:rPr>
              <a:t>20%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05200" y="2497931"/>
            <a:ext cx="10787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灌溉回归水比例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81725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325552" y="2089309"/>
            <a:ext cx="1258170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150万m³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38888" y="2497931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年退水量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015412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159240" y="2089309"/>
            <a:ext cx="1258170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63A35C"/>
                </a:solidFill>
                <a:latin typeface="Arial"/>
                <a:ea typeface="Microsoft YaHei"/>
                <a:cs typeface="Arial"/>
              </a:rPr>
              <a:t>600万m³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72575" y="2497931"/>
            <a:ext cx="12287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年农业灌溉耗水量</a:t>
            </a:r>
          </a:p>
        </p:txBody>
      </p:sp>
      <p:sp>
        <p:nvSpPr>
          <p:cNvPr id="18" name="Ellipse 18"/>
          <p:cNvSpPr/>
          <p:nvPr/>
        </p:nvSpPr>
        <p:spPr>
          <a:xfrm>
            <a:off x="590550" y="3305175"/>
            <a:ext cx="114300" cy="114300"/>
          </a:xfrm>
          <a:prstGeom prst="ellipse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18198" y="3258979"/>
            <a:ext cx="5994249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退水以灌溉回归水形式补给当地地下水或重新进入地表水体。</a:t>
            </a:r>
          </a:p>
        </p:txBody>
      </p:sp>
      <p:sp>
        <p:nvSpPr>
          <p:cNvPr id="20" name="Ellipse 20"/>
          <p:cNvSpPr/>
          <p:nvPr/>
        </p:nvSpPr>
        <p:spPr>
          <a:xfrm>
            <a:off x="590550" y="3924300"/>
            <a:ext cx="114300" cy="114300"/>
          </a:xfrm>
          <a:prstGeom prst="ellipse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18198" y="3878104"/>
            <a:ext cx="550068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各月耗水量和退水量见报告规划水平年耗水量及退水量表。</a:t>
            </a:r>
          </a:p>
        </p:txBody>
      </p:sp>
      <p:sp>
        <p:nvSpPr>
          <p:cNvPr id="22" name="Line 22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03872" y="6549866"/>
            <a:ext cx="139612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来源：报告4.2.3、表4.2-7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43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5801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第4章 用水合理性 | 44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925866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规划利用系数0.650高于现有对标值，但需要持续改造支撑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58178" y="2089309"/>
            <a:ext cx="892725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63A35C"/>
                </a:solidFill>
                <a:latin typeface="Arial"/>
                <a:ea typeface="Microsoft YaHei"/>
                <a:cs typeface="Arial"/>
              </a:rPr>
              <a:t>0.528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1512" y="2497931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湖北省平均</a:t>
            </a:r>
          </a:p>
        </p:txBody>
      </p:sp>
      <p:sp>
        <p:nvSpPr>
          <p:cNvPr id="9" name="Rectangle 9"/>
          <p:cNvSpPr/>
          <p:nvPr/>
        </p:nvSpPr>
        <p:spPr>
          <a:xfrm>
            <a:off x="3348038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491865" y="2089309"/>
            <a:ext cx="892725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0.547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05200" y="2497931"/>
            <a:ext cx="9286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长江流域平均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81725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325552" y="2089309"/>
            <a:ext cx="892725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0B3558"/>
                </a:solidFill>
                <a:latin typeface="Arial"/>
                <a:ea typeface="Microsoft YaHei"/>
                <a:cs typeface="Arial"/>
              </a:rPr>
              <a:t>0.580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38888" y="2497931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全国平均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015412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159240" y="2089309"/>
            <a:ext cx="892725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E8923A"/>
                </a:solidFill>
                <a:latin typeface="Arial"/>
                <a:ea typeface="Microsoft YaHei"/>
                <a:cs typeface="Arial"/>
              </a:rPr>
              <a:t>0.650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72575" y="2497931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规划目标</a:t>
            </a:r>
          </a:p>
        </p:txBody>
      </p:sp>
      <p:sp>
        <p:nvSpPr>
          <p:cNvPr id="18" name="Ellipse 18"/>
          <p:cNvSpPr/>
          <p:nvPr/>
        </p:nvSpPr>
        <p:spPr>
          <a:xfrm>
            <a:off x="590550" y="3305175"/>
            <a:ext cx="114300" cy="114300"/>
          </a:xfrm>
          <a:prstGeom prst="ellipse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18198" y="3258979"/>
            <a:ext cx="5994249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渠道淤积、衬砌不足、建筑物老化和监测薄弱仍是节水约束。</a:t>
            </a:r>
          </a:p>
        </p:txBody>
      </p:sp>
      <p:sp>
        <p:nvSpPr>
          <p:cNvPr id="20" name="Ellipse 20"/>
          <p:cNvSpPr/>
          <p:nvPr/>
        </p:nvSpPr>
        <p:spPr>
          <a:xfrm>
            <a:off x="590550" y="3924300"/>
            <a:ext cx="114300" cy="114300"/>
          </a:xfrm>
          <a:prstGeom prst="ellipse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18198" y="3878104"/>
            <a:ext cx="5500688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应将末级渠系、防渗、设备维护和计量数据纳入长期管理。</a:t>
            </a:r>
          </a:p>
        </p:txBody>
      </p:sp>
      <p:sp>
        <p:nvSpPr>
          <p:cNvPr id="22" name="Line 22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03872" y="6549866"/>
            <a:ext cx="7525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来源：报告4.3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44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5801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第4章 用水合理性 | 45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542043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报告核定取水量、耗水量与退水量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790700"/>
            <a:ext cx="285750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11505" y="194024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核定事项</a:t>
            </a:r>
          </a:p>
        </p:txBody>
      </p:sp>
      <p:sp>
        <p:nvSpPr>
          <p:cNvPr id="8" name="Rectangle 8"/>
          <p:cNvSpPr/>
          <p:nvPr/>
        </p:nvSpPr>
        <p:spPr>
          <a:xfrm>
            <a:off x="3371850" y="1790700"/>
            <a:ext cx="314325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3469005" y="194024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报告核定结果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515100" y="1790700"/>
            <a:ext cx="5143500" cy="4953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612255" y="194024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报告说明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14350" y="228600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11505" y="239744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农业灌溉需水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371850" y="2286000"/>
            <a:ext cx="3143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469005" y="2397442"/>
            <a:ext cx="14654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规划水平年P=90%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515100" y="2286000"/>
            <a:ext cx="5143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612255" y="2397442"/>
            <a:ext cx="20145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维持现状作物结构与规模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14350" y="2800350"/>
            <a:ext cx="2857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11505" y="291179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年申请取水量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371850" y="2800350"/>
            <a:ext cx="314325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3469005" y="2911792"/>
            <a:ext cx="10424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750.00万m³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515100" y="2800350"/>
            <a:ext cx="5143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612255" y="2911792"/>
            <a:ext cx="25546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玉泉水库与东风三干渠联合保障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14350" y="331470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11505" y="342614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年农业耗水量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371850" y="3314700"/>
            <a:ext cx="3143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3469005" y="3426142"/>
            <a:ext cx="10424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600.00万m³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515100" y="3314700"/>
            <a:ext cx="5143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6612255" y="3426142"/>
            <a:ext cx="18345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扣除灌溉回归水后核定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14350" y="3829050"/>
            <a:ext cx="2857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11505" y="394049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年退水量</a:t>
            </a:r>
          </a:p>
        </p:txBody>
      </p:sp>
      <p:sp>
        <p:nvSpPr>
          <p:cNvPr id="32" name="Rectangle 32"/>
          <p:cNvSpPr/>
          <p:nvPr/>
        </p:nvSpPr>
        <p:spPr>
          <a:xfrm>
            <a:off x="3371850" y="3829050"/>
            <a:ext cx="314325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3469005" y="3940492"/>
            <a:ext cx="10424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150.00万m³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515100" y="3829050"/>
            <a:ext cx="5143500" cy="514350"/>
          </a:xfrm>
          <a:prstGeom prst="rect">
            <a:avLst/>
          </a:prstGeom>
          <a:solidFill>
            <a:srgbClr val="EDF2F3"/>
          </a:solidFill>
          <a:ln w="9525">
            <a:solidFill>
              <a:srgbClr val="C6D2D8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612255" y="3940492"/>
            <a:ext cx="16274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按灌溉水量20%核算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14350" y="4343400"/>
            <a:ext cx="2857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611505" y="445484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综合结论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371850" y="4343400"/>
            <a:ext cx="3143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3469005" y="4454842"/>
            <a:ext cx="12944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申请取水量合理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515100" y="4343400"/>
            <a:ext cx="5143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6612255" y="4454842"/>
            <a:ext cx="237458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符合用水总量和效率控制要求</a:t>
            </a:r>
          </a:p>
        </p:txBody>
      </p:sp>
      <p:sp>
        <p:nvSpPr>
          <p:cNvPr id="42" name="Line 42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503872" y="6549866"/>
            <a:ext cx="7525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来源：报告4.4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45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85800" y="1104900"/>
            <a:ext cx="838200" cy="762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7477125" y="1095375"/>
            <a:ext cx="4667250" cy="4667250"/>
          </a:xfrm>
          <a:prstGeom prst="ellipse">
            <a:avLst/>
          </a:prstGeom>
          <a:solidFill>
            <a:srgbClr val="0E9F9A">
              <a:alpha val="1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68655" y="1721168"/>
            <a:ext cx="10266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A9CBD8"/>
                </a:solidFill>
                <a:latin typeface="Arial"/>
                <a:ea typeface="Microsoft YaHei"/>
                <a:cs typeface="Arial"/>
              </a:rPr>
              <a:t>CHAPTER 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4365" y="2467928"/>
            <a:ext cx="3505295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取水水源论证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2468" y="3909536"/>
            <a:ext cx="8324850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D4E3E9"/>
                </a:solidFill>
                <a:latin typeface="Arial"/>
                <a:ea typeface="Microsoft YaHei"/>
                <a:cs typeface="Arial"/>
              </a:rPr>
              <a:t>验证联合水源方案、资料方法、来水补源、水质、取水口位置及水量水位可靠性。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68974" y="5338762"/>
            <a:ext cx="941951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5250" b="1" dirty="0">
                <a:solidFill>
                  <a:srgbClr val="5AB7B1"/>
                </a:solidFill>
                <a:latin typeface="Arial"/>
                <a:ea typeface="Microsoft YaHei"/>
                <a:cs typeface="Arial"/>
              </a:rPr>
              <a:t>46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第5章 取水水源 | 47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720566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项目采用东风三干渠与玉泉水库联合水源方案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09750"/>
            <a:ext cx="76200" cy="390525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02005" y="19307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水源方案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195" y="2222182"/>
            <a:ext cx="642270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项目以东风三干渠和玉泉水库作为联合水源。玉泉水库长期承担本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8195" y="2546985"/>
            <a:ext cx="642270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灌区农业供水，供水目标明确；结合东风三干渠引水补充，符合灌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8195" y="2871788"/>
            <a:ext cx="598265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区实际情况和历史用水习惯，报告未另行提出其他水源方案。</a:t>
            </a:r>
          </a:p>
        </p:txBody>
      </p:sp>
      <p:sp>
        <p:nvSpPr>
          <p:cNvPr id="11" name="Line 11"/>
          <p:cNvSpPr/>
          <p:nvPr/>
        </p:nvSpPr>
        <p:spPr>
          <a:xfrm>
            <a:off x="7124700" y="1952625"/>
            <a:ext cx="9525" cy="3619500"/>
          </a:xfrm>
          <a:custGeom>
            <a:avLst/>
            <a:gdLst/>
            <a:ahLst/>
            <a:cxnLst/>
            <a:rect l="l" t="t" r="r" b="b"/>
            <a:pathLst>
              <a:path w="9525" h="3619500">
                <a:moveTo>
                  <a:pt x="0" y="0"/>
                </a:moveTo>
                <a:lnTo>
                  <a:pt x="0" y="361950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7498080" y="19069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玉泉水库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09510" y="2280285"/>
            <a:ext cx="990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本地调蓄水源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98080" y="274510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东风三干渠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09510" y="3118485"/>
            <a:ext cx="990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外调补充水源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98080" y="35833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农业灌溉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09510" y="3956685"/>
            <a:ext cx="1310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联合水源供水用途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98080" y="44215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既有渠系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09510" y="4794885"/>
            <a:ext cx="1310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取水输水工程基础</a:t>
            </a:r>
          </a:p>
        </p:txBody>
      </p:sp>
      <p:sp>
        <p:nvSpPr>
          <p:cNvPr id="20" name="Line 20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503872" y="6549866"/>
            <a:ext cx="7525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来源：报告5.1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47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第5章 取水水源 | 48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720566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可靠性论证采用降雨序列和水库工程特性资料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09750"/>
            <a:ext cx="76200" cy="390525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02005" y="19307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参证资料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195" y="2222182"/>
            <a:ext cx="607066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玉泉水库流域内没有水文站，报告采用距水库约11km的当阳市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8195" y="2546985"/>
            <a:ext cx="465148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防办2007—2025年历年逐月雨量资料作为参证。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2005" y="311372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工程资料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8195" y="3405188"/>
            <a:ext cx="60266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水库工程特性采用2022年《玉泉水库除险加固工程初步设计报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8195" y="3729990"/>
            <a:ext cx="11420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告》成果。</a:t>
            </a:r>
          </a:p>
        </p:txBody>
      </p:sp>
      <p:sp>
        <p:nvSpPr>
          <p:cNvPr id="13" name="Line 13"/>
          <p:cNvSpPr/>
          <p:nvPr/>
        </p:nvSpPr>
        <p:spPr>
          <a:xfrm>
            <a:off x="7124700" y="1952625"/>
            <a:ext cx="9525" cy="3619500"/>
          </a:xfrm>
          <a:custGeom>
            <a:avLst/>
            <a:gdLst/>
            <a:ahLst/>
            <a:cxnLst/>
            <a:rect l="l" t="t" r="r" b="b"/>
            <a:pathLst>
              <a:path w="9525" h="3619500">
                <a:moveTo>
                  <a:pt x="0" y="0"/>
                </a:moveTo>
                <a:lnTo>
                  <a:pt x="0" y="361950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498080" y="1906905"/>
            <a:ext cx="124418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4.00km²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09510" y="2280285"/>
            <a:ext cx="990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水库集雨面积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98080" y="2745105"/>
            <a:ext cx="169994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180.00万m³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09510" y="3118485"/>
            <a:ext cx="11506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多年平均径流量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98080" y="3583305"/>
            <a:ext cx="130299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994.6mm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09510" y="3956685"/>
            <a:ext cx="11506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多年平均降雨量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98080" y="4421505"/>
            <a:ext cx="121478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225万m³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09510" y="4794885"/>
            <a:ext cx="11506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正常蓄水位库容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98080" y="5259705"/>
            <a:ext cx="121478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6.4万m³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09510" y="5633085"/>
            <a:ext cx="5105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死库容</a:t>
            </a:r>
          </a:p>
        </p:txBody>
      </p:sp>
      <p:sp>
        <p:nvSpPr>
          <p:cNvPr id="24" name="Line 24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03872" y="6549866"/>
            <a:ext cx="8735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来源：报告5.2.3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48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第5章 取水水源 | 49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684861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取水水源论证范围为玉泉水库坝址以上流域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695450"/>
            <a:ext cx="11163300" cy="440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736" y="1790700"/>
            <a:ext cx="3182528" cy="4210050"/>
          </a:xfrm>
          <a:prstGeom prst="rect">
            <a:avLst/>
          </a:prstGeom>
        </p:spPr>
      </p:pic>
      <p:sp>
        <p:nvSpPr>
          <p:cNvPr id="8" name="Line 8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03872" y="6549866"/>
            <a:ext cx="90106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来源：报告附图二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49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第5章 取水水源 | 50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7562707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东风三干渠补水通过引水协议落实具体调度指标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09750"/>
            <a:ext cx="76200" cy="390525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02005" y="1930718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补水必要性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195" y="2222182"/>
            <a:ext cx="642270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仅依靠玉泉水库自身天然来水及现有库容，不足以完全支撑灌区灌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8195" y="2546985"/>
            <a:ext cx="576262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溉用水需求，项目规划由东风三干渠向玉泉水库引水补源。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2005" y="311372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协议内容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8195" y="3405188"/>
            <a:ext cx="642270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报告提出由水库管理单位与三干渠主管部门正式签订引水协议，结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8195" y="3729990"/>
            <a:ext cx="356235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合灌区实际缺水过程明确关键指标。</a:t>
            </a:r>
          </a:p>
        </p:txBody>
      </p:sp>
      <p:sp>
        <p:nvSpPr>
          <p:cNvPr id="13" name="Line 13"/>
          <p:cNvSpPr/>
          <p:nvPr/>
        </p:nvSpPr>
        <p:spPr>
          <a:xfrm>
            <a:off x="7124700" y="1952625"/>
            <a:ext cx="9525" cy="3619500"/>
          </a:xfrm>
          <a:custGeom>
            <a:avLst/>
            <a:gdLst/>
            <a:ahLst/>
            <a:cxnLst/>
            <a:rect l="l" t="t" r="r" b="b"/>
            <a:pathLst>
              <a:path w="9525" h="3619500">
                <a:moveTo>
                  <a:pt x="0" y="0"/>
                </a:moveTo>
                <a:lnTo>
                  <a:pt x="0" y="361950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498080" y="19069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引水流量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09510" y="2280285"/>
            <a:ext cx="990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协议明确内容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98080" y="27451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引水时段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09510" y="3118485"/>
            <a:ext cx="990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协议明确内容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98080" y="35833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调度原则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09510" y="3956685"/>
            <a:ext cx="990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协议明确内容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98080" y="4421505"/>
            <a:ext cx="18175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年度总引水量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09510" y="4794885"/>
            <a:ext cx="990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协议明确内容</a:t>
            </a:r>
          </a:p>
        </p:txBody>
      </p:sp>
      <p:sp>
        <p:nvSpPr>
          <p:cNvPr id="22" name="Line 22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03872" y="6549866"/>
            <a:ext cx="8735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来源：报告5.2.4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50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第5章 取水水源 | 51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684861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取水口与坝下渠系衔接紧密，工程路径清晰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695450"/>
            <a:ext cx="11163300" cy="440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637" y="1790700"/>
            <a:ext cx="5896726" cy="4210050"/>
          </a:xfrm>
          <a:prstGeom prst="rect">
            <a:avLst/>
          </a:prstGeom>
        </p:spPr>
      </p:pic>
      <p:sp>
        <p:nvSpPr>
          <p:cNvPr id="8" name="Line 8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03872" y="6549866"/>
            <a:ext cx="90106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来源：报告附图三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51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第5章 取水水源 | 52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506339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联合水源水质满足农业灌溉要求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09750"/>
            <a:ext cx="76200" cy="390525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02005" y="19307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水库水质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195" y="2222182"/>
            <a:ext cx="70277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坝址以上主要为天然汇水区，群利一队断面2024年达到地表水Ⅱ类标准。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2005" y="2788920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干渠水质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8195" y="3080385"/>
            <a:ext cx="708279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东风三干渠作为区域骨干农业供水通道，水体更新较快并实施渠道管护。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2005" y="3647123"/>
            <a:ext cx="4123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评价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8195" y="3938588"/>
            <a:ext cx="928306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报告综合判断联合水源满足农田灌溉水质标准，长期取用不会对土壤和作物产生明显不利影响。</a:t>
            </a:r>
          </a:p>
        </p:txBody>
      </p:sp>
      <p:sp>
        <p:nvSpPr>
          <p:cNvPr id="13" name="Line 13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03872" y="6549866"/>
            <a:ext cx="8735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来源：报告5.2.6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52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第5章 取水水源 | 53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720566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可靠性由水量、水质和水位运行三个方面构成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58178" y="2089309"/>
            <a:ext cx="1258170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94B45"/>
                </a:solidFill>
                <a:latin typeface="Arial"/>
                <a:ea typeface="Microsoft YaHei"/>
                <a:cs typeface="Arial"/>
              </a:rPr>
              <a:t>6.4万m³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1512" y="2497931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死库容下限</a:t>
            </a:r>
          </a:p>
        </p:txBody>
      </p:sp>
      <p:sp>
        <p:nvSpPr>
          <p:cNvPr id="9" name="Rectangle 9"/>
          <p:cNvSpPr/>
          <p:nvPr/>
        </p:nvSpPr>
        <p:spPr>
          <a:xfrm>
            <a:off x="3348038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491865" y="2089309"/>
            <a:ext cx="1258170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225万m³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05200" y="2497931"/>
            <a:ext cx="10787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正常蓄水位库容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81725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325552" y="2089309"/>
            <a:ext cx="1760658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0B3558"/>
                </a:solidFill>
                <a:latin typeface="Arial"/>
                <a:ea typeface="Microsoft YaHei"/>
                <a:cs typeface="Arial"/>
              </a:rPr>
              <a:t>248.48万m³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38888" y="2497931"/>
            <a:ext cx="10787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设计洪水位库容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015412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159240" y="2089309"/>
            <a:ext cx="86227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E8923A"/>
                </a:solidFill>
                <a:latin typeface="Arial"/>
                <a:ea typeface="Microsoft YaHei"/>
                <a:cs typeface="Arial"/>
              </a:rPr>
              <a:t>7—8月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72575" y="2497931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重点调度期</a:t>
            </a:r>
          </a:p>
        </p:txBody>
      </p:sp>
      <p:sp>
        <p:nvSpPr>
          <p:cNvPr id="18" name="Ellipse 18"/>
          <p:cNvSpPr/>
          <p:nvPr/>
        </p:nvSpPr>
        <p:spPr>
          <a:xfrm>
            <a:off x="590550" y="3305175"/>
            <a:ext cx="114300" cy="114300"/>
          </a:xfrm>
          <a:prstGeom prst="ellipse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18198" y="3258979"/>
            <a:ext cx="356844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水量可靠依赖三干渠补源按月兑现。</a:t>
            </a:r>
          </a:p>
        </p:txBody>
      </p:sp>
      <p:sp>
        <p:nvSpPr>
          <p:cNvPr id="20" name="Ellipse 20"/>
          <p:cNvSpPr/>
          <p:nvPr/>
        </p:nvSpPr>
        <p:spPr>
          <a:xfrm>
            <a:off x="590550" y="3924300"/>
            <a:ext cx="114300" cy="114300"/>
          </a:xfrm>
          <a:prstGeom prst="ellipse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18198" y="3878104"/>
            <a:ext cx="445055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水位运行必须同时守住死库容和防洪库容边界。</a:t>
            </a:r>
          </a:p>
        </p:txBody>
      </p:sp>
      <p:sp>
        <p:nvSpPr>
          <p:cNvPr id="22" name="Ellipse 22"/>
          <p:cNvSpPr/>
          <p:nvPr/>
        </p:nvSpPr>
        <p:spPr>
          <a:xfrm>
            <a:off x="590550" y="4543425"/>
            <a:ext cx="114300" cy="114300"/>
          </a:xfrm>
          <a:prstGeom prst="ellipse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18198" y="4497229"/>
            <a:ext cx="445055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远程闸控与精准计量为精细调度提供工程基础。</a:t>
            </a:r>
          </a:p>
        </p:txBody>
      </p:sp>
      <p:sp>
        <p:nvSpPr>
          <p:cNvPr id="24" name="Line 24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03872" y="6549866"/>
            <a:ext cx="123660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来源：报告5.2.7—5.2.8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53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85800" y="1104900"/>
            <a:ext cx="838200" cy="762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7477125" y="1095375"/>
            <a:ext cx="4667250" cy="4667250"/>
          </a:xfrm>
          <a:prstGeom prst="ellipse">
            <a:avLst/>
          </a:prstGeom>
          <a:solidFill>
            <a:srgbClr val="0E9F9A">
              <a:alpha val="1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68655" y="1721168"/>
            <a:ext cx="10266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A9CBD8"/>
                </a:solidFill>
                <a:latin typeface="Arial"/>
                <a:ea typeface="Microsoft YaHei"/>
                <a:cs typeface="Arial"/>
              </a:rPr>
              <a:t>CHAPTER 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4365" y="2467928"/>
            <a:ext cx="3505295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取水影响论证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2468" y="3909536"/>
            <a:ext cx="7404735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D4E3E9"/>
                </a:solidFill>
                <a:latin typeface="Arial"/>
                <a:ea typeface="Microsoft YaHei"/>
                <a:cs typeface="Arial"/>
              </a:rPr>
              <a:t>分析取水对区域水资源配置、生态下泄、水功能区和其他用水户的影响。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68974" y="5338762"/>
            <a:ext cx="941951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5250" b="1" dirty="0">
                <a:solidFill>
                  <a:srgbClr val="5AB7B1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第6章 取水影响 | 55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1006202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报告从水资源配置、水生态、水功能区和其他用户分析取水影响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09750"/>
            <a:ext cx="76200" cy="390525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02005" y="193071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区域水资源配置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195" y="2222182"/>
            <a:ext cx="1038320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报告认为，在执行三干渠引水协议及年度调度计划的情况下，项目取水对区域地表水资源及配置方案无显著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8195" y="2546985"/>
            <a:ext cx="70199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影响。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2005" y="3113722"/>
            <a:ext cx="15464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水生态与水功能区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8195" y="3405188"/>
            <a:ext cx="1038320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项目预留生态下泄流量，水库运行库容保持在死库容以上；项目无生产、生活废污水排放，不改变现状水域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8195" y="3729990"/>
            <a:ext cx="136207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水质本底值。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2005" y="4296728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其他用水户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8195" y="4588192"/>
            <a:ext cx="774287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玉泉水库除灌溉和下游河道生态用水外，无城镇生活、工业生产等其他用水户。</a:t>
            </a:r>
          </a:p>
        </p:txBody>
      </p:sp>
      <p:sp>
        <p:nvSpPr>
          <p:cNvPr id="15" name="Line 15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03872" y="6549866"/>
            <a:ext cx="8515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来源：报告第6章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55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85800" y="1104900"/>
            <a:ext cx="838200" cy="762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7477125" y="1095375"/>
            <a:ext cx="4667250" cy="4667250"/>
          </a:xfrm>
          <a:prstGeom prst="ellipse">
            <a:avLst/>
          </a:prstGeom>
          <a:solidFill>
            <a:srgbClr val="0E9F9A">
              <a:alpha val="1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68655" y="1721168"/>
            <a:ext cx="10266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A9CBD8"/>
                </a:solidFill>
                <a:latin typeface="Arial"/>
                <a:ea typeface="Microsoft YaHei"/>
                <a:cs typeface="Arial"/>
              </a:rPr>
              <a:t>CHAPTER 07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4365" y="2467928"/>
            <a:ext cx="3505295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退水影响论证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2468" y="3909536"/>
            <a:ext cx="7174706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D4E3E9"/>
                </a:solidFill>
                <a:latin typeface="Arial"/>
                <a:ea typeface="Microsoft YaHei"/>
                <a:cs typeface="Arial"/>
              </a:rPr>
              <a:t>说明农业回归水的组成、时空规律、受纳路径、水质风险和生态作用。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68974" y="5338762"/>
            <a:ext cx="941951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5250" b="1" dirty="0">
                <a:solidFill>
                  <a:srgbClr val="5AB7B1"/>
                </a:solidFill>
                <a:latin typeface="Arial"/>
                <a:ea typeface="Microsoft YaHei"/>
                <a:cs typeface="Arial"/>
              </a:rPr>
              <a:t>56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第7章 退水影响 | 57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720566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退水影响范围覆盖子龙、合意和玉泉三村灌区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695450"/>
            <a:ext cx="11163300" cy="4400550"/>
          </a:xfrm>
          <a:prstGeom prst="rect">
            <a:avLst/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761" y="1790700"/>
            <a:ext cx="5948479" cy="4210050"/>
          </a:xfrm>
          <a:prstGeom prst="rect">
            <a:avLst/>
          </a:prstGeom>
        </p:spPr>
      </p:pic>
      <p:sp>
        <p:nvSpPr>
          <p:cNvPr id="8" name="Line 8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03872" y="6549866"/>
            <a:ext cx="90106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来源：报告附图四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57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第7章 退水影响 | 58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863384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退水呈季节性、间歇性和分散性，不具备集中排放特征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09750"/>
            <a:ext cx="76200" cy="390525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02005" y="1930718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组成与规模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195" y="2222182"/>
            <a:ext cx="729181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退水仅为田间渗漏水和灌溉尾水，年退水量150万m³，不设置集中排污口。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2005" y="2788920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时间规律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8195" y="3080385"/>
            <a:ext cx="590564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退水与灌水周期同步，7—8月为高峰，非灌溉季基本无退水。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2005" y="3647123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空间规律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8195" y="3938588"/>
            <a:ext cx="774287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通过田间沟渠、坡面漫流和土壤下渗，多散点进入浅层地下水或周边地表水体。</a:t>
            </a:r>
          </a:p>
        </p:txBody>
      </p:sp>
      <p:sp>
        <p:nvSpPr>
          <p:cNvPr id="13" name="Line 13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03872" y="6549866"/>
            <a:ext cx="7525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来源：报告7.1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58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第7章 退水影响 | 59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827679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退水方案可行，但面源污染控制不能只依赖自然净化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58178" y="2089309"/>
            <a:ext cx="618640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20%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1512" y="2497931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回归水系数</a:t>
            </a:r>
          </a:p>
        </p:txBody>
      </p:sp>
      <p:sp>
        <p:nvSpPr>
          <p:cNvPr id="9" name="Rectangle 9"/>
          <p:cNvSpPr/>
          <p:nvPr/>
        </p:nvSpPr>
        <p:spPr>
          <a:xfrm>
            <a:off x="3348038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3491865" y="2089309"/>
            <a:ext cx="1258170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0B3558"/>
                </a:solidFill>
                <a:latin typeface="Arial"/>
                <a:ea typeface="Microsoft YaHei"/>
                <a:cs typeface="Arial"/>
              </a:rPr>
              <a:t>150万m³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05200" y="2497931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年退水量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181725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325552" y="2089309"/>
            <a:ext cx="862271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E8923A"/>
                </a:solidFill>
                <a:latin typeface="Arial"/>
                <a:ea typeface="Microsoft YaHei"/>
                <a:cs typeface="Arial"/>
              </a:rPr>
              <a:t>7—8月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38888" y="2497931"/>
            <a:ext cx="7786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退水峰值期</a:t>
            </a:r>
          </a:p>
        </p:txBody>
      </p:sp>
      <p:sp>
        <p:nvSpPr>
          <p:cNvPr id="15" name="Rectangle 15"/>
          <p:cNvSpPr/>
          <p:nvPr/>
        </p:nvSpPr>
        <p:spPr>
          <a:xfrm>
            <a:off x="9015412" y="1885950"/>
            <a:ext cx="2662238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6D2D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159240" y="2089309"/>
            <a:ext cx="1623616" cy="441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75" b="1" dirty="0">
                <a:solidFill>
                  <a:srgbClr val="C94B45"/>
                </a:solidFill>
                <a:latin typeface="Arial"/>
                <a:ea typeface="Microsoft YaHei"/>
                <a:cs typeface="Arial"/>
              </a:rPr>
              <a:t>TN/TP/COD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72575" y="2497931"/>
            <a:ext cx="9286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重点关注指标</a:t>
            </a:r>
          </a:p>
        </p:txBody>
      </p:sp>
      <p:sp>
        <p:nvSpPr>
          <p:cNvPr id="18" name="Ellipse 18"/>
          <p:cNvSpPr/>
          <p:nvPr/>
        </p:nvSpPr>
        <p:spPr>
          <a:xfrm>
            <a:off x="590550" y="3305175"/>
            <a:ext cx="114300" cy="114300"/>
          </a:xfrm>
          <a:prstGeom prst="ellipse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18198" y="3258979"/>
            <a:ext cx="489161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土壤吸附、沟渠沉淀和植被拦截可降低污染负荷。</a:t>
            </a:r>
          </a:p>
        </p:txBody>
      </p:sp>
      <p:sp>
        <p:nvSpPr>
          <p:cNvPr id="20" name="Ellipse 20"/>
          <p:cNvSpPr/>
          <p:nvPr/>
        </p:nvSpPr>
        <p:spPr>
          <a:xfrm>
            <a:off x="590550" y="3924300"/>
            <a:ext cx="114300" cy="114300"/>
          </a:xfrm>
          <a:prstGeom prst="ellipse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18198" y="3878104"/>
            <a:ext cx="6130766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仍需通过化肥农药减量、生态沟渠和关键断面监测验证环境风险。</a:t>
            </a:r>
          </a:p>
        </p:txBody>
      </p:sp>
      <p:sp>
        <p:nvSpPr>
          <p:cNvPr id="22" name="Line 22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03872" y="6549866"/>
            <a:ext cx="9945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来源：报告7.2—7.5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59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85800" y="1104900"/>
            <a:ext cx="838200" cy="762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7477125" y="1095375"/>
            <a:ext cx="4667250" cy="4667250"/>
          </a:xfrm>
          <a:prstGeom prst="ellipse">
            <a:avLst/>
          </a:prstGeom>
          <a:solidFill>
            <a:srgbClr val="0E9F9A">
              <a:alpha val="1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68655" y="1721168"/>
            <a:ext cx="10266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A9CBD8"/>
                </a:solidFill>
                <a:latin typeface="Arial"/>
                <a:ea typeface="Microsoft YaHei"/>
                <a:cs typeface="Arial"/>
              </a:rPr>
              <a:t>CHAPTER 08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4365" y="2467928"/>
            <a:ext cx="7474791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水资源节约、保护及管理措施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2468" y="3909536"/>
            <a:ext cx="786479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D4E3E9"/>
                </a:solidFill>
                <a:latin typeface="Arial"/>
                <a:ea typeface="Microsoft YaHei"/>
                <a:cs typeface="Arial"/>
              </a:rPr>
              <a:t>将工程节水转化为许可计划、计量监测、运维管护和水环境保护的长期闭环。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68974" y="5338762"/>
            <a:ext cx="941951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5250" b="1" dirty="0">
                <a:solidFill>
                  <a:srgbClr val="5AB7B1"/>
                </a:solidFill>
                <a:latin typeface="Arial"/>
                <a:ea typeface="Microsoft YaHei"/>
                <a:cs typeface="Arial"/>
              </a:rPr>
              <a:t>60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第8章 管理措施 | 61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613452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节约措施聚焦输水损失与田间用水效率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09750"/>
            <a:ext cx="76200" cy="390525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02005" y="19307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渠系工程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195" y="2222182"/>
            <a:ext cx="75228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推进干支渠及末级渠系防渗整治，推广低压管输，减少渠道渗漏与输水损失。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2005" y="2788920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田间技术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8195" y="3080385"/>
            <a:ext cx="708279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推广喷微灌、水肥一体化、精准灌溉和水稻节水控灌，提高水分生产率。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2005" y="3647123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计量基础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8195" y="3938588"/>
            <a:ext cx="840295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完善取水口、干支渠控制节点和用水单元计量设施，为计划用水和节水评价提供数据。</a:t>
            </a:r>
          </a:p>
        </p:txBody>
      </p:sp>
      <p:sp>
        <p:nvSpPr>
          <p:cNvPr id="13" name="Line 13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03872" y="6549866"/>
            <a:ext cx="7525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来源：报告8.1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61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第8章 管理措施 | 62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827679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保护措施包括农业投入减量、水资源监管和公众参与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09750"/>
            <a:ext cx="76200" cy="390525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02005" y="193071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农业面源控制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195" y="2222182"/>
            <a:ext cx="950309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推广水肥一体化、测土配方施肥和生态农业技术，科学用肥，减少化学肥料用量和农业面源污染。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2005" y="2788920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水资源保护监管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8195" y="3080385"/>
            <a:ext cx="972312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强化法律法规确立的水资源保护制度，建立协商、协调和联防机制，将保护目标纳入相关考核体系。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2005" y="3647123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社会监督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8195" y="3938588"/>
            <a:ext cx="862298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宣传水资源保护法律法规和制度，依法保障公众知情权，拓宽公众参与和舆论监督渠道。</a:t>
            </a:r>
          </a:p>
        </p:txBody>
      </p:sp>
      <p:sp>
        <p:nvSpPr>
          <p:cNvPr id="13" name="Line 13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03872" y="6549866"/>
            <a:ext cx="7525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来源：报告8.2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62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第8章 管理措施 | 63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934793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管理措施覆盖取水许可、计量监测、工程运维和水环境保护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09750"/>
            <a:ext cx="76200" cy="390525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02005" y="193071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许可与计划用水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195" y="2222182"/>
            <a:ext cx="1038320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依法办理取水许可手续，按照批复规模、期限和用途取水，并结合作物周期和雨情墒情制定月度、季度及年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8195" y="2546985"/>
            <a:ext cx="136207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度用水计划。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2005" y="311372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计量与水平衡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8195" y="3405188"/>
            <a:ext cx="99431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在取水口安装标准化计量设施，建立用水台账和数据上报制度，定期校验设备、开展灌区水平衡测试。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2005" y="3971925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运维与环境管理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8195" y="4263390"/>
            <a:ext cx="79629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建立水库及渠系专业化管护机制，开展工程巡查养护，并持续防控农业面源污染。</a:t>
            </a:r>
          </a:p>
        </p:txBody>
      </p:sp>
      <p:sp>
        <p:nvSpPr>
          <p:cNvPr id="14" name="Line 14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03872" y="6549866"/>
            <a:ext cx="7525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来源：报告8.3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63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3558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85800" y="1104900"/>
            <a:ext cx="838200" cy="762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7477125" y="1095375"/>
            <a:ext cx="4667250" cy="4667250"/>
          </a:xfrm>
          <a:prstGeom prst="ellipse">
            <a:avLst/>
          </a:prstGeom>
          <a:solidFill>
            <a:srgbClr val="0E9F9A">
              <a:alpha val="1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68655" y="1721168"/>
            <a:ext cx="10266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A9CBD8"/>
                </a:solidFill>
                <a:latin typeface="Arial"/>
                <a:ea typeface="Microsoft YaHei"/>
                <a:cs typeface="Arial"/>
              </a:rPr>
              <a:t>CHAPTER 09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4365" y="2467928"/>
            <a:ext cx="2938224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结论与建议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2468" y="3909536"/>
            <a:ext cx="8554879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D4E3E9"/>
                </a:solidFill>
                <a:latin typeface="Arial"/>
                <a:ea typeface="Microsoft YaHei"/>
                <a:cs typeface="Arial"/>
              </a:rPr>
              <a:t>归纳报告关于用水合理性、水源可靠性和取退水影响的结论，并转化为审批与运行要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2468" y="4238149"/>
            <a:ext cx="503873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D4E3E9"/>
                </a:solidFill>
                <a:latin typeface="Arial"/>
                <a:ea typeface="Microsoft YaHei"/>
                <a:cs typeface="Arial"/>
              </a:rPr>
              <a:t>求。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68974" y="5338762"/>
            <a:ext cx="941951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5250" b="1" dirty="0">
                <a:solidFill>
                  <a:srgbClr val="5AB7B1"/>
                </a:solidFill>
                <a:latin typeface="Arial"/>
                <a:ea typeface="Microsoft YaHei"/>
                <a:cs typeface="Arial"/>
              </a:rPr>
              <a:t>64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第9章 结论建议 | 65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791975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报告总体认为项目取用水合理、联合水源方案可行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09750"/>
            <a:ext cx="76200" cy="390525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02005" y="1930718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用水合理性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195" y="2222182"/>
            <a:ext cx="1016317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项目服务于现有农业灌溉，规划水平年不以扩大种植规模增加需水，并以节水改造和用水定额控制取水。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2005" y="2788920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水源可靠性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8195" y="3080385"/>
            <a:ext cx="972312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玉泉水库天然来水与东风三干渠补水组成联合水源，在落实补水协议和调度计划后可保障设计供水。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2005" y="3647123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影响判断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8195" y="3938588"/>
            <a:ext cx="840295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落实生态下泄、库水位控制、农业面源治理和水质监测后，取水与退水影响总体可控。</a:t>
            </a:r>
          </a:p>
        </p:txBody>
      </p:sp>
      <p:sp>
        <p:nvSpPr>
          <p:cNvPr id="13" name="Line 13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03872" y="6549866"/>
            <a:ext cx="107158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来源：报告第9章结论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65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第9章 结论建议 | 66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6491573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报告提出取水、退水影响补救与补偿措施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09750"/>
            <a:ext cx="76200" cy="390525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02005" y="193071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取水影响补救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195" y="2222182"/>
            <a:ext cx="1038320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严格保障生态下泄流量，优化水库与东风三干渠引蓄联合调度方案，并依托闸门远程控制和精准计量设施提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8195" y="2546985"/>
            <a:ext cx="136207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升节水效能。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2005" y="311372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退水影响补救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8195" y="3405188"/>
            <a:ext cx="99431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推进化肥农药减量增效，利用灌排渠系和田间沟渠开展自然净化与生态拦截，降低农业面源污染负荷。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2005" y="3971925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监测与管理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8195" y="4263390"/>
            <a:ext cx="818292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建立覆盖取水、配水和主要退水环节的动态监控网络，定期开展关键点位水质监测。</a:t>
            </a:r>
          </a:p>
        </p:txBody>
      </p:sp>
      <p:sp>
        <p:nvSpPr>
          <p:cNvPr id="14" name="Line 14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03872" y="6549866"/>
            <a:ext cx="22927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来源：报告9.1取水和退水影响补救与补偿措施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66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E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14350" y="438150"/>
            <a:ext cx="66675" cy="30480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8662" y="545306"/>
            <a:ext cx="14226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第9章 结论建议 | 67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1965" y="867728"/>
            <a:ext cx="791975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报告建议深化信息化管理并加强末级渠系长效管护</a:t>
            </a:r>
          </a:p>
        </p:txBody>
      </p:sp>
      <p:sp>
        <p:nvSpPr>
          <p:cNvPr id="6" name="Rectangle 6"/>
          <p:cNvSpPr/>
          <p:nvPr/>
        </p:nvSpPr>
        <p:spPr>
          <a:xfrm>
            <a:off x="514350" y="1809750"/>
            <a:ext cx="76200" cy="3905250"/>
          </a:xfrm>
          <a:prstGeom prst="rect">
            <a:avLst/>
          </a:prstGeom>
          <a:solidFill>
            <a:srgbClr val="0E9F9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02005" y="1930718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信息化与智能化管理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195" y="2222182"/>
            <a:ext cx="642270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充分利用已建成的闸门远程智能控制系统及精准计量设施，构建灌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8195" y="2546985"/>
            <a:ext cx="642270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区水资源动态监控与智慧调度平台，实现取水、输水、配水全过程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8195" y="2871788"/>
            <a:ext cx="51025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数字化管理，积累长序列监测数据并优化联合调度。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2005" y="3438525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末级渠系与设施管护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8195" y="3729990"/>
            <a:ext cx="642270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稳步推进田间末级渠系防渗改造与量测水设施配套，推广喷灌、微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8195" y="4054793"/>
            <a:ext cx="642270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灌等高效节水技术，建立基层管护机制，落实信息化设备及水工建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8195" y="4379595"/>
            <a:ext cx="29022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7324A"/>
                </a:solidFill>
                <a:latin typeface="Arial"/>
                <a:ea typeface="Microsoft YaHei"/>
                <a:cs typeface="Arial"/>
              </a:rPr>
              <a:t>筑物的定期检修和日常保养。</a:t>
            </a:r>
          </a:p>
        </p:txBody>
      </p:sp>
      <p:sp>
        <p:nvSpPr>
          <p:cNvPr id="15" name="Line 15"/>
          <p:cNvSpPr/>
          <p:nvPr/>
        </p:nvSpPr>
        <p:spPr>
          <a:xfrm>
            <a:off x="7124700" y="1952625"/>
            <a:ext cx="9525" cy="3619500"/>
          </a:xfrm>
          <a:custGeom>
            <a:avLst/>
            <a:gdLst/>
            <a:ahLst/>
            <a:cxnLst/>
            <a:rect l="l" t="t" r="r" b="b"/>
            <a:pathLst>
              <a:path w="9525" h="3619500">
                <a:moveTo>
                  <a:pt x="0" y="0"/>
                </a:moveTo>
                <a:lnTo>
                  <a:pt x="0" y="361950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7498080" y="1906905"/>
            <a:ext cx="93545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全过程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09510" y="2280285"/>
            <a:ext cx="21107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取水、输水、配水数字化管理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98080" y="274510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长序列数据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09510" y="3118485"/>
            <a:ext cx="17907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优化水库与干渠联合调度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98080" y="35833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末级渠系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09510" y="3956685"/>
            <a:ext cx="16306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防渗与量测水设施配套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98080" y="442150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E9F9A"/>
                </a:solidFill>
                <a:latin typeface="Arial"/>
                <a:ea typeface="Microsoft YaHei"/>
                <a:cs typeface="Arial"/>
              </a:rPr>
              <a:t>长效管护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09510" y="4794885"/>
            <a:ext cx="14706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定期检修与日常保养</a:t>
            </a:r>
          </a:p>
        </p:txBody>
      </p:sp>
      <p:sp>
        <p:nvSpPr>
          <p:cNvPr id="24" name="Line 24"/>
          <p:cNvSpPr/>
          <p:nvPr/>
        </p:nvSpPr>
        <p:spPr>
          <a:xfrm>
            <a:off x="514350" y="6381750"/>
            <a:ext cx="11163300" cy="9525"/>
          </a:xfrm>
          <a:custGeom>
            <a:avLst/>
            <a:gdLst/>
            <a:ahLst/>
            <a:cxnLst/>
            <a:rect l="l" t="t" r="r" b="b"/>
            <a:pathLst>
              <a:path w="11163300" h="9525">
                <a:moveTo>
                  <a:pt x="0" y="0"/>
                </a:moveTo>
                <a:lnTo>
                  <a:pt x="11163300" y="0"/>
                </a:lnTo>
              </a:path>
            </a:pathLst>
          </a:custGeom>
          <a:noFill/>
          <a:ln w="9525">
            <a:solidFill>
              <a:srgbClr val="C6D2D8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03872" y="6549866"/>
            <a:ext cx="7525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来源：报告9.2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527603" y="6541770"/>
            <a:ext cx="1614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607789"/>
                </a:solidFill>
                <a:latin typeface="Arial"/>
                <a:ea typeface="Microsoft YaHei"/>
                <a:cs typeface="Arial"/>
              </a:rPr>
              <a:t>67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2026-06-16T01:38:36Z</dcterms:created>
  <dcterms:modified xsi:type="dcterms:W3CDTF">2026-06-16T01:38:36Z</dcterms:modified>
  <cp:category/>
  <cp:contentStatus/>
</cp:coreProperties>
</file>
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7498079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黄冈市住房和城市更新局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黄冈市东坡大道片区污水收集管网建设工程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39696"/>
            <a:ext cx="98755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水土保持方案报告表汇报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474720"/>
            <a:ext cx="95097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水土保持方案；报批稿；2026年1月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950208"/>
            <a:ext cx="98755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围绕项目边界、预测结果、防治措施、投资效益和验收管理形成评审级汇报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6089904"/>
            <a:ext cx="54864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武汉中地环科水工环科技咨询有限责任公司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089904"/>
            <a:ext cx="1828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2026年06月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089904"/>
            <a:ext cx="20116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技术评审汇报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530352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01203C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36576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4489C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99815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72384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9624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22191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1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71999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72200"/>
            <a:ext cx="89611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0">
                <a:solidFill>
                  <a:srgbClr val="566B7F"/>
                </a:solidFill>
                <a:latin typeface="Microsoft YaHei"/>
              </a:defRPr>
            </a:pPr>
            <a:r>
              <a:t>汇报按报告章节展开，依次呈现项目背景、工程概况、评价预测、措施体系、投资效益与管理验收。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236208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第01章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先交代项目来源、编制依据、核心建设参数和方案结论，帮助评审快速建立全局判断。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综合报告表给出项目全局控制指标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 概况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湖北省黄冈市黄州区城北片区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建设性质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新建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土建投资（万元）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6914.95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占地面积（m²）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表土剥离及回覆79.5m³、土地整治265㎡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26.9211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该表集中给出建设内容、占地、土石方、防治目标、措施和投资，是评审快速核对方案边界的总控表。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汇报时应优先说明工程规模、责任范围和投资口径之间的一致性，而不是逐项复述全部数值。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表内参数后续分别进入土石方平衡、预测计算、措施布设和投资概算页面进行展开。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前期批复和编制依据明确方案边界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124712"/>
            <a:ext cx="10972800" cy="44622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17320"/>
            <a:ext cx="10332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4489C8"/>
                </a:solidFill>
                <a:latin typeface="Microsoft YaHei"/>
              </a:defRPr>
            </a:pPr>
            <a:r>
              <a:t>项目前期工作概况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本方案以可研批复、初设批复和项目既有前期工作为边界，明确工程建设内容与水土保持评价对象。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编制依据覆盖水土保持法律法规、技术标准和地方管理要求，是防治目标、预测计算和投资概算的共同基础。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附件清单提供批复、委托、地理位置、措施布设和投资估算等支撑材料，便于评审追溯。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本页只保留完整要点；较长依据清单应在报告原文和附件中复核，不在 PPT 中截断展示。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第02章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说明管网建设内容、道路段落、工程占地、施工组织、工艺和土石方基础。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建设项目工程特性表锁定规模、投资与工期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一、项目的基本情况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项目分区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项目区面积（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4971.61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2232.54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建设项目工程特性表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工程特性表用于锁定项目性质、建设规模、投资组成、施工时段和占地口径。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表中规模与工期决定扰动持续时间，是后续水土流失预测和措施进度安排的基础。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对评审而言，重点是确认管网工程区作为唯一防治分区是否覆盖全部建设活动。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项目位于黄州区城北片区并沿多条道路布设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060704"/>
            <a:ext cx="6949440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1" y="1133856"/>
            <a:ext cx="6796485" cy="4242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115568"/>
            <a:ext cx="3246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工程建设地点示意图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700784"/>
            <a:ext cx="2999232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图件显示项目位于黄州区城北片区，工程范围受黄州大道、三台河路、东坡大道、赤壁大道等道路边界控制。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管网沿既有城市道路布设，施工扰动与交通组织、现状绿化和恢复边界关系密切。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本页图件用于定位责任范围和扰动场景，后续防治分区仍以管网工程区统一展开。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施工组织与顶管工艺决定扰动范围和防护时序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042415"/>
            <a:ext cx="5431536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758" y="1088136"/>
            <a:ext cx="3123027" cy="1645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4768" y="1042415"/>
            <a:ext cx="5431536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83" y="1088136"/>
            <a:ext cx="2336305" cy="16459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3504" y="2889504"/>
            <a:ext cx="5431536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745" y="2935224"/>
            <a:ext cx="1405053" cy="16459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4809744"/>
            <a:ext cx="452628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图2.1- 2 顶管施工示意图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12080"/>
            <a:ext cx="10561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顶管示意图说明本项目以微顶管减少城区道路大开挖扰动，是施工组织和水保措施时序的关键依据。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工作井、接收井和井内回填剖面决定临时占地、土方周转、排水降水和分层压实管理重点。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本页图件应与土石方平衡、临时苫盖、施工排水和路面绿化恢复措施联动理解。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第03章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界定防治责任范围，明确南方红壤区建设类项目一级标准及六项防治目标。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防治责任范围全部为临时占地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本项目防治责任范围一览表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该表把防治责任范围落实到管网工程区，说明本方案责任边界与工程占地口径一致。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责任范围全部纳入临时占地管理，后续措施布设、投资和效益分析均以该范围为控制基础。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评审需关注管线、施工场地、顶管井和恢复范围是否已被完整纳入。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六项防治指标采用南方红壤区一级标准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防治指标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标准值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采用标准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水土流失治理度（%）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土壤流失控制比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+0.1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林草植被恢复率（%）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按 项目区 实际情况调整 为0.77%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本工程水土流失防治目标值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目标值表明确本项目执行南方红壤区建设类项目一级标准。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六项指标分别约束治理度、控制比、防护率、表土保护、植被恢复和林草覆盖。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该表是末章防治效果达标分析的直接对照基准。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第04章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评价选址、建设方案、施工组织、土石方平衡及主体工程中已列水保措施。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法制约因素与技术标准评价结论均为符合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9377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制约性因素条款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符合性分析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第十七条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地方各级人民政府应当加强对取土、挖沙、采石等活动的管理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本项目不涉及取土、挖沙、采石等活动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水土流失严重、生态脆弱的地区，应当限制或者禁止可能造成水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本项目所在区域不属于水土流失严重、生态脆弱区。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第二十四条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建设项目选址、选线应当避让水土流失重点预防区和重点治理区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本项目不涉及国家级和省级水土流失重点防治区。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第二十五条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在山区、丘陵区、风沙区以及水土保持规划确定的容易发生水土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建设单位 委托 我公司开展本项目的水土保持方案编制工作。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依法应当编制水土保持方案的建设项目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 总挖方4971.61 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对生产建设活动所占用土地的地表土应当进行分层剥离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根据 现场勘查 及查阅资料， 场地内存在可剥离的表土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水土保持法制约因素分析与评价结果一览表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评价表逐项核对法律法规和技术标准约束，结论用于支撑项目选址与建设方案可行性。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重点不是表格行数，而是是否存在水土保持法、长江保护法或技术标准禁止性因素。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表格结论为后续土石方、施工组织和措施体系评价提供前置判断。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土石方平衡显示弃方委托处置、借方外购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开挖量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基础土方开挖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2977.11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基础土方回填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道路破除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1560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清淤土方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工程土石方平衡表 单位：m³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土石方平衡表说明开挖、回填、借方、弃方的来源去向。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弃方委托处置、借方外购的口径需要与施工组织和临时防护措施相互印证。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评审应关注土方流向是否闭合、临时堆放是否纳入防护、运输过程是否有管理措施。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主体工程已列水保措施以土地整治和铺种草皮为主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 植物措施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本项目主体工程设计中应纳入水土保持的措施量及投资一览表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该表识别主体工程中已具有水土保持功能的措施，避免投资和工程量重复计算。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土地整治、铺种草皮等措施直接服务于扰动地表恢复和林草植被恢复。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仍需结合新增临时措施，形成施工期防护与完工后恢复的完整闭环。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第05章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从扰动范围、侵蚀模数、预测时段和结果表说明施工期与自然恢复期流失量。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扰动地表面积与预测单元集中在管网工程区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9128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项目组成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扰动地表面积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扰动地表面积表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这些表共同界定预测对象、预测范围和预测时段，是土壤流失量计算的前置参数。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管网工程区是主要扰动单元，施工期和自然恢复期需分别控制。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评审需确认预测单元划分与施工组织、占地范围和恢复安排保持一致。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背景土壤侵蚀模数取 261.46t/km²·a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土地利用类型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坡度（°）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林草覆盖度（ % 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4.3.3.1 原地貌土壤侵蚀模数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侵蚀模数表和背景值计算表给出预测模型的参数基础。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背景值用于衡量工程建设新增扰动贡献，不能脱离地类和区域水土流失特征单独使用。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本页应关注取值来源、计算口径与报告公式之间是否一致。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施工期扰动后侵蚀模数显著高于背景值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因子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土壤侵蚀模数（ t/km²·a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1153.34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降雨侵蚀力因子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R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7179.00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土壤可蚀性因子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K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0.0043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Ly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坡长（ m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坡长指数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4.3.3.2 扰动后土壤侵蚀模数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侵蚀模数表和背景值计算表给出预测模型的参数基础。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背景值用于衡量工程建设新增扰动贡献，不能脱离地类和区域水土流失特征单独使用。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本页应关注取值来源、计算口径与报告公式之间是否一致。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预测土壤流失总量 104.05t，新增量 94.92t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预测单元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预测面积（hm²）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预测时段（a)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侵蚀模数（t/km²·a）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自然恢复期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工程建设可能造成的土壤流失量预测结果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预测结果表汇总各阶段土壤流失量和新增量，是确定重点防治环节的核心结果。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新增量主要反映工程扰动相对于背景状态的增量影响。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本页应与措施体系页联读，说明预测风险如何转化为工程、植物和临时措施。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第06章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呈现防治分区、工程/植物/临时措施体系、工程量和实施进度。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防治分区为管网工程区，防治面积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防治面积（m²）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水土流失防治区划分表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防治分区表把措施布设对象统一到管网工程区，避免措施安排与责任范围脱节。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防治面积是工程量、投资和效益核算的共同基础。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分区简化不等于措施简化，仍需覆盖顶管井、道路恢复、临时防护和植被恢复等场景。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措施体系覆盖工程、植物和临时三类措施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工程措施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临时措施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表土剥离、表土回覆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本项目水土流失防治措施体系表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措施体系表说明工程措施、植物措施和临时措施之间的职责分工。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工程量汇总表把措施落实到可实施、可计量、可验收的清单。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评审重点是施工期临时防护与完工恢复是否衔接，避免只重恢复不重过程控制。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措施实施进度需嵌入 2025—2026 年施工窗口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6410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工程分区/路段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主要工序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实施窗口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水保衔接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施工准备、围挡、路面破除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2025年12月起进入施工准备和扰动启动阶段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临时防护、排水和车辆冲洗应先行布设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东坡大道等道路段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顶管井施工、顶管施工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2026年主体施工窗口内分段推进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顶管井开挖、土方周转和降排水是过程控制重点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各道路恢复段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路面恢复、绿化恢复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随主体完工分段恢复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土地整治和植被恢复需与道路恢复同步闭合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水土保持措施实施进度表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实施进度表将水土保持措施嵌入项目施工窗口，体现措施与主体工程同步实施。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复杂进度表应保留道路段、工序和年月的层级关系，避免压缩成无法判断的单行文本。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评审需关注临时防护是否早于或同步于扰动活动，恢复措施是否跟随路面和绿化恢复完成。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第07章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说明投资构成、补偿费免征依据、防治效果达标情况及后续管理要求。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水土保持估算总投资为 26.9211 万元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建安工程费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第二部分植物措施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第三部分临时措施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0.4253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一至三部分合计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第四部分独立费用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一至四部分合计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本项目水土保持估算总表 单位：万元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估算总表用于说明水土保持投资构成和费用控制口径。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新增投资、主体已列投资和补偿费应在不同费用表中保持口径一致。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投资页应服务于后续实施和验收，不只展示金额本身。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工程、植物、临时和独立费用共同构成新增投资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单价（元）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合计（万元）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11.68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8.84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本方案工程措施估算表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分项估算表把新增投资拆解到工程措施、植物措施、临时措施和独立费用。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这些费用类别对应不同实施责任和验收材料，不能混作单一总额理解。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复杂费用表宜按费用类别摘录关键行，完整表格可在报告原表中复核。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水土保持补偿费 51624 元符合免征情形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行政区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征占地面积（ hm² 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征占地面积（ m² 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黄冈市黄州区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根据《财政部国家发展改革委水利部中国人民银行关于印发〈水土保持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水土保持补偿费计算表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补偿费计算表给出应计口径，免征依据说明最终缴费责任。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本页应区分计算基础和政策处理结果，避免把免征理解为无需核算。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评审需确认免征依据、项目性质和责任主体表述一致。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六项防治效果达到或高于目标值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评估依据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97 %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采取措施实际挡护永久弃渣、临时堆土数量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万m³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保护的表土数量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万m³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0.7 7 %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林草植被面积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hm²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水土保持防治效果分析表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防治效果分析表把设计达到值与目标值逐项对照，验证措施体系的预期成效。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六项指标均需回扣前文目标值表，形成目标设定到效果评价的闭环。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达标结论应与施工期管理、监理和验收要求共同理解。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后续管理需落实组织管理、监理施工和设施验收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定额编号： 10308 定额单位： 100m³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元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元/m³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水土保持设施验收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本页表格服务于“投资概算、效益与管理验收”的关键口径核对，应结合报告原表标题、单位和注释阅读。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说明文字只解释表格用途和评审关注点，具体数值以表内原始证据为准。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如原表存在多级表头或合并单元格，应优先保留结构或采用源表裁图辅助阅读。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定额编号： 10308 定额单位： 100m³ 工作内容；推松、运送、卸除、拖平、空回。 编 号；名称及规格；单位；工程量；单价（元）；合价（元） 一；直接工程费；元。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
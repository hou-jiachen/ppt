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5.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0C3B5D"/>
          </a:solidFill>
          <a:ln w="7620">
            <a:solidFill>
              <a:srgbClr val="0C3B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0352" y="694944"/>
            <a:ext cx="91440" cy="443484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786384"/>
            <a:ext cx="9875520" cy="1234440"/>
          </a:xfrm>
          <a:prstGeom prst="rect">
            <a:avLst/>
          </a:prstGeom>
          <a:noFill/>
        </p:spPr>
        <p:txBody>
          <a:bodyPr wrap="square">
            <a:noAutofit/>
          </a:bodyPr>
          <a:lstStyle/>
          <a:p>
            <a:pPr>
              <a:defRPr sz="3000" b="1">
                <a:solidFill>
                  <a:srgbClr val="FFFFFF"/>
                </a:solidFill>
                <a:latin typeface="Microsoft YaHei"/>
              </a:defRPr>
            </a:pPr>
            <a:r>
              <a:t>黄冈市东坡大道片区污水收集管网建设工程水土保持方案报告表汇报</a:t>
            </a:r>
          </a:p>
        </p:txBody>
      </p:sp>
      <p:sp>
        <p:nvSpPr>
          <p:cNvPr id="6" name="TextBox 5"/>
          <p:cNvSpPr txBox="1"/>
          <p:nvPr/>
        </p:nvSpPr>
        <p:spPr>
          <a:xfrm>
            <a:off x="822960" y="2286000"/>
            <a:ext cx="7772400" cy="320040"/>
          </a:xfrm>
          <a:prstGeom prst="rect">
            <a:avLst/>
          </a:prstGeom>
          <a:noFill/>
        </p:spPr>
        <p:txBody>
          <a:bodyPr wrap="square">
            <a:noAutofit/>
          </a:bodyPr>
          <a:lstStyle/>
          <a:p>
            <a:pPr>
              <a:defRPr sz="1800" b="1">
                <a:solidFill>
                  <a:srgbClr val="EAF2F6"/>
                </a:solidFill>
                <a:latin typeface="Microsoft YaHei"/>
              </a:defRPr>
            </a:pPr>
            <a:r>
              <a:t>水土保持方案报告表 · 技术汇报</a:t>
            </a:r>
          </a:p>
        </p:txBody>
      </p:sp>
      <p:sp>
        <p:nvSpPr>
          <p:cNvPr id="7" name="TextBox 6"/>
          <p:cNvSpPr txBox="1"/>
          <p:nvPr/>
        </p:nvSpPr>
        <p:spPr>
          <a:xfrm>
            <a:off x="822960" y="2907792"/>
            <a:ext cx="8961120" cy="749808"/>
          </a:xfrm>
          <a:prstGeom prst="rect">
            <a:avLst/>
          </a:prstGeom>
          <a:noFill/>
        </p:spPr>
        <p:txBody>
          <a:bodyPr wrap="square">
            <a:noAutofit/>
          </a:bodyPr>
          <a:lstStyle/>
          <a:p>
            <a:r>
              <a:rPr sz="1600" b="0">
                <a:solidFill>
                  <a:srgbClr val="EAF2F6"/>
                </a:solidFill>
                <a:latin typeface="Microsoft YaHei"/>
              </a:rPr>
              <a:t>围绕</a:t>
            </a:r>
            <a:r>
              <a:rPr sz="1600" b="1">
                <a:solidFill>
                  <a:srgbClr val="0E8F8C"/>
                </a:solidFill>
                <a:latin typeface="Microsoft YaHei"/>
              </a:rPr>
              <a:t>项目范围</a:t>
            </a:r>
            <a:r>
              <a:rPr sz="1600" b="0">
                <a:solidFill>
                  <a:srgbClr val="EAF2F6"/>
                </a:solidFill>
                <a:latin typeface="Microsoft YaHei"/>
              </a:rPr>
              <a:t>、</a:t>
            </a:r>
            <a:r>
              <a:rPr sz="1600" b="1">
                <a:solidFill>
                  <a:srgbClr val="0E8F8C"/>
                </a:solidFill>
                <a:latin typeface="Microsoft YaHei"/>
              </a:rPr>
              <a:t>防治责任</a:t>
            </a:r>
            <a:r>
              <a:rPr sz="1600" b="0">
                <a:solidFill>
                  <a:srgbClr val="EAF2F6"/>
                </a:solidFill>
                <a:latin typeface="Microsoft YaHei"/>
              </a:rPr>
              <a:t>、土石方平衡、水土流失预测、措施体系、</a:t>
            </a:r>
            <a:r>
              <a:rPr sz="1600" b="1">
                <a:solidFill>
                  <a:srgbClr val="0E8F8C"/>
                </a:solidFill>
                <a:latin typeface="Microsoft YaHei"/>
              </a:rPr>
              <a:t>投资概算</a:t>
            </a:r>
            <a:r>
              <a:rPr sz="1600" b="0">
                <a:solidFill>
                  <a:srgbClr val="EAF2F6"/>
                </a:solidFill>
                <a:latin typeface="Microsoft YaHei"/>
              </a:rPr>
              <a:t>和</a:t>
            </a:r>
            <a:r>
              <a:rPr sz="1600" b="1">
                <a:solidFill>
                  <a:srgbClr val="0E8F8C"/>
                </a:solidFill>
                <a:latin typeface="Microsoft YaHei"/>
              </a:rPr>
              <a:t>设施验收</a:t>
            </a:r>
            <a:r>
              <a:rPr sz="1600" b="0">
                <a:solidFill>
                  <a:srgbClr val="EAF2F6"/>
                </a:solidFill>
                <a:latin typeface="Microsoft YaHei"/>
              </a:rPr>
              <a:t>展开，保留报告表中的关键控制值、章节结论与源表证据。</a:t>
            </a:r>
          </a:p>
        </p:txBody>
      </p:sp>
      <p:sp>
        <p:nvSpPr>
          <p:cNvPr id="8" name="TextBox 7"/>
          <p:cNvSpPr txBox="1"/>
          <p:nvPr/>
        </p:nvSpPr>
        <p:spPr>
          <a:xfrm>
            <a:off x="822960" y="5321808"/>
            <a:ext cx="7315200" cy="256032"/>
          </a:xfrm>
          <a:prstGeom prst="rect">
            <a:avLst/>
          </a:prstGeom>
          <a:noFill/>
        </p:spPr>
        <p:txBody>
          <a:bodyPr wrap="square">
            <a:noAutofit/>
          </a:bodyPr>
          <a:lstStyle/>
          <a:p>
            <a:pPr>
              <a:defRPr sz="1400" b="0">
                <a:solidFill>
                  <a:srgbClr val="EAF2F6"/>
                </a:solidFill>
                <a:latin typeface="Microsoft YaHei"/>
              </a:defRPr>
            </a:pPr>
            <a:r>
              <a:t>黄冈市住房和城市更新局。</a:t>
            </a:r>
          </a:p>
        </p:txBody>
      </p:sp>
      <p:sp>
        <p:nvSpPr>
          <p:cNvPr id="9" name="TextBox 8"/>
          <p:cNvSpPr txBox="1"/>
          <p:nvPr/>
        </p:nvSpPr>
        <p:spPr>
          <a:xfrm>
            <a:off x="10680192" y="6236208"/>
            <a:ext cx="585216" cy="182880"/>
          </a:xfrm>
          <a:prstGeom prst="rect">
            <a:avLst/>
          </a:prstGeom>
          <a:noFill/>
        </p:spPr>
        <p:txBody>
          <a:bodyPr wrap="square">
            <a:noAutofit/>
          </a:bodyPr>
          <a:lstStyle/>
          <a:p>
            <a:pPr algn="r">
              <a:defRPr sz="900" b="1">
                <a:solidFill>
                  <a:srgbClr val="EAF2F6"/>
                </a:solidFill>
                <a:latin typeface="Microsoft YaHei"/>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汇报结构</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汇报结构沿报告七个技术章节展开</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115568"/>
            <a:ext cx="10424160" cy="402336"/>
          </a:xfrm>
          <a:prstGeom prst="rect">
            <a:avLst/>
          </a:prstGeom>
          <a:noFill/>
        </p:spPr>
        <p:txBody>
          <a:bodyPr wrap="square">
            <a:noAutofit/>
          </a:bodyPr>
          <a:lstStyle/>
          <a:p>
            <a:r>
              <a:rPr sz="1500" b="0">
                <a:solidFill>
                  <a:srgbClr val="14324A"/>
                </a:solidFill>
                <a:latin typeface="Microsoft YaHei"/>
              </a:rPr>
              <a:t>结构按报告章节推进，先确认</a:t>
            </a:r>
            <a:r>
              <a:rPr sz="1500" b="1">
                <a:solidFill>
                  <a:srgbClr val="0E8F8C"/>
                </a:solidFill>
                <a:latin typeface="Microsoft YaHei"/>
              </a:rPr>
              <a:t>项目概况</a:t>
            </a:r>
            <a:r>
              <a:rPr sz="1500" b="0">
                <a:solidFill>
                  <a:srgbClr val="14324A"/>
                </a:solidFill>
                <a:latin typeface="Microsoft YaHei"/>
              </a:rPr>
              <a:t>与</a:t>
            </a:r>
            <a:r>
              <a:rPr sz="1500" b="1">
                <a:solidFill>
                  <a:srgbClr val="0E8F8C"/>
                </a:solidFill>
                <a:latin typeface="Microsoft YaHei"/>
              </a:rPr>
              <a:t>防治责任</a:t>
            </a:r>
            <a:r>
              <a:rPr sz="1500" b="0">
                <a:solidFill>
                  <a:srgbClr val="14324A"/>
                </a:solidFill>
                <a:latin typeface="Microsoft YaHei"/>
              </a:rPr>
              <a:t>，再核对评价、预测、</a:t>
            </a:r>
            <a:r>
              <a:rPr sz="1500" b="1">
                <a:solidFill>
                  <a:srgbClr val="0E8F8C"/>
                </a:solidFill>
                <a:latin typeface="Microsoft YaHei"/>
              </a:rPr>
              <a:t>措施</a:t>
            </a:r>
            <a:r>
              <a:rPr sz="1500" b="0">
                <a:solidFill>
                  <a:srgbClr val="14324A"/>
                </a:solidFill>
                <a:latin typeface="Microsoft YaHei"/>
              </a:rPr>
              <a:t>、</a:t>
            </a:r>
            <a:r>
              <a:rPr sz="1500" b="1">
                <a:solidFill>
                  <a:srgbClr val="0E8F8C"/>
                </a:solidFill>
                <a:latin typeface="Microsoft YaHei"/>
              </a:rPr>
              <a:t>投资</a:t>
            </a:r>
            <a:r>
              <a:rPr sz="1500" b="0">
                <a:solidFill>
                  <a:srgbClr val="14324A"/>
                </a:solidFill>
                <a:latin typeface="Microsoft YaHei"/>
              </a:rPr>
              <a:t>和</a:t>
            </a:r>
            <a:r>
              <a:rPr sz="1500" b="1">
                <a:solidFill>
                  <a:srgbClr val="0E8F8C"/>
                </a:solidFill>
                <a:latin typeface="Microsoft YaHei"/>
              </a:rPr>
              <a:t>验收管理</a:t>
            </a:r>
            <a:r>
              <a:rPr sz="1500" b="0">
                <a:solidFill>
                  <a:srgbClr val="14324A"/>
                </a:solidFill>
                <a:latin typeface="Microsoft YaHei"/>
              </a:rPr>
              <a:t>，形成可追溯的技术汇报链条。</a:t>
            </a:r>
          </a:p>
        </p:txBody>
      </p:sp>
      <p:sp>
        <p:nvSpPr>
          <p:cNvPr id="8" name="Rectangle 7"/>
          <p:cNvSpPr/>
          <p:nvPr/>
        </p:nvSpPr>
        <p:spPr>
          <a:xfrm>
            <a:off x="658368" y="1773936"/>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947672"/>
            <a:ext cx="411480" cy="164592"/>
          </a:xfrm>
          <a:prstGeom prst="rect">
            <a:avLst/>
          </a:prstGeom>
          <a:noFill/>
        </p:spPr>
        <p:txBody>
          <a:bodyPr wrap="square">
            <a:noAutofit/>
          </a:bodyPr>
          <a:lstStyle/>
          <a:p>
            <a:pPr>
              <a:defRPr sz="1500" b="1">
                <a:solidFill>
                  <a:srgbClr val="0E8F8C"/>
                </a:solidFill>
                <a:latin typeface="Microsoft YaHei"/>
              </a:defRPr>
            </a:pPr>
            <a:r>
              <a:t>01</a:t>
            </a:r>
          </a:p>
        </p:txBody>
      </p:sp>
      <p:sp>
        <p:nvSpPr>
          <p:cNvPr id="10" name="TextBox 9"/>
          <p:cNvSpPr txBox="1"/>
          <p:nvPr/>
        </p:nvSpPr>
        <p:spPr>
          <a:xfrm>
            <a:off x="1371600" y="1901952"/>
            <a:ext cx="4297680" cy="219456"/>
          </a:xfrm>
          <a:prstGeom prst="rect">
            <a:avLst/>
          </a:prstGeom>
          <a:noFill/>
        </p:spPr>
        <p:txBody>
          <a:bodyPr wrap="square">
            <a:noAutofit/>
          </a:bodyPr>
          <a:lstStyle/>
          <a:p>
            <a:r>
              <a:rPr sz="1500" b="1">
                <a:solidFill>
                  <a:srgbClr val="14324A"/>
                </a:solidFill>
                <a:latin typeface="Microsoft YaHei"/>
              </a:rPr>
              <a:t>综合说明与审批依据。</a:t>
            </a:r>
          </a:p>
        </p:txBody>
      </p:sp>
      <p:sp>
        <p:nvSpPr>
          <p:cNvPr id="11" name="Rectangle 10"/>
          <p:cNvSpPr/>
          <p:nvPr/>
        </p:nvSpPr>
        <p:spPr>
          <a:xfrm>
            <a:off x="658368" y="2651760"/>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825496"/>
            <a:ext cx="411480" cy="164592"/>
          </a:xfrm>
          <a:prstGeom prst="rect">
            <a:avLst/>
          </a:prstGeom>
          <a:noFill/>
        </p:spPr>
        <p:txBody>
          <a:bodyPr wrap="square">
            <a:noAutofit/>
          </a:bodyPr>
          <a:lstStyle/>
          <a:p>
            <a:pPr>
              <a:defRPr sz="1500" b="1">
                <a:solidFill>
                  <a:srgbClr val="0E8F8C"/>
                </a:solidFill>
                <a:latin typeface="Microsoft YaHei"/>
              </a:defRPr>
            </a:pPr>
            <a:r>
              <a:t>02</a:t>
            </a:r>
          </a:p>
        </p:txBody>
      </p:sp>
      <p:sp>
        <p:nvSpPr>
          <p:cNvPr id="13" name="TextBox 12"/>
          <p:cNvSpPr txBox="1"/>
          <p:nvPr/>
        </p:nvSpPr>
        <p:spPr>
          <a:xfrm>
            <a:off x="1371600" y="2779776"/>
            <a:ext cx="4297680" cy="219456"/>
          </a:xfrm>
          <a:prstGeom prst="rect">
            <a:avLst/>
          </a:prstGeom>
          <a:noFill/>
        </p:spPr>
        <p:txBody>
          <a:bodyPr wrap="square">
            <a:noAutofit/>
          </a:bodyPr>
          <a:lstStyle/>
          <a:p>
            <a:r>
              <a:rPr sz="1500" b="1">
                <a:solidFill>
                  <a:srgbClr val="14324A"/>
                </a:solidFill>
                <a:latin typeface="Microsoft YaHei"/>
              </a:rPr>
              <a:t>项目概况与工程布置。</a:t>
            </a:r>
          </a:p>
        </p:txBody>
      </p:sp>
      <p:sp>
        <p:nvSpPr>
          <p:cNvPr id="14" name="Rectangle 13"/>
          <p:cNvSpPr/>
          <p:nvPr/>
        </p:nvSpPr>
        <p:spPr>
          <a:xfrm>
            <a:off x="658368" y="3529584"/>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703320"/>
            <a:ext cx="411480" cy="164592"/>
          </a:xfrm>
          <a:prstGeom prst="rect">
            <a:avLst/>
          </a:prstGeom>
          <a:noFill/>
        </p:spPr>
        <p:txBody>
          <a:bodyPr wrap="square">
            <a:noAutofit/>
          </a:bodyPr>
          <a:lstStyle/>
          <a:p>
            <a:pPr>
              <a:defRPr sz="1500" b="1">
                <a:solidFill>
                  <a:srgbClr val="0E8F8C"/>
                </a:solidFill>
                <a:latin typeface="Microsoft YaHei"/>
              </a:defRPr>
            </a:pPr>
            <a:r>
              <a:t>03</a:t>
            </a:r>
          </a:p>
        </p:txBody>
      </p:sp>
      <p:sp>
        <p:nvSpPr>
          <p:cNvPr id="16" name="TextBox 15"/>
          <p:cNvSpPr txBox="1"/>
          <p:nvPr/>
        </p:nvSpPr>
        <p:spPr>
          <a:xfrm>
            <a:off x="1371600" y="3657600"/>
            <a:ext cx="4297680" cy="219456"/>
          </a:xfrm>
          <a:prstGeom prst="rect">
            <a:avLst/>
          </a:prstGeom>
          <a:noFill/>
        </p:spPr>
        <p:txBody>
          <a:bodyPr wrap="square">
            <a:noAutofit/>
          </a:bodyPr>
          <a:lstStyle/>
          <a:p>
            <a:r>
              <a:rPr sz="1500" b="1">
                <a:solidFill>
                  <a:srgbClr val="14324A"/>
                </a:solidFill>
                <a:latin typeface="Microsoft YaHei"/>
              </a:rPr>
              <a:t>防治</a:t>
            </a:r>
            <a:r>
              <a:rPr sz="1500" b="1">
                <a:solidFill>
                  <a:srgbClr val="0E8F8C"/>
                </a:solidFill>
                <a:latin typeface="Microsoft YaHei"/>
              </a:rPr>
              <a:t>责任</a:t>
            </a:r>
            <a:r>
              <a:rPr sz="1500" b="1">
                <a:solidFill>
                  <a:srgbClr val="14324A"/>
                </a:solidFill>
                <a:latin typeface="Microsoft YaHei"/>
              </a:rPr>
              <a:t>范围与标准目标。</a:t>
            </a:r>
          </a:p>
        </p:txBody>
      </p:sp>
      <p:sp>
        <p:nvSpPr>
          <p:cNvPr id="17" name="Rectangle 16"/>
          <p:cNvSpPr/>
          <p:nvPr/>
        </p:nvSpPr>
        <p:spPr>
          <a:xfrm>
            <a:off x="658368" y="4407408"/>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581144"/>
            <a:ext cx="411480" cy="164592"/>
          </a:xfrm>
          <a:prstGeom prst="rect">
            <a:avLst/>
          </a:prstGeom>
          <a:noFill/>
        </p:spPr>
        <p:txBody>
          <a:bodyPr wrap="square">
            <a:noAutofit/>
          </a:bodyPr>
          <a:lstStyle/>
          <a:p>
            <a:pPr>
              <a:defRPr sz="1500" b="1">
                <a:solidFill>
                  <a:srgbClr val="0E8F8C"/>
                </a:solidFill>
                <a:latin typeface="Microsoft YaHei"/>
              </a:defRPr>
            </a:pPr>
            <a:r>
              <a:t>04</a:t>
            </a:r>
          </a:p>
        </p:txBody>
      </p:sp>
      <p:sp>
        <p:nvSpPr>
          <p:cNvPr id="19" name="TextBox 18"/>
          <p:cNvSpPr txBox="1"/>
          <p:nvPr/>
        </p:nvSpPr>
        <p:spPr>
          <a:xfrm>
            <a:off x="1371600" y="4535424"/>
            <a:ext cx="4297680" cy="219456"/>
          </a:xfrm>
          <a:prstGeom prst="rect">
            <a:avLst/>
          </a:prstGeom>
          <a:noFill/>
        </p:spPr>
        <p:txBody>
          <a:bodyPr wrap="square">
            <a:noAutofit/>
          </a:bodyPr>
          <a:lstStyle/>
          <a:p>
            <a:r>
              <a:rPr sz="1500" b="1">
                <a:solidFill>
                  <a:srgbClr val="0E8F8C"/>
                </a:solidFill>
                <a:latin typeface="Microsoft YaHei"/>
              </a:rPr>
              <a:t>水土保持</a:t>
            </a:r>
            <a:r>
              <a:rPr sz="1500" b="1">
                <a:solidFill>
                  <a:srgbClr val="14324A"/>
                </a:solidFill>
                <a:latin typeface="Microsoft YaHei"/>
              </a:rPr>
              <a:t>评价与土石方。</a:t>
            </a:r>
          </a:p>
        </p:txBody>
      </p:sp>
      <p:sp>
        <p:nvSpPr>
          <p:cNvPr id="20" name="Rectangle 19"/>
          <p:cNvSpPr/>
          <p:nvPr/>
        </p:nvSpPr>
        <p:spPr>
          <a:xfrm>
            <a:off x="6144768" y="1773936"/>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59" y="1947672"/>
            <a:ext cx="411480" cy="164592"/>
          </a:xfrm>
          <a:prstGeom prst="rect">
            <a:avLst/>
          </a:prstGeom>
          <a:noFill/>
        </p:spPr>
        <p:txBody>
          <a:bodyPr wrap="square">
            <a:noAutofit/>
          </a:bodyPr>
          <a:lstStyle/>
          <a:p>
            <a:pPr>
              <a:defRPr sz="1500" b="1">
                <a:solidFill>
                  <a:srgbClr val="0E8F8C"/>
                </a:solidFill>
                <a:latin typeface="Microsoft YaHei"/>
              </a:defRPr>
            </a:pPr>
            <a:r>
              <a:t>05</a:t>
            </a:r>
          </a:p>
        </p:txBody>
      </p:sp>
      <p:sp>
        <p:nvSpPr>
          <p:cNvPr id="22" name="TextBox 21"/>
          <p:cNvSpPr txBox="1"/>
          <p:nvPr/>
        </p:nvSpPr>
        <p:spPr>
          <a:xfrm>
            <a:off x="6858000" y="1901952"/>
            <a:ext cx="4297680" cy="219456"/>
          </a:xfrm>
          <a:prstGeom prst="rect">
            <a:avLst/>
          </a:prstGeom>
          <a:noFill/>
        </p:spPr>
        <p:txBody>
          <a:bodyPr wrap="square">
            <a:noAutofit/>
          </a:bodyPr>
          <a:lstStyle/>
          <a:p>
            <a:r>
              <a:rPr sz="1500" b="1">
                <a:solidFill>
                  <a:srgbClr val="14324A"/>
                </a:solidFill>
                <a:latin typeface="Microsoft YaHei"/>
              </a:rPr>
              <a:t>水土流失分析与预测。</a:t>
            </a:r>
          </a:p>
        </p:txBody>
      </p:sp>
      <p:sp>
        <p:nvSpPr>
          <p:cNvPr id="23" name="Rectangle 22"/>
          <p:cNvSpPr/>
          <p:nvPr/>
        </p:nvSpPr>
        <p:spPr>
          <a:xfrm>
            <a:off x="6144768" y="2651760"/>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59" y="2825496"/>
            <a:ext cx="411480" cy="164592"/>
          </a:xfrm>
          <a:prstGeom prst="rect">
            <a:avLst/>
          </a:prstGeom>
          <a:noFill/>
        </p:spPr>
        <p:txBody>
          <a:bodyPr wrap="square">
            <a:noAutofit/>
          </a:bodyPr>
          <a:lstStyle/>
          <a:p>
            <a:pPr>
              <a:defRPr sz="1500" b="1">
                <a:solidFill>
                  <a:srgbClr val="0E8F8C"/>
                </a:solidFill>
                <a:latin typeface="Microsoft YaHei"/>
              </a:defRPr>
            </a:pPr>
            <a:r>
              <a:t>06</a:t>
            </a:r>
          </a:p>
        </p:txBody>
      </p:sp>
      <p:sp>
        <p:nvSpPr>
          <p:cNvPr id="25" name="TextBox 24"/>
          <p:cNvSpPr txBox="1"/>
          <p:nvPr/>
        </p:nvSpPr>
        <p:spPr>
          <a:xfrm>
            <a:off x="6858000" y="2779776"/>
            <a:ext cx="4297680" cy="219456"/>
          </a:xfrm>
          <a:prstGeom prst="rect">
            <a:avLst/>
          </a:prstGeom>
          <a:noFill/>
        </p:spPr>
        <p:txBody>
          <a:bodyPr wrap="square">
            <a:noAutofit/>
          </a:bodyPr>
          <a:lstStyle/>
          <a:p>
            <a:r>
              <a:rPr sz="1500" b="1">
                <a:solidFill>
                  <a:srgbClr val="0E8F8C"/>
                </a:solidFill>
                <a:latin typeface="Microsoft YaHei"/>
              </a:rPr>
              <a:t>水土保持</a:t>
            </a:r>
            <a:r>
              <a:rPr sz="1500" b="1">
                <a:solidFill>
                  <a:srgbClr val="0E8F8C"/>
                </a:solidFill>
                <a:latin typeface="Microsoft YaHei"/>
              </a:rPr>
              <a:t>措施</a:t>
            </a:r>
            <a:r>
              <a:rPr sz="1500" b="1">
                <a:solidFill>
                  <a:srgbClr val="14324A"/>
                </a:solidFill>
                <a:latin typeface="Microsoft YaHei"/>
              </a:rPr>
              <a:t>与施工安排。</a:t>
            </a:r>
          </a:p>
        </p:txBody>
      </p:sp>
      <p:sp>
        <p:nvSpPr>
          <p:cNvPr id="26" name="Rectangle 25"/>
          <p:cNvSpPr/>
          <p:nvPr/>
        </p:nvSpPr>
        <p:spPr>
          <a:xfrm>
            <a:off x="6144768" y="3529584"/>
            <a:ext cx="5212080" cy="676656"/>
          </a:xfrm>
          <a:prstGeom prst="rect">
            <a:avLst/>
          </a:prstGeom>
          <a:solidFill>
            <a:srgbClr val="FFFFFF"/>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3703320"/>
            <a:ext cx="411480" cy="164592"/>
          </a:xfrm>
          <a:prstGeom prst="rect">
            <a:avLst/>
          </a:prstGeom>
          <a:noFill/>
        </p:spPr>
        <p:txBody>
          <a:bodyPr wrap="square">
            <a:noAutofit/>
          </a:bodyPr>
          <a:lstStyle/>
          <a:p>
            <a:pPr>
              <a:defRPr sz="1500" b="1">
                <a:solidFill>
                  <a:srgbClr val="0E8F8C"/>
                </a:solidFill>
                <a:latin typeface="Microsoft YaHei"/>
              </a:defRPr>
            </a:pPr>
            <a:r>
              <a:t>07</a:t>
            </a:r>
          </a:p>
        </p:txBody>
      </p:sp>
      <p:sp>
        <p:nvSpPr>
          <p:cNvPr id="28" name="TextBox 27"/>
          <p:cNvSpPr txBox="1"/>
          <p:nvPr/>
        </p:nvSpPr>
        <p:spPr>
          <a:xfrm>
            <a:off x="6858000" y="3657600"/>
            <a:ext cx="4297680" cy="219456"/>
          </a:xfrm>
          <a:prstGeom prst="rect">
            <a:avLst/>
          </a:prstGeom>
          <a:noFill/>
        </p:spPr>
        <p:txBody>
          <a:bodyPr wrap="square">
            <a:noAutofit/>
          </a:bodyPr>
          <a:lstStyle/>
          <a:p>
            <a:r>
              <a:rPr sz="1500" b="1">
                <a:solidFill>
                  <a:srgbClr val="0E8F8C"/>
                </a:solidFill>
                <a:latin typeface="Microsoft YaHei"/>
              </a:rPr>
              <a:t>投资</a:t>
            </a:r>
            <a:r>
              <a:rPr sz="1500" b="1">
                <a:solidFill>
                  <a:srgbClr val="14324A"/>
                </a:solidFill>
                <a:latin typeface="Microsoft YaHei"/>
              </a:rPr>
              <a:t>概算、效益与管理</a:t>
            </a:r>
            <a:r>
              <a:rPr sz="1500" b="1">
                <a:solidFill>
                  <a:srgbClr val="0E8F8C"/>
                </a:solidFill>
                <a:latin typeface="Microsoft YaHei"/>
              </a:rPr>
              <a:t>验收</a:t>
            </a:r>
            <a:r>
              <a:rPr sz="1500" b="1">
                <a:solidFill>
                  <a:srgbClr val="14324A"/>
                </a:solidFill>
                <a:latin typeface="Microsoft YaHei"/>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00</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项目总览</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全局控制指标先行说明项目范围、预测结果、措施投资和验收闭环。</a:t>
            </a:r>
          </a:p>
        </p:txBody>
      </p:sp>
      <p:sp>
        <p:nvSpPr>
          <p:cNvPr id="7" name="TextBox 6"/>
          <p:cNvSpPr txBox="1"/>
          <p:nvPr/>
        </p:nvSpPr>
        <p:spPr>
          <a:xfrm>
            <a:off x="950976" y="3054096"/>
            <a:ext cx="8595360" cy="530352"/>
          </a:xfrm>
          <a:prstGeom prst="rect">
            <a:avLst/>
          </a:prstGeom>
          <a:noFill/>
        </p:spPr>
        <p:txBody>
          <a:bodyPr wrap="square">
            <a:noAutofit/>
          </a:bodyPr>
          <a:lstStyle/>
          <a:p>
            <a:r>
              <a:rPr sz="1600" b="0">
                <a:solidFill>
                  <a:srgbClr val="14324A"/>
                </a:solidFill>
                <a:latin typeface="Microsoft YaHei"/>
              </a:rPr>
              <a:t>章节内容保留报告中的</a:t>
            </a:r>
            <a:r>
              <a:rPr sz="1600" b="1">
                <a:solidFill>
                  <a:srgbClr val="0E8F8C"/>
                </a:solidFill>
                <a:latin typeface="Microsoft YaHei"/>
              </a:rPr>
              <a:t>源表</a:t>
            </a:r>
            <a:r>
              <a:rPr sz="1600" b="0">
                <a:solidFill>
                  <a:srgbClr val="14324A"/>
                </a:solidFill>
                <a:latin typeface="Microsoft YaHei"/>
              </a:rPr>
              <a:t>、</a:t>
            </a:r>
            <a:r>
              <a:rPr sz="1600" b="1">
                <a:solidFill>
                  <a:srgbClr val="0E8F8C"/>
                </a:solidFill>
                <a:latin typeface="Microsoft YaHei"/>
              </a:rPr>
              <a:t>控制值</a:t>
            </a:r>
            <a:r>
              <a:rPr sz="1600" b="0">
                <a:solidFill>
                  <a:srgbClr val="14324A"/>
                </a:solidFill>
                <a:latin typeface="Microsoft YaHei"/>
              </a:rPr>
              <a:t>和工程关系，并把</a:t>
            </a:r>
            <a:r>
              <a:rPr sz="1600" b="1">
                <a:solidFill>
                  <a:srgbClr val="0E8F8C"/>
                </a:solidFill>
                <a:latin typeface="Microsoft YaHei"/>
              </a:rPr>
              <a:t>范围</a:t>
            </a:r>
            <a:r>
              <a:rPr sz="1600" b="0">
                <a:solidFill>
                  <a:srgbClr val="14324A"/>
                </a:solidFill>
                <a:latin typeface="Microsoft YaHei"/>
              </a:rPr>
              <a:t>、</a:t>
            </a:r>
            <a:r>
              <a:rPr sz="1600" b="1">
                <a:solidFill>
                  <a:srgbClr val="0E8F8C"/>
                </a:solidFill>
                <a:latin typeface="Microsoft YaHei"/>
              </a:rPr>
              <a:t>目标</a:t>
            </a:r>
            <a:r>
              <a:rPr sz="1600" b="0">
                <a:solidFill>
                  <a:srgbClr val="14324A"/>
                </a:solidFill>
                <a:latin typeface="Microsoft YaHei"/>
              </a:rPr>
              <a:t>、</a:t>
            </a:r>
            <a:r>
              <a:rPr sz="1600" b="1">
                <a:solidFill>
                  <a:srgbClr val="0E8F8C"/>
                </a:solidFill>
                <a:latin typeface="Microsoft YaHei"/>
              </a:rPr>
              <a:t>措施</a:t>
            </a:r>
            <a:r>
              <a:rPr sz="1600" b="0">
                <a:solidFill>
                  <a:srgbClr val="14324A"/>
                </a:solidFill>
                <a:latin typeface="Microsoft YaHei"/>
              </a:rPr>
              <a:t>、</a:t>
            </a:r>
            <a:r>
              <a:rPr sz="1600" b="1">
                <a:solidFill>
                  <a:srgbClr val="0E8F8C"/>
                </a:solidFill>
                <a:latin typeface="Microsoft YaHei"/>
              </a:rPr>
              <a:t>投资</a:t>
            </a:r>
            <a:r>
              <a:rPr sz="1600" b="0">
                <a:solidFill>
                  <a:srgbClr val="14324A"/>
                </a:solidFill>
                <a:latin typeface="Microsoft YaHei"/>
              </a:rPr>
              <a:t>、</a:t>
            </a:r>
            <a:r>
              <a:rPr sz="1600" b="1">
                <a:solidFill>
                  <a:srgbClr val="0E8F8C"/>
                </a:solidFill>
                <a:latin typeface="Microsoft YaHei"/>
              </a:rPr>
              <a:t>验收</a:t>
            </a:r>
            <a:r>
              <a:rPr sz="1600" b="0">
                <a:solidFill>
                  <a:srgbClr val="14324A"/>
                </a:solidFill>
                <a:latin typeface="Microsoft YaHei"/>
              </a:rPr>
              <a:t>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r>
              <a:rPr sz="1500" b="0">
                <a:solidFill>
                  <a:srgbClr val="607385"/>
                </a:solidFill>
                <a:latin typeface="Microsoft YaHei"/>
              </a:rPr>
              <a:t>后续页面以该章节证据为核心，展示</a:t>
            </a:r>
            <a:r>
              <a:rPr sz="1500" b="1">
                <a:solidFill>
                  <a:srgbClr val="0E8F8C"/>
                </a:solidFill>
                <a:latin typeface="Microsoft YaHei"/>
              </a:rPr>
              <a:t>原始表格</a:t>
            </a:r>
            <a:r>
              <a:rPr sz="1500" b="0">
                <a:solidFill>
                  <a:srgbClr val="607385"/>
                </a:solidFill>
                <a:latin typeface="Microsoft YaHei"/>
              </a:rPr>
              <a:t>、</a:t>
            </a:r>
            <a:r>
              <a:rPr sz="1500" b="1">
                <a:solidFill>
                  <a:srgbClr val="0E8F8C"/>
                </a:solidFill>
                <a:latin typeface="Microsoft YaHei"/>
              </a:rPr>
              <a:t>计算参数</a:t>
            </a:r>
            <a:r>
              <a:rPr sz="1500" b="0">
                <a:solidFill>
                  <a:srgbClr val="607385"/>
                </a:solidFill>
                <a:latin typeface="Microsoft YaHei"/>
              </a:rPr>
              <a:t>或</a:t>
            </a:r>
            <a:r>
              <a:rPr sz="1500" b="1">
                <a:solidFill>
                  <a:srgbClr val="0E8F8C"/>
                </a:solidFill>
                <a:latin typeface="Microsoft YaHei"/>
              </a:rPr>
              <a:t>报告结论</a:t>
            </a:r>
            <a:r>
              <a:rPr sz="1500" b="0">
                <a:solidFill>
                  <a:srgbClr val="607385"/>
                </a:solidFill>
                <a:latin typeface="Microsoft YaHei"/>
              </a:rPr>
              <a:t>，保持技术过程和结论之间的对应关系。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项目总览</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项目范围、预测结果、</a:t>
            </a:r>
            <a:r>
              <a:rPr sz="2300" b="1">
                <a:solidFill>
                  <a:srgbClr val="0E8F8C"/>
                </a:solidFill>
                <a:latin typeface="Microsoft YaHei"/>
              </a:rPr>
              <a:t>措施</a:t>
            </a:r>
            <a:r>
              <a:rPr sz="2300" b="1">
                <a:solidFill>
                  <a:srgbClr val="14324A"/>
                </a:solidFill>
                <a:latin typeface="Microsoft YaHei"/>
              </a:rPr>
              <a:t>投资和</a:t>
            </a:r>
            <a:r>
              <a:rPr sz="2300" b="1">
                <a:solidFill>
                  <a:srgbClr val="0E8F8C"/>
                </a:solidFill>
                <a:latin typeface="Microsoft YaHei"/>
              </a:rPr>
              <a:t>验收管理</a:t>
            </a:r>
            <a:r>
              <a:rPr sz="2300" b="1">
                <a:solidFill>
                  <a:srgbClr val="14324A"/>
                </a:solidFill>
                <a:latin typeface="Microsoft YaHei"/>
              </a:rPr>
              <a:t>形成闭环</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9844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39595"/>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61872"/>
            <a:ext cx="4325112" cy="1313687"/>
          </a:xfrm>
          <a:prstGeom prst="rect">
            <a:avLst/>
          </a:prstGeom>
          <a:noFill/>
        </p:spPr>
        <p:txBody>
          <a:bodyPr wrap="square">
            <a:noAutofit/>
          </a:bodyPr>
          <a:lstStyle/>
          <a:p>
            <a:r>
              <a:rPr sz="1520" b="0">
                <a:solidFill>
                  <a:srgbClr val="14324A"/>
                </a:solidFill>
                <a:latin typeface="Microsoft YaHei"/>
              </a:rPr>
              <a:t>项目范围：工程位于黄冈市黄州区城北片区，污水主管网</a:t>
            </a:r>
            <a:r>
              <a:rPr sz="1520" b="1">
                <a:solidFill>
                  <a:srgbClr val="0E8F8C"/>
                </a:solidFill>
                <a:latin typeface="Microsoft YaHei"/>
              </a:rPr>
              <a:t>6.2</a:t>
            </a:r>
            <a:r>
              <a:rPr sz="1520" b="0">
                <a:solidFill>
                  <a:srgbClr val="14324A"/>
                </a:solidFill>
                <a:latin typeface="Microsoft YaHei"/>
              </a:rPr>
              <a:t>公里，预埋支管</a:t>
            </a:r>
            <a:r>
              <a:rPr sz="1520" b="1">
                <a:solidFill>
                  <a:srgbClr val="0E8F8C"/>
                </a:solidFill>
                <a:latin typeface="Microsoft YaHei"/>
              </a:rPr>
              <a:t>2.2</a:t>
            </a:r>
            <a:r>
              <a:rPr sz="1520" b="0">
                <a:solidFill>
                  <a:srgbClr val="14324A"/>
                </a:solidFill>
                <a:latin typeface="Microsoft YaHei"/>
              </a:rPr>
              <a:t>公里。</a:t>
            </a:r>
          </a:p>
        </p:txBody>
      </p:sp>
      <p:sp>
        <p:nvSpPr>
          <p:cNvPr id="10" name="Rectangle 9"/>
          <p:cNvSpPr/>
          <p:nvPr/>
        </p:nvSpPr>
        <p:spPr>
          <a:xfrm>
            <a:off x="658368" y="2657855"/>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699003"/>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621279"/>
            <a:ext cx="4325112" cy="1313687"/>
          </a:xfrm>
          <a:prstGeom prst="rect">
            <a:avLst/>
          </a:prstGeom>
          <a:noFill/>
        </p:spPr>
        <p:txBody>
          <a:bodyPr wrap="square">
            <a:noAutofit/>
          </a:bodyPr>
          <a:lstStyle/>
          <a:p>
            <a:r>
              <a:rPr sz="1520" b="0">
                <a:solidFill>
                  <a:srgbClr val="14324A"/>
                </a:solidFill>
                <a:latin typeface="Microsoft YaHei"/>
              </a:rPr>
              <a:t>预测结果：预测土壤流失总量</a:t>
            </a:r>
            <a:r>
              <a:rPr sz="1520" b="1">
                <a:solidFill>
                  <a:srgbClr val="0E8F8C"/>
                </a:solidFill>
                <a:latin typeface="Microsoft YaHei"/>
              </a:rPr>
              <a:t>104.05t</a:t>
            </a:r>
            <a:r>
              <a:rPr sz="1520" b="0">
                <a:solidFill>
                  <a:srgbClr val="14324A"/>
                </a:solidFill>
                <a:latin typeface="Microsoft YaHei"/>
              </a:rPr>
              <a:t>，新增土壤流失量</a:t>
            </a:r>
            <a:r>
              <a:rPr sz="1520" b="1">
                <a:solidFill>
                  <a:srgbClr val="0E8F8C"/>
                </a:solidFill>
                <a:latin typeface="Microsoft YaHei"/>
              </a:rPr>
              <a:t>94.92t</a:t>
            </a:r>
            <a:r>
              <a:rPr sz="1520" b="0">
                <a:solidFill>
                  <a:srgbClr val="14324A"/>
                </a:solidFill>
                <a:latin typeface="Microsoft YaHei"/>
              </a:rPr>
              <a:t>。</a:t>
            </a:r>
          </a:p>
        </p:txBody>
      </p:sp>
      <p:sp>
        <p:nvSpPr>
          <p:cNvPr id="13" name="Rectangle 12"/>
          <p:cNvSpPr/>
          <p:nvPr/>
        </p:nvSpPr>
        <p:spPr>
          <a:xfrm>
            <a:off x="658368" y="40172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0584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3980688"/>
            <a:ext cx="4325112" cy="1313687"/>
          </a:xfrm>
          <a:prstGeom prst="rect">
            <a:avLst/>
          </a:prstGeom>
          <a:noFill/>
        </p:spPr>
        <p:txBody>
          <a:bodyPr wrap="square">
            <a:noAutofit/>
          </a:bodyPr>
          <a:lstStyle/>
          <a:p>
            <a:r>
              <a:rPr sz="1520" b="0">
                <a:solidFill>
                  <a:srgbClr val="14324A"/>
                </a:solidFill>
                <a:latin typeface="Microsoft YaHei"/>
              </a:rPr>
              <a:t>管理闭环：水土保持总投资</a:t>
            </a:r>
            <a:r>
              <a:rPr sz="1520" b="1">
                <a:solidFill>
                  <a:srgbClr val="0E8F8C"/>
                </a:solidFill>
                <a:latin typeface="Microsoft YaHei"/>
              </a:rPr>
              <a:t>26.9211万元</a:t>
            </a:r>
            <a:r>
              <a:rPr sz="1520" b="0">
                <a:solidFill>
                  <a:srgbClr val="14324A"/>
                </a:solidFill>
                <a:latin typeface="Microsoft YaHei"/>
              </a:rPr>
              <a:t>，六项效益指标达到报告</a:t>
            </a:r>
            <a:r>
              <a:rPr sz="1520" b="1">
                <a:solidFill>
                  <a:srgbClr val="0E8F8C"/>
                </a:solidFill>
                <a:latin typeface="Microsoft YaHei"/>
              </a:rPr>
              <a:t>目标</a:t>
            </a:r>
            <a:r>
              <a:rPr sz="1520" b="0">
                <a:solidFill>
                  <a:srgbClr val="14324A"/>
                </a:solidFill>
                <a:latin typeface="Microsoft YaHei"/>
              </a:rPr>
              <a:t>值。</a:t>
            </a:r>
          </a:p>
        </p:txBody>
      </p:sp>
      <p:sp>
        <p:nvSpPr>
          <p:cNvPr id="16" name="TextBox 15"/>
          <p:cNvSpPr txBox="1"/>
          <p:nvPr/>
        </p:nvSpPr>
        <p:spPr>
          <a:xfrm>
            <a:off x="5650992" y="1280160"/>
            <a:ext cx="5559552" cy="256032"/>
          </a:xfrm>
          <a:prstGeom prst="rect">
            <a:avLst/>
          </a:prstGeom>
          <a:noFill/>
        </p:spPr>
        <p:txBody>
          <a:bodyPr wrap="none">
            <a:spAutoFit/>
          </a:bodyPr>
          <a:lstStyle/>
          <a:p>
            <a:pPr>
              <a:defRPr sz="1400" b="1">
                <a:solidFill>
                  <a:srgbClr val="14324A"/>
                </a:solidFill>
                <a:latin typeface="Microsoft YaHei"/>
              </a:defRPr>
            </a:pPr>
            <a:r>
              <a:t>T004</a:t>
            </a:r>
          </a:p>
        </p:txBody>
      </p:sp>
      <p:pic>
        <p:nvPicPr>
          <p:cNvPr id="17" name="Picture 16" descr="T-004.png"/>
          <p:cNvPicPr>
            <a:picLocks noChangeAspect="1"/>
          </p:cNvPicPr>
          <p:nvPr/>
        </p:nvPicPr>
        <p:blipFill>
          <a:blip r:embed="rId2"/>
          <a:stretch>
            <a:fillRect/>
          </a:stretch>
        </p:blipFill>
        <p:spPr>
          <a:xfrm>
            <a:off x="7900398" y="1591056"/>
            <a:ext cx="1060739" cy="1078991"/>
          </a:xfrm>
          <a:prstGeom prst="rect">
            <a:avLst/>
          </a:prstGeom>
        </p:spPr>
      </p:pic>
      <p:sp>
        <p:nvSpPr>
          <p:cNvPr id="18" name="TextBox 17"/>
          <p:cNvSpPr txBox="1"/>
          <p:nvPr/>
        </p:nvSpPr>
        <p:spPr>
          <a:xfrm>
            <a:off x="5650992" y="2834639"/>
            <a:ext cx="5559552" cy="256032"/>
          </a:xfrm>
          <a:prstGeom prst="rect">
            <a:avLst/>
          </a:prstGeom>
          <a:noFill/>
        </p:spPr>
        <p:txBody>
          <a:bodyPr wrap="none">
            <a:spAutoFit/>
          </a:bodyPr>
          <a:lstStyle/>
          <a:p>
            <a:pPr>
              <a:defRPr sz="1400" b="1">
                <a:solidFill>
                  <a:srgbClr val="14324A"/>
                </a:solidFill>
                <a:latin typeface="Microsoft YaHei"/>
              </a:defRPr>
            </a:pPr>
            <a:r>
              <a:t>T034</a:t>
            </a:r>
          </a:p>
        </p:txBody>
      </p:sp>
      <p:pic>
        <p:nvPicPr>
          <p:cNvPr id="19" name="Picture 18" descr="T-034.png"/>
          <p:cNvPicPr>
            <a:picLocks noChangeAspect="1"/>
          </p:cNvPicPr>
          <p:nvPr/>
        </p:nvPicPr>
        <p:blipFill>
          <a:blip r:embed="rId3"/>
          <a:stretch>
            <a:fillRect/>
          </a:stretch>
        </p:blipFill>
        <p:spPr>
          <a:xfrm>
            <a:off x="5650992" y="3343877"/>
            <a:ext cx="5559552" cy="682308"/>
          </a:xfrm>
          <a:prstGeom prst="rect">
            <a:avLst/>
          </a:prstGeom>
        </p:spPr>
      </p:pic>
      <p:sp>
        <p:nvSpPr>
          <p:cNvPr id="20" name="TextBox 19"/>
          <p:cNvSpPr txBox="1"/>
          <p:nvPr/>
        </p:nvSpPr>
        <p:spPr>
          <a:xfrm>
            <a:off x="5650992" y="4389119"/>
            <a:ext cx="5559552" cy="256032"/>
          </a:xfrm>
          <a:prstGeom prst="rect">
            <a:avLst/>
          </a:prstGeom>
          <a:noFill/>
        </p:spPr>
        <p:txBody>
          <a:bodyPr wrap="none">
            <a:spAutoFit/>
          </a:bodyPr>
          <a:lstStyle/>
          <a:p>
            <a:pPr>
              <a:defRPr sz="1400" b="1">
                <a:solidFill>
                  <a:srgbClr val="14324A"/>
                </a:solidFill>
                <a:latin typeface="Microsoft YaHei"/>
              </a:defRPr>
            </a:pPr>
            <a:r>
              <a:t>T040</a:t>
            </a:r>
          </a:p>
        </p:txBody>
      </p:sp>
      <p:pic>
        <p:nvPicPr>
          <p:cNvPr id="21" name="Picture 20" descr="T-040.png"/>
          <p:cNvPicPr>
            <a:picLocks noChangeAspect="1"/>
          </p:cNvPicPr>
          <p:nvPr/>
        </p:nvPicPr>
        <p:blipFill>
          <a:blip r:embed="rId4"/>
          <a:stretch>
            <a:fillRect/>
          </a:stretch>
        </p:blipFill>
        <p:spPr>
          <a:xfrm>
            <a:off x="7631051" y="4700015"/>
            <a:ext cx="1599432" cy="107899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01</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综合说明与审批依据</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综合表和批复附件共同限定方案范围。</a:t>
            </a:r>
          </a:p>
        </p:txBody>
      </p:sp>
      <p:sp>
        <p:nvSpPr>
          <p:cNvPr id="7" name="TextBox 6"/>
          <p:cNvSpPr txBox="1"/>
          <p:nvPr/>
        </p:nvSpPr>
        <p:spPr>
          <a:xfrm>
            <a:off x="950976" y="3054096"/>
            <a:ext cx="8595360" cy="530352"/>
          </a:xfrm>
          <a:prstGeom prst="rect">
            <a:avLst/>
          </a:prstGeom>
          <a:noFill/>
        </p:spPr>
        <p:txBody>
          <a:bodyPr wrap="square">
            <a:noAutofit/>
          </a:bodyPr>
          <a:lstStyle/>
          <a:p>
            <a:r>
              <a:rPr sz="1600" b="0">
                <a:solidFill>
                  <a:srgbClr val="14324A"/>
                </a:solidFill>
                <a:latin typeface="Microsoft YaHei"/>
              </a:rPr>
              <a:t>章节内容保留报告中的</a:t>
            </a:r>
            <a:r>
              <a:rPr sz="1600" b="1">
                <a:solidFill>
                  <a:srgbClr val="0E8F8C"/>
                </a:solidFill>
                <a:latin typeface="Microsoft YaHei"/>
              </a:rPr>
              <a:t>源表</a:t>
            </a:r>
            <a:r>
              <a:rPr sz="1600" b="0">
                <a:solidFill>
                  <a:srgbClr val="14324A"/>
                </a:solidFill>
                <a:latin typeface="Microsoft YaHei"/>
              </a:rPr>
              <a:t>、</a:t>
            </a:r>
            <a:r>
              <a:rPr sz="1600" b="1">
                <a:solidFill>
                  <a:srgbClr val="0E8F8C"/>
                </a:solidFill>
                <a:latin typeface="Microsoft YaHei"/>
              </a:rPr>
              <a:t>控制值</a:t>
            </a:r>
            <a:r>
              <a:rPr sz="1600" b="0">
                <a:solidFill>
                  <a:srgbClr val="14324A"/>
                </a:solidFill>
                <a:latin typeface="Microsoft YaHei"/>
              </a:rPr>
              <a:t>和工程关系，并把</a:t>
            </a:r>
            <a:r>
              <a:rPr sz="1600" b="1">
                <a:solidFill>
                  <a:srgbClr val="0E8F8C"/>
                </a:solidFill>
                <a:latin typeface="Microsoft YaHei"/>
              </a:rPr>
              <a:t>范围</a:t>
            </a:r>
            <a:r>
              <a:rPr sz="1600" b="0">
                <a:solidFill>
                  <a:srgbClr val="14324A"/>
                </a:solidFill>
                <a:latin typeface="Microsoft YaHei"/>
              </a:rPr>
              <a:t>、</a:t>
            </a:r>
            <a:r>
              <a:rPr sz="1600" b="1">
                <a:solidFill>
                  <a:srgbClr val="0E8F8C"/>
                </a:solidFill>
                <a:latin typeface="Microsoft YaHei"/>
              </a:rPr>
              <a:t>目标</a:t>
            </a:r>
            <a:r>
              <a:rPr sz="1600" b="0">
                <a:solidFill>
                  <a:srgbClr val="14324A"/>
                </a:solidFill>
                <a:latin typeface="Microsoft YaHei"/>
              </a:rPr>
              <a:t>、</a:t>
            </a:r>
            <a:r>
              <a:rPr sz="1600" b="1">
                <a:solidFill>
                  <a:srgbClr val="0E8F8C"/>
                </a:solidFill>
                <a:latin typeface="Microsoft YaHei"/>
              </a:rPr>
              <a:t>措施</a:t>
            </a:r>
            <a:r>
              <a:rPr sz="1600" b="0">
                <a:solidFill>
                  <a:srgbClr val="14324A"/>
                </a:solidFill>
                <a:latin typeface="Microsoft YaHei"/>
              </a:rPr>
              <a:t>、</a:t>
            </a:r>
            <a:r>
              <a:rPr sz="1600" b="1">
                <a:solidFill>
                  <a:srgbClr val="0E8F8C"/>
                </a:solidFill>
                <a:latin typeface="Microsoft YaHei"/>
              </a:rPr>
              <a:t>投资</a:t>
            </a:r>
            <a:r>
              <a:rPr sz="1600" b="0">
                <a:solidFill>
                  <a:srgbClr val="14324A"/>
                </a:solidFill>
                <a:latin typeface="Microsoft YaHei"/>
              </a:rPr>
              <a:t>、</a:t>
            </a:r>
            <a:r>
              <a:rPr sz="1600" b="1">
                <a:solidFill>
                  <a:srgbClr val="0E8F8C"/>
                </a:solidFill>
                <a:latin typeface="Microsoft YaHei"/>
              </a:rPr>
              <a:t>验收</a:t>
            </a:r>
            <a:r>
              <a:rPr sz="1600" b="0">
                <a:solidFill>
                  <a:srgbClr val="14324A"/>
                </a:solidFill>
                <a:latin typeface="Microsoft YaHei"/>
              </a:rPr>
              <a:t>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r>
              <a:rPr sz="1500" b="0">
                <a:solidFill>
                  <a:srgbClr val="607385"/>
                </a:solidFill>
                <a:latin typeface="Microsoft YaHei"/>
              </a:rPr>
              <a:t>后续页面以该章节证据为核心，展示</a:t>
            </a:r>
            <a:r>
              <a:rPr sz="1500" b="1">
                <a:solidFill>
                  <a:srgbClr val="0E8F8C"/>
                </a:solidFill>
                <a:latin typeface="Microsoft YaHei"/>
              </a:rPr>
              <a:t>原始表格</a:t>
            </a:r>
            <a:r>
              <a:rPr sz="1500" b="0">
                <a:solidFill>
                  <a:srgbClr val="607385"/>
                </a:solidFill>
                <a:latin typeface="Microsoft YaHei"/>
              </a:rPr>
              <a:t>、</a:t>
            </a:r>
            <a:r>
              <a:rPr sz="1500" b="1">
                <a:solidFill>
                  <a:srgbClr val="0E8F8C"/>
                </a:solidFill>
                <a:latin typeface="Microsoft YaHei"/>
              </a:rPr>
              <a:t>计算参数</a:t>
            </a:r>
            <a:r>
              <a:rPr sz="1500" b="0">
                <a:solidFill>
                  <a:srgbClr val="607385"/>
                </a:solidFill>
                <a:latin typeface="Microsoft YaHei"/>
              </a:rPr>
              <a:t>或</a:t>
            </a:r>
            <a:r>
              <a:rPr sz="1500" b="1">
                <a:solidFill>
                  <a:srgbClr val="0E8F8C"/>
                </a:solidFill>
                <a:latin typeface="Microsoft YaHei"/>
              </a:rPr>
              <a:t>报告结论</a:t>
            </a:r>
            <a:r>
              <a:rPr sz="1500" b="0">
                <a:solidFill>
                  <a:srgbClr val="607385"/>
                </a:solidFill>
                <a:latin typeface="Microsoft YaHei"/>
              </a:rPr>
              <a:t>，保持技术过程和结论之间的对应关系。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综合说明与审批依据</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综合报告表明确项目全局控制指标</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建设内容：东坡大道片区改造污水主管网</a:t>
            </a:r>
            <a:r>
              <a:rPr sz="1420" b="1">
                <a:solidFill>
                  <a:srgbClr val="0E8F8C"/>
                </a:solidFill>
                <a:latin typeface="Microsoft YaHei"/>
              </a:rPr>
              <a:t>6.2</a:t>
            </a:r>
            <a:r>
              <a:rPr sz="1420" b="0">
                <a:solidFill>
                  <a:srgbClr val="14324A"/>
                </a:solidFill>
                <a:latin typeface="Microsoft YaHei"/>
              </a:rPr>
              <a:t>公里，沿线预埋支管</a:t>
            </a:r>
            <a:r>
              <a:rPr sz="1420" b="1">
                <a:solidFill>
                  <a:srgbClr val="0E8F8C"/>
                </a:solidFill>
                <a:latin typeface="Microsoft YaHei"/>
              </a:rPr>
              <a:t>2.2</a:t>
            </a:r>
            <a:r>
              <a:rPr sz="1420" b="0">
                <a:solidFill>
                  <a:srgbClr val="14324A"/>
                </a:solidFill>
                <a:latin typeface="Microsoft YaHei"/>
              </a:rPr>
              <a:t>公里。</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1">
                <a:solidFill>
                  <a:srgbClr val="0E8F8C"/>
                </a:solidFill>
                <a:latin typeface="Microsoft YaHei"/>
              </a:rPr>
              <a:t>责任</a:t>
            </a:r>
            <a:r>
              <a:rPr sz="1420" b="0">
                <a:solidFill>
                  <a:srgbClr val="14324A"/>
                </a:solidFill>
                <a:latin typeface="Microsoft YaHei"/>
              </a:rPr>
              <a:t>范围：</a:t>
            </a:r>
            <a:r>
              <a:rPr sz="1420" b="1">
                <a:solidFill>
                  <a:srgbClr val="0E8F8C"/>
                </a:solidFill>
                <a:latin typeface="Microsoft YaHei"/>
              </a:rPr>
              <a:t>防治责任范围</a:t>
            </a:r>
            <a:r>
              <a:rPr sz="1420" b="0">
                <a:solidFill>
                  <a:srgbClr val="14324A"/>
                </a:solidFill>
                <a:latin typeface="Microsoft YaHei"/>
              </a:rPr>
              <a:t>为</a:t>
            </a:r>
            <a:r>
              <a:rPr sz="1420" b="1">
                <a:solidFill>
                  <a:srgbClr val="0E8F8C"/>
                </a:solidFill>
                <a:latin typeface="Microsoft YaHei"/>
              </a:rPr>
              <a:t>34416.00m</a:t>
            </a:r>
            <a:r>
              <a:rPr sz="1420" b="0">
                <a:solidFill>
                  <a:srgbClr val="14324A"/>
                </a:solidFill>
                <a:latin typeface="Microsoft YaHei"/>
              </a:rPr>
              <a:t>²，均按管网工程区纳入。</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投资口径：水土保持总投资</a:t>
            </a:r>
            <a:r>
              <a:rPr sz="1420" b="1">
                <a:solidFill>
                  <a:srgbClr val="0E8F8C"/>
                </a:solidFill>
                <a:latin typeface="Microsoft YaHei"/>
              </a:rPr>
              <a:t>26.9211万元</a:t>
            </a:r>
            <a:r>
              <a:rPr sz="1420" b="0">
                <a:solidFill>
                  <a:srgbClr val="14324A"/>
                </a:solidFill>
                <a:latin typeface="Microsoft YaHei"/>
              </a:rPr>
              <a:t>，主体已列和方案新增分项计列。</a:t>
            </a:r>
          </a:p>
        </p:txBody>
      </p:sp>
      <p:sp>
        <p:nvSpPr>
          <p:cNvPr id="16" name="TextBox 15"/>
          <p:cNvSpPr txBox="1"/>
          <p:nvPr/>
        </p:nvSpPr>
        <p:spPr>
          <a:xfrm>
            <a:off x="658368" y="2157984"/>
            <a:ext cx="10698480" cy="256032"/>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658368" y="2560320"/>
            <a:ext cx="10735056" cy="256032"/>
          </a:xfrm>
          <a:prstGeom prst="rect">
            <a:avLst/>
          </a:prstGeom>
          <a:noFill/>
        </p:spPr>
        <p:txBody>
          <a:bodyPr wrap="none">
            <a:spAutoFit/>
          </a:bodyPr>
          <a:lstStyle/>
          <a:p>
            <a:pPr>
              <a:defRPr sz="1400" b="1">
                <a:solidFill>
                  <a:srgbClr val="14324A"/>
                </a:solidFill>
                <a:latin typeface="Microsoft YaHei"/>
              </a:defRPr>
            </a:pPr>
            <a:r>
              <a:t>T004</a:t>
            </a:r>
          </a:p>
        </p:txBody>
      </p:sp>
      <p:pic>
        <p:nvPicPr>
          <p:cNvPr id="18" name="Picture 17" descr="T-004.png"/>
          <p:cNvPicPr>
            <a:picLocks noChangeAspect="1"/>
          </p:cNvPicPr>
          <p:nvPr/>
        </p:nvPicPr>
        <p:blipFill>
          <a:blip r:embed="rId2"/>
          <a:stretch>
            <a:fillRect/>
          </a:stretch>
        </p:blipFill>
        <p:spPr>
          <a:xfrm>
            <a:off x="4335903" y="2871215"/>
            <a:ext cx="3379984" cy="343814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02</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项目概况与工程布置</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工程规模、占地、工期和施工组织决定扰动来源。</a:t>
            </a:r>
          </a:p>
        </p:txBody>
      </p:sp>
      <p:sp>
        <p:nvSpPr>
          <p:cNvPr id="7" name="TextBox 6"/>
          <p:cNvSpPr txBox="1"/>
          <p:nvPr/>
        </p:nvSpPr>
        <p:spPr>
          <a:xfrm>
            <a:off x="950976" y="3054096"/>
            <a:ext cx="8595360" cy="530352"/>
          </a:xfrm>
          <a:prstGeom prst="rect">
            <a:avLst/>
          </a:prstGeom>
          <a:noFill/>
        </p:spPr>
        <p:txBody>
          <a:bodyPr wrap="square">
            <a:noAutofit/>
          </a:bodyPr>
          <a:lstStyle/>
          <a:p>
            <a:r>
              <a:rPr sz="1600" b="0">
                <a:solidFill>
                  <a:srgbClr val="14324A"/>
                </a:solidFill>
                <a:latin typeface="Microsoft YaHei"/>
              </a:rPr>
              <a:t>章节内容保留报告中的</a:t>
            </a:r>
            <a:r>
              <a:rPr sz="1600" b="1">
                <a:solidFill>
                  <a:srgbClr val="0E8F8C"/>
                </a:solidFill>
                <a:latin typeface="Microsoft YaHei"/>
              </a:rPr>
              <a:t>源表</a:t>
            </a:r>
            <a:r>
              <a:rPr sz="1600" b="0">
                <a:solidFill>
                  <a:srgbClr val="14324A"/>
                </a:solidFill>
                <a:latin typeface="Microsoft YaHei"/>
              </a:rPr>
              <a:t>、</a:t>
            </a:r>
            <a:r>
              <a:rPr sz="1600" b="1">
                <a:solidFill>
                  <a:srgbClr val="0E8F8C"/>
                </a:solidFill>
                <a:latin typeface="Microsoft YaHei"/>
              </a:rPr>
              <a:t>控制值</a:t>
            </a:r>
            <a:r>
              <a:rPr sz="1600" b="0">
                <a:solidFill>
                  <a:srgbClr val="14324A"/>
                </a:solidFill>
                <a:latin typeface="Microsoft YaHei"/>
              </a:rPr>
              <a:t>和工程关系，并把</a:t>
            </a:r>
            <a:r>
              <a:rPr sz="1600" b="1">
                <a:solidFill>
                  <a:srgbClr val="0E8F8C"/>
                </a:solidFill>
                <a:latin typeface="Microsoft YaHei"/>
              </a:rPr>
              <a:t>范围</a:t>
            </a:r>
            <a:r>
              <a:rPr sz="1600" b="0">
                <a:solidFill>
                  <a:srgbClr val="14324A"/>
                </a:solidFill>
                <a:latin typeface="Microsoft YaHei"/>
              </a:rPr>
              <a:t>、</a:t>
            </a:r>
            <a:r>
              <a:rPr sz="1600" b="1">
                <a:solidFill>
                  <a:srgbClr val="0E8F8C"/>
                </a:solidFill>
                <a:latin typeface="Microsoft YaHei"/>
              </a:rPr>
              <a:t>目标</a:t>
            </a:r>
            <a:r>
              <a:rPr sz="1600" b="0">
                <a:solidFill>
                  <a:srgbClr val="14324A"/>
                </a:solidFill>
                <a:latin typeface="Microsoft YaHei"/>
              </a:rPr>
              <a:t>、</a:t>
            </a:r>
            <a:r>
              <a:rPr sz="1600" b="1">
                <a:solidFill>
                  <a:srgbClr val="0E8F8C"/>
                </a:solidFill>
                <a:latin typeface="Microsoft YaHei"/>
              </a:rPr>
              <a:t>措施</a:t>
            </a:r>
            <a:r>
              <a:rPr sz="1600" b="0">
                <a:solidFill>
                  <a:srgbClr val="14324A"/>
                </a:solidFill>
                <a:latin typeface="Microsoft YaHei"/>
              </a:rPr>
              <a:t>、</a:t>
            </a:r>
            <a:r>
              <a:rPr sz="1600" b="1">
                <a:solidFill>
                  <a:srgbClr val="0E8F8C"/>
                </a:solidFill>
                <a:latin typeface="Microsoft YaHei"/>
              </a:rPr>
              <a:t>投资</a:t>
            </a:r>
            <a:r>
              <a:rPr sz="1600" b="0">
                <a:solidFill>
                  <a:srgbClr val="14324A"/>
                </a:solidFill>
                <a:latin typeface="Microsoft YaHei"/>
              </a:rPr>
              <a:t>、</a:t>
            </a:r>
            <a:r>
              <a:rPr sz="1600" b="1">
                <a:solidFill>
                  <a:srgbClr val="0E8F8C"/>
                </a:solidFill>
                <a:latin typeface="Microsoft YaHei"/>
              </a:rPr>
              <a:t>验收</a:t>
            </a:r>
            <a:r>
              <a:rPr sz="1600" b="0">
                <a:solidFill>
                  <a:srgbClr val="14324A"/>
                </a:solidFill>
                <a:latin typeface="Microsoft YaHei"/>
              </a:rPr>
              <a:t>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r>
              <a:rPr sz="1500" b="0">
                <a:solidFill>
                  <a:srgbClr val="607385"/>
                </a:solidFill>
                <a:latin typeface="Microsoft YaHei"/>
              </a:rPr>
              <a:t>后续页面以该章节证据为核心，展示</a:t>
            </a:r>
            <a:r>
              <a:rPr sz="1500" b="1">
                <a:solidFill>
                  <a:srgbClr val="0E8F8C"/>
                </a:solidFill>
                <a:latin typeface="Microsoft YaHei"/>
              </a:rPr>
              <a:t>原始表格</a:t>
            </a:r>
            <a:r>
              <a:rPr sz="1500" b="0">
                <a:solidFill>
                  <a:srgbClr val="607385"/>
                </a:solidFill>
                <a:latin typeface="Microsoft YaHei"/>
              </a:rPr>
              <a:t>、</a:t>
            </a:r>
            <a:r>
              <a:rPr sz="1500" b="1">
                <a:solidFill>
                  <a:srgbClr val="0E8F8C"/>
                </a:solidFill>
                <a:latin typeface="Microsoft YaHei"/>
              </a:rPr>
              <a:t>计算参数</a:t>
            </a:r>
            <a:r>
              <a:rPr sz="1500" b="0">
                <a:solidFill>
                  <a:srgbClr val="607385"/>
                </a:solidFill>
                <a:latin typeface="Microsoft YaHei"/>
              </a:rPr>
              <a:t>或</a:t>
            </a:r>
            <a:r>
              <a:rPr sz="1500" b="1">
                <a:solidFill>
                  <a:srgbClr val="0E8F8C"/>
                </a:solidFill>
                <a:latin typeface="Microsoft YaHei"/>
              </a:rPr>
              <a:t>报告结论</a:t>
            </a:r>
            <a:r>
              <a:rPr sz="1500" b="0">
                <a:solidFill>
                  <a:srgbClr val="607385"/>
                </a:solidFill>
                <a:latin typeface="Microsoft YaHei"/>
              </a:rPr>
              <a:t>，保持技术过程和结论之间的对应关系。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项目概况与工程布置</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工程特性表锁定规模、投资、工期和占地</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08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pPr>
              <a:defRPr sz="1450" b="0">
                <a:solidFill>
                  <a:srgbClr val="14324A"/>
                </a:solidFill>
                <a:latin typeface="Microsoft YaHei"/>
              </a:defRPr>
            </a:pPr>
            <a:r>
              <a:t>工程性质：项目为新建污水收集管网工程，建设地点为黄冈市黄州区。</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投资工期：总投资</a:t>
            </a:r>
            <a:r>
              <a:rPr sz="1450" b="1">
                <a:solidFill>
                  <a:srgbClr val="0E8F8C"/>
                </a:solidFill>
                <a:latin typeface="Microsoft YaHei"/>
              </a:rPr>
              <a:t>8024.00万元</a:t>
            </a:r>
            <a:r>
              <a:rPr sz="1450" b="0">
                <a:solidFill>
                  <a:srgbClr val="14324A"/>
                </a:solidFill>
                <a:latin typeface="Microsoft YaHei"/>
              </a:rPr>
              <a:t>，土建投资</a:t>
            </a:r>
            <a:r>
              <a:rPr sz="1450" b="1">
                <a:solidFill>
                  <a:srgbClr val="0E8F8C"/>
                </a:solidFill>
                <a:latin typeface="Microsoft YaHei"/>
              </a:rPr>
              <a:t>6914.95万元</a:t>
            </a:r>
            <a:r>
              <a:rPr sz="1450" b="0">
                <a:solidFill>
                  <a:srgbClr val="14324A"/>
                </a:solidFill>
                <a:latin typeface="Microsoft YaHei"/>
              </a:rPr>
              <a:t>，建设期为</a:t>
            </a:r>
            <a:r>
              <a:rPr sz="1450" b="1">
                <a:solidFill>
                  <a:srgbClr val="0E8F8C"/>
                </a:solidFill>
                <a:latin typeface="Microsoft YaHei"/>
              </a:rPr>
              <a:t>13</a:t>
            </a:r>
            <a:r>
              <a:rPr sz="1450" b="0">
                <a:solidFill>
                  <a:srgbClr val="14324A"/>
                </a:solidFill>
                <a:latin typeface="Microsoft YaHei"/>
              </a:rPr>
              <a:t>个月。</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占地构成：总占地</a:t>
            </a:r>
            <a:r>
              <a:rPr sz="1450" b="1">
                <a:solidFill>
                  <a:srgbClr val="0E8F8C"/>
                </a:solidFill>
                <a:latin typeface="Microsoft YaHei"/>
              </a:rPr>
              <a:t>3.44hm²</a:t>
            </a:r>
            <a:r>
              <a:rPr sz="1450" b="0">
                <a:solidFill>
                  <a:srgbClr val="14324A"/>
                </a:solidFill>
                <a:latin typeface="Microsoft YaHei"/>
              </a:rPr>
              <a:t>，报告按临时占地组织水土保持设计。</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T008</a:t>
            </a:r>
          </a:p>
        </p:txBody>
      </p:sp>
      <p:pic>
        <p:nvPicPr>
          <p:cNvPr id="18" name="Picture 17" descr="T-008.png"/>
          <p:cNvPicPr>
            <a:picLocks noChangeAspect="1"/>
          </p:cNvPicPr>
          <p:nvPr/>
        </p:nvPicPr>
        <p:blipFill>
          <a:blip r:embed="rId2"/>
          <a:stretch>
            <a:fillRect/>
          </a:stretch>
        </p:blipFill>
        <p:spPr>
          <a:xfrm>
            <a:off x="4956048" y="2141366"/>
            <a:ext cx="6327648" cy="353538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03</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防治责任范围与标准目标</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责任范围和一级标准构成后续措施评价基准。</a:t>
            </a:r>
          </a:p>
        </p:txBody>
      </p:sp>
      <p:sp>
        <p:nvSpPr>
          <p:cNvPr id="7" name="TextBox 6"/>
          <p:cNvSpPr txBox="1"/>
          <p:nvPr/>
        </p:nvSpPr>
        <p:spPr>
          <a:xfrm>
            <a:off x="950976" y="3054096"/>
            <a:ext cx="8595360" cy="530352"/>
          </a:xfrm>
          <a:prstGeom prst="rect">
            <a:avLst/>
          </a:prstGeom>
          <a:noFill/>
        </p:spPr>
        <p:txBody>
          <a:bodyPr wrap="square">
            <a:noAutofit/>
          </a:bodyPr>
          <a:lstStyle/>
          <a:p>
            <a:r>
              <a:rPr sz="1600" b="0">
                <a:solidFill>
                  <a:srgbClr val="14324A"/>
                </a:solidFill>
                <a:latin typeface="Microsoft YaHei"/>
              </a:rPr>
              <a:t>章节内容保留报告中的</a:t>
            </a:r>
            <a:r>
              <a:rPr sz="1600" b="1">
                <a:solidFill>
                  <a:srgbClr val="0E8F8C"/>
                </a:solidFill>
                <a:latin typeface="Microsoft YaHei"/>
              </a:rPr>
              <a:t>源表</a:t>
            </a:r>
            <a:r>
              <a:rPr sz="1600" b="0">
                <a:solidFill>
                  <a:srgbClr val="14324A"/>
                </a:solidFill>
                <a:latin typeface="Microsoft YaHei"/>
              </a:rPr>
              <a:t>、</a:t>
            </a:r>
            <a:r>
              <a:rPr sz="1600" b="1">
                <a:solidFill>
                  <a:srgbClr val="0E8F8C"/>
                </a:solidFill>
                <a:latin typeface="Microsoft YaHei"/>
              </a:rPr>
              <a:t>控制值</a:t>
            </a:r>
            <a:r>
              <a:rPr sz="1600" b="0">
                <a:solidFill>
                  <a:srgbClr val="14324A"/>
                </a:solidFill>
                <a:latin typeface="Microsoft YaHei"/>
              </a:rPr>
              <a:t>和工程关系，并把</a:t>
            </a:r>
            <a:r>
              <a:rPr sz="1600" b="1">
                <a:solidFill>
                  <a:srgbClr val="0E8F8C"/>
                </a:solidFill>
                <a:latin typeface="Microsoft YaHei"/>
              </a:rPr>
              <a:t>范围</a:t>
            </a:r>
            <a:r>
              <a:rPr sz="1600" b="0">
                <a:solidFill>
                  <a:srgbClr val="14324A"/>
                </a:solidFill>
                <a:latin typeface="Microsoft YaHei"/>
              </a:rPr>
              <a:t>、</a:t>
            </a:r>
            <a:r>
              <a:rPr sz="1600" b="1">
                <a:solidFill>
                  <a:srgbClr val="0E8F8C"/>
                </a:solidFill>
                <a:latin typeface="Microsoft YaHei"/>
              </a:rPr>
              <a:t>目标</a:t>
            </a:r>
            <a:r>
              <a:rPr sz="1600" b="0">
                <a:solidFill>
                  <a:srgbClr val="14324A"/>
                </a:solidFill>
                <a:latin typeface="Microsoft YaHei"/>
              </a:rPr>
              <a:t>、</a:t>
            </a:r>
            <a:r>
              <a:rPr sz="1600" b="1">
                <a:solidFill>
                  <a:srgbClr val="0E8F8C"/>
                </a:solidFill>
                <a:latin typeface="Microsoft YaHei"/>
              </a:rPr>
              <a:t>措施</a:t>
            </a:r>
            <a:r>
              <a:rPr sz="1600" b="0">
                <a:solidFill>
                  <a:srgbClr val="14324A"/>
                </a:solidFill>
                <a:latin typeface="Microsoft YaHei"/>
              </a:rPr>
              <a:t>、</a:t>
            </a:r>
            <a:r>
              <a:rPr sz="1600" b="1">
                <a:solidFill>
                  <a:srgbClr val="0E8F8C"/>
                </a:solidFill>
                <a:latin typeface="Microsoft YaHei"/>
              </a:rPr>
              <a:t>投资</a:t>
            </a:r>
            <a:r>
              <a:rPr sz="1600" b="0">
                <a:solidFill>
                  <a:srgbClr val="14324A"/>
                </a:solidFill>
                <a:latin typeface="Microsoft YaHei"/>
              </a:rPr>
              <a:t>、</a:t>
            </a:r>
            <a:r>
              <a:rPr sz="1600" b="1">
                <a:solidFill>
                  <a:srgbClr val="0E8F8C"/>
                </a:solidFill>
                <a:latin typeface="Microsoft YaHei"/>
              </a:rPr>
              <a:t>验收</a:t>
            </a:r>
            <a:r>
              <a:rPr sz="1600" b="0">
                <a:solidFill>
                  <a:srgbClr val="14324A"/>
                </a:solidFill>
                <a:latin typeface="Microsoft YaHei"/>
              </a:rPr>
              <a:t>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r>
              <a:rPr sz="1500" b="0">
                <a:solidFill>
                  <a:srgbClr val="607385"/>
                </a:solidFill>
                <a:latin typeface="Microsoft YaHei"/>
              </a:rPr>
              <a:t>后续页面以该章节证据为核心，展示</a:t>
            </a:r>
            <a:r>
              <a:rPr sz="1500" b="1">
                <a:solidFill>
                  <a:srgbClr val="0E8F8C"/>
                </a:solidFill>
                <a:latin typeface="Microsoft YaHei"/>
              </a:rPr>
              <a:t>原始表格</a:t>
            </a:r>
            <a:r>
              <a:rPr sz="1500" b="0">
                <a:solidFill>
                  <a:srgbClr val="607385"/>
                </a:solidFill>
                <a:latin typeface="Microsoft YaHei"/>
              </a:rPr>
              <a:t>、</a:t>
            </a:r>
            <a:r>
              <a:rPr sz="1500" b="1">
                <a:solidFill>
                  <a:srgbClr val="0E8F8C"/>
                </a:solidFill>
                <a:latin typeface="Microsoft YaHei"/>
              </a:rPr>
              <a:t>计算参数</a:t>
            </a:r>
            <a:r>
              <a:rPr sz="1500" b="0">
                <a:solidFill>
                  <a:srgbClr val="607385"/>
                </a:solidFill>
                <a:latin typeface="Microsoft YaHei"/>
              </a:rPr>
              <a:t>或</a:t>
            </a:r>
            <a:r>
              <a:rPr sz="1500" b="1">
                <a:solidFill>
                  <a:srgbClr val="0E8F8C"/>
                </a:solidFill>
                <a:latin typeface="Microsoft YaHei"/>
              </a:rPr>
              <a:t>报告结论</a:t>
            </a:r>
            <a:r>
              <a:rPr sz="1500" b="0">
                <a:solidFill>
                  <a:srgbClr val="607385"/>
                </a:solidFill>
                <a:latin typeface="Microsoft YaHei"/>
              </a:rPr>
              <a:t>，保持技术过程和结论之间的对应关系。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防治责任范围与标准目标</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防治责任范围</a:t>
            </a:r>
            <a:r>
              <a:rPr sz="2300" b="1">
                <a:solidFill>
                  <a:srgbClr val="14324A"/>
                </a:solidFill>
                <a:latin typeface="Microsoft YaHei"/>
              </a:rPr>
              <a:t>全部纳入管网工程区临时占地</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r>
              <a:rPr sz="1450" b="0">
                <a:solidFill>
                  <a:srgbClr val="14324A"/>
                </a:solidFill>
                <a:latin typeface="Microsoft YaHei"/>
              </a:rPr>
              <a:t>范围口径：管网工程区</a:t>
            </a:r>
            <a:r>
              <a:rPr sz="1450" b="1">
                <a:solidFill>
                  <a:srgbClr val="0E8F8C"/>
                </a:solidFill>
                <a:latin typeface="Microsoft YaHei"/>
              </a:rPr>
              <a:t>防治责任范围</a:t>
            </a:r>
            <a:r>
              <a:rPr sz="1450" b="0">
                <a:solidFill>
                  <a:srgbClr val="14324A"/>
                </a:solidFill>
                <a:latin typeface="Microsoft YaHei"/>
              </a:rPr>
              <a:t>为</a:t>
            </a:r>
            <a:r>
              <a:rPr sz="1450" b="1">
                <a:solidFill>
                  <a:srgbClr val="0E8F8C"/>
                </a:solidFill>
                <a:latin typeface="Microsoft YaHei"/>
              </a:rPr>
              <a:t>34416.00m</a:t>
            </a:r>
            <a:r>
              <a:rPr sz="1450" b="0">
                <a:solidFill>
                  <a:srgbClr val="14324A"/>
                </a:solidFill>
                <a:latin typeface="Microsoft YaHei"/>
              </a:rPr>
              <a:t>²。</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用地类型：城镇村道路用地</a:t>
            </a:r>
            <a:r>
              <a:rPr sz="1450" b="1">
                <a:solidFill>
                  <a:srgbClr val="0E8F8C"/>
                </a:solidFill>
                <a:latin typeface="Microsoft YaHei"/>
              </a:rPr>
              <a:t>34151.00m</a:t>
            </a:r>
            <a:r>
              <a:rPr sz="1450" b="0">
                <a:solidFill>
                  <a:srgbClr val="14324A"/>
                </a:solidFill>
                <a:latin typeface="Microsoft YaHei"/>
              </a:rPr>
              <a:t>²，公园与绿地</a:t>
            </a:r>
            <a:r>
              <a:rPr sz="1450" b="1">
                <a:solidFill>
                  <a:srgbClr val="0E8F8C"/>
                </a:solidFill>
                <a:latin typeface="Microsoft YaHei"/>
              </a:rPr>
              <a:t>265.00m</a:t>
            </a:r>
            <a:r>
              <a:rPr sz="1450" b="0">
                <a:solidFill>
                  <a:srgbClr val="14324A"/>
                </a:solidFill>
                <a:latin typeface="Microsoft YaHei"/>
              </a:rPr>
              <a:t>²。</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占地属性：报告表中永久占地为空，</a:t>
            </a:r>
            <a:r>
              <a:rPr sz="1450" b="1">
                <a:solidFill>
                  <a:srgbClr val="0E8F8C"/>
                </a:solidFill>
                <a:latin typeface="Microsoft YaHei"/>
              </a:rPr>
              <a:t>责任</a:t>
            </a:r>
            <a:r>
              <a:rPr sz="1450" b="0">
                <a:solidFill>
                  <a:srgbClr val="14324A"/>
                </a:solidFill>
                <a:latin typeface="Microsoft YaHei"/>
              </a:rPr>
              <a:t>范围按临时占地纳入。</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T006</a:t>
            </a:r>
          </a:p>
        </p:txBody>
      </p:sp>
      <p:pic>
        <p:nvPicPr>
          <p:cNvPr id="18" name="Picture 17" descr="T-006.png"/>
          <p:cNvPicPr>
            <a:picLocks noChangeAspect="1"/>
          </p:cNvPicPr>
          <p:nvPr/>
        </p:nvPicPr>
        <p:blipFill>
          <a:blip r:embed="rId2"/>
          <a:stretch>
            <a:fillRect/>
          </a:stretch>
        </p:blipFill>
        <p:spPr>
          <a:xfrm>
            <a:off x="4956048" y="2065015"/>
            <a:ext cx="6327648" cy="1114053"/>
          </a:xfrm>
          <a:prstGeom prst="rect">
            <a:avLst/>
          </a:prstGeom>
        </p:spPr>
      </p:pic>
      <p:sp>
        <p:nvSpPr>
          <p:cNvPr id="19" name="TextBox 18"/>
          <p:cNvSpPr txBox="1"/>
          <p:nvPr/>
        </p:nvSpPr>
        <p:spPr>
          <a:xfrm>
            <a:off x="4956048" y="3835908"/>
            <a:ext cx="6327648" cy="256032"/>
          </a:xfrm>
          <a:prstGeom prst="rect">
            <a:avLst/>
          </a:prstGeom>
          <a:noFill/>
        </p:spPr>
        <p:txBody>
          <a:bodyPr wrap="none">
            <a:spAutoFit/>
          </a:bodyPr>
          <a:lstStyle/>
          <a:p>
            <a:pPr>
              <a:defRPr sz="1400" b="1">
                <a:solidFill>
                  <a:srgbClr val="14324A"/>
                </a:solidFill>
                <a:latin typeface="Microsoft YaHei"/>
              </a:defRPr>
            </a:pPr>
            <a:r>
              <a:t>T013</a:t>
            </a:r>
          </a:p>
        </p:txBody>
      </p:sp>
      <p:pic>
        <p:nvPicPr>
          <p:cNvPr id="20" name="Picture 19" descr="T-013.png"/>
          <p:cNvPicPr>
            <a:picLocks noChangeAspect="1"/>
          </p:cNvPicPr>
          <p:nvPr/>
        </p:nvPicPr>
        <p:blipFill>
          <a:blip r:embed="rId3"/>
          <a:stretch>
            <a:fillRect/>
          </a:stretch>
        </p:blipFill>
        <p:spPr>
          <a:xfrm>
            <a:off x="4956048" y="4637496"/>
            <a:ext cx="6327648" cy="111716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防治责任范围与标准目标</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六项防治指标采用南方红壤区一级标准</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11</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标准等级：项目执行南方红壤区建设类项目一级防治标准。</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治理</a:t>
            </a:r>
            <a:r>
              <a:rPr sz="1420" b="1">
                <a:solidFill>
                  <a:srgbClr val="0E8F8C"/>
                </a:solidFill>
                <a:latin typeface="Microsoft YaHei"/>
              </a:rPr>
              <a:t>目标</a:t>
            </a:r>
            <a:r>
              <a:rPr sz="1420" b="0">
                <a:solidFill>
                  <a:srgbClr val="14324A"/>
                </a:solidFill>
                <a:latin typeface="Microsoft YaHei"/>
              </a:rPr>
              <a:t>：</a:t>
            </a:r>
            <a:r>
              <a:rPr sz="1420" b="1">
                <a:solidFill>
                  <a:srgbClr val="0E8F8C"/>
                </a:solidFill>
                <a:latin typeface="Microsoft YaHei"/>
              </a:rPr>
              <a:t>水土流失</a:t>
            </a:r>
            <a:r>
              <a:rPr sz="1420" b="0">
                <a:solidFill>
                  <a:srgbClr val="14324A"/>
                </a:solidFill>
                <a:latin typeface="Microsoft YaHei"/>
              </a:rPr>
              <a:t>治理度设计水平年</a:t>
            </a:r>
            <a:r>
              <a:rPr sz="1420" b="1">
                <a:solidFill>
                  <a:srgbClr val="0E8F8C"/>
                </a:solidFill>
                <a:latin typeface="Microsoft YaHei"/>
              </a:rPr>
              <a:t>目标</a:t>
            </a:r>
            <a:r>
              <a:rPr sz="1420" b="0">
                <a:solidFill>
                  <a:srgbClr val="14324A"/>
                </a:solidFill>
                <a:latin typeface="Microsoft YaHei"/>
              </a:rPr>
              <a:t>为</a:t>
            </a:r>
            <a:r>
              <a:rPr sz="1420" b="1">
                <a:solidFill>
                  <a:srgbClr val="0E8F8C"/>
                </a:solidFill>
                <a:latin typeface="Microsoft YaHei"/>
              </a:rPr>
              <a:t>98%</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控制</a:t>
            </a:r>
            <a:r>
              <a:rPr sz="1420" b="1">
                <a:solidFill>
                  <a:srgbClr val="0E8F8C"/>
                </a:solidFill>
                <a:latin typeface="Microsoft YaHei"/>
              </a:rPr>
              <a:t>目标</a:t>
            </a:r>
            <a:r>
              <a:rPr sz="1420" b="0">
                <a:solidFill>
                  <a:srgbClr val="14324A"/>
                </a:solidFill>
                <a:latin typeface="Microsoft YaHei"/>
              </a:rPr>
              <a:t>：土壤流失控制比修正后设计水平年</a:t>
            </a:r>
            <a:r>
              <a:rPr sz="1420" b="1">
                <a:solidFill>
                  <a:srgbClr val="0E8F8C"/>
                </a:solidFill>
                <a:latin typeface="Microsoft YaHei"/>
              </a:rPr>
              <a:t>目标</a:t>
            </a:r>
            <a:r>
              <a:rPr sz="1420" b="0">
                <a:solidFill>
                  <a:srgbClr val="14324A"/>
                </a:solidFill>
                <a:latin typeface="Microsoft YaHei"/>
              </a:rPr>
              <a:t>为</a:t>
            </a:r>
            <a:r>
              <a:rPr sz="1420" b="1">
                <a:solidFill>
                  <a:srgbClr val="0E8F8C"/>
                </a:solidFill>
                <a:latin typeface="Microsoft YaHei"/>
              </a:rPr>
              <a:t>1.0</a:t>
            </a:r>
          </a:p>
        </p:txBody>
      </p:sp>
      <p:sp>
        <p:nvSpPr>
          <p:cNvPr id="16" name="TextBox 15"/>
          <p:cNvSpPr txBox="1"/>
          <p:nvPr/>
        </p:nvSpPr>
        <p:spPr>
          <a:xfrm>
            <a:off x="658368" y="2157984"/>
            <a:ext cx="10698480" cy="256032"/>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658368" y="2560320"/>
            <a:ext cx="10735056" cy="256032"/>
          </a:xfrm>
          <a:prstGeom prst="rect">
            <a:avLst/>
          </a:prstGeom>
          <a:noFill/>
        </p:spPr>
        <p:txBody>
          <a:bodyPr wrap="none">
            <a:spAutoFit/>
          </a:bodyPr>
          <a:lstStyle/>
          <a:p>
            <a:pPr>
              <a:defRPr sz="1400" b="1">
                <a:solidFill>
                  <a:srgbClr val="14324A"/>
                </a:solidFill>
                <a:latin typeface="Microsoft YaHei"/>
              </a:defRPr>
            </a:pPr>
            <a:r>
              <a:t>T007</a:t>
            </a:r>
          </a:p>
        </p:txBody>
      </p:sp>
      <p:pic>
        <p:nvPicPr>
          <p:cNvPr id="18" name="Picture 17" descr="T-007.png"/>
          <p:cNvPicPr>
            <a:picLocks noChangeAspect="1"/>
          </p:cNvPicPr>
          <p:nvPr/>
        </p:nvPicPr>
        <p:blipFill>
          <a:blip r:embed="rId2"/>
          <a:stretch>
            <a:fillRect/>
          </a:stretch>
        </p:blipFill>
        <p:spPr>
          <a:xfrm>
            <a:off x="658368" y="2892928"/>
            <a:ext cx="10735056" cy="339471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项目概况与工程布置</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表土剥离</a:t>
            </a:r>
            <a:r>
              <a:rPr sz="2300" b="1">
                <a:solidFill>
                  <a:srgbClr val="14324A"/>
                </a:solidFill>
                <a:latin typeface="Microsoft YaHei"/>
              </a:rPr>
              <a:t>量按公园与绿地扰动面积计列</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12</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r>
              <a:rPr sz="1450" b="0">
                <a:solidFill>
                  <a:srgbClr val="14324A"/>
                </a:solidFill>
                <a:latin typeface="Microsoft YaHei"/>
              </a:rPr>
              <a:t>剥离对象：</a:t>
            </a:r>
            <a:r>
              <a:rPr sz="1450" b="1">
                <a:solidFill>
                  <a:srgbClr val="0E8F8C"/>
                </a:solidFill>
                <a:latin typeface="Microsoft YaHei"/>
              </a:rPr>
              <a:t>表土剥离</a:t>
            </a:r>
            <a:r>
              <a:rPr sz="1450" b="0">
                <a:solidFill>
                  <a:srgbClr val="14324A"/>
                </a:solidFill>
                <a:latin typeface="Microsoft YaHei"/>
              </a:rPr>
              <a:t>面积为</a:t>
            </a:r>
            <a:r>
              <a:rPr sz="1450" b="1">
                <a:solidFill>
                  <a:srgbClr val="0E8F8C"/>
                </a:solidFill>
                <a:latin typeface="Microsoft YaHei"/>
              </a:rPr>
              <a:t>265.00m</a:t>
            </a:r>
            <a:r>
              <a:rPr sz="1450" b="0">
                <a:solidFill>
                  <a:srgbClr val="14324A"/>
                </a:solidFill>
                <a:latin typeface="Microsoft YaHei"/>
              </a:rPr>
              <a:t>²，对应公园与绿地扰动区域。</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剥离参数：表土层厚度</a:t>
            </a:r>
            <a:r>
              <a:rPr sz="1450" b="1">
                <a:solidFill>
                  <a:srgbClr val="0E8F8C"/>
                </a:solidFill>
                <a:latin typeface="Microsoft YaHei"/>
              </a:rPr>
              <a:t>0.3m</a:t>
            </a:r>
            <a:r>
              <a:rPr sz="1450" b="0">
                <a:solidFill>
                  <a:srgbClr val="14324A"/>
                </a:solidFill>
                <a:latin typeface="Microsoft YaHei"/>
              </a:rPr>
              <a:t>，剥离厚度</a:t>
            </a:r>
            <a:r>
              <a:rPr sz="1450" b="1">
                <a:solidFill>
                  <a:srgbClr val="0E8F8C"/>
                </a:solidFill>
                <a:latin typeface="Microsoft YaHei"/>
              </a:rPr>
              <a:t>0.3m</a:t>
            </a:r>
            <a:r>
              <a:rPr sz="1450" b="0">
                <a:solidFill>
                  <a:srgbClr val="14324A"/>
                </a:solidFill>
                <a:latin typeface="Microsoft YaHei"/>
              </a:rPr>
              <a:t>。</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利用途径：</a:t>
            </a:r>
            <a:r>
              <a:rPr sz="1450" b="1">
                <a:solidFill>
                  <a:srgbClr val="0E8F8C"/>
                </a:solidFill>
                <a:latin typeface="Microsoft YaHei"/>
              </a:rPr>
              <a:t>表土剥离</a:t>
            </a:r>
            <a:r>
              <a:rPr sz="1450" b="0">
                <a:solidFill>
                  <a:srgbClr val="14324A"/>
                </a:solidFill>
                <a:latin typeface="Microsoft YaHei"/>
              </a:rPr>
              <a:t>量</a:t>
            </a:r>
            <a:r>
              <a:rPr sz="1450" b="1">
                <a:solidFill>
                  <a:srgbClr val="0E8F8C"/>
                </a:solidFill>
                <a:latin typeface="Microsoft YaHei"/>
              </a:rPr>
              <a:t>79.5m³</a:t>
            </a:r>
            <a:r>
              <a:rPr sz="1450" b="0">
                <a:solidFill>
                  <a:srgbClr val="14324A"/>
                </a:solidFill>
                <a:latin typeface="Microsoft YaHei"/>
              </a:rPr>
              <a:t>，后续用于管网工程区绿化覆土。</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T014</a:t>
            </a:r>
          </a:p>
        </p:txBody>
      </p:sp>
      <p:pic>
        <p:nvPicPr>
          <p:cNvPr id="18" name="Picture 17" descr="T-014.png"/>
          <p:cNvPicPr>
            <a:picLocks noChangeAspect="1"/>
          </p:cNvPicPr>
          <p:nvPr/>
        </p:nvPicPr>
        <p:blipFill>
          <a:blip r:embed="rId2"/>
          <a:stretch>
            <a:fillRect/>
          </a:stretch>
        </p:blipFill>
        <p:spPr>
          <a:xfrm>
            <a:off x="4956048" y="3614750"/>
            <a:ext cx="6327648" cy="58861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04</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水土保持评价与土石方</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合规评价、土石方平衡和主体措施共同校核方案基础。</a:t>
            </a:r>
          </a:p>
        </p:txBody>
      </p:sp>
      <p:sp>
        <p:nvSpPr>
          <p:cNvPr id="7" name="TextBox 6"/>
          <p:cNvSpPr txBox="1"/>
          <p:nvPr/>
        </p:nvSpPr>
        <p:spPr>
          <a:xfrm>
            <a:off x="950976" y="3054096"/>
            <a:ext cx="8595360" cy="530352"/>
          </a:xfrm>
          <a:prstGeom prst="rect">
            <a:avLst/>
          </a:prstGeom>
          <a:noFill/>
        </p:spPr>
        <p:txBody>
          <a:bodyPr wrap="square">
            <a:noAutofit/>
          </a:bodyPr>
          <a:lstStyle/>
          <a:p>
            <a:r>
              <a:rPr sz="1600" b="0">
                <a:solidFill>
                  <a:srgbClr val="14324A"/>
                </a:solidFill>
                <a:latin typeface="Microsoft YaHei"/>
              </a:rPr>
              <a:t>章节内容保留报告中的</a:t>
            </a:r>
            <a:r>
              <a:rPr sz="1600" b="1">
                <a:solidFill>
                  <a:srgbClr val="0E8F8C"/>
                </a:solidFill>
                <a:latin typeface="Microsoft YaHei"/>
              </a:rPr>
              <a:t>源表</a:t>
            </a:r>
            <a:r>
              <a:rPr sz="1600" b="0">
                <a:solidFill>
                  <a:srgbClr val="14324A"/>
                </a:solidFill>
                <a:latin typeface="Microsoft YaHei"/>
              </a:rPr>
              <a:t>、</a:t>
            </a:r>
            <a:r>
              <a:rPr sz="1600" b="1">
                <a:solidFill>
                  <a:srgbClr val="0E8F8C"/>
                </a:solidFill>
                <a:latin typeface="Microsoft YaHei"/>
              </a:rPr>
              <a:t>控制值</a:t>
            </a:r>
            <a:r>
              <a:rPr sz="1600" b="0">
                <a:solidFill>
                  <a:srgbClr val="14324A"/>
                </a:solidFill>
                <a:latin typeface="Microsoft YaHei"/>
              </a:rPr>
              <a:t>和工程关系，并把</a:t>
            </a:r>
            <a:r>
              <a:rPr sz="1600" b="1">
                <a:solidFill>
                  <a:srgbClr val="0E8F8C"/>
                </a:solidFill>
                <a:latin typeface="Microsoft YaHei"/>
              </a:rPr>
              <a:t>范围</a:t>
            </a:r>
            <a:r>
              <a:rPr sz="1600" b="0">
                <a:solidFill>
                  <a:srgbClr val="14324A"/>
                </a:solidFill>
                <a:latin typeface="Microsoft YaHei"/>
              </a:rPr>
              <a:t>、</a:t>
            </a:r>
            <a:r>
              <a:rPr sz="1600" b="1">
                <a:solidFill>
                  <a:srgbClr val="0E8F8C"/>
                </a:solidFill>
                <a:latin typeface="Microsoft YaHei"/>
              </a:rPr>
              <a:t>目标</a:t>
            </a:r>
            <a:r>
              <a:rPr sz="1600" b="0">
                <a:solidFill>
                  <a:srgbClr val="14324A"/>
                </a:solidFill>
                <a:latin typeface="Microsoft YaHei"/>
              </a:rPr>
              <a:t>、</a:t>
            </a:r>
            <a:r>
              <a:rPr sz="1600" b="1">
                <a:solidFill>
                  <a:srgbClr val="0E8F8C"/>
                </a:solidFill>
                <a:latin typeface="Microsoft YaHei"/>
              </a:rPr>
              <a:t>措施</a:t>
            </a:r>
            <a:r>
              <a:rPr sz="1600" b="0">
                <a:solidFill>
                  <a:srgbClr val="14324A"/>
                </a:solidFill>
                <a:latin typeface="Microsoft YaHei"/>
              </a:rPr>
              <a:t>、</a:t>
            </a:r>
            <a:r>
              <a:rPr sz="1600" b="1">
                <a:solidFill>
                  <a:srgbClr val="0E8F8C"/>
                </a:solidFill>
                <a:latin typeface="Microsoft YaHei"/>
              </a:rPr>
              <a:t>投资</a:t>
            </a:r>
            <a:r>
              <a:rPr sz="1600" b="0">
                <a:solidFill>
                  <a:srgbClr val="14324A"/>
                </a:solidFill>
                <a:latin typeface="Microsoft YaHei"/>
              </a:rPr>
              <a:t>、</a:t>
            </a:r>
            <a:r>
              <a:rPr sz="1600" b="1">
                <a:solidFill>
                  <a:srgbClr val="0E8F8C"/>
                </a:solidFill>
                <a:latin typeface="Microsoft YaHei"/>
              </a:rPr>
              <a:t>验收</a:t>
            </a:r>
            <a:r>
              <a:rPr sz="1600" b="0">
                <a:solidFill>
                  <a:srgbClr val="14324A"/>
                </a:solidFill>
                <a:latin typeface="Microsoft YaHei"/>
              </a:rPr>
              <a:t>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r>
              <a:rPr sz="1500" b="0">
                <a:solidFill>
                  <a:srgbClr val="607385"/>
                </a:solidFill>
                <a:latin typeface="Microsoft YaHei"/>
              </a:rPr>
              <a:t>后续页面以该章节证据为核心，展示</a:t>
            </a:r>
            <a:r>
              <a:rPr sz="1500" b="1">
                <a:solidFill>
                  <a:srgbClr val="0E8F8C"/>
                </a:solidFill>
                <a:latin typeface="Microsoft YaHei"/>
              </a:rPr>
              <a:t>原始表格</a:t>
            </a:r>
            <a:r>
              <a:rPr sz="1500" b="0">
                <a:solidFill>
                  <a:srgbClr val="607385"/>
                </a:solidFill>
                <a:latin typeface="Microsoft YaHei"/>
              </a:rPr>
              <a:t>、</a:t>
            </a:r>
            <a:r>
              <a:rPr sz="1500" b="1">
                <a:solidFill>
                  <a:srgbClr val="0E8F8C"/>
                </a:solidFill>
                <a:latin typeface="Microsoft YaHei"/>
              </a:rPr>
              <a:t>计算参数</a:t>
            </a:r>
            <a:r>
              <a:rPr sz="1500" b="0">
                <a:solidFill>
                  <a:srgbClr val="607385"/>
                </a:solidFill>
                <a:latin typeface="Microsoft YaHei"/>
              </a:rPr>
              <a:t>或</a:t>
            </a:r>
            <a:r>
              <a:rPr sz="1500" b="1">
                <a:solidFill>
                  <a:srgbClr val="0E8F8C"/>
                </a:solidFill>
                <a:latin typeface="Microsoft YaHei"/>
              </a:rPr>
              <a:t>报告结论</a:t>
            </a:r>
            <a:r>
              <a:rPr sz="1500" b="0">
                <a:solidFill>
                  <a:srgbClr val="607385"/>
                </a:solidFill>
                <a:latin typeface="Microsoft YaHei"/>
              </a:rPr>
              <a:t>，保持技术过程和结论之间的对应关系。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土石方平衡显示弃方委托消纳、借方外购</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pPr>
              <a:defRPr sz="1420" b="0">
                <a:solidFill>
                  <a:srgbClr val="14324A"/>
                </a:solidFill>
                <a:latin typeface="Microsoft YaHei"/>
              </a:defRPr>
            </a:pPr>
            <a:r>
              <a:t>平衡关系：土石方开挖、回填、借方和弃方按工程分区分项列示。</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pPr>
              <a:defRPr sz="1420" b="0">
                <a:solidFill>
                  <a:srgbClr val="14324A"/>
                </a:solidFill>
                <a:latin typeface="Microsoft YaHei"/>
              </a:defRPr>
            </a:pPr>
            <a:r>
              <a:t>弃方去向：弃方采用委托消纳方式处理。</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pPr>
              <a:defRPr sz="1420" b="0">
                <a:solidFill>
                  <a:srgbClr val="14324A"/>
                </a:solidFill>
                <a:latin typeface="Microsoft YaHei"/>
              </a:defRPr>
            </a:pPr>
            <a:r>
              <a:t>借方来源：借方采用外购方式解决，报告未另列取土场。</a:t>
            </a:r>
          </a:p>
        </p:txBody>
      </p:sp>
      <p:sp>
        <p:nvSpPr>
          <p:cNvPr id="16" name="TextBox 15"/>
          <p:cNvSpPr txBox="1"/>
          <p:nvPr/>
        </p:nvSpPr>
        <p:spPr>
          <a:xfrm>
            <a:off x="658368" y="2157984"/>
            <a:ext cx="10698480" cy="256032"/>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658368" y="2560320"/>
            <a:ext cx="10735056" cy="256032"/>
          </a:xfrm>
          <a:prstGeom prst="rect">
            <a:avLst/>
          </a:prstGeom>
          <a:noFill/>
        </p:spPr>
        <p:txBody>
          <a:bodyPr wrap="none">
            <a:spAutoFit/>
          </a:bodyPr>
          <a:lstStyle/>
          <a:p>
            <a:pPr>
              <a:defRPr sz="1400" b="1">
                <a:solidFill>
                  <a:srgbClr val="14324A"/>
                </a:solidFill>
                <a:latin typeface="Microsoft YaHei"/>
              </a:defRPr>
            </a:pPr>
            <a:r>
              <a:t>T015</a:t>
            </a:r>
          </a:p>
        </p:txBody>
      </p:sp>
      <p:pic>
        <p:nvPicPr>
          <p:cNvPr id="18" name="Picture 17" descr="T-015.png"/>
          <p:cNvPicPr>
            <a:picLocks noChangeAspect="1"/>
          </p:cNvPicPr>
          <p:nvPr/>
        </p:nvPicPr>
        <p:blipFill>
          <a:blip r:embed="rId2"/>
          <a:stretch>
            <a:fillRect/>
          </a:stretch>
        </p:blipFill>
        <p:spPr>
          <a:xfrm>
            <a:off x="658368" y="3251459"/>
            <a:ext cx="10735056" cy="26776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法律和技术标准评价</a:t>
            </a:r>
            <a:r>
              <a:rPr sz="2300" b="1">
                <a:solidFill>
                  <a:srgbClr val="0E8F8C"/>
                </a:solidFill>
                <a:latin typeface="Microsoft YaHei"/>
              </a:rPr>
              <a:t>结论</a:t>
            </a:r>
            <a:r>
              <a:rPr sz="2300" b="1">
                <a:solidFill>
                  <a:srgbClr val="14324A"/>
                </a:solidFill>
                <a:latin typeface="Microsoft YaHei"/>
              </a:rPr>
              <a:t>均为符合</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15</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pPr>
              <a:defRPr sz="1450" b="0">
                <a:solidFill>
                  <a:srgbClr val="14324A"/>
                </a:solidFill>
                <a:latin typeface="Microsoft YaHei"/>
              </a:defRPr>
            </a:pPr>
            <a:r>
              <a:t>法律条款：水土保持法相关制约性因素逐条评价为符合。</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pPr>
              <a:defRPr sz="1450" b="0">
                <a:solidFill>
                  <a:srgbClr val="14324A"/>
                </a:solidFill>
                <a:latin typeface="Microsoft YaHei"/>
              </a:defRPr>
            </a:pPr>
            <a:r>
              <a:t>技术标准：报告按生产建设项目水土保持技术标准进行符合性分析。</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长江保护：项目建设与长江保护法相关要求形成一致评价</a:t>
            </a:r>
            <a:r>
              <a:rPr sz="1450" b="1">
                <a:solidFill>
                  <a:srgbClr val="0E8F8C"/>
                </a:solidFill>
                <a:latin typeface="Microsoft YaHei"/>
              </a:rPr>
              <a:t>结论</a:t>
            </a:r>
            <a:r>
              <a:rPr sz="1450" b="0">
                <a:solidFill>
                  <a:srgbClr val="14324A"/>
                </a:solidFill>
                <a:latin typeface="Microsoft YaHei"/>
              </a:rPr>
              <a:t>。</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T018</a:t>
            </a:r>
          </a:p>
        </p:txBody>
      </p:sp>
      <p:pic>
        <p:nvPicPr>
          <p:cNvPr id="18" name="Picture 17" descr="T-018.png"/>
          <p:cNvPicPr>
            <a:picLocks noChangeAspect="1"/>
          </p:cNvPicPr>
          <p:nvPr/>
        </p:nvPicPr>
        <p:blipFill>
          <a:blip r:embed="rId2"/>
          <a:stretch>
            <a:fillRect/>
          </a:stretch>
        </p:blipFill>
        <p:spPr>
          <a:xfrm>
            <a:off x="7048148" y="1572768"/>
            <a:ext cx="2143447" cy="1240535"/>
          </a:xfrm>
          <a:prstGeom prst="rect">
            <a:avLst/>
          </a:prstGeom>
        </p:spPr>
      </p:pic>
      <p:sp>
        <p:nvSpPr>
          <p:cNvPr id="19" name="TextBox 18"/>
          <p:cNvSpPr txBox="1"/>
          <p:nvPr/>
        </p:nvSpPr>
        <p:spPr>
          <a:xfrm>
            <a:off x="4956048" y="2977895"/>
            <a:ext cx="6327648" cy="256032"/>
          </a:xfrm>
          <a:prstGeom prst="rect">
            <a:avLst/>
          </a:prstGeom>
          <a:noFill/>
        </p:spPr>
        <p:txBody>
          <a:bodyPr wrap="none">
            <a:spAutoFit/>
          </a:bodyPr>
          <a:lstStyle/>
          <a:p>
            <a:pPr>
              <a:defRPr sz="1400" b="1">
                <a:solidFill>
                  <a:srgbClr val="14324A"/>
                </a:solidFill>
                <a:latin typeface="Microsoft YaHei"/>
              </a:defRPr>
            </a:pPr>
            <a:r>
              <a:t>T019</a:t>
            </a:r>
          </a:p>
        </p:txBody>
      </p:sp>
      <p:pic>
        <p:nvPicPr>
          <p:cNvPr id="20" name="Picture 19" descr="T-019.png"/>
          <p:cNvPicPr>
            <a:picLocks noChangeAspect="1"/>
          </p:cNvPicPr>
          <p:nvPr/>
        </p:nvPicPr>
        <p:blipFill>
          <a:blip r:embed="rId3"/>
          <a:stretch>
            <a:fillRect/>
          </a:stretch>
        </p:blipFill>
        <p:spPr>
          <a:xfrm>
            <a:off x="7468286" y="3288791"/>
            <a:ext cx="1303170" cy="1240535"/>
          </a:xfrm>
          <a:prstGeom prst="rect">
            <a:avLst/>
          </a:prstGeom>
        </p:spPr>
      </p:pic>
      <p:sp>
        <p:nvSpPr>
          <p:cNvPr id="21" name="TextBox 20"/>
          <p:cNvSpPr txBox="1"/>
          <p:nvPr/>
        </p:nvSpPr>
        <p:spPr>
          <a:xfrm>
            <a:off x="4956048" y="4693920"/>
            <a:ext cx="6327648" cy="256032"/>
          </a:xfrm>
          <a:prstGeom prst="rect">
            <a:avLst/>
          </a:prstGeom>
          <a:noFill/>
        </p:spPr>
        <p:txBody>
          <a:bodyPr wrap="none">
            <a:spAutoFit/>
          </a:bodyPr>
          <a:lstStyle/>
          <a:p>
            <a:pPr>
              <a:defRPr sz="1400" b="1">
                <a:solidFill>
                  <a:srgbClr val="14324A"/>
                </a:solidFill>
                <a:latin typeface="Microsoft YaHei"/>
              </a:defRPr>
            </a:pPr>
            <a:r>
              <a:t>T020</a:t>
            </a:r>
          </a:p>
        </p:txBody>
      </p:sp>
      <p:pic>
        <p:nvPicPr>
          <p:cNvPr id="22" name="Picture 21" descr="T-020.png"/>
          <p:cNvPicPr>
            <a:picLocks noChangeAspect="1"/>
          </p:cNvPicPr>
          <p:nvPr/>
        </p:nvPicPr>
        <p:blipFill>
          <a:blip r:embed="rId4"/>
          <a:stretch>
            <a:fillRect/>
          </a:stretch>
        </p:blipFill>
        <p:spPr>
          <a:xfrm>
            <a:off x="5227335" y="5004815"/>
            <a:ext cx="5785073" cy="124053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水土保持评价与土石方</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主体工程已列</a:t>
            </a:r>
            <a:r>
              <a:rPr sz="2300" b="1">
                <a:solidFill>
                  <a:srgbClr val="0E8F8C"/>
                </a:solidFill>
                <a:latin typeface="Microsoft YaHei"/>
              </a:rPr>
              <a:t>措施</a:t>
            </a:r>
            <a:r>
              <a:rPr sz="2300" b="1">
                <a:solidFill>
                  <a:srgbClr val="14324A"/>
                </a:solidFill>
                <a:latin typeface="Microsoft YaHei"/>
              </a:rPr>
              <a:t>以土地整治和铺种草皮为主</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16</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r>
              <a:rPr sz="1450" b="0">
                <a:solidFill>
                  <a:srgbClr val="14324A"/>
                </a:solidFill>
                <a:latin typeface="Microsoft YaHei"/>
              </a:rPr>
              <a:t>工程</a:t>
            </a:r>
            <a:r>
              <a:rPr sz="1450" b="1">
                <a:solidFill>
                  <a:srgbClr val="0E8F8C"/>
                </a:solidFill>
                <a:latin typeface="Microsoft YaHei"/>
              </a:rPr>
              <a:t>措施</a:t>
            </a:r>
            <a:r>
              <a:rPr sz="1450" b="0">
                <a:solidFill>
                  <a:srgbClr val="14324A"/>
                </a:solidFill>
                <a:latin typeface="Microsoft YaHei"/>
              </a:rPr>
              <a:t>：主体工程已列土地整治，数量按管网工程区计列。</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植物</a:t>
            </a:r>
            <a:r>
              <a:rPr sz="1450" b="1">
                <a:solidFill>
                  <a:srgbClr val="0E8F8C"/>
                </a:solidFill>
                <a:latin typeface="Microsoft YaHei"/>
              </a:rPr>
              <a:t>措施</a:t>
            </a:r>
            <a:r>
              <a:rPr sz="1450" b="0">
                <a:solidFill>
                  <a:srgbClr val="14324A"/>
                </a:solidFill>
                <a:latin typeface="Microsoft YaHei"/>
              </a:rPr>
              <a:t>：铺种草皮纳入主体工程已列投资。</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投资关系：主体已列</a:t>
            </a:r>
            <a:r>
              <a:rPr sz="1450" b="1">
                <a:solidFill>
                  <a:srgbClr val="0E8F8C"/>
                </a:solidFill>
                <a:latin typeface="Microsoft YaHei"/>
              </a:rPr>
              <a:t>措施</a:t>
            </a:r>
            <a:r>
              <a:rPr sz="1450" b="0">
                <a:solidFill>
                  <a:srgbClr val="14324A"/>
                </a:solidFill>
                <a:latin typeface="Microsoft YaHei"/>
              </a:rPr>
              <a:t>与方案新增</a:t>
            </a:r>
            <a:r>
              <a:rPr sz="1450" b="1">
                <a:solidFill>
                  <a:srgbClr val="0E8F8C"/>
                </a:solidFill>
                <a:latin typeface="Microsoft YaHei"/>
              </a:rPr>
              <a:t>措施</a:t>
            </a:r>
            <a:r>
              <a:rPr sz="1450" b="0">
                <a:solidFill>
                  <a:srgbClr val="14324A"/>
                </a:solidFill>
                <a:latin typeface="Microsoft YaHei"/>
              </a:rPr>
              <a:t>共同构成防治体系。</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T021</a:t>
            </a:r>
          </a:p>
        </p:txBody>
      </p:sp>
      <p:pic>
        <p:nvPicPr>
          <p:cNvPr id="18" name="Picture 17" descr="T-021.png"/>
          <p:cNvPicPr>
            <a:picLocks noChangeAspect="1"/>
          </p:cNvPicPr>
          <p:nvPr/>
        </p:nvPicPr>
        <p:blipFill>
          <a:blip r:embed="rId2"/>
          <a:stretch>
            <a:fillRect/>
          </a:stretch>
        </p:blipFill>
        <p:spPr>
          <a:xfrm>
            <a:off x="4956048" y="3127435"/>
            <a:ext cx="6327648" cy="156324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05</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水土流失分析与预测</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预测范围、侵蚀模数和流失量形成防护强度依据。</a:t>
            </a:r>
          </a:p>
        </p:txBody>
      </p:sp>
      <p:sp>
        <p:nvSpPr>
          <p:cNvPr id="7" name="TextBox 6"/>
          <p:cNvSpPr txBox="1"/>
          <p:nvPr/>
        </p:nvSpPr>
        <p:spPr>
          <a:xfrm>
            <a:off x="950976" y="3054096"/>
            <a:ext cx="8595360" cy="530352"/>
          </a:xfrm>
          <a:prstGeom prst="rect">
            <a:avLst/>
          </a:prstGeom>
          <a:noFill/>
        </p:spPr>
        <p:txBody>
          <a:bodyPr wrap="square">
            <a:noAutofit/>
          </a:bodyPr>
          <a:lstStyle/>
          <a:p>
            <a:r>
              <a:rPr sz="1600" b="0">
                <a:solidFill>
                  <a:srgbClr val="14324A"/>
                </a:solidFill>
                <a:latin typeface="Microsoft YaHei"/>
              </a:rPr>
              <a:t>章节内容保留报告中的</a:t>
            </a:r>
            <a:r>
              <a:rPr sz="1600" b="1">
                <a:solidFill>
                  <a:srgbClr val="0E8F8C"/>
                </a:solidFill>
                <a:latin typeface="Microsoft YaHei"/>
              </a:rPr>
              <a:t>源表</a:t>
            </a:r>
            <a:r>
              <a:rPr sz="1600" b="0">
                <a:solidFill>
                  <a:srgbClr val="14324A"/>
                </a:solidFill>
                <a:latin typeface="Microsoft YaHei"/>
              </a:rPr>
              <a:t>、</a:t>
            </a:r>
            <a:r>
              <a:rPr sz="1600" b="1">
                <a:solidFill>
                  <a:srgbClr val="0E8F8C"/>
                </a:solidFill>
                <a:latin typeface="Microsoft YaHei"/>
              </a:rPr>
              <a:t>控制值</a:t>
            </a:r>
            <a:r>
              <a:rPr sz="1600" b="0">
                <a:solidFill>
                  <a:srgbClr val="14324A"/>
                </a:solidFill>
                <a:latin typeface="Microsoft YaHei"/>
              </a:rPr>
              <a:t>和工程关系，并把</a:t>
            </a:r>
            <a:r>
              <a:rPr sz="1600" b="1">
                <a:solidFill>
                  <a:srgbClr val="0E8F8C"/>
                </a:solidFill>
                <a:latin typeface="Microsoft YaHei"/>
              </a:rPr>
              <a:t>范围</a:t>
            </a:r>
            <a:r>
              <a:rPr sz="1600" b="0">
                <a:solidFill>
                  <a:srgbClr val="14324A"/>
                </a:solidFill>
                <a:latin typeface="Microsoft YaHei"/>
              </a:rPr>
              <a:t>、</a:t>
            </a:r>
            <a:r>
              <a:rPr sz="1600" b="1">
                <a:solidFill>
                  <a:srgbClr val="0E8F8C"/>
                </a:solidFill>
                <a:latin typeface="Microsoft YaHei"/>
              </a:rPr>
              <a:t>目标</a:t>
            </a:r>
            <a:r>
              <a:rPr sz="1600" b="0">
                <a:solidFill>
                  <a:srgbClr val="14324A"/>
                </a:solidFill>
                <a:latin typeface="Microsoft YaHei"/>
              </a:rPr>
              <a:t>、</a:t>
            </a:r>
            <a:r>
              <a:rPr sz="1600" b="1">
                <a:solidFill>
                  <a:srgbClr val="0E8F8C"/>
                </a:solidFill>
                <a:latin typeface="Microsoft YaHei"/>
              </a:rPr>
              <a:t>措施</a:t>
            </a:r>
            <a:r>
              <a:rPr sz="1600" b="0">
                <a:solidFill>
                  <a:srgbClr val="14324A"/>
                </a:solidFill>
                <a:latin typeface="Microsoft YaHei"/>
              </a:rPr>
              <a:t>、</a:t>
            </a:r>
            <a:r>
              <a:rPr sz="1600" b="1">
                <a:solidFill>
                  <a:srgbClr val="0E8F8C"/>
                </a:solidFill>
                <a:latin typeface="Microsoft YaHei"/>
              </a:rPr>
              <a:t>投资</a:t>
            </a:r>
            <a:r>
              <a:rPr sz="1600" b="0">
                <a:solidFill>
                  <a:srgbClr val="14324A"/>
                </a:solidFill>
                <a:latin typeface="Microsoft YaHei"/>
              </a:rPr>
              <a:t>、</a:t>
            </a:r>
            <a:r>
              <a:rPr sz="1600" b="1">
                <a:solidFill>
                  <a:srgbClr val="0E8F8C"/>
                </a:solidFill>
                <a:latin typeface="Microsoft YaHei"/>
              </a:rPr>
              <a:t>验收</a:t>
            </a:r>
            <a:r>
              <a:rPr sz="1600" b="0">
                <a:solidFill>
                  <a:srgbClr val="14324A"/>
                </a:solidFill>
                <a:latin typeface="Microsoft YaHei"/>
              </a:rPr>
              <a:t>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r>
              <a:rPr sz="1500" b="0">
                <a:solidFill>
                  <a:srgbClr val="607385"/>
                </a:solidFill>
                <a:latin typeface="Microsoft YaHei"/>
              </a:rPr>
              <a:t>后续页面以该章节证据为核心，展示</a:t>
            </a:r>
            <a:r>
              <a:rPr sz="1500" b="1">
                <a:solidFill>
                  <a:srgbClr val="0E8F8C"/>
                </a:solidFill>
                <a:latin typeface="Microsoft YaHei"/>
              </a:rPr>
              <a:t>原始表格</a:t>
            </a:r>
            <a:r>
              <a:rPr sz="1500" b="0">
                <a:solidFill>
                  <a:srgbClr val="607385"/>
                </a:solidFill>
                <a:latin typeface="Microsoft YaHei"/>
              </a:rPr>
              <a:t>、</a:t>
            </a:r>
            <a:r>
              <a:rPr sz="1500" b="1">
                <a:solidFill>
                  <a:srgbClr val="0E8F8C"/>
                </a:solidFill>
                <a:latin typeface="Microsoft YaHei"/>
              </a:rPr>
              <a:t>计算参数</a:t>
            </a:r>
            <a:r>
              <a:rPr sz="1500" b="0">
                <a:solidFill>
                  <a:srgbClr val="607385"/>
                </a:solidFill>
                <a:latin typeface="Microsoft YaHei"/>
              </a:rPr>
              <a:t>或</a:t>
            </a:r>
            <a:r>
              <a:rPr sz="1500" b="1">
                <a:solidFill>
                  <a:srgbClr val="0E8F8C"/>
                </a:solidFill>
                <a:latin typeface="Microsoft YaHei"/>
              </a:rPr>
              <a:t>报告结论</a:t>
            </a:r>
            <a:r>
              <a:rPr sz="1500" b="0">
                <a:solidFill>
                  <a:srgbClr val="607385"/>
                </a:solidFill>
                <a:latin typeface="Microsoft YaHei"/>
              </a:rPr>
              <a:t>，保持技术过程和结论之间的对应关系。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预测范围与</a:t>
            </a:r>
            <a:r>
              <a:rPr sz="2300" b="1">
                <a:solidFill>
                  <a:srgbClr val="0E8F8C"/>
                </a:solidFill>
                <a:latin typeface="Microsoft YaHei"/>
              </a:rPr>
              <a:t>防治责任范围</a:t>
            </a:r>
            <a:r>
              <a:rPr sz="2300" b="1">
                <a:solidFill>
                  <a:srgbClr val="14324A"/>
                </a:solidFill>
                <a:latin typeface="Microsoft YaHei"/>
              </a:rPr>
              <a:t>保持一致</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r>
              <a:rPr sz="1450" b="0">
                <a:solidFill>
                  <a:srgbClr val="14324A"/>
                </a:solidFill>
                <a:latin typeface="Microsoft YaHei"/>
              </a:rPr>
              <a:t>预测单元：预测范围为管网工程区，面积与</a:t>
            </a:r>
            <a:r>
              <a:rPr sz="1450" b="1">
                <a:solidFill>
                  <a:srgbClr val="0E8F8C"/>
                </a:solidFill>
                <a:latin typeface="Microsoft YaHei"/>
              </a:rPr>
              <a:t>防治责任范围</a:t>
            </a:r>
            <a:r>
              <a:rPr sz="1450" b="0">
                <a:solidFill>
                  <a:srgbClr val="14324A"/>
                </a:solidFill>
                <a:latin typeface="Microsoft YaHei"/>
              </a:rPr>
              <a:t>一致。</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扰动面积：扰动地表面积按</a:t>
            </a:r>
            <a:r>
              <a:rPr sz="1450" b="1">
                <a:solidFill>
                  <a:srgbClr val="0E8F8C"/>
                </a:solidFill>
                <a:latin typeface="Microsoft YaHei"/>
              </a:rPr>
              <a:t>34416.00m</a:t>
            </a:r>
            <a:r>
              <a:rPr sz="1450" b="0">
                <a:solidFill>
                  <a:srgbClr val="14324A"/>
                </a:solidFill>
                <a:latin typeface="Microsoft YaHei"/>
              </a:rPr>
              <a:t>²纳入预测。</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pPr>
              <a:defRPr sz="1450" b="0">
                <a:solidFill>
                  <a:srgbClr val="14324A"/>
                </a:solidFill>
                <a:latin typeface="Microsoft YaHei"/>
              </a:defRPr>
            </a:pPr>
            <a:r>
              <a:t>时段划分：施工期和自然恢复期分别列示预测参数。</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T023</a:t>
            </a:r>
          </a:p>
        </p:txBody>
      </p:sp>
      <p:pic>
        <p:nvPicPr>
          <p:cNvPr id="18" name="Picture 17" descr="T-023.png"/>
          <p:cNvPicPr>
            <a:picLocks noChangeAspect="1"/>
          </p:cNvPicPr>
          <p:nvPr/>
        </p:nvPicPr>
        <p:blipFill>
          <a:blip r:embed="rId2"/>
          <a:stretch>
            <a:fillRect/>
          </a:stretch>
        </p:blipFill>
        <p:spPr>
          <a:xfrm>
            <a:off x="4956048" y="1634454"/>
            <a:ext cx="6327648" cy="1117163"/>
          </a:xfrm>
          <a:prstGeom prst="rect">
            <a:avLst/>
          </a:prstGeom>
        </p:spPr>
      </p:pic>
      <p:sp>
        <p:nvSpPr>
          <p:cNvPr id="19" name="TextBox 18"/>
          <p:cNvSpPr txBox="1"/>
          <p:nvPr/>
        </p:nvSpPr>
        <p:spPr>
          <a:xfrm>
            <a:off x="4956048" y="2977895"/>
            <a:ext cx="6327648" cy="256032"/>
          </a:xfrm>
          <a:prstGeom prst="rect">
            <a:avLst/>
          </a:prstGeom>
          <a:noFill/>
        </p:spPr>
        <p:txBody>
          <a:bodyPr wrap="none">
            <a:spAutoFit/>
          </a:bodyPr>
          <a:lstStyle/>
          <a:p>
            <a:pPr>
              <a:defRPr sz="1400" b="1">
                <a:solidFill>
                  <a:srgbClr val="14324A"/>
                </a:solidFill>
                <a:latin typeface="Microsoft YaHei"/>
              </a:defRPr>
            </a:pPr>
            <a:r>
              <a:t>T024</a:t>
            </a:r>
          </a:p>
        </p:txBody>
      </p:sp>
      <p:pic>
        <p:nvPicPr>
          <p:cNvPr id="20" name="Picture 19" descr="T-024.png"/>
          <p:cNvPicPr>
            <a:picLocks noChangeAspect="1"/>
          </p:cNvPicPr>
          <p:nvPr/>
        </p:nvPicPr>
        <p:blipFill>
          <a:blip r:embed="rId3"/>
          <a:stretch>
            <a:fillRect/>
          </a:stretch>
        </p:blipFill>
        <p:spPr>
          <a:xfrm>
            <a:off x="4956048" y="3332444"/>
            <a:ext cx="6327648" cy="1153230"/>
          </a:xfrm>
          <a:prstGeom prst="rect">
            <a:avLst/>
          </a:prstGeom>
        </p:spPr>
      </p:pic>
      <p:sp>
        <p:nvSpPr>
          <p:cNvPr id="21" name="TextBox 20"/>
          <p:cNvSpPr txBox="1"/>
          <p:nvPr/>
        </p:nvSpPr>
        <p:spPr>
          <a:xfrm>
            <a:off x="4956048" y="4693920"/>
            <a:ext cx="6327648" cy="256032"/>
          </a:xfrm>
          <a:prstGeom prst="rect">
            <a:avLst/>
          </a:prstGeom>
          <a:noFill/>
        </p:spPr>
        <p:txBody>
          <a:bodyPr wrap="none">
            <a:spAutoFit/>
          </a:bodyPr>
          <a:lstStyle/>
          <a:p>
            <a:pPr>
              <a:defRPr sz="1400" b="1">
                <a:solidFill>
                  <a:srgbClr val="14324A"/>
                </a:solidFill>
                <a:latin typeface="Microsoft YaHei"/>
              </a:defRPr>
            </a:pPr>
            <a:r>
              <a:t>T025</a:t>
            </a:r>
          </a:p>
        </p:txBody>
      </p:sp>
      <p:pic>
        <p:nvPicPr>
          <p:cNvPr id="22" name="Picture 21" descr="T-025.png"/>
          <p:cNvPicPr>
            <a:picLocks noChangeAspect="1"/>
          </p:cNvPicPr>
          <p:nvPr/>
        </p:nvPicPr>
        <p:blipFill>
          <a:blip r:embed="rId4"/>
          <a:stretch>
            <a:fillRect/>
          </a:stretch>
        </p:blipFill>
        <p:spPr>
          <a:xfrm>
            <a:off x="4956048" y="5145651"/>
            <a:ext cx="6327648" cy="95886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背景土壤侵蚀模数由占地类型加权形成</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19</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r>
              <a:rPr sz="1450" b="0">
                <a:solidFill>
                  <a:srgbClr val="14324A"/>
                </a:solidFill>
                <a:latin typeface="Microsoft YaHei"/>
              </a:rPr>
              <a:t>类型参数：城镇村道路用地平均土壤侵蚀模数为</a:t>
            </a:r>
            <a:r>
              <a:rPr sz="1450" b="1">
                <a:solidFill>
                  <a:srgbClr val="0E8F8C"/>
                </a:solidFill>
                <a:latin typeface="Microsoft YaHei"/>
              </a:rPr>
              <a:t>260t</a:t>
            </a:r>
            <a:r>
              <a:rPr sz="1450" b="0">
                <a:solidFill>
                  <a:srgbClr val="14324A"/>
                </a:solidFill>
                <a:latin typeface="Microsoft YaHei"/>
              </a:rPr>
              <a:t>/(km²·a)。</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绿地参数：公园与绿地平均土壤侵蚀模数为</a:t>
            </a:r>
            <a:r>
              <a:rPr sz="1450" b="1">
                <a:solidFill>
                  <a:srgbClr val="0E8F8C"/>
                </a:solidFill>
                <a:latin typeface="Microsoft YaHei"/>
              </a:rPr>
              <a:t>450t</a:t>
            </a:r>
            <a:r>
              <a:rPr sz="1450" b="0">
                <a:solidFill>
                  <a:srgbClr val="14324A"/>
                </a:solidFill>
                <a:latin typeface="Microsoft YaHei"/>
              </a:rPr>
              <a:t>/(km²·a)。</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加权结果：报告列示背景土壤侵蚀模数为</a:t>
            </a:r>
            <a:r>
              <a:rPr sz="1450" b="1">
                <a:solidFill>
                  <a:srgbClr val="0E8F8C"/>
                </a:solidFill>
                <a:latin typeface="Microsoft YaHei"/>
              </a:rPr>
              <a:t>261.46t</a:t>
            </a:r>
            <a:r>
              <a:rPr sz="1450" b="0">
                <a:solidFill>
                  <a:srgbClr val="14324A"/>
                </a:solidFill>
                <a:latin typeface="Microsoft YaHei"/>
              </a:rPr>
              <a:t>/(km²·a)。</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T027</a:t>
            </a:r>
          </a:p>
        </p:txBody>
      </p:sp>
      <p:pic>
        <p:nvPicPr>
          <p:cNvPr id="18" name="Picture 17" descr="T-027.png"/>
          <p:cNvPicPr>
            <a:picLocks noChangeAspect="1"/>
          </p:cNvPicPr>
          <p:nvPr/>
        </p:nvPicPr>
        <p:blipFill>
          <a:blip r:embed="rId2"/>
          <a:stretch>
            <a:fillRect/>
          </a:stretch>
        </p:blipFill>
        <p:spPr>
          <a:xfrm>
            <a:off x="4956048" y="2221968"/>
            <a:ext cx="6327648" cy="800146"/>
          </a:xfrm>
          <a:prstGeom prst="rect">
            <a:avLst/>
          </a:prstGeom>
        </p:spPr>
      </p:pic>
      <p:sp>
        <p:nvSpPr>
          <p:cNvPr id="19" name="TextBox 18"/>
          <p:cNvSpPr txBox="1"/>
          <p:nvPr/>
        </p:nvSpPr>
        <p:spPr>
          <a:xfrm>
            <a:off x="4956048" y="3835908"/>
            <a:ext cx="6327648" cy="256032"/>
          </a:xfrm>
          <a:prstGeom prst="rect">
            <a:avLst/>
          </a:prstGeom>
          <a:noFill/>
        </p:spPr>
        <p:txBody>
          <a:bodyPr wrap="none">
            <a:spAutoFit/>
          </a:bodyPr>
          <a:lstStyle/>
          <a:p>
            <a:pPr>
              <a:defRPr sz="1400" b="1">
                <a:solidFill>
                  <a:srgbClr val="14324A"/>
                </a:solidFill>
                <a:latin typeface="Microsoft YaHei"/>
              </a:defRPr>
            </a:pPr>
            <a:r>
              <a:t>T028</a:t>
            </a:r>
          </a:p>
        </p:txBody>
      </p:sp>
      <p:pic>
        <p:nvPicPr>
          <p:cNvPr id="20" name="Picture 19" descr="T-028.png"/>
          <p:cNvPicPr>
            <a:picLocks noChangeAspect="1"/>
          </p:cNvPicPr>
          <p:nvPr/>
        </p:nvPicPr>
        <p:blipFill>
          <a:blip r:embed="rId3"/>
          <a:stretch>
            <a:fillRect/>
          </a:stretch>
        </p:blipFill>
        <p:spPr>
          <a:xfrm>
            <a:off x="4956048" y="4639315"/>
            <a:ext cx="6327648" cy="111352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pPr>
              <a:defRPr sz="2300" b="1">
                <a:solidFill>
                  <a:srgbClr val="14324A"/>
                </a:solidFill>
                <a:latin typeface="Microsoft YaHei"/>
              </a:defRPr>
            </a:pPr>
            <a:r>
              <a:t>施工期侵蚀模数显著高于背景值</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r>
              <a:rPr sz="1450" b="0">
                <a:solidFill>
                  <a:srgbClr val="14324A"/>
                </a:solidFill>
                <a:latin typeface="Microsoft YaHei"/>
              </a:rPr>
              <a:t>植被破坏型：施工期土壤侵蚀模数为</a:t>
            </a:r>
            <a:r>
              <a:rPr sz="1450" b="1">
                <a:solidFill>
                  <a:srgbClr val="0E8F8C"/>
                </a:solidFill>
                <a:latin typeface="Microsoft YaHei"/>
              </a:rPr>
              <a:t>1153.34t</a:t>
            </a:r>
            <a:r>
              <a:rPr sz="1450" b="0">
                <a:solidFill>
                  <a:srgbClr val="14324A"/>
                </a:solidFill>
                <a:latin typeface="Microsoft YaHei"/>
              </a:rPr>
              <a:t>/(km²·a)。</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地表翻扰型：施工期土壤侵蚀模数为</a:t>
            </a:r>
            <a:r>
              <a:rPr sz="1450" b="1">
                <a:solidFill>
                  <a:srgbClr val="0E8F8C"/>
                </a:solidFill>
                <a:latin typeface="Microsoft YaHei"/>
              </a:rPr>
              <a:t>3032.58t</a:t>
            </a:r>
            <a:r>
              <a:rPr sz="1450" b="0">
                <a:solidFill>
                  <a:srgbClr val="14324A"/>
                </a:solidFill>
                <a:latin typeface="Microsoft YaHei"/>
              </a:rPr>
              <a:t>/(km²·a)。</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综合取值：施工期综合取值为</a:t>
            </a:r>
            <a:r>
              <a:rPr sz="1450" b="1">
                <a:solidFill>
                  <a:srgbClr val="0E8F8C"/>
                </a:solidFill>
                <a:latin typeface="Microsoft YaHei"/>
              </a:rPr>
              <a:t>3018.60t</a:t>
            </a:r>
            <a:r>
              <a:rPr sz="1450" b="0">
                <a:solidFill>
                  <a:srgbClr val="14324A"/>
                </a:solidFill>
                <a:latin typeface="Microsoft YaHei"/>
              </a:rPr>
              <a:t>/(km²·a)。</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T030</a:t>
            </a:r>
          </a:p>
        </p:txBody>
      </p:sp>
      <p:pic>
        <p:nvPicPr>
          <p:cNvPr id="18" name="Picture 17" descr="T-030.png"/>
          <p:cNvPicPr>
            <a:picLocks noChangeAspect="1"/>
          </p:cNvPicPr>
          <p:nvPr/>
        </p:nvPicPr>
        <p:blipFill>
          <a:blip r:embed="rId2"/>
          <a:stretch>
            <a:fillRect/>
          </a:stretch>
        </p:blipFill>
        <p:spPr>
          <a:xfrm>
            <a:off x="6900150" y="1572768"/>
            <a:ext cx="2439443" cy="1240535"/>
          </a:xfrm>
          <a:prstGeom prst="rect">
            <a:avLst/>
          </a:prstGeom>
        </p:spPr>
      </p:pic>
      <p:sp>
        <p:nvSpPr>
          <p:cNvPr id="19" name="TextBox 18"/>
          <p:cNvSpPr txBox="1"/>
          <p:nvPr/>
        </p:nvSpPr>
        <p:spPr>
          <a:xfrm>
            <a:off x="4956048" y="2977895"/>
            <a:ext cx="6327648" cy="256032"/>
          </a:xfrm>
          <a:prstGeom prst="rect">
            <a:avLst/>
          </a:prstGeom>
          <a:noFill/>
        </p:spPr>
        <p:txBody>
          <a:bodyPr wrap="none">
            <a:spAutoFit/>
          </a:bodyPr>
          <a:lstStyle/>
          <a:p>
            <a:pPr>
              <a:defRPr sz="1400" b="1">
                <a:solidFill>
                  <a:srgbClr val="14324A"/>
                </a:solidFill>
                <a:latin typeface="Microsoft YaHei"/>
              </a:defRPr>
            </a:pPr>
            <a:r>
              <a:t>T031</a:t>
            </a:r>
          </a:p>
        </p:txBody>
      </p:sp>
      <p:pic>
        <p:nvPicPr>
          <p:cNvPr id="20" name="Picture 19" descr="T-031.png"/>
          <p:cNvPicPr>
            <a:picLocks noChangeAspect="1"/>
          </p:cNvPicPr>
          <p:nvPr/>
        </p:nvPicPr>
        <p:blipFill>
          <a:blip r:embed="rId3"/>
          <a:stretch>
            <a:fillRect/>
          </a:stretch>
        </p:blipFill>
        <p:spPr>
          <a:xfrm>
            <a:off x="7057073" y="3288791"/>
            <a:ext cx="2125596" cy="1240535"/>
          </a:xfrm>
          <a:prstGeom prst="rect">
            <a:avLst/>
          </a:prstGeom>
        </p:spPr>
      </p:pic>
      <p:sp>
        <p:nvSpPr>
          <p:cNvPr id="21" name="TextBox 20"/>
          <p:cNvSpPr txBox="1"/>
          <p:nvPr/>
        </p:nvSpPr>
        <p:spPr>
          <a:xfrm>
            <a:off x="4956048" y="4693920"/>
            <a:ext cx="6327648" cy="256032"/>
          </a:xfrm>
          <a:prstGeom prst="rect">
            <a:avLst/>
          </a:prstGeom>
          <a:noFill/>
        </p:spPr>
        <p:txBody>
          <a:bodyPr wrap="none">
            <a:spAutoFit/>
          </a:bodyPr>
          <a:lstStyle/>
          <a:p>
            <a:pPr>
              <a:defRPr sz="1400" b="1">
                <a:solidFill>
                  <a:srgbClr val="14324A"/>
                </a:solidFill>
                <a:latin typeface="Microsoft YaHei"/>
              </a:defRPr>
            </a:pPr>
            <a:r>
              <a:t>T032</a:t>
            </a:r>
          </a:p>
        </p:txBody>
      </p:sp>
      <p:pic>
        <p:nvPicPr>
          <p:cNvPr id="22" name="Picture 21" descr="T-032.png"/>
          <p:cNvPicPr>
            <a:picLocks noChangeAspect="1"/>
          </p:cNvPicPr>
          <p:nvPr/>
        </p:nvPicPr>
        <p:blipFill>
          <a:blip r:embed="rId4"/>
          <a:stretch>
            <a:fillRect/>
          </a:stretch>
        </p:blipFill>
        <p:spPr>
          <a:xfrm>
            <a:off x="6696561" y="5004815"/>
            <a:ext cx="2846621" cy="1240535"/>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水土流失分析与预测</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预测土壤流失总量</a:t>
            </a:r>
            <a:r>
              <a:rPr sz="2300" b="1">
                <a:solidFill>
                  <a:srgbClr val="0E8F8C"/>
                </a:solidFill>
                <a:latin typeface="Microsoft YaHei"/>
              </a:rPr>
              <a:t>104.05t</a:t>
            </a:r>
            <a:r>
              <a:rPr sz="2300" b="1">
                <a:solidFill>
                  <a:srgbClr val="14324A"/>
                </a:solidFill>
                <a:latin typeface="Microsoft YaHei"/>
              </a:rPr>
              <a:t>，新增量</a:t>
            </a:r>
            <a:r>
              <a:rPr sz="2300" b="1">
                <a:solidFill>
                  <a:srgbClr val="0E8F8C"/>
                </a:solidFill>
                <a:latin typeface="Microsoft YaHei"/>
              </a:rPr>
              <a:t>94.92t</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21</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预测总量：项目预测土壤流失总量为</a:t>
            </a:r>
            <a:r>
              <a:rPr sz="1420" b="1">
                <a:solidFill>
                  <a:srgbClr val="0E8F8C"/>
                </a:solidFill>
                <a:latin typeface="Microsoft YaHei"/>
              </a:rPr>
              <a:t>104.05t</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新增量：新增土壤流失量为</a:t>
            </a:r>
            <a:r>
              <a:rPr sz="1420" b="1">
                <a:solidFill>
                  <a:srgbClr val="0E8F8C"/>
                </a:solidFill>
                <a:latin typeface="Microsoft YaHei"/>
              </a:rPr>
              <a:t>94.92t</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重点时段：施工期是新增</a:t>
            </a:r>
            <a:r>
              <a:rPr sz="1420" b="1">
                <a:solidFill>
                  <a:srgbClr val="0E8F8C"/>
                </a:solidFill>
                <a:latin typeface="Microsoft YaHei"/>
              </a:rPr>
              <a:t>水土流失</a:t>
            </a:r>
            <a:r>
              <a:rPr sz="1420" b="0">
                <a:solidFill>
                  <a:srgbClr val="14324A"/>
                </a:solidFill>
                <a:latin typeface="Microsoft YaHei"/>
              </a:rPr>
              <a:t>控制重点。</a:t>
            </a:r>
          </a:p>
        </p:txBody>
      </p:sp>
      <p:sp>
        <p:nvSpPr>
          <p:cNvPr id="16" name="TextBox 15"/>
          <p:cNvSpPr txBox="1"/>
          <p:nvPr/>
        </p:nvSpPr>
        <p:spPr>
          <a:xfrm>
            <a:off x="658368" y="2157984"/>
            <a:ext cx="10698480" cy="256032"/>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658368" y="2560320"/>
            <a:ext cx="10735056" cy="256032"/>
          </a:xfrm>
          <a:prstGeom prst="rect">
            <a:avLst/>
          </a:prstGeom>
          <a:noFill/>
        </p:spPr>
        <p:txBody>
          <a:bodyPr wrap="none">
            <a:spAutoFit/>
          </a:bodyPr>
          <a:lstStyle/>
          <a:p>
            <a:pPr>
              <a:defRPr sz="1400" b="1">
                <a:solidFill>
                  <a:srgbClr val="14324A"/>
                </a:solidFill>
                <a:latin typeface="Microsoft YaHei"/>
              </a:defRPr>
            </a:pPr>
            <a:r>
              <a:t>T034</a:t>
            </a:r>
          </a:p>
        </p:txBody>
      </p:sp>
      <p:pic>
        <p:nvPicPr>
          <p:cNvPr id="18" name="Picture 17" descr="T-034.png"/>
          <p:cNvPicPr>
            <a:picLocks noChangeAspect="1"/>
          </p:cNvPicPr>
          <p:nvPr/>
        </p:nvPicPr>
        <p:blipFill>
          <a:blip r:embed="rId2"/>
          <a:stretch>
            <a:fillRect/>
          </a:stretch>
        </p:blipFill>
        <p:spPr>
          <a:xfrm>
            <a:off x="658368" y="3931545"/>
            <a:ext cx="10735056" cy="131748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06</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水土保持措施与施工安排</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分区措施、工程量和施工窗口形成实施路径。</a:t>
            </a:r>
          </a:p>
        </p:txBody>
      </p:sp>
      <p:sp>
        <p:nvSpPr>
          <p:cNvPr id="7" name="TextBox 6"/>
          <p:cNvSpPr txBox="1"/>
          <p:nvPr/>
        </p:nvSpPr>
        <p:spPr>
          <a:xfrm>
            <a:off x="950976" y="3054096"/>
            <a:ext cx="8595360" cy="530352"/>
          </a:xfrm>
          <a:prstGeom prst="rect">
            <a:avLst/>
          </a:prstGeom>
          <a:noFill/>
        </p:spPr>
        <p:txBody>
          <a:bodyPr wrap="square">
            <a:noAutofit/>
          </a:bodyPr>
          <a:lstStyle/>
          <a:p>
            <a:r>
              <a:rPr sz="1600" b="0">
                <a:solidFill>
                  <a:srgbClr val="14324A"/>
                </a:solidFill>
                <a:latin typeface="Microsoft YaHei"/>
              </a:rPr>
              <a:t>章节内容保留报告中的</a:t>
            </a:r>
            <a:r>
              <a:rPr sz="1600" b="1">
                <a:solidFill>
                  <a:srgbClr val="0E8F8C"/>
                </a:solidFill>
                <a:latin typeface="Microsoft YaHei"/>
              </a:rPr>
              <a:t>源表</a:t>
            </a:r>
            <a:r>
              <a:rPr sz="1600" b="0">
                <a:solidFill>
                  <a:srgbClr val="14324A"/>
                </a:solidFill>
                <a:latin typeface="Microsoft YaHei"/>
              </a:rPr>
              <a:t>、</a:t>
            </a:r>
            <a:r>
              <a:rPr sz="1600" b="1">
                <a:solidFill>
                  <a:srgbClr val="0E8F8C"/>
                </a:solidFill>
                <a:latin typeface="Microsoft YaHei"/>
              </a:rPr>
              <a:t>控制值</a:t>
            </a:r>
            <a:r>
              <a:rPr sz="1600" b="0">
                <a:solidFill>
                  <a:srgbClr val="14324A"/>
                </a:solidFill>
                <a:latin typeface="Microsoft YaHei"/>
              </a:rPr>
              <a:t>和工程关系，并把</a:t>
            </a:r>
            <a:r>
              <a:rPr sz="1600" b="1">
                <a:solidFill>
                  <a:srgbClr val="0E8F8C"/>
                </a:solidFill>
                <a:latin typeface="Microsoft YaHei"/>
              </a:rPr>
              <a:t>范围</a:t>
            </a:r>
            <a:r>
              <a:rPr sz="1600" b="0">
                <a:solidFill>
                  <a:srgbClr val="14324A"/>
                </a:solidFill>
                <a:latin typeface="Microsoft YaHei"/>
              </a:rPr>
              <a:t>、</a:t>
            </a:r>
            <a:r>
              <a:rPr sz="1600" b="1">
                <a:solidFill>
                  <a:srgbClr val="0E8F8C"/>
                </a:solidFill>
                <a:latin typeface="Microsoft YaHei"/>
              </a:rPr>
              <a:t>目标</a:t>
            </a:r>
            <a:r>
              <a:rPr sz="1600" b="0">
                <a:solidFill>
                  <a:srgbClr val="14324A"/>
                </a:solidFill>
                <a:latin typeface="Microsoft YaHei"/>
              </a:rPr>
              <a:t>、</a:t>
            </a:r>
            <a:r>
              <a:rPr sz="1600" b="1">
                <a:solidFill>
                  <a:srgbClr val="0E8F8C"/>
                </a:solidFill>
                <a:latin typeface="Microsoft YaHei"/>
              </a:rPr>
              <a:t>措施</a:t>
            </a:r>
            <a:r>
              <a:rPr sz="1600" b="0">
                <a:solidFill>
                  <a:srgbClr val="14324A"/>
                </a:solidFill>
                <a:latin typeface="Microsoft YaHei"/>
              </a:rPr>
              <a:t>、</a:t>
            </a:r>
            <a:r>
              <a:rPr sz="1600" b="1">
                <a:solidFill>
                  <a:srgbClr val="0E8F8C"/>
                </a:solidFill>
                <a:latin typeface="Microsoft YaHei"/>
              </a:rPr>
              <a:t>投资</a:t>
            </a:r>
            <a:r>
              <a:rPr sz="1600" b="0">
                <a:solidFill>
                  <a:srgbClr val="14324A"/>
                </a:solidFill>
                <a:latin typeface="Microsoft YaHei"/>
              </a:rPr>
              <a:t>、</a:t>
            </a:r>
            <a:r>
              <a:rPr sz="1600" b="1">
                <a:solidFill>
                  <a:srgbClr val="0E8F8C"/>
                </a:solidFill>
                <a:latin typeface="Microsoft YaHei"/>
              </a:rPr>
              <a:t>验收</a:t>
            </a:r>
            <a:r>
              <a:rPr sz="1600" b="0">
                <a:solidFill>
                  <a:srgbClr val="14324A"/>
                </a:solidFill>
                <a:latin typeface="Microsoft YaHei"/>
              </a:rPr>
              <a:t>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r>
              <a:rPr sz="1500" b="0">
                <a:solidFill>
                  <a:srgbClr val="607385"/>
                </a:solidFill>
                <a:latin typeface="Microsoft YaHei"/>
              </a:rPr>
              <a:t>后续页面以该章节证据为核心，展示</a:t>
            </a:r>
            <a:r>
              <a:rPr sz="1500" b="1">
                <a:solidFill>
                  <a:srgbClr val="0E8F8C"/>
                </a:solidFill>
                <a:latin typeface="Microsoft YaHei"/>
              </a:rPr>
              <a:t>原始表格</a:t>
            </a:r>
            <a:r>
              <a:rPr sz="1500" b="0">
                <a:solidFill>
                  <a:srgbClr val="607385"/>
                </a:solidFill>
                <a:latin typeface="Microsoft YaHei"/>
              </a:rPr>
              <a:t>、</a:t>
            </a:r>
            <a:r>
              <a:rPr sz="1500" b="1">
                <a:solidFill>
                  <a:srgbClr val="0E8F8C"/>
                </a:solidFill>
                <a:latin typeface="Microsoft YaHei"/>
              </a:rPr>
              <a:t>计算参数</a:t>
            </a:r>
            <a:r>
              <a:rPr sz="1500" b="0">
                <a:solidFill>
                  <a:srgbClr val="607385"/>
                </a:solidFill>
                <a:latin typeface="Microsoft YaHei"/>
              </a:rPr>
              <a:t>或</a:t>
            </a:r>
            <a:r>
              <a:rPr sz="1500" b="1">
                <a:solidFill>
                  <a:srgbClr val="0E8F8C"/>
                </a:solidFill>
                <a:latin typeface="Microsoft YaHei"/>
              </a:rPr>
              <a:t>报告结论</a:t>
            </a:r>
            <a:r>
              <a:rPr sz="1500" b="0">
                <a:solidFill>
                  <a:srgbClr val="607385"/>
                </a:solidFill>
                <a:latin typeface="Microsoft YaHei"/>
              </a:rPr>
              <a:t>，保持技术过程和结论之间的对应关系。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水土保持措施与施工安排</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防治分区为管网工程区，防治面积</a:t>
            </a:r>
            <a:r>
              <a:rPr sz="2300" b="1">
                <a:solidFill>
                  <a:srgbClr val="0E8F8C"/>
                </a:solidFill>
                <a:latin typeface="Microsoft YaHei"/>
              </a:rPr>
              <a:t>34416.00m</a:t>
            </a:r>
            <a:r>
              <a:rPr sz="2300" b="1">
                <a:solidFill>
                  <a:srgbClr val="14324A"/>
                </a:solidFill>
                <a:latin typeface="Microsoft YaHei"/>
              </a:rPr>
              <a:t>²</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23</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pPr>
              <a:defRPr sz="1450" b="0">
                <a:solidFill>
                  <a:srgbClr val="14324A"/>
                </a:solidFill>
                <a:latin typeface="Microsoft YaHei"/>
              </a:defRPr>
            </a:pPr>
            <a:r>
              <a:t>分区设置：报告将项目区划分为管网工程区。</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防治面积：管网工程区防治面积为</a:t>
            </a:r>
            <a:r>
              <a:rPr sz="1450" b="1">
                <a:solidFill>
                  <a:srgbClr val="0E8F8C"/>
                </a:solidFill>
                <a:latin typeface="Microsoft YaHei"/>
              </a:rPr>
              <a:t>34416.00m</a:t>
            </a:r>
            <a:r>
              <a:rPr sz="1450" b="0">
                <a:solidFill>
                  <a:srgbClr val="14324A"/>
                </a:solidFill>
                <a:latin typeface="Microsoft YaHei"/>
              </a:rPr>
              <a:t>²。</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pPr>
              <a:defRPr sz="1450" b="0">
                <a:solidFill>
                  <a:srgbClr val="14324A"/>
                </a:solidFill>
                <a:latin typeface="Microsoft YaHei"/>
              </a:defRPr>
            </a:pPr>
            <a:r>
              <a:t>管理对象：永久占地为空，临时占地承担主要防治任务。</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T035</a:t>
            </a:r>
          </a:p>
        </p:txBody>
      </p:sp>
      <p:pic>
        <p:nvPicPr>
          <p:cNvPr id="18" name="Picture 17" descr="T-035.png"/>
          <p:cNvPicPr>
            <a:picLocks noChangeAspect="1"/>
          </p:cNvPicPr>
          <p:nvPr/>
        </p:nvPicPr>
        <p:blipFill>
          <a:blip r:embed="rId2"/>
          <a:stretch>
            <a:fillRect/>
          </a:stretch>
        </p:blipFill>
        <p:spPr>
          <a:xfrm>
            <a:off x="4956048" y="3442584"/>
            <a:ext cx="6327648" cy="93295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水土保持措施与施工安排</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措施</a:t>
            </a:r>
            <a:r>
              <a:rPr sz="2300" b="1">
                <a:solidFill>
                  <a:srgbClr val="14324A"/>
                </a:solidFill>
                <a:latin typeface="Microsoft YaHei"/>
              </a:rPr>
              <a:t>体系覆盖工程、植物和临时三类</a:t>
            </a:r>
            <a:r>
              <a:rPr sz="2300" b="1">
                <a:solidFill>
                  <a:srgbClr val="0E8F8C"/>
                </a:solidFill>
                <a:latin typeface="Microsoft YaHei"/>
              </a:rPr>
              <a:t>措施</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24</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工程</a:t>
            </a:r>
            <a:r>
              <a:rPr sz="1420" b="1">
                <a:solidFill>
                  <a:srgbClr val="0E8F8C"/>
                </a:solidFill>
                <a:latin typeface="Microsoft YaHei"/>
              </a:rPr>
              <a:t>措施</a:t>
            </a:r>
            <a:r>
              <a:rPr sz="1420" b="0">
                <a:solidFill>
                  <a:srgbClr val="14324A"/>
                </a:solidFill>
                <a:latin typeface="Microsoft YaHei"/>
              </a:rPr>
              <a:t>：主体已有土地整治，方案新增</a:t>
            </a:r>
            <a:r>
              <a:rPr sz="1420" b="1">
                <a:solidFill>
                  <a:srgbClr val="0E8F8C"/>
                </a:solidFill>
                <a:latin typeface="Microsoft YaHei"/>
              </a:rPr>
              <a:t>表土剥离</a:t>
            </a:r>
            <a:r>
              <a:rPr sz="1420" b="0">
                <a:solidFill>
                  <a:srgbClr val="14324A"/>
                </a:solidFill>
                <a:latin typeface="Microsoft YaHei"/>
              </a:rPr>
              <a:t>和表土回覆。</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植物</a:t>
            </a:r>
            <a:r>
              <a:rPr sz="1420" b="1">
                <a:solidFill>
                  <a:srgbClr val="0E8F8C"/>
                </a:solidFill>
                <a:latin typeface="Microsoft YaHei"/>
              </a:rPr>
              <a:t>措施</a:t>
            </a:r>
            <a:r>
              <a:rPr sz="1420" b="0">
                <a:solidFill>
                  <a:srgbClr val="14324A"/>
                </a:solidFill>
                <a:latin typeface="Microsoft YaHei"/>
              </a:rPr>
              <a:t>：主体已有铺种草皮。</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临时</a:t>
            </a:r>
            <a:r>
              <a:rPr sz="1420" b="1">
                <a:solidFill>
                  <a:srgbClr val="0E8F8C"/>
                </a:solidFill>
                <a:latin typeface="Microsoft YaHei"/>
              </a:rPr>
              <a:t>措施</a:t>
            </a:r>
            <a:r>
              <a:rPr sz="1420" b="0">
                <a:solidFill>
                  <a:srgbClr val="14324A"/>
                </a:solidFill>
                <a:latin typeface="Microsoft YaHei"/>
              </a:rPr>
              <a:t>：报告列示临时苫盖、高压洗车池和临时排水沉沙</a:t>
            </a:r>
            <a:r>
              <a:rPr sz="1420" b="1">
                <a:solidFill>
                  <a:srgbClr val="0E8F8C"/>
                </a:solidFill>
                <a:latin typeface="Microsoft YaHei"/>
              </a:rPr>
              <a:t>措施</a:t>
            </a:r>
            <a:r>
              <a:rPr sz="1420" b="0">
                <a:solidFill>
                  <a:srgbClr val="14324A"/>
                </a:solidFill>
                <a:latin typeface="Microsoft YaHei"/>
              </a:rPr>
              <a:t>。</a:t>
            </a:r>
          </a:p>
        </p:txBody>
      </p:sp>
      <p:sp>
        <p:nvSpPr>
          <p:cNvPr id="16" name="TextBox 15"/>
          <p:cNvSpPr txBox="1"/>
          <p:nvPr/>
        </p:nvSpPr>
        <p:spPr>
          <a:xfrm>
            <a:off x="658368" y="2157984"/>
            <a:ext cx="10698480" cy="256032"/>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658368" y="2560320"/>
            <a:ext cx="10735056" cy="256032"/>
          </a:xfrm>
          <a:prstGeom prst="rect">
            <a:avLst/>
          </a:prstGeom>
          <a:noFill/>
        </p:spPr>
        <p:txBody>
          <a:bodyPr wrap="none">
            <a:spAutoFit/>
          </a:bodyPr>
          <a:lstStyle/>
          <a:p>
            <a:pPr>
              <a:defRPr sz="1400" b="1">
                <a:solidFill>
                  <a:srgbClr val="14324A"/>
                </a:solidFill>
                <a:latin typeface="Microsoft YaHei"/>
              </a:defRPr>
            </a:pPr>
            <a:r>
              <a:t>T036</a:t>
            </a:r>
          </a:p>
        </p:txBody>
      </p:sp>
      <p:pic>
        <p:nvPicPr>
          <p:cNvPr id="18" name="Picture 17" descr="T-036.png"/>
          <p:cNvPicPr>
            <a:picLocks noChangeAspect="1"/>
          </p:cNvPicPr>
          <p:nvPr/>
        </p:nvPicPr>
        <p:blipFill>
          <a:blip r:embed="rId2"/>
          <a:stretch>
            <a:fillRect/>
          </a:stretch>
        </p:blipFill>
        <p:spPr>
          <a:xfrm>
            <a:off x="658368" y="3716590"/>
            <a:ext cx="10735056" cy="1747395"/>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水土保持措施与施工安排</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措施</a:t>
            </a:r>
            <a:r>
              <a:rPr sz="2300" b="1">
                <a:solidFill>
                  <a:srgbClr val="14324A"/>
                </a:solidFill>
                <a:latin typeface="Microsoft YaHei"/>
              </a:rPr>
              <a:t>实施进度嵌入</a:t>
            </a:r>
            <a:r>
              <a:rPr sz="2300" b="1">
                <a:solidFill>
                  <a:srgbClr val="0E8F8C"/>
                </a:solidFill>
                <a:latin typeface="Microsoft YaHei"/>
              </a:rPr>
              <a:t>2025</a:t>
            </a:r>
            <a:r>
              <a:rPr sz="2300" b="1">
                <a:solidFill>
                  <a:srgbClr val="14324A"/>
                </a:solidFill>
                <a:latin typeface="Microsoft YaHei"/>
              </a:rPr>
              <a:t>—</a:t>
            </a:r>
            <a:r>
              <a:rPr sz="2300" b="1">
                <a:solidFill>
                  <a:srgbClr val="0E8F8C"/>
                </a:solidFill>
                <a:latin typeface="Microsoft YaHei"/>
              </a:rPr>
              <a:t>2026年</a:t>
            </a:r>
            <a:r>
              <a:rPr sz="2300" b="1">
                <a:solidFill>
                  <a:srgbClr val="14324A"/>
                </a:solidFill>
                <a:latin typeface="Microsoft YaHei"/>
              </a:rPr>
              <a:t>施工窗口</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25</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工期窗口：水土保持工程施工衔接</a:t>
            </a:r>
            <a:r>
              <a:rPr sz="1420" b="1">
                <a:solidFill>
                  <a:srgbClr val="0E8F8C"/>
                </a:solidFill>
                <a:latin typeface="Microsoft YaHei"/>
              </a:rPr>
              <a:t>2025年</a:t>
            </a:r>
            <a:r>
              <a:rPr sz="1420" b="1">
                <a:solidFill>
                  <a:srgbClr val="0E8F8C"/>
                </a:solidFill>
                <a:latin typeface="Microsoft YaHei"/>
              </a:rPr>
              <a:t>12月</a:t>
            </a:r>
            <a:r>
              <a:rPr sz="1420" b="0">
                <a:solidFill>
                  <a:srgbClr val="14324A"/>
                </a:solidFill>
                <a:latin typeface="Microsoft YaHei"/>
              </a:rPr>
              <a:t>至</a:t>
            </a:r>
            <a:r>
              <a:rPr sz="1420" b="1">
                <a:solidFill>
                  <a:srgbClr val="0E8F8C"/>
                </a:solidFill>
                <a:latin typeface="Microsoft YaHei"/>
              </a:rPr>
              <a:t>2026年</a:t>
            </a:r>
            <a:r>
              <a:rPr sz="1420" b="1">
                <a:solidFill>
                  <a:srgbClr val="0E8F8C"/>
                </a:solidFill>
                <a:latin typeface="Microsoft YaHei"/>
              </a:rPr>
              <a:t>12月</a:t>
            </a:r>
            <a:r>
              <a:rPr sz="1420" b="0">
                <a:solidFill>
                  <a:srgbClr val="14324A"/>
                </a:solidFill>
                <a:latin typeface="Microsoft YaHei"/>
              </a:rPr>
              <a:t>。</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1">
                <a:solidFill>
                  <a:srgbClr val="0E8F8C"/>
                </a:solidFill>
                <a:latin typeface="Microsoft YaHei"/>
              </a:rPr>
              <a:t>措施</a:t>
            </a:r>
            <a:r>
              <a:rPr sz="1420" b="0">
                <a:solidFill>
                  <a:srgbClr val="14324A"/>
                </a:solidFill>
                <a:latin typeface="Microsoft YaHei"/>
              </a:rPr>
              <a:t>节奏：</a:t>
            </a:r>
            <a:r>
              <a:rPr sz="1420" b="1">
                <a:solidFill>
                  <a:srgbClr val="0E8F8C"/>
                </a:solidFill>
                <a:latin typeface="Microsoft YaHei"/>
              </a:rPr>
              <a:t>临时防护</a:t>
            </a:r>
            <a:r>
              <a:rPr sz="1420" b="0">
                <a:solidFill>
                  <a:srgbClr val="14324A"/>
                </a:solidFill>
                <a:latin typeface="Microsoft YaHei"/>
              </a:rPr>
              <a:t>、表土</a:t>
            </a:r>
            <a:r>
              <a:rPr sz="1420" b="1">
                <a:solidFill>
                  <a:srgbClr val="0E8F8C"/>
                </a:solidFill>
                <a:latin typeface="Microsoft YaHei"/>
              </a:rPr>
              <a:t>措施</a:t>
            </a:r>
            <a:r>
              <a:rPr sz="1420" b="0">
                <a:solidFill>
                  <a:srgbClr val="14324A"/>
                </a:solidFill>
                <a:latin typeface="Microsoft YaHei"/>
              </a:rPr>
              <a:t>和植物</a:t>
            </a:r>
            <a:r>
              <a:rPr sz="1420" b="1">
                <a:solidFill>
                  <a:srgbClr val="0E8F8C"/>
                </a:solidFill>
                <a:latin typeface="Microsoft YaHei"/>
              </a:rPr>
              <a:t>措施</a:t>
            </a:r>
            <a:r>
              <a:rPr sz="1420" b="0">
                <a:solidFill>
                  <a:srgbClr val="14324A"/>
                </a:solidFill>
                <a:latin typeface="Microsoft YaHei"/>
              </a:rPr>
              <a:t>按施工过程分期安排。</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进度关系：</a:t>
            </a:r>
            <a:r>
              <a:rPr sz="1420" b="1">
                <a:solidFill>
                  <a:srgbClr val="0E8F8C"/>
                </a:solidFill>
                <a:latin typeface="Microsoft YaHei"/>
              </a:rPr>
              <a:t>措施</a:t>
            </a:r>
            <a:r>
              <a:rPr sz="1420" b="0">
                <a:solidFill>
                  <a:srgbClr val="14324A"/>
                </a:solidFill>
                <a:latin typeface="Microsoft YaHei"/>
              </a:rPr>
              <a:t>实施与主体工程施工时序保持同步。</a:t>
            </a:r>
          </a:p>
        </p:txBody>
      </p:sp>
      <p:sp>
        <p:nvSpPr>
          <p:cNvPr id="16" name="TextBox 15"/>
          <p:cNvSpPr txBox="1"/>
          <p:nvPr/>
        </p:nvSpPr>
        <p:spPr>
          <a:xfrm>
            <a:off x="658368" y="2157984"/>
            <a:ext cx="10698480" cy="256032"/>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658368" y="2560320"/>
            <a:ext cx="10735056" cy="256032"/>
          </a:xfrm>
          <a:prstGeom prst="rect">
            <a:avLst/>
          </a:prstGeom>
          <a:noFill/>
        </p:spPr>
        <p:txBody>
          <a:bodyPr wrap="none">
            <a:spAutoFit/>
          </a:bodyPr>
          <a:lstStyle/>
          <a:p>
            <a:pPr>
              <a:defRPr sz="1400" b="1">
                <a:solidFill>
                  <a:srgbClr val="14324A"/>
                </a:solidFill>
                <a:latin typeface="Microsoft YaHei"/>
              </a:defRPr>
            </a:pPr>
            <a:r>
              <a:t>T038</a:t>
            </a:r>
          </a:p>
        </p:txBody>
      </p:sp>
      <p:pic>
        <p:nvPicPr>
          <p:cNvPr id="18" name="Picture 17" descr="T-038.png"/>
          <p:cNvPicPr>
            <a:picLocks noChangeAspect="1"/>
          </p:cNvPicPr>
          <p:nvPr/>
        </p:nvPicPr>
        <p:blipFill>
          <a:blip r:embed="rId2"/>
          <a:stretch>
            <a:fillRect/>
          </a:stretch>
        </p:blipFill>
        <p:spPr>
          <a:xfrm>
            <a:off x="658368" y="3069613"/>
            <a:ext cx="10735056" cy="304134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786384"/>
            <a:ext cx="146304" cy="440740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2688" y="914400"/>
            <a:ext cx="914400" cy="292608"/>
          </a:xfrm>
          <a:prstGeom prst="rect">
            <a:avLst/>
          </a:prstGeom>
          <a:noFill/>
        </p:spPr>
        <p:txBody>
          <a:bodyPr wrap="square">
            <a:noAutofit/>
          </a:bodyPr>
          <a:lstStyle/>
          <a:p>
            <a:pPr>
              <a:defRPr sz="2000" b="1">
                <a:solidFill>
                  <a:srgbClr val="0E8F8C"/>
                </a:solidFill>
                <a:latin typeface="Microsoft YaHei"/>
              </a:defRPr>
            </a:pPr>
            <a:r>
              <a:t>07</a:t>
            </a:r>
          </a:p>
        </p:txBody>
      </p:sp>
      <p:sp>
        <p:nvSpPr>
          <p:cNvPr id="5" name="TextBox 4"/>
          <p:cNvSpPr txBox="1"/>
          <p:nvPr/>
        </p:nvSpPr>
        <p:spPr>
          <a:xfrm>
            <a:off x="932688" y="1463040"/>
            <a:ext cx="8046720" cy="566928"/>
          </a:xfrm>
          <a:prstGeom prst="rect">
            <a:avLst/>
          </a:prstGeom>
          <a:noFill/>
        </p:spPr>
        <p:txBody>
          <a:bodyPr wrap="square">
            <a:noAutofit/>
          </a:bodyPr>
          <a:lstStyle/>
          <a:p>
            <a:pPr>
              <a:defRPr sz="2800" b="1">
                <a:solidFill>
                  <a:srgbClr val="14324A"/>
                </a:solidFill>
                <a:latin typeface="Microsoft YaHei"/>
              </a:defRPr>
            </a:pPr>
            <a:r>
              <a:t>投资概算、效益与管理验收</a:t>
            </a:r>
          </a:p>
        </p:txBody>
      </p:sp>
      <p:sp>
        <p:nvSpPr>
          <p:cNvPr id="6" name="TextBox 5"/>
          <p:cNvSpPr txBox="1"/>
          <p:nvPr/>
        </p:nvSpPr>
        <p:spPr>
          <a:xfrm>
            <a:off x="950976" y="2340864"/>
            <a:ext cx="8046720" cy="402336"/>
          </a:xfrm>
          <a:prstGeom prst="rect">
            <a:avLst/>
          </a:prstGeom>
          <a:noFill/>
        </p:spPr>
        <p:txBody>
          <a:bodyPr wrap="square">
            <a:noAutofit/>
          </a:bodyPr>
          <a:lstStyle/>
          <a:p>
            <a:pPr>
              <a:defRPr sz="1800" b="0">
                <a:solidFill>
                  <a:srgbClr val="607385"/>
                </a:solidFill>
                <a:latin typeface="Microsoft YaHei"/>
              </a:defRPr>
            </a:pPr>
            <a:r>
              <a:t>投资、补偿费、效益和验收管理形成闭环。</a:t>
            </a:r>
          </a:p>
        </p:txBody>
      </p:sp>
      <p:sp>
        <p:nvSpPr>
          <p:cNvPr id="7" name="TextBox 6"/>
          <p:cNvSpPr txBox="1"/>
          <p:nvPr/>
        </p:nvSpPr>
        <p:spPr>
          <a:xfrm>
            <a:off x="950976" y="3054096"/>
            <a:ext cx="8595360" cy="530352"/>
          </a:xfrm>
          <a:prstGeom prst="rect">
            <a:avLst/>
          </a:prstGeom>
          <a:noFill/>
        </p:spPr>
        <p:txBody>
          <a:bodyPr wrap="square">
            <a:noAutofit/>
          </a:bodyPr>
          <a:lstStyle/>
          <a:p>
            <a:r>
              <a:rPr sz="1600" b="0">
                <a:solidFill>
                  <a:srgbClr val="14324A"/>
                </a:solidFill>
                <a:latin typeface="Microsoft YaHei"/>
              </a:rPr>
              <a:t>章节内容保留报告中的</a:t>
            </a:r>
            <a:r>
              <a:rPr sz="1600" b="1">
                <a:solidFill>
                  <a:srgbClr val="0E8F8C"/>
                </a:solidFill>
                <a:latin typeface="Microsoft YaHei"/>
              </a:rPr>
              <a:t>源表</a:t>
            </a:r>
            <a:r>
              <a:rPr sz="1600" b="0">
                <a:solidFill>
                  <a:srgbClr val="14324A"/>
                </a:solidFill>
                <a:latin typeface="Microsoft YaHei"/>
              </a:rPr>
              <a:t>、</a:t>
            </a:r>
            <a:r>
              <a:rPr sz="1600" b="1">
                <a:solidFill>
                  <a:srgbClr val="0E8F8C"/>
                </a:solidFill>
                <a:latin typeface="Microsoft YaHei"/>
              </a:rPr>
              <a:t>控制值</a:t>
            </a:r>
            <a:r>
              <a:rPr sz="1600" b="0">
                <a:solidFill>
                  <a:srgbClr val="14324A"/>
                </a:solidFill>
                <a:latin typeface="Microsoft YaHei"/>
              </a:rPr>
              <a:t>和工程关系，并把</a:t>
            </a:r>
            <a:r>
              <a:rPr sz="1600" b="1">
                <a:solidFill>
                  <a:srgbClr val="0E8F8C"/>
                </a:solidFill>
                <a:latin typeface="Microsoft YaHei"/>
              </a:rPr>
              <a:t>范围</a:t>
            </a:r>
            <a:r>
              <a:rPr sz="1600" b="0">
                <a:solidFill>
                  <a:srgbClr val="14324A"/>
                </a:solidFill>
                <a:latin typeface="Microsoft YaHei"/>
              </a:rPr>
              <a:t>、</a:t>
            </a:r>
            <a:r>
              <a:rPr sz="1600" b="1">
                <a:solidFill>
                  <a:srgbClr val="0E8F8C"/>
                </a:solidFill>
                <a:latin typeface="Microsoft YaHei"/>
              </a:rPr>
              <a:t>目标</a:t>
            </a:r>
            <a:r>
              <a:rPr sz="1600" b="0">
                <a:solidFill>
                  <a:srgbClr val="14324A"/>
                </a:solidFill>
                <a:latin typeface="Microsoft YaHei"/>
              </a:rPr>
              <a:t>、</a:t>
            </a:r>
            <a:r>
              <a:rPr sz="1600" b="1">
                <a:solidFill>
                  <a:srgbClr val="0E8F8C"/>
                </a:solidFill>
                <a:latin typeface="Microsoft YaHei"/>
              </a:rPr>
              <a:t>措施</a:t>
            </a:r>
            <a:r>
              <a:rPr sz="1600" b="0">
                <a:solidFill>
                  <a:srgbClr val="14324A"/>
                </a:solidFill>
                <a:latin typeface="Microsoft YaHei"/>
              </a:rPr>
              <a:t>、</a:t>
            </a:r>
            <a:r>
              <a:rPr sz="1600" b="1">
                <a:solidFill>
                  <a:srgbClr val="0E8F8C"/>
                </a:solidFill>
                <a:latin typeface="Microsoft YaHei"/>
              </a:rPr>
              <a:t>投资</a:t>
            </a:r>
            <a:r>
              <a:rPr sz="1600" b="0">
                <a:solidFill>
                  <a:srgbClr val="14324A"/>
                </a:solidFill>
                <a:latin typeface="Microsoft YaHei"/>
              </a:rPr>
              <a:t>、</a:t>
            </a:r>
            <a:r>
              <a:rPr sz="1600" b="1">
                <a:solidFill>
                  <a:srgbClr val="0E8F8C"/>
                </a:solidFill>
                <a:latin typeface="Microsoft YaHei"/>
              </a:rPr>
              <a:t>验收</a:t>
            </a:r>
            <a:r>
              <a:rPr sz="1600" b="0">
                <a:solidFill>
                  <a:srgbClr val="14324A"/>
                </a:solidFill>
                <a:latin typeface="Microsoft YaHei"/>
              </a:rPr>
              <a:t>等关键项放在同一叙事链条中。</a:t>
            </a:r>
          </a:p>
        </p:txBody>
      </p:sp>
      <p:sp>
        <p:nvSpPr>
          <p:cNvPr id="8" name="TextBox 7"/>
          <p:cNvSpPr txBox="1"/>
          <p:nvPr/>
        </p:nvSpPr>
        <p:spPr>
          <a:xfrm>
            <a:off x="950976" y="3822191"/>
            <a:ext cx="8229600" cy="457200"/>
          </a:xfrm>
          <a:prstGeom prst="rect">
            <a:avLst/>
          </a:prstGeom>
          <a:noFill/>
        </p:spPr>
        <p:txBody>
          <a:bodyPr wrap="square">
            <a:noAutofit/>
          </a:bodyPr>
          <a:lstStyle/>
          <a:p>
            <a:r>
              <a:rPr sz="1500" b="0">
                <a:solidFill>
                  <a:srgbClr val="607385"/>
                </a:solidFill>
                <a:latin typeface="Microsoft YaHei"/>
              </a:rPr>
              <a:t>后续页面以该章节证据为核心，展示</a:t>
            </a:r>
            <a:r>
              <a:rPr sz="1500" b="1">
                <a:solidFill>
                  <a:srgbClr val="0E8F8C"/>
                </a:solidFill>
                <a:latin typeface="Microsoft YaHei"/>
              </a:rPr>
              <a:t>原始表格</a:t>
            </a:r>
            <a:r>
              <a:rPr sz="1500" b="0">
                <a:solidFill>
                  <a:srgbClr val="607385"/>
                </a:solidFill>
                <a:latin typeface="Microsoft YaHei"/>
              </a:rPr>
              <a:t>、</a:t>
            </a:r>
            <a:r>
              <a:rPr sz="1500" b="1">
                <a:solidFill>
                  <a:srgbClr val="0E8F8C"/>
                </a:solidFill>
                <a:latin typeface="Microsoft YaHei"/>
              </a:rPr>
              <a:t>计算参数</a:t>
            </a:r>
            <a:r>
              <a:rPr sz="1500" b="0">
                <a:solidFill>
                  <a:srgbClr val="607385"/>
                </a:solidFill>
                <a:latin typeface="Microsoft YaHei"/>
              </a:rPr>
              <a:t>或</a:t>
            </a:r>
            <a:r>
              <a:rPr sz="1500" b="1">
                <a:solidFill>
                  <a:srgbClr val="0E8F8C"/>
                </a:solidFill>
                <a:latin typeface="Microsoft YaHei"/>
              </a:rPr>
              <a:t>报告结论</a:t>
            </a:r>
            <a:r>
              <a:rPr sz="1500" b="0">
                <a:solidFill>
                  <a:srgbClr val="607385"/>
                </a:solidFill>
                <a:latin typeface="Microsoft YaHei"/>
              </a:rPr>
              <a:t>，保持技术过程和结论之间的对应关系。</a:t>
            </a:r>
          </a:p>
        </p:txBody>
      </p:sp>
      <p:sp>
        <p:nvSpPr>
          <p:cNvPr id="9" name="TextBox 8"/>
          <p:cNvSpPr txBox="1"/>
          <p:nvPr/>
        </p:nvSpPr>
        <p:spPr>
          <a:xfrm>
            <a:off x="10835640" y="6236208"/>
            <a:ext cx="502920" cy="182880"/>
          </a:xfrm>
          <a:prstGeom prst="rect">
            <a:avLst/>
          </a:prstGeom>
          <a:noFill/>
        </p:spPr>
        <p:txBody>
          <a:bodyPr wrap="square">
            <a:noAutofit/>
          </a:bodyPr>
          <a:lstStyle/>
          <a:p>
            <a:pPr algn="r">
              <a:defRPr sz="900" b="1">
                <a:solidFill>
                  <a:srgbClr val="607385"/>
                </a:solidFill>
                <a:latin typeface="Microsoft YaHe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水土保持总投资</a:t>
            </a:r>
            <a:r>
              <a:rPr sz="2300" b="1">
                <a:solidFill>
                  <a:srgbClr val="0E8F8C"/>
                </a:solidFill>
                <a:latin typeface="Microsoft YaHei"/>
              </a:rPr>
              <a:t>26.9211万元</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27</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r>
              <a:rPr sz="1450" b="0">
                <a:solidFill>
                  <a:srgbClr val="14324A"/>
                </a:solidFill>
                <a:latin typeface="Microsoft YaHei"/>
              </a:rPr>
              <a:t>总投资：水土保持总投资为</a:t>
            </a:r>
            <a:r>
              <a:rPr sz="1450" b="1">
                <a:solidFill>
                  <a:srgbClr val="0E8F8C"/>
                </a:solidFill>
                <a:latin typeface="Microsoft YaHei"/>
              </a:rPr>
              <a:t>26.9211万元</a:t>
            </a:r>
            <a:r>
              <a:rPr sz="1450" b="0">
                <a:solidFill>
                  <a:srgbClr val="14324A"/>
                </a:solidFill>
                <a:latin typeface="Microsoft YaHei"/>
              </a:rPr>
              <a:t>。</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pPr>
              <a:defRPr sz="1450" b="0">
                <a:solidFill>
                  <a:srgbClr val="14324A"/>
                </a:solidFill>
                <a:latin typeface="Microsoft YaHei"/>
              </a:defRPr>
            </a:pPr>
            <a:r>
              <a:t>分项构成：新增投资、主体工程已列投资和独立费用分项计列。</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费用关系：工程</a:t>
            </a:r>
            <a:r>
              <a:rPr sz="1450" b="1">
                <a:solidFill>
                  <a:srgbClr val="0E8F8C"/>
                </a:solidFill>
                <a:latin typeface="Microsoft YaHei"/>
              </a:rPr>
              <a:t>措施</a:t>
            </a:r>
            <a:r>
              <a:rPr sz="1450" b="0">
                <a:solidFill>
                  <a:srgbClr val="14324A"/>
                </a:solidFill>
                <a:latin typeface="Microsoft YaHei"/>
              </a:rPr>
              <a:t>、植物</a:t>
            </a:r>
            <a:r>
              <a:rPr sz="1450" b="1">
                <a:solidFill>
                  <a:srgbClr val="0E8F8C"/>
                </a:solidFill>
                <a:latin typeface="Microsoft YaHei"/>
              </a:rPr>
              <a:t>措施</a:t>
            </a:r>
            <a:r>
              <a:rPr sz="1450" b="0">
                <a:solidFill>
                  <a:srgbClr val="14324A"/>
                </a:solidFill>
                <a:latin typeface="Microsoft YaHei"/>
              </a:rPr>
              <a:t>和临时</a:t>
            </a:r>
            <a:r>
              <a:rPr sz="1450" b="1">
                <a:solidFill>
                  <a:srgbClr val="0E8F8C"/>
                </a:solidFill>
                <a:latin typeface="Microsoft YaHei"/>
              </a:rPr>
              <a:t>措施</a:t>
            </a:r>
            <a:r>
              <a:rPr sz="1450" b="0">
                <a:solidFill>
                  <a:srgbClr val="14324A"/>
                </a:solidFill>
                <a:latin typeface="Microsoft YaHei"/>
              </a:rPr>
              <a:t>共同进入概算体系。</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T040</a:t>
            </a:r>
          </a:p>
        </p:txBody>
      </p:sp>
      <p:pic>
        <p:nvPicPr>
          <p:cNvPr id="18" name="Picture 17" descr="T-040.png"/>
          <p:cNvPicPr>
            <a:picLocks noChangeAspect="1"/>
          </p:cNvPicPr>
          <p:nvPr/>
        </p:nvPicPr>
        <p:blipFill>
          <a:blip r:embed="rId2"/>
          <a:stretch>
            <a:fillRect/>
          </a:stretch>
        </p:blipFill>
        <p:spPr>
          <a:xfrm>
            <a:off x="7200423" y="1572768"/>
            <a:ext cx="1838896" cy="1240535"/>
          </a:xfrm>
          <a:prstGeom prst="rect">
            <a:avLst/>
          </a:prstGeom>
        </p:spPr>
      </p:pic>
      <p:sp>
        <p:nvSpPr>
          <p:cNvPr id="19" name="TextBox 18"/>
          <p:cNvSpPr txBox="1"/>
          <p:nvPr/>
        </p:nvSpPr>
        <p:spPr>
          <a:xfrm>
            <a:off x="4956048" y="2977895"/>
            <a:ext cx="6327648" cy="256032"/>
          </a:xfrm>
          <a:prstGeom prst="rect">
            <a:avLst/>
          </a:prstGeom>
          <a:noFill/>
        </p:spPr>
        <p:txBody>
          <a:bodyPr wrap="none">
            <a:spAutoFit/>
          </a:bodyPr>
          <a:lstStyle/>
          <a:p>
            <a:pPr>
              <a:defRPr sz="1400" b="1">
                <a:solidFill>
                  <a:srgbClr val="14324A"/>
                </a:solidFill>
                <a:latin typeface="Microsoft YaHei"/>
              </a:defRPr>
            </a:pPr>
            <a:r>
              <a:t>T041</a:t>
            </a:r>
          </a:p>
        </p:txBody>
      </p:sp>
      <p:pic>
        <p:nvPicPr>
          <p:cNvPr id="20" name="Picture 19" descr="T-041.png"/>
          <p:cNvPicPr>
            <a:picLocks noChangeAspect="1"/>
          </p:cNvPicPr>
          <p:nvPr/>
        </p:nvPicPr>
        <p:blipFill>
          <a:blip r:embed="rId3"/>
          <a:stretch>
            <a:fillRect/>
          </a:stretch>
        </p:blipFill>
        <p:spPr>
          <a:xfrm>
            <a:off x="5391503" y="3288791"/>
            <a:ext cx="5456736" cy="1240535"/>
          </a:xfrm>
          <a:prstGeom prst="rect">
            <a:avLst/>
          </a:prstGeom>
        </p:spPr>
      </p:pic>
      <p:sp>
        <p:nvSpPr>
          <p:cNvPr id="21" name="TextBox 20"/>
          <p:cNvSpPr txBox="1"/>
          <p:nvPr/>
        </p:nvSpPr>
        <p:spPr>
          <a:xfrm>
            <a:off x="4956048" y="4693920"/>
            <a:ext cx="6327648" cy="256032"/>
          </a:xfrm>
          <a:prstGeom prst="rect">
            <a:avLst/>
          </a:prstGeom>
          <a:noFill/>
        </p:spPr>
        <p:txBody>
          <a:bodyPr wrap="none">
            <a:spAutoFit/>
          </a:bodyPr>
          <a:lstStyle/>
          <a:p>
            <a:pPr>
              <a:defRPr sz="1400" b="1">
                <a:solidFill>
                  <a:srgbClr val="14324A"/>
                </a:solidFill>
                <a:latin typeface="Microsoft YaHei"/>
              </a:defRPr>
            </a:pPr>
            <a:r>
              <a:t>T042</a:t>
            </a:r>
          </a:p>
        </p:txBody>
      </p:sp>
      <p:pic>
        <p:nvPicPr>
          <p:cNvPr id="22" name="Picture 21" descr="T-042.png"/>
          <p:cNvPicPr>
            <a:picLocks noChangeAspect="1"/>
          </p:cNvPicPr>
          <p:nvPr/>
        </p:nvPicPr>
        <p:blipFill>
          <a:blip r:embed="rId4"/>
          <a:stretch>
            <a:fillRect/>
          </a:stretch>
        </p:blipFill>
        <p:spPr>
          <a:xfrm>
            <a:off x="4956048" y="5115410"/>
            <a:ext cx="6327648" cy="1019347"/>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水土保持补偿费</a:t>
            </a:r>
            <a:r>
              <a:rPr sz="2300" b="1">
                <a:solidFill>
                  <a:srgbClr val="0E8F8C"/>
                </a:solidFill>
                <a:latin typeface="Microsoft YaHei"/>
              </a:rPr>
              <a:t>51624</a:t>
            </a:r>
            <a:r>
              <a:rPr sz="2300" b="1">
                <a:solidFill>
                  <a:srgbClr val="14324A"/>
                </a:solidFill>
                <a:latin typeface="Microsoft YaHei"/>
              </a:rPr>
              <a:t>元符合免征情形</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28</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3502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376172"/>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298448"/>
            <a:ext cx="3639312" cy="1447800"/>
          </a:xfrm>
          <a:prstGeom prst="rect">
            <a:avLst/>
          </a:prstGeom>
          <a:noFill/>
        </p:spPr>
        <p:txBody>
          <a:bodyPr wrap="square">
            <a:noAutofit/>
          </a:bodyPr>
          <a:lstStyle/>
          <a:p>
            <a:r>
              <a:rPr sz="1450" b="0">
                <a:solidFill>
                  <a:srgbClr val="14324A"/>
                </a:solidFill>
                <a:latin typeface="Microsoft YaHei"/>
              </a:rPr>
              <a:t>征占面积：补偿费计算面积为</a:t>
            </a:r>
            <a:r>
              <a:rPr sz="1450" b="1">
                <a:solidFill>
                  <a:srgbClr val="0E8F8C"/>
                </a:solidFill>
                <a:latin typeface="Microsoft YaHei"/>
              </a:rPr>
              <a:t>34416m</a:t>
            </a:r>
            <a:r>
              <a:rPr sz="1450" b="0">
                <a:solidFill>
                  <a:srgbClr val="14324A"/>
                </a:solidFill>
                <a:latin typeface="Microsoft YaHei"/>
              </a:rPr>
              <a:t>²。</a:t>
            </a:r>
          </a:p>
        </p:txBody>
      </p:sp>
      <p:sp>
        <p:nvSpPr>
          <p:cNvPr id="10" name="Rectangle 9"/>
          <p:cNvSpPr/>
          <p:nvPr/>
        </p:nvSpPr>
        <p:spPr>
          <a:xfrm>
            <a:off x="658368" y="282854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2869692"/>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2791968"/>
            <a:ext cx="3639312" cy="1447800"/>
          </a:xfrm>
          <a:prstGeom prst="rect">
            <a:avLst/>
          </a:prstGeom>
          <a:noFill/>
        </p:spPr>
        <p:txBody>
          <a:bodyPr wrap="square">
            <a:noAutofit/>
          </a:bodyPr>
          <a:lstStyle/>
          <a:p>
            <a:r>
              <a:rPr sz="1450" b="0">
                <a:solidFill>
                  <a:srgbClr val="14324A"/>
                </a:solidFill>
                <a:latin typeface="Microsoft YaHei"/>
              </a:rPr>
              <a:t>计费标准：报告列示收费标准为</a:t>
            </a:r>
            <a:r>
              <a:rPr sz="1450" b="1">
                <a:solidFill>
                  <a:srgbClr val="0E8F8C"/>
                </a:solidFill>
                <a:latin typeface="Microsoft YaHei"/>
              </a:rPr>
              <a:t>1.5</a:t>
            </a:r>
            <a:r>
              <a:rPr sz="1450" b="0">
                <a:solidFill>
                  <a:srgbClr val="14324A"/>
                </a:solidFill>
                <a:latin typeface="Microsoft YaHei"/>
              </a:rPr>
              <a:t>元/m²。</a:t>
            </a:r>
          </a:p>
        </p:txBody>
      </p:sp>
      <p:sp>
        <p:nvSpPr>
          <p:cNvPr id="13" name="Rectangle 12"/>
          <p:cNvSpPr/>
          <p:nvPr/>
        </p:nvSpPr>
        <p:spPr>
          <a:xfrm>
            <a:off x="658368" y="4322064"/>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4363212"/>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4285488"/>
            <a:ext cx="3639312" cy="1447800"/>
          </a:xfrm>
          <a:prstGeom prst="rect">
            <a:avLst/>
          </a:prstGeom>
          <a:noFill/>
        </p:spPr>
        <p:txBody>
          <a:bodyPr wrap="square">
            <a:noAutofit/>
          </a:bodyPr>
          <a:lstStyle/>
          <a:p>
            <a:r>
              <a:rPr sz="1450" b="0">
                <a:solidFill>
                  <a:srgbClr val="14324A"/>
                </a:solidFill>
                <a:latin typeface="Microsoft YaHei"/>
              </a:rPr>
              <a:t>计算金额：水土保持补偿费为</a:t>
            </a:r>
            <a:r>
              <a:rPr sz="1450" b="1">
                <a:solidFill>
                  <a:srgbClr val="0E8F8C"/>
                </a:solidFill>
                <a:latin typeface="Microsoft YaHei"/>
              </a:rPr>
              <a:t>51624</a:t>
            </a:r>
            <a:r>
              <a:rPr sz="1450" b="0">
                <a:solidFill>
                  <a:srgbClr val="14324A"/>
                </a:solidFill>
                <a:latin typeface="Microsoft YaHei"/>
              </a:rPr>
              <a:t>元，并列明免征依据。</a:t>
            </a:r>
          </a:p>
        </p:txBody>
      </p:sp>
      <p:sp>
        <p:nvSpPr>
          <p:cNvPr id="16" name="TextBox 15"/>
          <p:cNvSpPr txBox="1"/>
          <p:nvPr/>
        </p:nvSpPr>
        <p:spPr>
          <a:xfrm>
            <a:off x="658368" y="5650992"/>
            <a:ext cx="4069080" cy="493776"/>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4956048" y="1261872"/>
            <a:ext cx="6327648" cy="256032"/>
          </a:xfrm>
          <a:prstGeom prst="rect">
            <a:avLst/>
          </a:prstGeom>
          <a:noFill/>
        </p:spPr>
        <p:txBody>
          <a:bodyPr wrap="none">
            <a:spAutoFit/>
          </a:bodyPr>
          <a:lstStyle/>
          <a:p>
            <a:pPr>
              <a:defRPr sz="1400" b="1">
                <a:solidFill>
                  <a:srgbClr val="14324A"/>
                </a:solidFill>
                <a:latin typeface="Microsoft YaHei"/>
              </a:defRPr>
            </a:pPr>
            <a:r>
              <a:t>T045</a:t>
            </a:r>
          </a:p>
        </p:txBody>
      </p:sp>
      <p:pic>
        <p:nvPicPr>
          <p:cNvPr id="18" name="Picture 17" descr="T-045.png"/>
          <p:cNvPicPr>
            <a:picLocks noChangeAspect="1"/>
          </p:cNvPicPr>
          <p:nvPr/>
        </p:nvPicPr>
        <p:blipFill>
          <a:blip r:embed="rId2"/>
          <a:stretch>
            <a:fillRect/>
          </a:stretch>
        </p:blipFill>
        <p:spPr>
          <a:xfrm>
            <a:off x="4956048" y="3536001"/>
            <a:ext cx="6327648" cy="746117"/>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14324A"/>
                </a:solidFill>
                <a:latin typeface="Microsoft YaHei"/>
              </a:rPr>
              <a:t>六项防治效益指标达到报告</a:t>
            </a:r>
            <a:r>
              <a:rPr sz="2300" b="1">
                <a:solidFill>
                  <a:srgbClr val="0E8F8C"/>
                </a:solidFill>
                <a:latin typeface="Microsoft YaHei"/>
              </a:rPr>
              <a:t>目标</a:t>
            </a:r>
            <a:r>
              <a:rPr sz="2300" b="1">
                <a:solidFill>
                  <a:srgbClr val="14324A"/>
                </a:solidFill>
                <a:latin typeface="Microsoft YaHei"/>
              </a:rPr>
              <a:t>值</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29</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22529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9516" y="1266444"/>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088136" y="1188720"/>
            <a:ext cx="10268711" cy="384048"/>
          </a:xfrm>
          <a:prstGeom prst="rect">
            <a:avLst/>
          </a:prstGeom>
          <a:noFill/>
        </p:spPr>
        <p:txBody>
          <a:bodyPr wrap="square">
            <a:noAutofit/>
          </a:bodyPr>
          <a:lstStyle/>
          <a:p>
            <a:r>
              <a:rPr sz="1420" b="0">
                <a:solidFill>
                  <a:srgbClr val="14324A"/>
                </a:solidFill>
                <a:latin typeface="Microsoft YaHei"/>
              </a:rPr>
              <a:t>治理度：</a:t>
            </a:r>
            <a:r>
              <a:rPr sz="1420" b="1">
                <a:solidFill>
                  <a:srgbClr val="0E8F8C"/>
                </a:solidFill>
                <a:latin typeface="Microsoft YaHei"/>
              </a:rPr>
              <a:t>水土流失</a:t>
            </a:r>
            <a:r>
              <a:rPr sz="1420" b="0">
                <a:solidFill>
                  <a:srgbClr val="14324A"/>
                </a:solidFill>
                <a:latin typeface="Microsoft YaHei"/>
              </a:rPr>
              <a:t>总治理度设计达到值为</a:t>
            </a:r>
            <a:r>
              <a:rPr sz="1420" b="1">
                <a:solidFill>
                  <a:srgbClr val="0E8F8C"/>
                </a:solidFill>
                <a:latin typeface="Microsoft YaHei"/>
              </a:rPr>
              <a:t>99.99%</a:t>
            </a:r>
          </a:p>
        </p:txBody>
      </p:sp>
      <p:sp>
        <p:nvSpPr>
          <p:cNvPr id="10" name="Rectangle 9"/>
          <p:cNvSpPr/>
          <p:nvPr/>
        </p:nvSpPr>
        <p:spPr>
          <a:xfrm>
            <a:off x="658368" y="154533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 y="1586484"/>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088136" y="1508760"/>
            <a:ext cx="10268711" cy="384048"/>
          </a:xfrm>
          <a:prstGeom prst="rect">
            <a:avLst/>
          </a:prstGeom>
          <a:noFill/>
        </p:spPr>
        <p:txBody>
          <a:bodyPr wrap="square">
            <a:noAutofit/>
          </a:bodyPr>
          <a:lstStyle/>
          <a:p>
            <a:r>
              <a:rPr sz="1420" b="0">
                <a:solidFill>
                  <a:srgbClr val="14324A"/>
                </a:solidFill>
                <a:latin typeface="Microsoft YaHei"/>
              </a:rPr>
              <a:t>控制比：土壤流失控制比设计达到值满足报告</a:t>
            </a:r>
            <a:r>
              <a:rPr sz="1420" b="1">
                <a:solidFill>
                  <a:srgbClr val="0E8F8C"/>
                </a:solidFill>
                <a:latin typeface="Microsoft YaHei"/>
              </a:rPr>
              <a:t>目标</a:t>
            </a:r>
            <a:r>
              <a:rPr sz="1420" b="0">
                <a:solidFill>
                  <a:srgbClr val="14324A"/>
                </a:solidFill>
                <a:latin typeface="Microsoft YaHei"/>
              </a:rPr>
              <a:t>。</a:t>
            </a:r>
          </a:p>
        </p:txBody>
      </p:sp>
      <p:sp>
        <p:nvSpPr>
          <p:cNvPr id="13" name="Rectangle 12"/>
          <p:cNvSpPr/>
          <p:nvPr/>
        </p:nvSpPr>
        <p:spPr>
          <a:xfrm>
            <a:off x="658368" y="1865376"/>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 y="1906524"/>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088136" y="1828800"/>
            <a:ext cx="10268711" cy="384048"/>
          </a:xfrm>
          <a:prstGeom prst="rect">
            <a:avLst/>
          </a:prstGeom>
          <a:noFill/>
        </p:spPr>
        <p:txBody>
          <a:bodyPr wrap="square">
            <a:noAutofit/>
          </a:bodyPr>
          <a:lstStyle/>
          <a:p>
            <a:r>
              <a:rPr sz="1420" b="0">
                <a:solidFill>
                  <a:srgbClr val="14324A"/>
                </a:solidFill>
                <a:latin typeface="Microsoft YaHei"/>
              </a:rPr>
              <a:t>效益</a:t>
            </a:r>
            <a:r>
              <a:rPr sz="1420" b="1">
                <a:solidFill>
                  <a:srgbClr val="0E8F8C"/>
                </a:solidFill>
                <a:latin typeface="Microsoft YaHei"/>
              </a:rPr>
              <a:t>结论</a:t>
            </a:r>
            <a:r>
              <a:rPr sz="1420" b="0">
                <a:solidFill>
                  <a:srgbClr val="14324A"/>
                </a:solidFill>
                <a:latin typeface="Microsoft YaHei"/>
              </a:rPr>
              <a:t>：各项防治效益评估结果均为达标。</a:t>
            </a:r>
          </a:p>
        </p:txBody>
      </p:sp>
      <p:sp>
        <p:nvSpPr>
          <p:cNvPr id="16" name="TextBox 15"/>
          <p:cNvSpPr txBox="1"/>
          <p:nvPr/>
        </p:nvSpPr>
        <p:spPr>
          <a:xfrm>
            <a:off x="658368" y="2157984"/>
            <a:ext cx="10698480" cy="256032"/>
          </a:xfrm>
          <a:prstGeom prst="rect">
            <a:avLst/>
          </a:prstGeom>
          <a:noFill/>
        </p:spPr>
        <p:txBody>
          <a:bodyPr wrap="square">
            <a:noAutofit/>
          </a:bodyPr>
          <a:lstStyle/>
          <a:p>
            <a:r>
              <a:rPr sz="1400" b="1">
                <a:solidFill>
                  <a:srgbClr val="0E8F8C"/>
                </a:solidFill>
                <a:latin typeface="Microsoft YaHei"/>
              </a:rPr>
              <a:t>关键数值</a:t>
            </a:r>
            <a:r>
              <a:rPr sz="1400" b="0">
                <a:solidFill>
                  <a:srgbClr val="607385"/>
                </a:solidFill>
                <a:latin typeface="Microsoft YaHei"/>
              </a:rPr>
              <a:t>保持</a:t>
            </a:r>
            <a:r>
              <a:rPr sz="1400" b="1">
                <a:solidFill>
                  <a:srgbClr val="0E8F8C"/>
                </a:solidFill>
                <a:latin typeface="Microsoft YaHei"/>
              </a:rPr>
              <a:t>源表</a:t>
            </a:r>
            <a:r>
              <a:rPr sz="1400" b="0">
                <a:solidFill>
                  <a:srgbClr val="607385"/>
                </a:solidFill>
                <a:latin typeface="Microsoft YaHei"/>
              </a:rPr>
              <a:t>口径，范围、措施和投资可核对。</a:t>
            </a:r>
          </a:p>
        </p:txBody>
      </p:sp>
      <p:sp>
        <p:nvSpPr>
          <p:cNvPr id="17" name="TextBox 16"/>
          <p:cNvSpPr txBox="1"/>
          <p:nvPr/>
        </p:nvSpPr>
        <p:spPr>
          <a:xfrm>
            <a:off x="658368" y="2560320"/>
            <a:ext cx="10735056" cy="256032"/>
          </a:xfrm>
          <a:prstGeom prst="rect">
            <a:avLst/>
          </a:prstGeom>
          <a:noFill/>
        </p:spPr>
        <p:txBody>
          <a:bodyPr wrap="none">
            <a:spAutoFit/>
          </a:bodyPr>
          <a:lstStyle/>
          <a:p>
            <a:pPr>
              <a:defRPr sz="1400" b="1">
                <a:solidFill>
                  <a:srgbClr val="14324A"/>
                </a:solidFill>
                <a:latin typeface="Microsoft YaHei"/>
              </a:defRPr>
            </a:pPr>
            <a:r>
              <a:t>T048</a:t>
            </a:r>
          </a:p>
        </p:txBody>
      </p:sp>
      <p:pic>
        <p:nvPicPr>
          <p:cNvPr id="18" name="Picture 17" descr="T-048.png"/>
          <p:cNvPicPr>
            <a:picLocks noChangeAspect="1"/>
          </p:cNvPicPr>
          <p:nvPr/>
        </p:nvPicPr>
        <p:blipFill>
          <a:blip r:embed="rId2"/>
          <a:stretch>
            <a:fillRect/>
          </a:stretch>
        </p:blipFill>
        <p:spPr>
          <a:xfrm>
            <a:off x="1648259" y="2871215"/>
            <a:ext cx="8755273" cy="3438144"/>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A"/>
          </a:solidFill>
          <a:ln w="7620">
            <a:solidFill>
              <a:srgbClr val="F4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20624" y="201168"/>
            <a:ext cx="8046720" cy="219456"/>
          </a:xfrm>
          <a:prstGeom prst="rect">
            <a:avLst/>
          </a:prstGeom>
          <a:noFill/>
        </p:spPr>
        <p:txBody>
          <a:bodyPr wrap="square">
            <a:noAutofit/>
          </a:bodyPr>
          <a:lstStyle/>
          <a:p>
            <a:pPr>
              <a:defRPr sz="1000" b="1">
                <a:solidFill>
                  <a:srgbClr val="0E8F8C"/>
                </a:solidFill>
                <a:latin typeface="Microsoft YaHei"/>
              </a:defRPr>
            </a:pPr>
            <a:r>
              <a:t>投资概算、效益与管理验收</a:t>
            </a:r>
          </a:p>
        </p:txBody>
      </p:sp>
      <p:sp>
        <p:nvSpPr>
          <p:cNvPr id="4" name="TextBox 3"/>
          <p:cNvSpPr txBox="1"/>
          <p:nvPr/>
        </p:nvSpPr>
        <p:spPr>
          <a:xfrm>
            <a:off x="420624" y="512064"/>
            <a:ext cx="10424160" cy="457200"/>
          </a:xfrm>
          <a:prstGeom prst="rect">
            <a:avLst/>
          </a:prstGeom>
          <a:noFill/>
        </p:spPr>
        <p:txBody>
          <a:bodyPr wrap="square">
            <a:noAutofit/>
          </a:bodyPr>
          <a:lstStyle/>
          <a:p>
            <a:r>
              <a:rPr sz="2300" b="1">
                <a:solidFill>
                  <a:srgbClr val="0E8F8C"/>
                </a:solidFill>
                <a:latin typeface="Microsoft YaHei"/>
              </a:rPr>
              <a:t>验收管理</a:t>
            </a:r>
            <a:r>
              <a:rPr sz="2300" b="1">
                <a:solidFill>
                  <a:srgbClr val="14324A"/>
                </a:solidFill>
                <a:latin typeface="Microsoft YaHei"/>
              </a:rPr>
              <a:t>落实后形成水土保持闭环</a:t>
            </a:r>
          </a:p>
        </p:txBody>
      </p:sp>
      <p:sp>
        <p:nvSpPr>
          <p:cNvPr id="5" name="TextBox 4"/>
          <p:cNvSpPr txBox="1"/>
          <p:nvPr/>
        </p:nvSpPr>
        <p:spPr>
          <a:xfrm>
            <a:off x="10835640" y="310896"/>
            <a:ext cx="502920" cy="182880"/>
          </a:xfrm>
          <a:prstGeom prst="rect">
            <a:avLst/>
          </a:prstGeom>
          <a:noFill/>
        </p:spPr>
        <p:txBody>
          <a:bodyPr wrap="square">
            <a:noAutofit/>
          </a:bodyPr>
          <a:lstStyle/>
          <a:p>
            <a:pPr algn="r">
              <a:defRPr sz="900" b="1">
                <a:solidFill>
                  <a:srgbClr val="607385"/>
                </a:solidFill>
                <a:latin typeface="Microsoft YaHei"/>
              </a:defRPr>
            </a:pPr>
            <a:r>
              <a:t>30</a:t>
            </a:r>
          </a:p>
        </p:txBody>
      </p:sp>
      <p:sp>
        <p:nvSpPr>
          <p:cNvPr id="6" name="Rectangle 5"/>
          <p:cNvSpPr/>
          <p:nvPr/>
        </p:nvSpPr>
        <p:spPr>
          <a:xfrm>
            <a:off x="420624" y="1024128"/>
            <a:ext cx="10881360" cy="18288"/>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96112" y="14813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7259" y="1522476"/>
            <a:ext cx="228600" cy="128016"/>
          </a:xfrm>
          <a:prstGeom prst="rect">
            <a:avLst/>
          </a:prstGeom>
          <a:noFill/>
        </p:spPr>
        <p:txBody>
          <a:bodyPr wrap="square">
            <a:noAutofit/>
          </a:bodyPr>
          <a:lstStyle/>
          <a:p>
            <a:pPr algn="ctr">
              <a:defRPr sz="1300" b="1">
                <a:solidFill>
                  <a:srgbClr val="FFFFFF"/>
                </a:solidFill>
                <a:latin typeface="Microsoft YaHei"/>
              </a:defRPr>
            </a:pPr>
            <a:r>
              <a:t>1</a:t>
            </a:r>
          </a:p>
        </p:txBody>
      </p:sp>
      <p:sp>
        <p:nvSpPr>
          <p:cNvPr id="9" name="TextBox 8"/>
          <p:cNvSpPr txBox="1"/>
          <p:nvPr/>
        </p:nvSpPr>
        <p:spPr>
          <a:xfrm>
            <a:off x="1325880" y="1444752"/>
            <a:ext cx="6793992" cy="944879"/>
          </a:xfrm>
          <a:prstGeom prst="rect">
            <a:avLst/>
          </a:prstGeom>
          <a:noFill/>
        </p:spPr>
        <p:txBody>
          <a:bodyPr wrap="square">
            <a:noAutofit/>
          </a:bodyPr>
          <a:lstStyle/>
          <a:p>
            <a:pPr>
              <a:defRPr sz="1700" b="0">
                <a:solidFill>
                  <a:srgbClr val="14324A"/>
                </a:solidFill>
                <a:latin typeface="Microsoft YaHei"/>
              </a:defRPr>
            </a:pPr>
            <a:r>
              <a:t>监理管理：水土保持监理纳入工程建设管理过程。</a:t>
            </a:r>
          </a:p>
        </p:txBody>
      </p:sp>
      <p:sp>
        <p:nvSpPr>
          <p:cNvPr id="10" name="Rectangle 9"/>
          <p:cNvSpPr/>
          <p:nvPr/>
        </p:nvSpPr>
        <p:spPr>
          <a:xfrm>
            <a:off x="896112" y="24719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7259" y="2513075"/>
            <a:ext cx="228600" cy="128016"/>
          </a:xfrm>
          <a:prstGeom prst="rect">
            <a:avLst/>
          </a:prstGeom>
          <a:noFill/>
        </p:spPr>
        <p:txBody>
          <a:bodyPr wrap="square">
            <a:noAutofit/>
          </a:bodyPr>
          <a:lstStyle/>
          <a:p>
            <a:pPr algn="ctr">
              <a:defRPr sz="1300" b="1">
                <a:solidFill>
                  <a:srgbClr val="FFFFFF"/>
                </a:solidFill>
                <a:latin typeface="Microsoft YaHei"/>
              </a:defRPr>
            </a:pPr>
            <a:r>
              <a:t>2</a:t>
            </a:r>
          </a:p>
        </p:txBody>
      </p:sp>
      <p:sp>
        <p:nvSpPr>
          <p:cNvPr id="12" name="TextBox 11"/>
          <p:cNvSpPr txBox="1"/>
          <p:nvPr/>
        </p:nvSpPr>
        <p:spPr>
          <a:xfrm>
            <a:off x="1325880" y="2435352"/>
            <a:ext cx="6793992" cy="944879"/>
          </a:xfrm>
          <a:prstGeom prst="rect">
            <a:avLst/>
          </a:prstGeom>
          <a:noFill/>
        </p:spPr>
        <p:txBody>
          <a:bodyPr wrap="square">
            <a:noAutofit/>
          </a:bodyPr>
          <a:lstStyle/>
          <a:p>
            <a:pPr>
              <a:defRPr sz="1700" b="0">
                <a:solidFill>
                  <a:srgbClr val="14324A"/>
                </a:solidFill>
                <a:latin typeface="Microsoft YaHei"/>
              </a:defRPr>
            </a:pPr>
            <a:r>
              <a:t>设施验收：水土保持设施验收完成后，工程闭环进入运行阶段。</a:t>
            </a:r>
          </a:p>
        </p:txBody>
      </p:sp>
      <p:sp>
        <p:nvSpPr>
          <p:cNvPr id="13" name="Rectangle 12"/>
          <p:cNvSpPr/>
          <p:nvPr/>
        </p:nvSpPr>
        <p:spPr>
          <a:xfrm>
            <a:off x="896112" y="3462528"/>
            <a:ext cx="310896" cy="274320"/>
          </a:xfrm>
          <a:prstGeom prst="rect">
            <a:avLst/>
          </a:prstGeom>
          <a:solidFill>
            <a:srgbClr val="0E8F8C"/>
          </a:solidFill>
          <a:ln w="7620">
            <a:solidFill>
              <a:srgbClr val="0E8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7259" y="3503676"/>
            <a:ext cx="228600" cy="128016"/>
          </a:xfrm>
          <a:prstGeom prst="rect">
            <a:avLst/>
          </a:prstGeom>
          <a:noFill/>
        </p:spPr>
        <p:txBody>
          <a:bodyPr wrap="square">
            <a:noAutofit/>
          </a:bodyPr>
          <a:lstStyle/>
          <a:p>
            <a:pPr algn="ctr">
              <a:defRPr sz="1300" b="1">
                <a:solidFill>
                  <a:srgbClr val="FFFFFF"/>
                </a:solidFill>
                <a:latin typeface="Microsoft YaHei"/>
              </a:defRPr>
            </a:pPr>
            <a:r>
              <a:t>3</a:t>
            </a:r>
          </a:p>
        </p:txBody>
      </p:sp>
      <p:sp>
        <p:nvSpPr>
          <p:cNvPr id="15" name="TextBox 14"/>
          <p:cNvSpPr txBox="1"/>
          <p:nvPr/>
        </p:nvSpPr>
        <p:spPr>
          <a:xfrm>
            <a:off x="1325880" y="3425952"/>
            <a:ext cx="6793992" cy="944879"/>
          </a:xfrm>
          <a:prstGeom prst="rect">
            <a:avLst/>
          </a:prstGeom>
          <a:noFill/>
        </p:spPr>
        <p:txBody>
          <a:bodyPr wrap="square">
            <a:noAutofit/>
          </a:bodyPr>
          <a:lstStyle/>
          <a:p>
            <a:pPr>
              <a:defRPr sz="1700" b="0">
                <a:solidFill>
                  <a:srgbClr val="14324A"/>
                </a:solidFill>
                <a:latin typeface="Microsoft YaHei"/>
              </a:defRPr>
            </a:pPr>
            <a:r>
              <a:t>资料管理：报告成果、验收资料和公开要求共同支撑后续管理。</a:t>
            </a:r>
          </a:p>
        </p:txBody>
      </p:sp>
      <p:sp>
        <p:nvSpPr>
          <p:cNvPr id="16" name="Rectangle 15"/>
          <p:cNvSpPr/>
          <p:nvPr/>
        </p:nvSpPr>
        <p:spPr>
          <a:xfrm>
            <a:off x="896112" y="4809744"/>
            <a:ext cx="9601200" cy="566928"/>
          </a:xfrm>
          <a:prstGeom prst="rect">
            <a:avLst/>
          </a:prstGeom>
          <a:solidFill>
            <a:srgbClr val="EEF5F3"/>
          </a:solidFill>
          <a:ln w="7620">
            <a:solidFill>
              <a:srgbClr val="CCD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4965192"/>
            <a:ext cx="8961120" cy="182880"/>
          </a:xfrm>
          <a:prstGeom prst="rect">
            <a:avLst/>
          </a:prstGeom>
          <a:noFill/>
        </p:spPr>
        <p:txBody>
          <a:bodyPr wrap="square">
            <a:noAutofit/>
          </a:bodyPr>
          <a:lstStyle/>
          <a:p>
            <a:r>
              <a:rPr sz="1600" b="0">
                <a:solidFill>
                  <a:srgbClr val="14324A"/>
                </a:solidFill>
                <a:latin typeface="Microsoft YaHei"/>
              </a:rPr>
              <a:t>水土保持设施验收完成后，项目形成</a:t>
            </a:r>
            <a:r>
              <a:rPr sz="1600" b="1">
                <a:solidFill>
                  <a:srgbClr val="0E8F8C"/>
                </a:solidFill>
                <a:latin typeface="Microsoft YaHei"/>
              </a:rPr>
              <a:t>措施</a:t>
            </a:r>
            <a:r>
              <a:rPr sz="1600" b="0">
                <a:solidFill>
                  <a:srgbClr val="14324A"/>
                </a:solidFill>
                <a:latin typeface="Microsoft YaHei"/>
              </a:rPr>
              <a:t>、投资、效益和资料管理闭环。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
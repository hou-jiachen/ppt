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498079" cy="310896"/>
          </a:xfrm>
          <a:prstGeom prst="rect">
            <a:avLst/>
          </a:prstGeom>
          <a:noFill/>
        </p:spPr>
        <p:txBody>
          <a:bodyPr wrap="square">
            <a:noAutofit/>
          </a:bodyPr>
          <a:lstStyle/>
          <a:p>
            <a:pPr>
              <a:defRPr sz="1500" b="0">
                <a:solidFill>
                  <a:srgbClr val="FFFFFF"/>
                </a:solidFill>
                <a:latin typeface="Microsoft YaHei"/>
              </a:defRPr>
            </a:pPr>
            <a:r>
              <a:t>黄冈市住房和城市更新局</a:t>
            </a:r>
          </a:p>
        </p:txBody>
      </p:sp>
      <p:sp>
        <p:nvSpPr>
          <p:cNvPr id="4" name="TextBox 3"/>
          <p:cNvSpPr txBox="1"/>
          <p:nvPr/>
        </p:nvSpPr>
        <p:spPr>
          <a:xfrm>
            <a:off x="731520" y="1325880"/>
            <a:ext cx="10515600" cy="658368"/>
          </a:xfrm>
          <a:prstGeom prst="rect">
            <a:avLst/>
          </a:prstGeom>
          <a:noFill/>
        </p:spPr>
        <p:txBody>
          <a:bodyPr wrap="square">
            <a:noAutofit/>
          </a:bodyPr>
          <a:lstStyle/>
          <a:p>
            <a:pPr>
              <a:defRPr sz="3000" b="1">
                <a:solidFill>
                  <a:srgbClr val="FFFFFF"/>
                </a:solidFill>
                <a:latin typeface="Microsoft YaHei"/>
              </a:defRPr>
            </a:pPr>
            <a:r>
              <a:t>黄冈市东坡大道片区污水收集管网建设工程</a:t>
            </a:r>
          </a:p>
        </p:txBody>
      </p:sp>
      <p:sp>
        <p:nvSpPr>
          <p:cNvPr id="5" name="TextBox 4"/>
          <p:cNvSpPr txBox="1"/>
          <p:nvPr/>
        </p:nvSpPr>
        <p:spPr>
          <a:xfrm>
            <a:off x="749808" y="2139696"/>
            <a:ext cx="9875520" cy="585216"/>
          </a:xfrm>
          <a:prstGeom prst="rect">
            <a:avLst/>
          </a:prstGeom>
          <a:noFill/>
        </p:spPr>
        <p:txBody>
          <a:bodyPr wrap="square">
            <a:noAutofit/>
          </a:bodyPr>
          <a:lstStyle/>
          <a:p>
            <a:pPr>
              <a:defRPr sz="2800" b="1">
                <a:solidFill>
                  <a:srgbClr val="FFFFFF"/>
                </a:solidFill>
                <a:latin typeface="Microsoft YaHei"/>
              </a:defRPr>
            </a:pPr>
            <a:r>
              <a:t>水土保持方案报告表汇报</a:t>
            </a:r>
          </a:p>
        </p:txBody>
      </p:sp>
      <p:sp>
        <p:nvSpPr>
          <p:cNvPr id="6" name="TextBox 5"/>
          <p:cNvSpPr txBox="1"/>
          <p:nvPr/>
        </p:nvSpPr>
        <p:spPr>
          <a:xfrm>
            <a:off x="768096" y="3474720"/>
            <a:ext cx="9509760" cy="329184"/>
          </a:xfrm>
          <a:prstGeom prst="rect">
            <a:avLst/>
          </a:prstGeom>
          <a:noFill/>
        </p:spPr>
        <p:txBody>
          <a:bodyPr wrap="square">
            <a:noAutofit/>
          </a:bodyPr>
          <a:lstStyle/>
          <a:p>
            <a:pPr>
              <a:defRPr sz="1500" b="0">
                <a:solidFill>
                  <a:srgbClr val="FFFFFF"/>
                </a:solidFill>
                <a:latin typeface="Microsoft YaHei"/>
              </a:defRPr>
            </a:pPr>
            <a:r>
              <a:t>水土保持方案；报批稿；2026年1月</a:t>
            </a:r>
          </a:p>
        </p:txBody>
      </p:sp>
      <p:sp>
        <p:nvSpPr>
          <p:cNvPr id="7" name="TextBox 6"/>
          <p:cNvSpPr txBox="1"/>
          <p:nvPr/>
        </p:nvSpPr>
        <p:spPr>
          <a:xfrm>
            <a:off x="768096" y="3950208"/>
            <a:ext cx="9875520" cy="347472"/>
          </a:xfrm>
          <a:prstGeom prst="rect">
            <a:avLst/>
          </a:prstGeom>
          <a:noFill/>
        </p:spPr>
        <p:txBody>
          <a:bodyPr wrap="square">
            <a:noAutofit/>
          </a:bodyPr>
          <a:lstStyle/>
          <a:p>
            <a:pPr>
              <a:defRPr sz="1400" b="0">
                <a:solidFill>
                  <a:srgbClr val="FFFFFF"/>
                </a:solidFill>
                <a:latin typeface="Microsoft YaHei"/>
              </a:defRPr>
            </a:pPr>
            <a:r>
              <a:t>围绕项目边界、预测结果、防治措施、投资效益和验收管理形成评审级汇报</a:t>
            </a:r>
          </a:p>
        </p:txBody>
      </p:sp>
      <p:sp>
        <p:nvSpPr>
          <p:cNvPr id="8" name="TextBox 7"/>
          <p:cNvSpPr txBox="1"/>
          <p:nvPr/>
        </p:nvSpPr>
        <p:spPr>
          <a:xfrm>
            <a:off x="786384" y="6089904"/>
            <a:ext cx="5486400" cy="310896"/>
          </a:xfrm>
          <a:prstGeom prst="rect">
            <a:avLst/>
          </a:prstGeom>
          <a:noFill/>
        </p:spPr>
        <p:txBody>
          <a:bodyPr wrap="square">
            <a:noAutofit/>
          </a:bodyPr>
          <a:lstStyle/>
          <a:p>
            <a:pPr>
              <a:defRPr sz="1400" b="0">
                <a:solidFill>
                  <a:srgbClr val="FFFFFF"/>
                </a:solidFill>
                <a:latin typeface="Microsoft YaHei"/>
              </a:defRPr>
            </a:pPr>
            <a:r>
              <a:t>武汉中地环科水工环科技咨询有限责任公司</a:t>
            </a:r>
          </a:p>
        </p:txBody>
      </p:sp>
      <p:sp>
        <p:nvSpPr>
          <p:cNvPr id="9" name="TextBox 8"/>
          <p:cNvSpPr txBox="1"/>
          <p:nvPr/>
        </p:nvSpPr>
        <p:spPr>
          <a:xfrm>
            <a:off x="9418320" y="6089904"/>
            <a:ext cx="1828800" cy="310896"/>
          </a:xfrm>
          <a:prstGeom prst="rect">
            <a:avLst/>
          </a:prstGeom>
          <a:noFill/>
        </p:spPr>
        <p:txBody>
          <a:bodyPr wrap="square">
            <a:noAutofit/>
          </a:bodyPr>
          <a:lstStyle/>
          <a:p>
            <a:pPr algn="r">
              <a:defRPr sz="1400" b="0">
                <a:solidFill>
                  <a:srgbClr val="FFFFFF"/>
                </a:solidFill>
                <a:latin typeface="Microsoft YaHei"/>
              </a:defRPr>
            </a:pPr>
            <a:r>
              <a:t>2026年06月</a:t>
            </a:r>
          </a:p>
        </p:txBody>
      </p:sp>
      <p:sp>
        <p:nvSpPr>
          <p:cNvPr id="10" name="TextBox 9"/>
          <p:cNvSpPr txBox="1"/>
          <p:nvPr/>
        </p:nvSpPr>
        <p:spPr>
          <a:xfrm>
            <a:off x="6400800" y="6089904"/>
            <a:ext cx="2011680" cy="310896"/>
          </a:xfrm>
          <a:prstGeom prst="rect">
            <a:avLst/>
          </a:prstGeom>
          <a:noFill/>
        </p:spPr>
        <p:txBody>
          <a:bodyPr wrap="square">
            <a:noAutofit/>
          </a:bodyPr>
          <a:lstStyle/>
          <a:p>
            <a:pPr>
              <a:defRPr sz="1400" b="0">
                <a:solidFill>
                  <a:srgbClr val="FFFFFF"/>
                </a:solidFill>
                <a:latin typeface="Microsoft YaHei"/>
              </a:defRPr>
            </a:pPr>
            <a:r>
              <a:t>技术评审汇报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5303520" cy="566928"/>
          </a:xfrm>
          <a:prstGeom prst="rect">
            <a:avLst/>
          </a:prstGeom>
          <a:noFill/>
        </p:spPr>
        <p:txBody>
          <a:bodyPr wrap="square">
            <a:noAutofit/>
          </a:bodyPr>
          <a:lstStyle/>
          <a:p>
            <a:pPr>
              <a:defRPr sz="3000" b="1">
                <a:solidFill>
                  <a:srgbClr val="01203C"/>
                </a:solidFill>
                <a:latin typeface="Microsoft YaHei"/>
              </a:defRPr>
            </a:pPr>
            <a:r>
              <a:t>目录</a:t>
            </a:r>
          </a:p>
        </p:txBody>
      </p:sp>
      <p:sp>
        <p:nvSpPr>
          <p:cNvPr id="4" name="TextBox 3"/>
          <p:cNvSpPr txBox="1"/>
          <p:nvPr/>
        </p:nvSpPr>
        <p:spPr>
          <a:xfrm>
            <a:off x="713232" y="1188720"/>
            <a:ext cx="3657600" cy="228600"/>
          </a:xfrm>
          <a:prstGeom prst="rect">
            <a:avLst/>
          </a:prstGeom>
          <a:noFill/>
        </p:spPr>
        <p:txBody>
          <a:bodyPr wrap="square">
            <a:noAutofit/>
          </a:bodyPr>
          <a:lstStyle/>
          <a:p>
            <a:pPr>
              <a:defRPr sz="1000" b="0">
                <a:solidFill>
                  <a:srgbClr val="4489C8"/>
                </a:solidFill>
                <a:latin typeface="Microsoft YaHei"/>
              </a:defRPr>
            </a:pPr>
            <a:r>
              <a:t>CONTENTS</a:t>
            </a:r>
          </a:p>
        </p:txBody>
      </p:sp>
      <p:sp>
        <p:nvSpPr>
          <p:cNvPr id="5" name="TextBox 4"/>
          <p:cNvSpPr txBox="1"/>
          <p:nvPr/>
        </p:nvSpPr>
        <p:spPr>
          <a:xfrm>
            <a:off x="777240" y="1600200"/>
            <a:ext cx="384048" cy="256032"/>
          </a:xfrm>
          <a:prstGeom prst="rect">
            <a:avLst/>
          </a:prstGeom>
          <a:noFill/>
        </p:spPr>
        <p:txBody>
          <a:bodyPr wrap="square">
            <a:noAutofit/>
          </a:bodyPr>
          <a:lstStyle/>
          <a:p>
            <a:pPr>
              <a:defRPr sz="1400" b="1">
                <a:solidFill>
                  <a:srgbClr val="4489C8"/>
                </a:solidFill>
                <a:latin typeface="Microsoft YaHei"/>
              </a:defRPr>
            </a:pPr>
            <a:r>
              <a:t>01</a:t>
            </a:r>
          </a:p>
        </p:txBody>
      </p:sp>
      <p:sp>
        <p:nvSpPr>
          <p:cNvPr id="6" name="TextBox 5"/>
          <p:cNvSpPr txBox="1"/>
          <p:nvPr/>
        </p:nvSpPr>
        <p:spPr>
          <a:xfrm>
            <a:off x="1280160" y="1572768"/>
            <a:ext cx="4526280" cy="329184"/>
          </a:xfrm>
          <a:prstGeom prst="rect">
            <a:avLst/>
          </a:prstGeom>
          <a:noFill/>
        </p:spPr>
        <p:txBody>
          <a:bodyPr wrap="square">
            <a:noAutofit/>
          </a:bodyPr>
          <a:lstStyle/>
          <a:p>
            <a:pPr>
              <a:defRPr sz="1400" b="1">
                <a:solidFill>
                  <a:srgbClr val="01203C"/>
                </a:solidFill>
                <a:latin typeface="Microsoft YaHei"/>
              </a:defRPr>
            </a:pPr>
            <a:r>
              <a:t>综合说明与审批依据</a:t>
            </a:r>
          </a:p>
        </p:txBody>
      </p:sp>
      <p:sp>
        <p:nvSpPr>
          <p:cNvPr id="7" name="TextBox 6"/>
          <p:cNvSpPr txBox="1"/>
          <p:nvPr/>
        </p:nvSpPr>
        <p:spPr>
          <a:xfrm>
            <a:off x="777240" y="2350008"/>
            <a:ext cx="384048" cy="256032"/>
          </a:xfrm>
          <a:prstGeom prst="rect">
            <a:avLst/>
          </a:prstGeom>
          <a:noFill/>
        </p:spPr>
        <p:txBody>
          <a:bodyPr wrap="square">
            <a:noAutofit/>
          </a:bodyPr>
          <a:lstStyle/>
          <a:p>
            <a:pPr>
              <a:defRPr sz="1400" b="1">
                <a:solidFill>
                  <a:srgbClr val="4489C8"/>
                </a:solidFill>
                <a:latin typeface="Microsoft YaHei"/>
              </a:defRPr>
            </a:pPr>
            <a:r>
              <a:t>02</a:t>
            </a:r>
          </a:p>
        </p:txBody>
      </p:sp>
      <p:sp>
        <p:nvSpPr>
          <p:cNvPr id="8" name="TextBox 7"/>
          <p:cNvSpPr txBox="1"/>
          <p:nvPr/>
        </p:nvSpPr>
        <p:spPr>
          <a:xfrm>
            <a:off x="1280160" y="2322576"/>
            <a:ext cx="4526280" cy="329184"/>
          </a:xfrm>
          <a:prstGeom prst="rect">
            <a:avLst/>
          </a:prstGeom>
          <a:noFill/>
        </p:spPr>
        <p:txBody>
          <a:bodyPr wrap="square">
            <a:noAutofit/>
          </a:bodyPr>
          <a:lstStyle/>
          <a:p>
            <a:pPr>
              <a:defRPr sz="1400" b="1">
                <a:solidFill>
                  <a:srgbClr val="01203C"/>
                </a:solidFill>
                <a:latin typeface="Microsoft YaHei"/>
              </a:defRPr>
            </a:pPr>
            <a:r>
              <a:t>项目概况与工程布置</a:t>
            </a:r>
          </a:p>
        </p:txBody>
      </p:sp>
      <p:sp>
        <p:nvSpPr>
          <p:cNvPr id="9" name="TextBox 8"/>
          <p:cNvSpPr txBox="1"/>
          <p:nvPr/>
        </p:nvSpPr>
        <p:spPr>
          <a:xfrm>
            <a:off x="777240" y="3099815"/>
            <a:ext cx="384048" cy="256032"/>
          </a:xfrm>
          <a:prstGeom prst="rect">
            <a:avLst/>
          </a:prstGeom>
          <a:noFill/>
        </p:spPr>
        <p:txBody>
          <a:bodyPr wrap="square">
            <a:noAutofit/>
          </a:bodyPr>
          <a:lstStyle/>
          <a:p>
            <a:pPr>
              <a:defRPr sz="1400" b="1">
                <a:solidFill>
                  <a:srgbClr val="4489C8"/>
                </a:solidFill>
                <a:latin typeface="Microsoft YaHei"/>
              </a:defRPr>
            </a:pPr>
            <a:r>
              <a:t>03</a:t>
            </a:r>
          </a:p>
        </p:txBody>
      </p:sp>
      <p:sp>
        <p:nvSpPr>
          <p:cNvPr id="10" name="TextBox 9"/>
          <p:cNvSpPr txBox="1"/>
          <p:nvPr/>
        </p:nvSpPr>
        <p:spPr>
          <a:xfrm>
            <a:off x="1280160" y="3072384"/>
            <a:ext cx="4526280" cy="329184"/>
          </a:xfrm>
          <a:prstGeom prst="rect">
            <a:avLst/>
          </a:prstGeom>
          <a:noFill/>
        </p:spPr>
        <p:txBody>
          <a:bodyPr wrap="square">
            <a:noAutofit/>
          </a:bodyPr>
          <a:lstStyle/>
          <a:p>
            <a:pPr>
              <a:defRPr sz="1400" b="1">
                <a:solidFill>
                  <a:srgbClr val="01203C"/>
                </a:solidFill>
                <a:latin typeface="Microsoft YaHei"/>
              </a:defRPr>
            </a:pPr>
            <a:r>
              <a:t>防治责任范围与标准目标</a:t>
            </a:r>
          </a:p>
        </p:txBody>
      </p:sp>
      <p:sp>
        <p:nvSpPr>
          <p:cNvPr id="11" name="TextBox 10"/>
          <p:cNvSpPr txBox="1"/>
          <p:nvPr/>
        </p:nvSpPr>
        <p:spPr>
          <a:xfrm>
            <a:off x="777240" y="3849624"/>
            <a:ext cx="384048" cy="256032"/>
          </a:xfrm>
          <a:prstGeom prst="rect">
            <a:avLst/>
          </a:prstGeom>
          <a:noFill/>
        </p:spPr>
        <p:txBody>
          <a:bodyPr wrap="square">
            <a:noAutofit/>
          </a:bodyPr>
          <a:lstStyle/>
          <a:p>
            <a:pPr>
              <a:defRPr sz="1400" b="1">
                <a:solidFill>
                  <a:srgbClr val="4489C8"/>
                </a:solidFill>
                <a:latin typeface="Microsoft YaHei"/>
              </a:defRPr>
            </a:pPr>
            <a:r>
              <a:t>04</a:t>
            </a:r>
          </a:p>
        </p:txBody>
      </p:sp>
      <p:sp>
        <p:nvSpPr>
          <p:cNvPr id="12" name="TextBox 11"/>
          <p:cNvSpPr txBox="1"/>
          <p:nvPr/>
        </p:nvSpPr>
        <p:spPr>
          <a:xfrm>
            <a:off x="1280160" y="3822191"/>
            <a:ext cx="4526280" cy="329184"/>
          </a:xfrm>
          <a:prstGeom prst="rect">
            <a:avLst/>
          </a:prstGeom>
          <a:noFill/>
        </p:spPr>
        <p:txBody>
          <a:bodyPr wrap="square">
            <a:noAutofit/>
          </a:bodyPr>
          <a:lstStyle/>
          <a:p>
            <a:pPr>
              <a:defRPr sz="1400" b="1">
                <a:solidFill>
                  <a:srgbClr val="01203C"/>
                </a:solidFill>
                <a:latin typeface="Microsoft YaHei"/>
              </a:defRPr>
            </a:pPr>
            <a:r>
              <a:t>水土保持评价与土石方</a:t>
            </a:r>
          </a:p>
        </p:txBody>
      </p:sp>
      <p:sp>
        <p:nvSpPr>
          <p:cNvPr id="13" name="TextBox 12"/>
          <p:cNvSpPr txBox="1"/>
          <p:nvPr/>
        </p:nvSpPr>
        <p:spPr>
          <a:xfrm>
            <a:off x="777240" y="4599431"/>
            <a:ext cx="384048" cy="256032"/>
          </a:xfrm>
          <a:prstGeom prst="rect">
            <a:avLst/>
          </a:prstGeom>
          <a:noFill/>
        </p:spPr>
        <p:txBody>
          <a:bodyPr wrap="square">
            <a:noAutofit/>
          </a:bodyPr>
          <a:lstStyle/>
          <a:p>
            <a:pPr>
              <a:defRPr sz="1400" b="1">
                <a:solidFill>
                  <a:srgbClr val="4489C8"/>
                </a:solidFill>
                <a:latin typeface="Microsoft YaHei"/>
              </a:defRPr>
            </a:pPr>
            <a:r>
              <a:t>05</a:t>
            </a:r>
          </a:p>
        </p:txBody>
      </p:sp>
      <p:sp>
        <p:nvSpPr>
          <p:cNvPr id="14" name="TextBox 13"/>
          <p:cNvSpPr txBox="1"/>
          <p:nvPr/>
        </p:nvSpPr>
        <p:spPr>
          <a:xfrm>
            <a:off x="1280160" y="4571999"/>
            <a:ext cx="4526280" cy="329184"/>
          </a:xfrm>
          <a:prstGeom prst="rect">
            <a:avLst/>
          </a:prstGeom>
          <a:noFill/>
        </p:spPr>
        <p:txBody>
          <a:bodyPr wrap="square">
            <a:noAutofit/>
          </a:bodyPr>
          <a:lstStyle/>
          <a:p>
            <a:pPr>
              <a:defRPr sz="1400" b="1">
                <a:solidFill>
                  <a:srgbClr val="01203C"/>
                </a:solidFill>
                <a:latin typeface="Microsoft YaHei"/>
              </a:defRPr>
            </a:pPr>
            <a:r>
              <a:t>水土流失分析与预测</a:t>
            </a:r>
          </a:p>
        </p:txBody>
      </p:sp>
      <p:sp>
        <p:nvSpPr>
          <p:cNvPr id="15" name="TextBox 14"/>
          <p:cNvSpPr txBox="1"/>
          <p:nvPr/>
        </p:nvSpPr>
        <p:spPr>
          <a:xfrm>
            <a:off x="6263640" y="1600200"/>
            <a:ext cx="384048" cy="256032"/>
          </a:xfrm>
          <a:prstGeom prst="rect">
            <a:avLst/>
          </a:prstGeom>
          <a:noFill/>
        </p:spPr>
        <p:txBody>
          <a:bodyPr wrap="square">
            <a:noAutofit/>
          </a:bodyPr>
          <a:lstStyle/>
          <a:p>
            <a:pPr>
              <a:defRPr sz="1400" b="1">
                <a:solidFill>
                  <a:srgbClr val="4489C8"/>
                </a:solidFill>
                <a:latin typeface="Microsoft YaHei"/>
              </a:defRPr>
            </a:pPr>
            <a:r>
              <a:t>06</a:t>
            </a:r>
          </a:p>
        </p:txBody>
      </p:sp>
      <p:sp>
        <p:nvSpPr>
          <p:cNvPr id="16" name="TextBox 15"/>
          <p:cNvSpPr txBox="1"/>
          <p:nvPr/>
        </p:nvSpPr>
        <p:spPr>
          <a:xfrm>
            <a:off x="6766559" y="1572768"/>
            <a:ext cx="4526280" cy="329184"/>
          </a:xfrm>
          <a:prstGeom prst="rect">
            <a:avLst/>
          </a:prstGeom>
          <a:noFill/>
        </p:spPr>
        <p:txBody>
          <a:bodyPr wrap="square">
            <a:noAutofit/>
          </a:bodyPr>
          <a:lstStyle/>
          <a:p>
            <a:pPr>
              <a:defRPr sz="1400" b="1">
                <a:solidFill>
                  <a:srgbClr val="01203C"/>
                </a:solidFill>
                <a:latin typeface="Microsoft YaHei"/>
              </a:defRPr>
            </a:pPr>
            <a:r>
              <a:t>水土保持措施与施工安排</a:t>
            </a:r>
          </a:p>
        </p:txBody>
      </p:sp>
      <p:sp>
        <p:nvSpPr>
          <p:cNvPr id="17" name="TextBox 16"/>
          <p:cNvSpPr txBox="1"/>
          <p:nvPr/>
        </p:nvSpPr>
        <p:spPr>
          <a:xfrm>
            <a:off x="6263640" y="2350008"/>
            <a:ext cx="384048" cy="256032"/>
          </a:xfrm>
          <a:prstGeom prst="rect">
            <a:avLst/>
          </a:prstGeom>
          <a:noFill/>
        </p:spPr>
        <p:txBody>
          <a:bodyPr wrap="square">
            <a:noAutofit/>
          </a:bodyPr>
          <a:lstStyle/>
          <a:p>
            <a:pPr>
              <a:defRPr sz="1400" b="1">
                <a:solidFill>
                  <a:srgbClr val="4489C8"/>
                </a:solidFill>
                <a:latin typeface="Microsoft YaHei"/>
              </a:defRPr>
            </a:pPr>
            <a:r>
              <a:t>07</a:t>
            </a:r>
          </a:p>
        </p:txBody>
      </p:sp>
      <p:sp>
        <p:nvSpPr>
          <p:cNvPr id="18" name="TextBox 17"/>
          <p:cNvSpPr txBox="1"/>
          <p:nvPr/>
        </p:nvSpPr>
        <p:spPr>
          <a:xfrm>
            <a:off x="6766559" y="2322576"/>
            <a:ext cx="4526280" cy="329184"/>
          </a:xfrm>
          <a:prstGeom prst="rect">
            <a:avLst/>
          </a:prstGeom>
          <a:noFill/>
        </p:spPr>
        <p:txBody>
          <a:bodyPr wrap="square">
            <a:noAutofit/>
          </a:bodyPr>
          <a:lstStyle/>
          <a:p>
            <a:pPr>
              <a:defRPr sz="1400" b="1">
                <a:solidFill>
                  <a:srgbClr val="01203C"/>
                </a:solidFill>
                <a:latin typeface="Microsoft YaHei"/>
              </a:defRPr>
            </a:pPr>
            <a:r>
              <a:t>投资概算、效益与管理验收</a:t>
            </a:r>
          </a:p>
        </p:txBody>
      </p:sp>
      <p:sp>
        <p:nvSpPr>
          <p:cNvPr id="19" name="TextBox 18"/>
          <p:cNvSpPr txBox="1"/>
          <p:nvPr/>
        </p:nvSpPr>
        <p:spPr>
          <a:xfrm>
            <a:off x="731520" y="6172200"/>
            <a:ext cx="8961120" cy="274320"/>
          </a:xfrm>
          <a:prstGeom prst="rect">
            <a:avLst/>
          </a:prstGeom>
          <a:noFill/>
        </p:spPr>
        <p:txBody>
          <a:bodyPr wrap="square">
            <a:noAutofit/>
          </a:bodyPr>
          <a:lstStyle/>
          <a:p>
            <a:pPr>
              <a:defRPr sz="1050" b="0">
                <a:solidFill>
                  <a:srgbClr val="566B7F"/>
                </a:solidFill>
                <a:latin typeface="Microsoft YaHei"/>
              </a:defRPr>
            </a:pPr>
            <a:r>
              <a:t>汇报按报告章节展开，依次呈现勘察任务、基础工作、区域与矿区水文地质条件、勘探试验、分区评价、涌水量预测、模型校核及防治水建议。</a:t>
            </a:r>
          </a:p>
        </p:txBody>
      </p:sp>
      <p:sp>
        <p:nvSpPr>
          <p:cNvPr id="20" name="TextBox 19"/>
          <p:cNvSpPr txBox="1"/>
          <p:nvPr/>
        </p:nvSpPr>
        <p:spPr>
          <a:xfrm>
            <a:off x="10652760" y="6236208"/>
            <a:ext cx="640080" cy="182880"/>
          </a:xfrm>
          <a:prstGeom prst="rect">
            <a:avLst/>
          </a:prstGeom>
          <a:noFill/>
        </p:spPr>
        <p:txBody>
          <a:bodyPr wrap="square">
            <a:noAutofit/>
          </a:bodyPr>
          <a:lstStyle/>
          <a:p>
            <a:pPr algn="r">
              <a:defRPr sz="900" b="0">
                <a:solidFill>
                  <a:srgbClr val="566B7F"/>
                </a:solidFill>
                <a:latin typeface="Microsoft YaHei"/>
              </a:defRPr>
            </a:pPr>
            <a:r>
              <a:t>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第01章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01</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综合说明与审批依据</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先交代项目来源、编制依据、核心建设参数和方案结论，帮助评审快速建立全局判断。</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综合报告表给出项目全局控制指标</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综合说明与审批依据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923544">
                <a:tc>
                  <a:txBody>
                    <a:bodyPr/>
                    <a:lstStyle/>
                    <a:p>
                      <a:pPr>
                        <a:defRPr sz="1200" b="1">
                          <a:solidFill>
                            <a:srgbClr val="01203C"/>
                          </a:solidFill>
                          <a:latin typeface="Microsoft YaHei"/>
                        </a:defRPr>
                      </a:pPr>
                      <a:r>
                        <a:t>项目 概况</a:t>
                      </a:r>
                    </a:p>
                  </a:txBody>
                  <a:tcPr marL="36576" marR="36576" marT="18288" marB="18288">
                    <a:solidFill>
                      <a:srgbClr val="EAF2F8"/>
                    </a:solidFill>
                  </a:tcPr>
                </a:tc>
                <a:tc>
                  <a:txBody>
                    <a:bodyPr/>
                    <a:lstStyle/>
                    <a:p>
                      <a:pPr>
                        <a:defRPr sz="1200" b="1">
                          <a:solidFill>
                            <a:srgbClr val="01203C"/>
                          </a:solidFill>
                          <a:latin typeface="Microsoft YaHei"/>
                        </a:defRPr>
                      </a:pPr>
                      <a:r>
                        <a:t>位置</a:t>
                      </a:r>
                    </a:p>
                  </a:txBody>
                  <a:tcPr marL="36576" marR="36576" marT="18288" marB="18288">
                    <a:solidFill>
                      <a:srgbClr val="EAF2F8"/>
                    </a:solidFill>
                  </a:tcPr>
                </a:tc>
                <a:tc>
                  <a:txBody>
                    <a:bodyPr/>
                    <a:lstStyle/>
                    <a:p>
                      <a:pPr>
                        <a:defRPr sz="1200" b="1">
                          <a:solidFill>
                            <a:srgbClr val="01203C"/>
                          </a:solidFill>
                          <a:latin typeface="Microsoft YaHei"/>
                        </a:defRPr>
                      </a:pPr>
                      <a:r>
                        <a:t>湖北省黄冈市黄州区城北片区</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建设性质</a:t>
                      </a:r>
                    </a:p>
                  </a:txBody>
                  <a:tcPr marL="36576" marR="36576" marT="18288" marB="18288">
                    <a:solidFill>
                      <a:srgbClr val="FFFFFF"/>
                    </a:solidFill>
                  </a:tcPr>
                </a:tc>
                <a:tc>
                  <a:txBody>
                    <a:bodyPr/>
                    <a:lstStyle/>
                    <a:p>
                      <a:pPr>
                        <a:defRPr sz="1200">
                          <a:solidFill>
                            <a:srgbClr val="01203C"/>
                          </a:solidFill>
                          <a:latin typeface="Microsoft YaHei"/>
                        </a:defRPr>
                      </a:pPr>
                      <a:r>
                        <a:t>新建</a:t>
                      </a:r>
                    </a:p>
                  </a:txBody>
                  <a:tcPr marL="36576" marR="36576" marT="18288" marB="18288">
                    <a:solidFill>
                      <a:srgbClr val="FFFFFF"/>
                    </a:solidFill>
                  </a:tcPr>
                </a:tc>
                <a:tc>
                  <a:txBody>
                    <a:bodyPr/>
                    <a:lstStyle/>
                    <a:p>
                      <a:pPr>
                        <a:defRPr sz="1200">
                          <a:solidFill>
                            <a:srgbClr val="01203C"/>
                          </a:solidFill>
                          <a:latin typeface="Microsoft YaHei"/>
                        </a:defRPr>
                      </a:pPr>
                      <a:r>
                        <a:t>总投资（万元）</a:t>
                      </a:r>
                    </a:p>
                  </a:txBody>
                  <a:tcPr marL="36576" marR="36576" marT="18288" marB="18288">
                    <a:solidFill>
                      <a:srgbClr val="FFFFFF"/>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土建投资（万元）</a:t>
                      </a:r>
                    </a:p>
                  </a:txBody>
                  <a:tcPr marL="36576" marR="36576" marT="18288" marB="18288">
                    <a:solidFill>
                      <a:srgbClr val="FFFFFF"/>
                    </a:solidFill>
                  </a:tcPr>
                </a:tc>
                <a:tc>
                  <a:txBody>
                    <a:bodyPr/>
                    <a:lstStyle/>
                    <a:p>
                      <a:pPr>
                        <a:defRPr sz="1200">
                          <a:solidFill>
                            <a:srgbClr val="01203C"/>
                          </a:solidFill>
                          <a:latin typeface="Microsoft YaHei"/>
                        </a:defRPr>
                      </a:pPr>
                      <a:r>
                        <a:t>6914.95</a:t>
                      </a:r>
                    </a:p>
                  </a:txBody>
                  <a:tcPr marL="36576" marR="36576" marT="18288" marB="18288">
                    <a:solidFill>
                      <a:srgbClr val="FFFFFF"/>
                    </a:solidFill>
                  </a:tcPr>
                </a:tc>
                <a:tc>
                  <a:txBody>
                    <a:bodyPr/>
                    <a:lstStyle/>
                    <a:p>
                      <a:pPr>
                        <a:defRPr sz="1200">
                          <a:solidFill>
                            <a:srgbClr val="01203C"/>
                          </a:solidFill>
                          <a:latin typeface="Microsoft YaHei"/>
                        </a:defRPr>
                      </a:pPr>
                      <a:r>
                        <a:t>占地面积（m²）</a:t>
                      </a:r>
                    </a:p>
                  </a:txBody>
                  <a:tcPr marL="36576" marR="36576" marT="18288" marB="18288">
                    <a:solidFill>
                      <a:srgbClr val="FFFFFF"/>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表土剥离及回覆79.5m³、土地整治265㎡</a:t>
                      </a:r>
                    </a:p>
                  </a:txBody>
                  <a:tcPr marL="36576" marR="36576" marT="18288" marB="18288">
                    <a:solidFill>
                      <a:srgbClr val="FFFFFF"/>
                    </a:solidFill>
                  </a:tcPr>
                </a:tc>
                <a:tc>
                  <a:txBody>
                    <a:bodyPr/>
                    <a:lstStyle/>
                    <a:p>
                      <a:pPr>
                        <a:defRPr sz="1200">
                          <a:solidFill>
                            <a:srgbClr val="01203C"/>
                          </a:solidFill>
                          <a:latin typeface="Microsoft YaHei"/>
                        </a:defRPr>
                      </a:pPr>
                      <a:r>
                        <a:t>铺种草皮265㎡</a:t>
                      </a:r>
                    </a:p>
                  </a:txBody>
                  <a:tcPr marL="36576" marR="36576" marT="18288" marB="18288">
                    <a:solidFill>
                      <a:srgbClr val="FFFFFF"/>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总投资</a:t>
                      </a:r>
                    </a:p>
                  </a:txBody>
                  <a:tcPr marL="36576" marR="36576" marT="18288" marB="18288">
                    <a:solidFill>
                      <a:srgbClr val="FFFFFF"/>
                    </a:solidFill>
                  </a:tcPr>
                </a:tc>
                <a:tc>
                  <a:txBody>
                    <a:bodyPr/>
                    <a:lstStyle/>
                    <a:p>
                      <a:pPr>
                        <a:defRPr sz="1200">
                          <a:solidFill>
                            <a:srgbClr val="01203C"/>
                          </a:solidFill>
                          <a:latin typeface="Microsoft YaHei"/>
                        </a:defRPr>
                      </a:pPr>
                      <a:r>
                        <a:t>26.9211</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综合说明与审批依据</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项目 概况。</a:t>
            </a:r>
          </a:p>
          <a:p>
            <a:pPr>
              <a:spcAft>
                <a:spcPts val="400"/>
              </a:spcAft>
              <a:defRPr sz="1400">
                <a:solidFill>
                  <a:srgbClr val="01203C"/>
                </a:solidFill>
                <a:latin typeface="Microsoft YaHei"/>
              </a:defRPr>
            </a:pPr>
            <a:r>
              <a:t>报告列示数值：8024.00</a:t>
            </a:r>
          </a:p>
          <a:p>
            <a:pPr>
              <a:spcAft>
                <a:spcPts val="400"/>
              </a:spcAft>
              <a:defRPr sz="1400">
                <a:solidFill>
                  <a:srgbClr val="01203C"/>
                </a:solidFill>
                <a:latin typeface="Microsoft YaHei"/>
              </a:defRPr>
            </a:pPr>
            <a:r>
              <a:t>报告列示数值：6914.95</a:t>
            </a:r>
          </a:p>
          <a:p>
            <a:pPr>
              <a:spcAft>
                <a:spcPts val="400"/>
              </a:spcAft>
              <a:defRPr sz="1400">
                <a:solidFill>
                  <a:srgbClr val="01203C"/>
                </a:solidFill>
                <a:latin typeface="Microsoft YaHei"/>
              </a:defRPr>
            </a:pPr>
            <a:r>
              <a:t>报告列示数值：34416.00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前期批复和编制依据明确方案边界</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综合说明与审批依据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 y="1124712"/>
            <a:ext cx="10972800" cy="4462272"/>
          </a:xfrm>
          <a:prstGeom prst="rect">
            <a:avLst/>
          </a:prstGeom>
          <a:solidFill>
            <a:srgbClr val="FFFFFF"/>
          </a:solidFill>
          <a:ln w="7620">
            <a:solidFill>
              <a:srgbClr val="CC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417320"/>
            <a:ext cx="10332720" cy="347472"/>
          </a:xfrm>
          <a:prstGeom prst="rect">
            <a:avLst/>
          </a:prstGeom>
          <a:noFill/>
        </p:spPr>
        <p:txBody>
          <a:bodyPr wrap="square">
            <a:noAutofit/>
          </a:bodyPr>
          <a:lstStyle/>
          <a:p>
            <a:pPr>
              <a:defRPr sz="1600" b="1">
                <a:solidFill>
                  <a:srgbClr val="4489C8"/>
                </a:solidFill>
                <a:latin typeface="Microsoft YaHei"/>
              </a:defRPr>
            </a:pPr>
            <a:r>
              <a:t>项目前期工作概况</a:t>
            </a:r>
          </a:p>
        </p:txBody>
      </p:sp>
      <p:sp>
        <p:nvSpPr>
          <p:cNvPr id="8" name="TextBox 7"/>
          <p:cNvSpPr txBox="1"/>
          <p:nvPr/>
        </p:nvSpPr>
        <p:spPr>
          <a:xfrm>
            <a:off x="877824" y="1920240"/>
            <a:ext cx="4800600" cy="3429000"/>
          </a:xfrm>
          <a:prstGeom prst="rect">
            <a:avLst/>
          </a:prstGeom>
          <a:noFill/>
        </p:spPr>
        <p:txBody>
          <a:bodyPr wrap="square">
            <a:noAutofit/>
          </a:bodyPr>
          <a:lstStyle/>
          <a:p>
            <a:pPr>
              <a:spcAft>
                <a:spcPts val="400"/>
              </a:spcAft>
              <a:defRPr sz="1400">
                <a:solidFill>
                  <a:srgbClr val="01203C"/>
                </a:solidFill>
                <a:latin typeface="Microsoft YaHei"/>
              </a:defRPr>
            </a:pPr>
            <a:r>
              <a:t>附件2 《市发改委关于黄冈市东坡大道片区污水收集管网建设工程可行性研究报告的批复》（黄发改审批〔2024〕410号） 附件3</a:t>
            </a:r>
          </a:p>
          <a:p>
            <a:pPr>
              <a:spcAft>
                <a:spcPts val="400"/>
              </a:spcAft>
              <a:defRPr sz="1400">
                <a:solidFill>
                  <a:srgbClr val="01203C"/>
                </a:solidFill>
                <a:latin typeface="Microsoft YaHei"/>
              </a:defRPr>
            </a:pPr>
            <a:r>
              <a:t>2025年9月24日，黄冈市发展和改革委员会批复《关于黄冈市东坡大道片区污水收集管网建设工程初步设计的批复》（黄发改审批〔2025〕287号。</a:t>
            </a:r>
          </a:p>
          <a:p>
            <a:pPr>
              <a:spcAft>
                <a:spcPts val="400"/>
              </a:spcAft>
              <a:defRPr sz="1400">
                <a:solidFill>
                  <a:srgbClr val="01203C"/>
                </a:solidFill>
                <a:latin typeface="Microsoft YaHei"/>
              </a:defRPr>
            </a:pPr>
            <a:r>
              <a:t>建设单位黄冈市住房和城市更新局于2025年12月委托武汉中地环科水工环科技咨询有限责任公司（以下简称“我公司”）编制《黄冈市东坡大道片区污水。</a:t>
            </a:r>
          </a:p>
        </p:txBody>
      </p:sp>
      <p:sp>
        <p:nvSpPr>
          <p:cNvPr id="9" name="TextBox 8"/>
          <p:cNvSpPr txBox="1"/>
          <p:nvPr/>
        </p:nvSpPr>
        <p:spPr>
          <a:xfrm>
            <a:off x="6053328" y="1920240"/>
            <a:ext cx="4800600" cy="3429000"/>
          </a:xfrm>
          <a:prstGeom prst="rect">
            <a:avLst/>
          </a:prstGeom>
          <a:noFill/>
        </p:spPr>
        <p:txBody>
          <a:bodyPr wrap="square">
            <a:noAutofit/>
          </a:bodyPr>
          <a:lstStyle/>
          <a:p>
            <a:pPr>
              <a:spcAft>
                <a:spcPts val="400"/>
              </a:spcAft>
              <a:defRPr sz="1400">
                <a:solidFill>
                  <a:srgbClr val="01203C"/>
                </a:solidFill>
                <a:latin typeface="Microsoft YaHei"/>
              </a:defRPr>
            </a:pPr>
            <a:r>
              <a:t>接受委托后，我公司项目组人员对该项目区自然环境、社会环境、生态环境、水土流失现状及水土保持现状进行了专项调查，收集了工程区域有关资料。</a:t>
            </a:r>
          </a:p>
          <a:p>
            <a:pPr>
              <a:spcAft>
                <a:spcPts val="400"/>
              </a:spcAft>
              <a:defRPr sz="1400">
                <a:solidFill>
                  <a:srgbClr val="01203C"/>
                </a:solidFill>
                <a:latin typeface="Microsoft YaHei"/>
              </a:defRPr>
            </a:pPr>
            <a:r>
              <a:t>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第02章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02</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项目概况与工程布置</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说明管网建设内容、道路段落、工程占地、施工组织、工艺和土石方基础。</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建设项目工程特性表锁定规模、投资与工期</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08</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154430">
                <a:tc>
                  <a:txBody>
                    <a:bodyPr/>
                    <a:lstStyle/>
                    <a:p>
                      <a:pPr>
                        <a:defRPr sz="1200" b="1">
                          <a:solidFill>
                            <a:srgbClr val="01203C"/>
                          </a:solidFill>
                          <a:latin typeface="Microsoft YaHei"/>
                        </a:defRPr>
                      </a:pPr>
                      <a:r>
                        <a:t>一、项目的基本情况</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1154430">
                <a:tc>
                  <a:txBody>
                    <a:bodyPr/>
                    <a:lstStyle/>
                    <a:p>
                      <a:pPr>
                        <a:defRPr sz="1200">
                          <a:solidFill>
                            <a:srgbClr val="01203C"/>
                          </a:solidFill>
                          <a:latin typeface="Microsoft YaHei"/>
                        </a:defRPr>
                      </a:pPr>
                      <a:r>
                        <a:t>项目分区</a:t>
                      </a:r>
                    </a:p>
                  </a:txBody>
                  <a:tcPr marL="36576" marR="36576" marT="18288" marB="18288">
                    <a:solidFill>
                      <a:srgbClr val="FFFFFF"/>
                    </a:solidFill>
                  </a:tcPr>
                </a:tc>
                <a:tc>
                  <a:txBody>
                    <a:bodyPr/>
                    <a:lstStyle/>
                    <a:p>
                      <a:pPr>
                        <a:defRPr sz="1200">
                          <a:solidFill>
                            <a:srgbClr val="01203C"/>
                          </a:solidFill>
                          <a:latin typeface="Microsoft YaHei"/>
                        </a:defRPr>
                      </a:pPr>
                      <a:r>
                        <a:t>项目区面积（ m² ）</a:t>
                      </a:r>
                    </a:p>
                  </a:txBody>
                  <a:tcPr marL="36576" marR="36576" marT="18288" marB="18288">
                    <a:solidFill>
                      <a:srgbClr val="FFFFFF"/>
                    </a:solidFill>
                  </a:tcPr>
                </a:tc>
                <a:tc>
                  <a:txBody>
                    <a:bodyPr/>
                    <a:lstStyle/>
                    <a:p>
                      <a:pPr>
                        <a:defRPr sz="1200">
                          <a:solidFill>
                            <a:srgbClr val="01203C"/>
                          </a:solidFill>
                          <a:latin typeface="Microsoft YaHei"/>
                        </a:defRPr>
                      </a:pPr>
                      <a:r>
                        <a:t>占地性质（ m² ）</a:t>
                      </a:r>
                    </a:p>
                  </a:txBody>
                  <a:tcPr marL="36576" marR="36576" marT="18288" marB="18288">
                    <a:solidFill>
                      <a:srgbClr val="FFFFFF"/>
                    </a:solidFill>
                  </a:tcPr>
                </a:tc>
                <a:tc>
                  <a:txBody>
                    <a:bodyPr/>
                    <a:lstStyle/>
                    <a:p>
                      <a:pPr>
                        <a:defRPr sz="1200">
                          <a:solidFill>
                            <a:srgbClr val="01203C"/>
                          </a:solidFill>
                          <a:latin typeface="Microsoft YaHei"/>
                        </a:defRPr>
                      </a:pPr>
                      <a:r>
                        <a:t>占地类型（ m² ）</a:t>
                      </a:r>
                    </a:p>
                  </a:txBody>
                  <a:tcPr marL="36576" marR="36576" marT="18288" marB="18288">
                    <a:solidFill>
                      <a:srgbClr val="FFFFFF"/>
                    </a:solidFill>
                  </a:tcPr>
                </a:tc>
              </a:tr>
              <a:tr h="1154430">
                <a:tc>
                  <a:txBody>
                    <a:bodyPr/>
                    <a:lstStyle/>
                    <a:p>
                      <a:pPr>
                        <a:defRPr sz="1200">
                          <a:solidFill>
                            <a:srgbClr val="01203C"/>
                          </a:solidFill>
                          <a:latin typeface="Microsoft YaHei"/>
                        </a:defRPr>
                      </a:pPr>
                      <a:r>
                        <a:t>合计</a:t>
                      </a:r>
                    </a:p>
                  </a:txBody>
                  <a:tcPr marL="36576" marR="36576" marT="18288" marB="18288">
                    <a:solidFill>
                      <a:srgbClr val="FFFFFF"/>
                    </a:solidFill>
                  </a:tcPr>
                </a:tc>
                <a:tc>
                  <a:txBody>
                    <a:bodyPr/>
                    <a:lstStyle/>
                    <a:p>
                      <a:pPr>
                        <a:defRPr sz="1200">
                          <a:solidFill>
                            <a:srgbClr val="01203C"/>
                          </a:solidFill>
                          <a:latin typeface="Microsoft YaHei"/>
                        </a:defRPr>
                      </a:pPr>
                      <a:r>
                        <a:t>34416 .00</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34416 .00</a:t>
                      </a:r>
                    </a:p>
                  </a:txBody>
                  <a:tcPr marL="36576" marR="36576" marT="18288" marB="18288">
                    <a:solidFill>
                      <a:srgbClr val="FFFFFF"/>
                    </a:solidFill>
                  </a:tcPr>
                </a:tc>
              </a:tr>
              <a:tr h="1154430">
                <a:tc>
                  <a:txBody>
                    <a:bodyPr/>
                    <a:lstStyle/>
                    <a:p>
                      <a:pPr>
                        <a:defRPr sz="1200">
                          <a:solidFill>
                            <a:srgbClr val="01203C"/>
                          </a:solidFill>
                          <a:latin typeface="Microsoft YaHei"/>
                        </a:defRPr>
                      </a:pPr>
                      <a:r>
                        <a:t>合计</a:t>
                      </a:r>
                    </a:p>
                  </a:txBody>
                  <a:tcPr marL="36576" marR="36576" marT="18288" marB="18288">
                    <a:solidFill>
                      <a:srgbClr val="FFFFFF"/>
                    </a:solidFill>
                  </a:tcPr>
                </a:tc>
                <a:tc>
                  <a:txBody>
                    <a:bodyPr/>
                    <a:lstStyle/>
                    <a:p>
                      <a:pPr>
                        <a:defRPr sz="1200">
                          <a:solidFill>
                            <a:srgbClr val="01203C"/>
                          </a:solidFill>
                          <a:latin typeface="Microsoft YaHei"/>
                        </a:defRPr>
                      </a:pPr>
                      <a:r>
                        <a:t>4971.61</a:t>
                      </a:r>
                    </a:p>
                  </a:txBody>
                  <a:tcPr marL="36576" marR="36576" marT="18288" marB="18288">
                    <a:solidFill>
                      <a:srgbClr val="FFFFFF"/>
                    </a:solidFill>
                  </a:tcPr>
                </a:tc>
                <a:tc>
                  <a:txBody>
                    <a:bodyPr/>
                    <a:lstStyle/>
                    <a:p>
                      <a:pPr>
                        <a:defRPr sz="1200">
                          <a:solidFill>
                            <a:srgbClr val="01203C"/>
                          </a:solidFill>
                          <a:latin typeface="Microsoft YaHei"/>
                        </a:defRPr>
                      </a:pPr>
                      <a:r>
                        <a:t>2232.54</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建设项目工程特性表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一、项目的基本情况 1</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报告列示数值：2</a:t>
            </a:r>
          </a:p>
          <a:p>
            <a:pPr>
              <a:spcAft>
                <a:spcPts val="400"/>
              </a:spcAft>
              <a:defRPr sz="1400">
                <a:solidFill>
                  <a:srgbClr val="01203C"/>
                </a:solidFill>
                <a:latin typeface="Microsoft YaHei"/>
              </a:defRPr>
            </a:pPr>
            <a:r>
              <a:t>报告列示数值：3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项目位于黄州区城北片区并沿多条道路布设</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7315200"/>
              </a:tblGrid>
              <a:tr h="2308860">
                <a:tc>
                  <a:txBody>
                    <a:bodyPr/>
                    <a:lstStyle/>
                    <a:p>
                      <a:pPr>
                        <a:defRPr sz="1200" b="1">
                          <a:solidFill>
                            <a:srgbClr val="01203C"/>
                          </a:solidFill>
                          <a:latin typeface="Microsoft YaHei"/>
                        </a:defRPr>
                      </a:pPr>
                    </a:p>
                  </a:txBody>
                  <a:tcPr marL="36576" marR="36576" marT="18288" marB="18288">
                    <a:solidFill>
                      <a:srgbClr val="EAF2F8"/>
                    </a:solidFill>
                  </a:tcPr>
                </a:tc>
              </a:tr>
              <a:tr h="2308860">
                <a:tc>
                  <a:txBody>
                    <a:bodyPr/>
                    <a:lstStyle/>
                    <a:p>
                      <a:pPr>
                        <a:defRPr sz="1200">
                          <a:solidFill>
                            <a:srgbClr val="01203C"/>
                          </a:solidFill>
                          <a:latin typeface="Microsoft YaHei"/>
                        </a:defRPr>
                      </a:pPr>
                      <a:r>
                        <a:t>图2.1-1 工程建设地点示意图</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项目基本情况</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本次工程范围东坡大道~赤壁大道片区现状排水管线属于老城区（城北）组团区域，区域内现状排水体制主要为混流制，既有现状合流通道，又有污水管道。</a:t>
            </a:r>
          </a:p>
          <a:p>
            <a:pPr>
              <a:spcAft>
                <a:spcPts val="400"/>
              </a:spcAft>
              <a:defRPr sz="1400">
                <a:solidFill>
                  <a:srgbClr val="01203C"/>
                </a:solidFill>
                <a:latin typeface="Microsoft YaHei"/>
              </a:defRPr>
            </a:pPr>
            <a:r>
              <a:t>报告列示数值：1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施工组织与顶管工艺决定扰动范围和防护时序</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7315200"/>
              </a:tblGrid>
              <a:tr h="2308860">
                <a:tc>
                  <a:txBody>
                    <a:bodyPr/>
                    <a:lstStyle/>
                    <a:p>
                      <a:pPr>
                        <a:defRPr sz="1200" b="1">
                          <a:solidFill>
                            <a:srgbClr val="01203C"/>
                          </a:solidFill>
                          <a:latin typeface="Microsoft YaHei"/>
                        </a:defRPr>
                      </a:pPr>
                    </a:p>
                  </a:txBody>
                  <a:tcPr marL="36576" marR="36576" marT="18288" marB="18288">
                    <a:solidFill>
                      <a:srgbClr val="EAF2F8"/>
                    </a:solidFill>
                  </a:tcPr>
                </a:tc>
              </a:tr>
              <a:tr h="2308860">
                <a:tc>
                  <a:txBody>
                    <a:bodyPr/>
                    <a:lstStyle/>
                    <a:p>
                      <a:pPr>
                        <a:defRPr sz="1200">
                          <a:solidFill>
                            <a:srgbClr val="01203C"/>
                          </a:solidFill>
                          <a:latin typeface="Microsoft YaHei"/>
                        </a:defRPr>
                      </a:pPr>
                      <a:r>
                        <a:t>图2.1- 2 顶管施工示意图</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项目组成及工程布置</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报告列示数值：2</a:t>
            </a:r>
          </a:p>
          <a:p>
            <a:pPr>
              <a:spcAft>
                <a:spcPts val="400"/>
              </a:spcAft>
              <a:defRPr sz="1400">
                <a:solidFill>
                  <a:srgbClr val="01203C"/>
                </a:solidFill>
                <a:latin typeface="Microsoft YaHei"/>
              </a:defRPr>
            </a:pPr>
            <a:r>
              <a:t>报告列示数值：3</a:t>
            </a:r>
          </a:p>
          <a:p>
            <a:pPr>
              <a:spcAft>
                <a:spcPts val="400"/>
              </a:spcAft>
              <a:defRPr sz="1400">
                <a:solidFill>
                  <a:srgbClr val="01203C"/>
                </a:solidFill>
                <a:latin typeface="Microsoft YaHei"/>
              </a:defRPr>
            </a:pPr>
            <a:r>
              <a:t>报告列示数值：4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第03章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03</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防治责任范围与标准目标</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界定防治责任范围，明确南方红壤区建设类项目一级标准及六项防治目标。</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防治责任范围全部为临时占地 34416.00m²</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防治责任范围与标准目标</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923544">
                <a:tc>
                  <a:txBody>
                    <a:bodyPr/>
                    <a:lstStyle/>
                    <a:p>
                      <a:pPr>
                        <a:defRPr sz="1200" b="1">
                          <a:solidFill>
                            <a:srgbClr val="01203C"/>
                          </a:solidFill>
                          <a:latin typeface="Microsoft YaHei"/>
                        </a:defRPr>
                      </a:pPr>
                      <a:r>
                        <a:t>分区</a:t>
                      </a:r>
                    </a:p>
                  </a:txBody>
                  <a:tcPr marL="36576" marR="36576" marT="18288" marB="18288">
                    <a:solidFill>
                      <a:srgbClr val="EAF2F8"/>
                    </a:solidFill>
                  </a:tcPr>
                </a:tc>
                <a:tc>
                  <a:txBody>
                    <a:bodyPr/>
                    <a:lstStyle/>
                    <a:p>
                      <a:pPr>
                        <a:defRPr sz="1200" b="1">
                          <a:solidFill>
                            <a:srgbClr val="01203C"/>
                          </a:solidFill>
                          <a:latin typeface="Microsoft YaHei"/>
                        </a:defRPr>
                      </a:pPr>
                      <a:r>
                        <a:t>占地性质</a:t>
                      </a:r>
                    </a:p>
                  </a:txBody>
                  <a:tcPr marL="36576" marR="36576" marT="18288" marB="18288">
                    <a:solidFill>
                      <a:srgbClr val="EAF2F8"/>
                    </a:solidFill>
                  </a:tcPr>
                </a:tc>
                <a:tc>
                  <a:txBody>
                    <a:bodyPr/>
                    <a:lstStyle/>
                    <a:p>
                      <a:pPr>
                        <a:defRPr sz="1200" b="1">
                          <a:solidFill>
                            <a:srgbClr val="01203C"/>
                          </a:solidFill>
                          <a:latin typeface="Microsoft YaHei"/>
                        </a:defRPr>
                      </a:pPr>
                      <a:r>
                        <a:t>占地类型</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临时占地</a:t>
                      </a:r>
                    </a:p>
                  </a:txBody>
                  <a:tcPr marL="36576" marR="36576" marT="18288" marB="18288">
                    <a:solidFill>
                      <a:srgbClr val="FFFFFF"/>
                    </a:solidFill>
                  </a:tcPr>
                </a:tc>
                <a:tc>
                  <a:txBody>
                    <a:bodyPr/>
                    <a:lstStyle/>
                    <a:p>
                      <a:pPr>
                        <a:defRPr sz="1200">
                          <a:solidFill>
                            <a:srgbClr val="01203C"/>
                          </a:solidFill>
                          <a:latin typeface="Microsoft YaHei"/>
                        </a:defRPr>
                      </a:pPr>
                      <a:r>
                        <a:t>永久占地</a:t>
                      </a:r>
                    </a:p>
                  </a:txBody>
                  <a:tcPr marL="36576" marR="36576" marT="18288" marB="18288">
                    <a:solidFill>
                      <a:srgbClr val="FFFFFF"/>
                    </a:solidFill>
                  </a:tcPr>
                </a:tc>
                <a:tc>
                  <a:txBody>
                    <a:bodyPr/>
                    <a:lstStyle/>
                    <a:p>
                      <a:pPr>
                        <a:defRPr sz="1200">
                          <a:solidFill>
                            <a:srgbClr val="01203C"/>
                          </a:solidFill>
                          <a:latin typeface="Microsoft YaHei"/>
                        </a:defRPr>
                      </a:pPr>
                      <a:r>
                        <a:t>交通运输用地</a:t>
                      </a:r>
                    </a:p>
                  </a:txBody>
                  <a:tcPr marL="36576" marR="36576" marT="18288" marB="18288">
                    <a:solidFill>
                      <a:srgbClr val="FFFFFF"/>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城镇村道路用地</a:t>
                      </a:r>
                    </a:p>
                  </a:txBody>
                  <a:tcPr marL="36576" marR="36576" marT="18288" marB="18288">
                    <a:solidFill>
                      <a:srgbClr val="FFFFFF"/>
                    </a:solidFill>
                  </a:tcPr>
                </a:tc>
              </a:tr>
              <a:tr h="923544">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34151.00</a:t>
                      </a:r>
                    </a:p>
                  </a:txBody>
                  <a:tcPr marL="36576" marR="36576" marT="18288" marB="18288">
                    <a:solidFill>
                      <a:srgbClr val="FFFFFF"/>
                    </a:solidFill>
                  </a:tcPr>
                </a:tc>
              </a:tr>
              <a:tr h="923544">
                <a:tc>
                  <a:txBody>
                    <a:bodyPr/>
                    <a:lstStyle/>
                    <a:p>
                      <a:pPr>
                        <a:defRPr sz="1200">
                          <a:solidFill>
                            <a:srgbClr val="01203C"/>
                          </a:solidFill>
                          <a:latin typeface="Microsoft YaHei"/>
                        </a:defRPr>
                      </a:pPr>
                      <a:r>
                        <a:t>小计</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34151.00</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本项目防治责任范围一览表 单位：m²</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分区。</a:t>
            </a:r>
          </a:p>
          <a:p>
            <a:pPr>
              <a:spcAft>
                <a:spcPts val="400"/>
              </a:spcAft>
              <a:defRPr sz="1400">
                <a:solidFill>
                  <a:srgbClr val="01203C"/>
                </a:solidFill>
                <a:latin typeface="Microsoft YaHei"/>
              </a:defRPr>
            </a:pPr>
            <a:r>
              <a:t>报告列示数值：34416.00</a:t>
            </a:r>
          </a:p>
          <a:p>
            <a:pPr>
              <a:spcAft>
                <a:spcPts val="400"/>
              </a:spcAft>
              <a:defRPr sz="1400">
                <a:solidFill>
                  <a:srgbClr val="01203C"/>
                </a:solidFill>
                <a:latin typeface="Microsoft YaHei"/>
              </a:defRPr>
            </a:pPr>
            <a:r>
              <a:t>报告列示数值：34151.00</a:t>
            </a:r>
          </a:p>
          <a:p>
            <a:pPr>
              <a:spcAft>
                <a:spcPts val="400"/>
              </a:spcAft>
              <a:defRPr sz="1400">
                <a:solidFill>
                  <a:srgbClr val="01203C"/>
                </a:solidFill>
                <a:latin typeface="Microsoft YaHei"/>
              </a:defRPr>
            </a:pPr>
            <a:r>
              <a:t>报告列示数值：265.00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六项防治指标采用南方红壤区一级标准</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防治责任范围与标准目标</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13</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defRPr sz="1200" b="1">
                          <a:solidFill>
                            <a:srgbClr val="01203C"/>
                          </a:solidFill>
                          <a:latin typeface="Microsoft YaHei"/>
                        </a:defRPr>
                      </a:pPr>
                      <a:r>
                        <a:t>防治指标</a:t>
                      </a:r>
                    </a:p>
                  </a:txBody>
                  <a:tcPr marL="36576" marR="36576" marT="18288" marB="18288">
                    <a:solidFill>
                      <a:srgbClr val="EAF2F8"/>
                    </a:solidFill>
                  </a:tcPr>
                </a:tc>
                <a:tc>
                  <a:txBody>
                    <a:bodyPr/>
                    <a:lstStyle/>
                    <a:p>
                      <a:pPr>
                        <a:defRPr sz="1200" b="1">
                          <a:solidFill>
                            <a:srgbClr val="01203C"/>
                          </a:solidFill>
                          <a:latin typeface="Microsoft YaHei"/>
                        </a:defRPr>
                      </a:pPr>
                      <a:r>
                        <a:t>标准值</a:t>
                      </a:r>
                    </a:p>
                  </a:txBody>
                  <a:tcPr marL="36576" marR="36576" marT="18288" marB="18288">
                    <a:solidFill>
                      <a:srgbClr val="EAF2F8"/>
                    </a:solidFill>
                  </a:tcPr>
                </a:tc>
                <a:tc>
                  <a:txBody>
                    <a:bodyPr/>
                    <a:lstStyle/>
                    <a:p>
                      <a:pPr>
                        <a:defRPr sz="1200" b="1">
                          <a:solidFill>
                            <a:srgbClr val="01203C"/>
                          </a:solidFill>
                          <a:latin typeface="Microsoft YaHei"/>
                        </a:defRPr>
                      </a:pPr>
                      <a:r>
                        <a:t>修正</a:t>
                      </a:r>
                    </a:p>
                  </a:txBody>
                  <a:tcPr marL="36576" marR="36576" marT="18288" marB="18288">
                    <a:solidFill>
                      <a:srgbClr val="EAF2F8"/>
                    </a:solidFill>
                  </a:tcPr>
                </a:tc>
                <a:tc>
                  <a:txBody>
                    <a:bodyPr/>
                    <a:lstStyle/>
                    <a:p>
                      <a:pPr>
                        <a:defRPr sz="1200" b="1">
                          <a:solidFill>
                            <a:srgbClr val="01203C"/>
                          </a:solidFill>
                          <a:latin typeface="Microsoft YaHei"/>
                        </a:defRPr>
                      </a:pPr>
                      <a:r>
                        <a:t>采用标准</a:t>
                      </a:r>
                    </a:p>
                  </a:txBody>
                  <a:tcPr marL="36576" marR="36576" marT="18288" marB="18288">
                    <a:solidFill>
                      <a:srgbClr val="EAF2F8"/>
                    </a:solidFill>
                  </a:tcPr>
                </a:tc>
              </a:tr>
              <a:tr h="659674">
                <a:tc>
                  <a:txBody>
                    <a:bodyPr/>
                    <a:lstStyle/>
                    <a:p>
                      <a:pPr>
                        <a:defRPr sz="1200">
                          <a:solidFill>
                            <a:srgbClr val="01203C"/>
                          </a:solidFill>
                          <a:latin typeface="Microsoft YaHei"/>
                        </a:defRPr>
                      </a:pPr>
                      <a:r>
                        <a:t>水土流失治理度（%）</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98</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r>
              <a:tr h="659674">
                <a:tc>
                  <a:txBody>
                    <a:bodyPr/>
                    <a:lstStyle/>
                    <a:p>
                      <a:pPr>
                        <a:defRPr sz="1200">
                          <a:solidFill>
                            <a:srgbClr val="01203C"/>
                          </a:solidFill>
                          <a:latin typeface="Microsoft YaHei"/>
                        </a:defRPr>
                      </a:pPr>
                      <a:r>
                        <a:t>土壤流失控制比</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0.9</a:t>
                      </a:r>
                    </a:p>
                  </a:txBody>
                  <a:tcPr marL="36576" marR="36576" marT="18288" marB="18288">
                    <a:solidFill>
                      <a:srgbClr val="FFFFFF"/>
                    </a:solidFill>
                  </a:tcPr>
                </a:tc>
                <a:tc>
                  <a:txBody>
                    <a:bodyPr/>
                    <a:lstStyle/>
                    <a:p>
                      <a:pPr>
                        <a:defRPr sz="1200">
                          <a:solidFill>
                            <a:srgbClr val="01203C"/>
                          </a:solidFill>
                          <a:latin typeface="Microsoft YaHei"/>
                        </a:defRPr>
                      </a:pPr>
                      <a:r>
                        <a:t>+0.1</a:t>
                      </a:r>
                    </a:p>
                  </a:txBody>
                  <a:tcPr marL="36576" marR="36576" marT="18288" marB="18288">
                    <a:solidFill>
                      <a:srgbClr val="FFFFFF"/>
                    </a:solidFill>
                  </a:tcPr>
                </a:tc>
              </a:tr>
              <a:tr h="659674">
                <a:tc>
                  <a:txBody>
                    <a:bodyPr/>
                    <a:lstStyle/>
                    <a:p>
                      <a:pPr>
                        <a:defRPr sz="1200">
                          <a:solidFill>
                            <a:srgbClr val="01203C"/>
                          </a:solidFill>
                          <a:latin typeface="Microsoft YaHei"/>
                        </a:defRPr>
                      </a:pPr>
                      <a:r>
                        <a:t>渣土防护率（%）</a:t>
                      </a:r>
                    </a:p>
                  </a:txBody>
                  <a:tcPr marL="36576" marR="36576" marT="18288" marB="18288">
                    <a:solidFill>
                      <a:srgbClr val="FFFFFF"/>
                    </a:solidFill>
                  </a:tcPr>
                </a:tc>
                <a:tc>
                  <a:txBody>
                    <a:bodyPr/>
                    <a:lstStyle/>
                    <a:p>
                      <a:pPr>
                        <a:defRPr sz="1200">
                          <a:solidFill>
                            <a:srgbClr val="01203C"/>
                          </a:solidFill>
                          <a:latin typeface="Microsoft YaHei"/>
                        </a:defRPr>
                      </a:pPr>
                      <a:r>
                        <a:t>95</a:t>
                      </a:r>
                    </a:p>
                  </a:txBody>
                  <a:tcPr marL="36576" marR="36576" marT="18288" marB="18288">
                    <a:solidFill>
                      <a:srgbClr val="FFFFFF"/>
                    </a:solidFill>
                  </a:tcPr>
                </a:tc>
                <a:tc>
                  <a:txBody>
                    <a:bodyPr/>
                    <a:lstStyle/>
                    <a:p>
                      <a:pPr>
                        <a:defRPr sz="1200">
                          <a:solidFill>
                            <a:srgbClr val="01203C"/>
                          </a:solidFill>
                          <a:latin typeface="Microsoft YaHei"/>
                        </a:defRPr>
                      </a:pPr>
                      <a:r>
                        <a:t>97</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r>
              <a:tr h="659674">
                <a:tc>
                  <a:txBody>
                    <a:bodyPr/>
                    <a:lstStyle/>
                    <a:p>
                      <a:pPr>
                        <a:defRPr sz="1200">
                          <a:solidFill>
                            <a:srgbClr val="01203C"/>
                          </a:solidFill>
                          <a:latin typeface="Microsoft YaHei"/>
                        </a:defRPr>
                      </a:pPr>
                      <a:r>
                        <a:t>表土保护率（%）</a:t>
                      </a:r>
                    </a:p>
                  </a:txBody>
                  <a:tcPr marL="36576" marR="36576" marT="18288" marB="18288">
                    <a:solidFill>
                      <a:srgbClr val="FFFFFF"/>
                    </a:solidFill>
                  </a:tcPr>
                </a:tc>
                <a:tc>
                  <a:txBody>
                    <a:bodyPr/>
                    <a:lstStyle/>
                    <a:p>
                      <a:pPr>
                        <a:defRPr sz="1200">
                          <a:solidFill>
                            <a:srgbClr val="01203C"/>
                          </a:solidFill>
                          <a:latin typeface="Microsoft YaHei"/>
                        </a:defRPr>
                      </a:pPr>
                      <a:r>
                        <a:t>92</a:t>
                      </a:r>
                    </a:p>
                  </a:txBody>
                  <a:tcPr marL="36576" marR="36576" marT="18288" marB="18288">
                    <a:solidFill>
                      <a:srgbClr val="FFFFFF"/>
                    </a:solidFill>
                  </a:tcPr>
                </a:tc>
                <a:tc>
                  <a:txBody>
                    <a:bodyPr/>
                    <a:lstStyle/>
                    <a:p>
                      <a:pPr>
                        <a:defRPr sz="1200">
                          <a:solidFill>
                            <a:srgbClr val="01203C"/>
                          </a:solidFill>
                          <a:latin typeface="Microsoft YaHei"/>
                        </a:defRPr>
                      </a:pPr>
                      <a:r>
                        <a:t>92</a:t>
                      </a:r>
                    </a:p>
                  </a:txBody>
                  <a:tcPr marL="36576" marR="36576" marT="18288" marB="18288">
                    <a:solidFill>
                      <a:srgbClr val="FFFFFF"/>
                    </a:solidFill>
                  </a:tcPr>
                </a:tc>
                <a:tc>
                  <a:txBody>
                    <a:bodyPr/>
                    <a:lstStyle/>
                    <a:p>
                      <a:pPr>
                        <a:defRPr sz="1200">
                          <a:solidFill>
                            <a:srgbClr val="01203C"/>
                          </a:solidFill>
                          <a:latin typeface="Microsoft YaHei"/>
                        </a:defRPr>
                      </a:pPr>
                      <a:r>
                        <a:t>+1</a:t>
                      </a:r>
                    </a:p>
                  </a:txBody>
                  <a:tcPr marL="36576" marR="36576" marT="18288" marB="18288">
                    <a:solidFill>
                      <a:srgbClr val="FFFFFF"/>
                    </a:solidFill>
                  </a:tcPr>
                </a:tc>
              </a:tr>
              <a:tr h="659674">
                <a:tc>
                  <a:txBody>
                    <a:bodyPr/>
                    <a:lstStyle/>
                    <a:p>
                      <a:pPr>
                        <a:defRPr sz="1200">
                          <a:solidFill>
                            <a:srgbClr val="01203C"/>
                          </a:solidFill>
                          <a:latin typeface="Microsoft YaHei"/>
                        </a:defRPr>
                      </a:pPr>
                      <a:r>
                        <a:t>林草植被恢复率（%）</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98</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r>
              <a:tr h="659674">
                <a:tc>
                  <a:txBody>
                    <a:bodyPr/>
                    <a:lstStyle/>
                    <a:p>
                      <a:pPr>
                        <a:defRPr sz="1200">
                          <a:solidFill>
                            <a:srgbClr val="01203C"/>
                          </a:solidFill>
                          <a:latin typeface="Microsoft YaHei"/>
                        </a:defRPr>
                      </a:pPr>
                      <a:r>
                        <a:t>林草覆盖率（%）</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25</a:t>
                      </a:r>
                    </a:p>
                  </a:txBody>
                  <a:tcPr marL="36576" marR="36576" marT="18288" marB="18288">
                    <a:solidFill>
                      <a:srgbClr val="FFFFFF"/>
                    </a:solidFill>
                  </a:tcPr>
                </a:tc>
                <a:tc>
                  <a:txBody>
                    <a:bodyPr/>
                    <a:lstStyle/>
                    <a:p>
                      <a:pPr>
                        <a:defRPr sz="1200">
                          <a:solidFill>
                            <a:srgbClr val="01203C"/>
                          </a:solidFill>
                          <a:latin typeface="Microsoft YaHei"/>
                        </a:defRPr>
                      </a:pPr>
                      <a:r>
                        <a:t>按 项目区 实际情况调整 为0.77%</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本工程水土流失防治目标值</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防治指标。</a:t>
            </a:r>
          </a:p>
          <a:p>
            <a:pPr>
              <a:spcAft>
                <a:spcPts val="400"/>
              </a:spcAft>
              <a:defRPr sz="1400">
                <a:solidFill>
                  <a:srgbClr val="01203C"/>
                </a:solidFill>
                <a:latin typeface="Microsoft YaHei"/>
              </a:defRPr>
            </a:pPr>
            <a:r>
              <a:t>报告列示数值：98</a:t>
            </a:r>
          </a:p>
          <a:p>
            <a:pPr>
              <a:spcAft>
                <a:spcPts val="400"/>
              </a:spcAft>
              <a:defRPr sz="1400">
                <a:solidFill>
                  <a:srgbClr val="01203C"/>
                </a:solidFill>
                <a:latin typeface="Microsoft YaHei"/>
              </a:defRPr>
            </a:pPr>
            <a:r>
              <a:t>报告列示数值：0.9</a:t>
            </a:r>
          </a:p>
          <a:p>
            <a:pPr>
              <a:spcAft>
                <a:spcPts val="400"/>
              </a:spcAft>
              <a:defRPr sz="1400">
                <a:solidFill>
                  <a:srgbClr val="01203C"/>
                </a:solidFill>
                <a:latin typeface="Microsoft YaHei"/>
              </a:defRPr>
            </a:pPr>
            <a:r>
              <a:t>报告列示数值：+0.1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第04章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04</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水土保持评价与土石方</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评价选址、建设方案、施工组织、土石方平衡及主体工程中已列水保措施。</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法制约因素与技术标准评价结论均为符合</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40" cy="3456425"/>
        </p:xfrm>
        <a:graphic>
          <a:graphicData uri="http://schemas.openxmlformats.org/drawingml/2006/table">
            <a:tbl>
              <a:tblPr firstRow="1" bandRow="1">
                <a:tableStyleId>{5C22544A-7EE6-4342-B048-85BDC9FD1C3A}</a:tableStyleId>
              </a:tblPr>
              <a:tblGrid>
                <a:gridCol w="2766060"/>
                <a:gridCol w="2766060"/>
                <a:gridCol w="2766060"/>
                <a:gridCol w="2766060"/>
              </a:tblGrid>
              <a:tr h="493775">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条款</a:t>
                      </a:r>
                    </a:p>
                  </a:txBody>
                  <a:tcPr marL="36576" marR="36576" marT="18288" marB="18288">
                    <a:solidFill>
                      <a:srgbClr val="EAF2F8"/>
                    </a:solidFill>
                  </a:tcPr>
                </a:tc>
                <a:tc>
                  <a:txBody>
                    <a:bodyPr/>
                    <a:lstStyle/>
                    <a:p>
                      <a:pPr>
                        <a:defRPr sz="1200" b="1">
                          <a:solidFill>
                            <a:srgbClr val="01203C"/>
                          </a:solidFill>
                          <a:latin typeface="Microsoft YaHei"/>
                        </a:defRPr>
                      </a:pPr>
                      <a:r>
                        <a:t>制约性因素条款</a:t>
                      </a:r>
                    </a:p>
                  </a:txBody>
                  <a:tcPr marL="36576" marR="36576" marT="18288" marB="18288">
                    <a:solidFill>
                      <a:srgbClr val="EAF2F8"/>
                    </a:solidFill>
                  </a:tcPr>
                </a:tc>
                <a:tc>
                  <a:txBody>
                    <a:bodyPr/>
                    <a:lstStyle/>
                    <a:p>
                      <a:pPr>
                        <a:defRPr sz="1200" b="1">
                          <a:solidFill>
                            <a:srgbClr val="01203C"/>
                          </a:solidFill>
                          <a:latin typeface="Microsoft YaHei"/>
                        </a:defRPr>
                      </a:pPr>
                      <a:r>
                        <a:t>符合性分析</a:t>
                      </a:r>
                    </a:p>
                  </a:txBody>
                  <a:tcPr marL="36576" marR="36576" marT="18288" marB="18288">
                    <a:solidFill>
                      <a:srgbClr val="EAF2F8"/>
                    </a:solidFill>
                  </a:tcPr>
                </a:tc>
              </a:tr>
              <a:tr h="493775">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第十七条</a:t>
                      </a:r>
                    </a:p>
                  </a:txBody>
                  <a:tcPr marL="36576" marR="36576" marT="18288" marB="18288">
                    <a:solidFill>
                      <a:srgbClr val="FFFFFF"/>
                    </a:solidFill>
                  </a:tcPr>
                </a:tc>
                <a:tc>
                  <a:txBody>
                    <a:bodyPr/>
                    <a:lstStyle/>
                    <a:p>
                      <a:pPr>
                        <a:defRPr sz="1200">
                          <a:solidFill>
                            <a:srgbClr val="01203C"/>
                          </a:solidFill>
                          <a:latin typeface="Microsoft YaHei"/>
                        </a:defRPr>
                      </a:pPr>
                      <a:r>
                        <a:t>地方各级人民政府应当加强对取土、挖沙、采石等活动的管理</a:t>
                      </a:r>
                    </a:p>
                  </a:txBody>
                  <a:tcPr marL="36576" marR="36576" marT="18288" marB="18288">
                    <a:solidFill>
                      <a:srgbClr val="FFFFFF"/>
                    </a:solidFill>
                  </a:tcPr>
                </a:tc>
                <a:tc>
                  <a:txBody>
                    <a:bodyPr/>
                    <a:lstStyle/>
                    <a:p>
                      <a:pPr>
                        <a:defRPr sz="1200">
                          <a:solidFill>
                            <a:srgbClr val="01203C"/>
                          </a:solidFill>
                          <a:latin typeface="Microsoft YaHei"/>
                        </a:defRPr>
                      </a:pPr>
                      <a:r>
                        <a:t>本项目不涉及取土、挖沙、采石等活动</a:t>
                      </a:r>
                    </a:p>
                  </a:txBody>
                  <a:tcPr marL="36576" marR="36576" marT="18288" marB="18288">
                    <a:solidFill>
                      <a:srgbClr val="FFFFFF"/>
                    </a:solidFill>
                  </a:tcPr>
                </a:tc>
              </a:tr>
              <a:tr h="493775">
                <a:tc>
                  <a:txBody>
                    <a:bodyPr/>
                    <a:lstStyle/>
                    <a:p>
                      <a:pPr>
                        <a:defRPr sz="1200">
                          <a:solidFill>
                            <a:srgbClr val="01203C"/>
                          </a:solidFill>
                          <a:latin typeface="Microsoft YaHei"/>
                        </a:defRPr>
                      </a:pPr>
                      <a:r>
                        <a:t>2</a:t>
                      </a:r>
                    </a:p>
                  </a:txBody>
                  <a:tcPr marL="36576" marR="36576" marT="18288" marB="18288">
                    <a:solidFill>
                      <a:srgbClr val="FFFFFF"/>
                    </a:solidFill>
                  </a:tcPr>
                </a:tc>
                <a:tc>
                  <a:txBody>
                    <a:bodyPr/>
                    <a:lstStyle/>
                    <a:p>
                      <a:pPr>
                        <a:defRPr sz="1200">
                          <a:solidFill>
                            <a:srgbClr val="01203C"/>
                          </a:solidFill>
                          <a:latin typeface="Microsoft YaHei"/>
                        </a:defRPr>
                      </a:pPr>
                      <a:r>
                        <a:t>第十八条</a:t>
                      </a:r>
                    </a:p>
                  </a:txBody>
                  <a:tcPr marL="36576" marR="36576" marT="18288" marB="18288">
                    <a:solidFill>
                      <a:srgbClr val="FFFFFF"/>
                    </a:solidFill>
                  </a:tcPr>
                </a:tc>
                <a:tc>
                  <a:txBody>
                    <a:bodyPr/>
                    <a:lstStyle/>
                    <a:p>
                      <a:pPr>
                        <a:defRPr sz="1200">
                          <a:solidFill>
                            <a:srgbClr val="01203C"/>
                          </a:solidFill>
                          <a:latin typeface="Microsoft YaHei"/>
                        </a:defRPr>
                      </a:pPr>
                      <a:r>
                        <a:t>水土流失严重、生态脆弱的地区，应当限制或者禁止可能造成水</a:t>
                      </a:r>
                    </a:p>
                  </a:txBody>
                  <a:tcPr marL="36576" marR="36576" marT="18288" marB="18288">
                    <a:solidFill>
                      <a:srgbClr val="FFFFFF"/>
                    </a:solidFill>
                  </a:tcPr>
                </a:tc>
                <a:tc>
                  <a:txBody>
                    <a:bodyPr/>
                    <a:lstStyle/>
                    <a:p>
                      <a:pPr>
                        <a:defRPr sz="1200">
                          <a:solidFill>
                            <a:srgbClr val="01203C"/>
                          </a:solidFill>
                          <a:latin typeface="Microsoft YaHei"/>
                        </a:defRPr>
                      </a:pPr>
                      <a:r>
                        <a:t>本项目所在区域不属于水土流失严重、生态脆弱区。</a:t>
                      </a:r>
                    </a:p>
                  </a:txBody>
                  <a:tcPr marL="36576" marR="36576" marT="18288" marB="18288">
                    <a:solidFill>
                      <a:srgbClr val="FFFFFF"/>
                    </a:solidFill>
                  </a:tcPr>
                </a:tc>
              </a:tr>
              <a:tr h="493775">
                <a:tc>
                  <a:txBody>
                    <a:bodyPr/>
                    <a:lstStyle/>
                    <a:p>
                      <a:pPr>
                        <a:defRPr sz="1200">
                          <a:solidFill>
                            <a:srgbClr val="01203C"/>
                          </a:solidFill>
                          <a:latin typeface="Microsoft YaHei"/>
                        </a:defRPr>
                      </a:pPr>
                      <a:r>
                        <a:t>3</a:t>
                      </a:r>
                    </a:p>
                  </a:txBody>
                  <a:tcPr marL="36576" marR="36576" marT="18288" marB="18288">
                    <a:solidFill>
                      <a:srgbClr val="FFFFFF"/>
                    </a:solidFill>
                  </a:tcPr>
                </a:tc>
                <a:tc>
                  <a:txBody>
                    <a:bodyPr/>
                    <a:lstStyle/>
                    <a:p>
                      <a:pPr>
                        <a:defRPr sz="1200">
                          <a:solidFill>
                            <a:srgbClr val="01203C"/>
                          </a:solidFill>
                          <a:latin typeface="Microsoft YaHei"/>
                        </a:defRPr>
                      </a:pPr>
                      <a:r>
                        <a:t>第二十四条</a:t>
                      </a:r>
                    </a:p>
                  </a:txBody>
                  <a:tcPr marL="36576" marR="36576" marT="18288" marB="18288">
                    <a:solidFill>
                      <a:srgbClr val="FFFFFF"/>
                    </a:solidFill>
                  </a:tcPr>
                </a:tc>
                <a:tc>
                  <a:txBody>
                    <a:bodyPr/>
                    <a:lstStyle/>
                    <a:p>
                      <a:pPr>
                        <a:defRPr sz="1200">
                          <a:solidFill>
                            <a:srgbClr val="01203C"/>
                          </a:solidFill>
                          <a:latin typeface="Microsoft YaHei"/>
                        </a:defRPr>
                      </a:pPr>
                      <a:r>
                        <a:t>建设项目选址、选线应当避让水土流失重点预防区和重点治理区</a:t>
                      </a:r>
                    </a:p>
                  </a:txBody>
                  <a:tcPr marL="36576" marR="36576" marT="18288" marB="18288">
                    <a:solidFill>
                      <a:srgbClr val="FFFFFF"/>
                    </a:solidFill>
                  </a:tcPr>
                </a:tc>
                <a:tc>
                  <a:txBody>
                    <a:bodyPr/>
                    <a:lstStyle/>
                    <a:p>
                      <a:pPr>
                        <a:defRPr sz="1200">
                          <a:solidFill>
                            <a:srgbClr val="01203C"/>
                          </a:solidFill>
                          <a:latin typeface="Microsoft YaHei"/>
                        </a:defRPr>
                      </a:pPr>
                      <a:r>
                        <a:t>本项目不涉及国家级和省级水土流失重点防治区。</a:t>
                      </a:r>
                    </a:p>
                  </a:txBody>
                  <a:tcPr marL="36576" marR="36576" marT="18288" marB="18288">
                    <a:solidFill>
                      <a:srgbClr val="FFFFFF"/>
                    </a:solidFill>
                  </a:tcPr>
                </a:tc>
              </a:tr>
              <a:tr h="493775">
                <a:tc>
                  <a:txBody>
                    <a:bodyPr/>
                    <a:lstStyle/>
                    <a:p>
                      <a:pPr>
                        <a:defRPr sz="1200">
                          <a:solidFill>
                            <a:srgbClr val="01203C"/>
                          </a:solidFill>
                          <a:latin typeface="Microsoft YaHei"/>
                        </a:defRPr>
                      </a:pPr>
                      <a:r>
                        <a:t>4</a:t>
                      </a:r>
                    </a:p>
                  </a:txBody>
                  <a:tcPr marL="36576" marR="36576" marT="18288" marB="18288">
                    <a:solidFill>
                      <a:srgbClr val="FFFFFF"/>
                    </a:solidFill>
                  </a:tcPr>
                </a:tc>
                <a:tc>
                  <a:txBody>
                    <a:bodyPr/>
                    <a:lstStyle/>
                    <a:p>
                      <a:pPr>
                        <a:defRPr sz="1200">
                          <a:solidFill>
                            <a:srgbClr val="01203C"/>
                          </a:solidFill>
                          <a:latin typeface="Microsoft YaHei"/>
                        </a:defRPr>
                      </a:pPr>
                      <a:r>
                        <a:t>第二十五条</a:t>
                      </a:r>
                    </a:p>
                  </a:txBody>
                  <a:tcPr marL="36576" marR="36576" marT="18288" marB="18288">
                    <a:solidFill>
                      <a:srgbClr val="FFFFFF"/>
                    </a:solidFill>
                  </a:tcPr>
                </a:tc>
                <a:tc>
                  <a:txBody>
                    <a:bodyPr/>
                    <a:lstStyle/>
                    <a:p>
                      <a:pPr>
                        <a:defRPr sz="1200">
                          <a:solidFill>
                            <a:srgbClr val="01203C"/>
                          </a:solidFill>
                          <a:latin typeface="Microsoft YaHei"/>
                        </a:defRPr>
                      </a:pPr>
                      <a:r>
                        <a:t>在山区、丘陵区、风沙区以及水土保持规划确定的容易发生水土</a:t>
                      </a:r>
                    </a:p>
                  </a:txBody>
                  <a:tcPr marL="36576" marR="36576" marT="18288" marB="18288">
                    <a:solidFill>
                      <a:srgbClr val="FFFFFF"/>
                    </a:solidFill>
                  </a:tcPr>
                </a:tc>
                <a:tc>
                  <a:txBody>
                    <a:bodyPr/>
                    <a:lstStyle/>
                    <a:p>
                      <a:pPr>
                        <a:defRPr sz="1200">
                          <a:solidFill>
                            <a:srgbClr val="01203C"/>
                          </a:solidFill>
                          <a:latin typeface="Microsoft YaHei"/>
                        </a:defRPr>
                      </a:pPr>
                      <a:r>
                        <a:t>建设单位 委托 我公司开展本项目的水土保持方案编制工作。</a:t>
                      </a:r>
                    </a:p>
                  </a:txBody>
                  <a:tcPr marL="36576" marR="36576" marT="18288" marB="18288">
                    <a:solidFill>
                      <a:srgbClr val="FFFFFF"/>
                    </a:solidFill>
                  </a:tcPr>
                </a:tc>
              </a:tr>
              <a:tr h="493775">
                <a:tc>
                  <a:txBody>
                    <a:bodyPr/>
                    <a:lstStyle/>
                    <a:p>
                      <a:pPr>
                        <a:defRPr sz="1200">
                          <a:solidFill>
                            <a:srgbClr val="01203C"/>
                          </a:solidFill>
                          <a:latin typeface="Microsoft YaHei"/>
                        </a:defRPr>
                      </a:pPr>
                      <a:r>
                        <a:t>5</a:t>
                      </a:r>
                    </a:p>
                  </a:txBody>
                  <a:tcPr marL="36576" marR="36576" marT="18288" marB="18288">
                    <a:solidFill>
                      <a:srgbClr val="FFFFFF"/>
                    </a:solidFill>
                  </a:tcPr>
                </a:tc>
                <a:tc>
                  <a:txBody>
                    <a:bodyPr/>
                    <a:lstStyle/>
                    <a:p>
                      <a:pPr>
                        <a:defRPr sz="1200">
                          <a:solidFill>
                            <a:srgbClr val="01203C"/>
                          </a:solidFill>
                          <a:latin typeface="Microsoft YaHei"/>
                        </a:defRPr>
                      </a:pPr>
                      <a:r>
                        <a:t>第二十八条</a:t>
                      </a:r>
                    </a:p>
                  </a:txBody>
                  <a:tcPr marL="36576" marR="36576" marT="18288" marB="18288">
                    <a:solidFill>
                      <a:srgbClr val="FFFFFF"/>
                    </a:solidFill>
                  </a:tcPr>
                </a:tc>
                <a:tc>
                  <a:txBody>
                    <a:bodyPr/>
                    <a:lstStyle/>
                    <a:p>
                      <a:pPr>
                        <a:defRPr sz="1200">
                          <a:solidFill>
                            <a:srgbClr val="01203C"/>
                          </a:solidFill>
                          <a:latin typeface="Microsoft YaHei"/>
                        </a:defRPr>
                      </a:pPr>
                      <a:r>
                        <a:t>依法应当编制水土保持方案的建设项目</a:t>
                      </a:r>
                    </a:p>
                  </a:txBody>
                  <a:tcPr marL="36576" marR="36576" marT="18288" marB="18288">
                    <a:solidFill>
                      <a:srgbClr val="FFFFFF"/>
                    </a:solidFill>
                  </a:tcPr>
                </a:tc>
                <a:tc>
                  <a:txBody>
                    <a:bodyPr/>
                    <a:lstStyle/>
                    <a:p>
                      <a:pPr>
                        <a:defRPr sz="1200">
                          <a:solidFill>
                            <a:srgbClr val="01203C"/>
                          </a:solidFill>
                          <a:latin typeface="Microsoft YaHei"/>
                        </a:defRPr>
                      </a:pPr>
                      <a:r>
                        <a:t>本项目 总挖方4971.61 m³</a:t>
                      </a:r>
                    </a:p>
                  </a:txBody>
                  <a:tcPr marL="36576" marR="36576" marT="18288" marB="18288">
                    <a:solidFill>
                      <a:srgbClr val="FFFFFF"/>
                    </a:solidFill>
                  </a:tcPr>
                </a:tc>
              </a:tr>
              <a:tr h="493775">
                <a:tc>
                  <a:txBody>
                    <a:bodyPr/>
                    <a:lstStyle/>
                    <a:p>
                      <a:pPr>
                        <a:defRPr sz="1200">
                          <a:solidFill>
                            <a:srgbClr val="01203C"/>
                          </a:solidFill>
                          <a:latin typeface="Microsoft YaHei"/>
                        </a:defRPr>
                      </a:pPr>
                      <a:r>
                        <a:t>6</a:t>
                      </a:r>
                    </a:p>
                  </a:txBody>
                  <a:tcPr marL="36576" marR="36576" marT="18288" marB="18288">
                    <a:solidFill>
                      <a:srgbClr val="FFFFFF"/>
                    </a:solidFill>
                  </a:tcPr>
                </a:tc>
                <a:tc>
                  <a:txBody>
                    <a:bodyPr/>
                    <a:lstStyle/>
                    <a:p>
                      <a:pPr>
                        <a:defRPr sz="1200">
                          <a:solidFill>
                            <a:srgbClr val="01203C"/>
                          </a:solidFill>
                          <a:latin typeface="Microsoft YaHei"/>
                        </a:defRPr>
                      </a:pPr>
                      <a:r>
                        <a:t>第三十八条</a:t>
                      </a:r>
                    </a:p>
                  </a:txBody>
                  <a:tcPr marL="36576" marR="36576" marT="18288" marB="18288">
                    <a:solidFill>
                      <a:srgbClr val="FFFFFF"/>
                    </a:solidFill>
                  </a:tcPr>
                </a:tc>
                <a:tc>
                  <a:txBody>
                    <a:bodyPr/>
                    <a:lstStyle/>
                    <a:p>
                      <a:pPr>
                        <a:defRPr sz="1200">
                          <a:solidFill>
                            <a:srgbClr val="01203C"/>
                          </a:solidFill>
                          <a:latin typeface="Microsoft YaHei"/>
                        </a:defRPr>
                      </a:pPr>
                      <a:r>
                        <a:t>对生产建设活动所占用土地的地表土应当进行分层剥离</a:t>
                      </a:r>
                    </a:p>
                  </a:txBody>
                  <a:tcPr marL="36576" marR="36576" marT="18288" marB="18288">
                    <a:solidFill>
                      <a:srgbClr val="FFFFFF"/>
                    </a:solidFill>
                  </a:tcPr>
                </a:tc>
                <a:tc>
                  <a:txBody>
                    <a:bodyPr/>
                    <a:lstStyle/>
                    <a:p>
                      <a:pPr>
                        <a:defRPr sz="1200">
                          <a:solidFill>
                            <a:srgbClr val="01203C"/>
                          </a:solidFill>
                          <a:latin typeface="Microsoft YaHei"/>
                        </a:defRPr>
                      </a:pPr>
                      <a:r>
                        <a:t>根据 现场勘查 及查阅资料， 场地内存在可剥离的表土</a:t>
                      </a:r>
                    </a:p>
                  </a:txBody>
                  <a:tcPr marL="36576" marR="36576" marT="18288" marB="18288">
                    <a:solidFill>
                      <a:srgbClr val="FFFFFF"/>
                    </a:solidFill>
                  </a:tcPr>
                </a:tc>
              </a:tr>
            </a:tbl>
          </a:graphicData>
        </a:graphic>
      </p:graphicFrame>
      <p:sp>
        <p:nvSpPr>
          <p:cNvPr id="7" name="TextBox 6"/>
          <p:cNvSpPr txBox="1"/>
          <p:nvPr/>
        </p:nvSpPr>
        <p:spPr>
          <a:xfrm>
            <a:off x="713232" y="4736592"/>
            <a:ext cx="4343400" cy="347472"/>
          </a:xfrm>
          <a:prstGeom prst="rect">
            <a:avLst/>
          </a:prstGeom>
          <a:noFill/>
        </p:spPr>
        <p:txBody>
          <a:bodyPr wrap="square">
            <a:noAutofit/>
          </a:bodyPr>
          <a:lstStyle/>
          <a:p>
            <a:pPr>
              <a:defRPr sz="1500" b="1">
                <a:solidFill>
                  <a:srgbClr val="4489C8"/>
                </a:solidFill>
                <a:latin typeface="Microsoft YaHei"/>
              </a:defRPr>
            </a:pPr>
            <a:r>
              <a:t>水土保持法制约因素分析与评价结果一览表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土石方平衡显示弃方委托处置、借方外购</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工程分区</a:t>
                      </a:r>
                    </a:p>
                  </a:txBody>
                  <a:tcPr marL="36576" marR="36576" marT="18288" marB="18288">
                    <a:solidFill>
                      <a:srgbClr val="EAF2F8"/>
                    </a:solidFill>
                  </a:tcPr>
                </a:tc>
                <a:tc>
                  <a:txBody>
                    <a:bodyPr/>
                    <a:lstStyle/>
                    <a:p>
                      <a:pPr>
                        <a:defRPr sz="1200" b="1">
                          <a:solidFill>
                            <a:srgbClr val="01203C"/>
                          </a:solidFill>
                          <a:latin typeface="Microsoft YaHei"/>
                        </a:defRPr>
                      </a:pPr>
                      <a:r>
                        <a:t>项目</a:t>
                      </a:r>
                    </a:p>
                  </a:txBody>
                  <a:tcPr marL="36576" marR="36576" marT="18288" marB="18288">
                    <a:solidFill>
                      <a:srgbClr val="EAF2F8"/>
                    </a:solidFill>
                  </a:tcPr>
                </a:tc>
                <a:tc>
                  <a:txBody>
                    <a:bodyPr/>
                    <a:lstStyle/>
                    <a:p>
                      <a:pPr>
                        <a:defRPr sz="1200" b="1">
                          <a:solidFill>
                            <a:srgbClr val="01203C"/>
                          </a:solidFill>
                          <a:latin typeface="Microsoft YaHei"/>
                        </a:defRPr>
                      </a:pPr>
                      <a:r>
                        <a:t>开挖量</a:t>
                      </a:r>
                    </a:p>
                  </a:txBody>
                  <a:tcPr marL="36576" marR="36576" marT="18288" marB="18288">
                    <a:solidFill>
                      <a:srgbClr val="EAF2F8"/>
                    </a:solidFill>
                  </a:tcPr>
                </a:tc>
              </a:tr>
              <a:tr h="659674">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表土剥离</a:t>
                      </a:r>
                    </a:p>
                  </a:txBody>
                  <a:tcPr marL="36576" marR="36576" marT="18288" marB="18288">
                    <a:solidFill>
                      <a:srgbClr val="FFFFFF"/>
                    </a:solidFill>
                  </a:tcPr>
                </a:tc>
                <a:tc>
                  <a:txBody>
                    <a:bodyPr/>
                    <a:lstStyle/>
                    <a:p>
                      <a:pPr>
                        <a:defRPr sz="1200">
                          <a:solidFill>
                            <a:srgbClr val="01203C"/>
                          </a:solidFill>
                          <a:latin typeface="Microsoft YaHei"/>
                        </a:defRPr>
                      </a:pPr>
                      <a:r>
                        <a:t>79.5</a:t>
                      </a:r>
                    </a:p>
                  </a:txBody>
                  <a:tcPr marL="36576" marR="36576" marT="18288" marB="18288">
                    <a:solidFill>
                      <a:srgbClr val="FFFFFF"/>
                    </a:solidFill>
                  </a:tcPr>
                </a:tc>
              </a:tr>
              <a:tr h="659674">
                <a:tc>
                  <a:txBody>
                    <a:bodyPr/>
                    <a:lstStyle/>
                    <a:p>
                      <a:pPr>
                        <a:defRPr sz="1200">
                          <a:solidFill>
                            <a:srgbClr val="01203C"/>
                          </a:solidFill>
                          <a:latin typeface="Microsoft YaHei"/>
                        </a:defRPr>
                      </a:pPr>
                      <a:r>
                        <a:t>2</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表土回覆</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3</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基础土方开挖</a:t>
                      </a:r>
                    </a:p>
                  </a:txBody>
                  <a:tcPr marL="36576" marR="36576" marT="18288" marB="18288">
                    <a:solidFill>
                      <a:srgbClr val="FFFFFF"/>
                    </a:solidFill>
                  </a:tcPr>
                </a:tc>
                <a:tc>
                  <a:txBody>
                    <a:bodyPr/>
                    <a:lstStyle/>
                    <a:p>
                      <a:pPr>
                        <a:defRPr sz="1200">
                          <a:solidFill>
                            <a:srgbClr val="01203C"/>
                          </a:solidFill>
                          <a:latin typeface="Microsoft YaHei"/>
                        </a:defRPr>
                      </a:pPr>
                      <a:r>
                        <a:t>2977.11</a:t>
                      </a:r>
                    </a:p>
                  </a:txBody>
                  <a:tcPr marL="36576" marR="36576" marT="18288" marB="18288">
                    <a:solidFill>
                      <a:srgbClr val="FFFFFF"/>
                    </a:solidFill>
                  </a:tcPr>
                </a:tc>
              </a:tr>
              <a:tr h="659674">
                <a:tc>
                  <a:txBody>
                    <a:bodyPr/>
                    <a:lstStyle/>
                    <a:p>
                      <a:pPr>
                        <a:defRPr sz="1200">
                          <a:solidFill>
                            <a:srgbClr val="01203C"/>
                          </a:solidFill>
                          <a:latin typeface="Microsoft YaHei"/>
                        </a:defRPr>
                      </a:pPr>
                      <a:r>
                        <a:t>4</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基础土方回填</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6</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道路破除</a:t>
                      </a:r>
                    </a:p>
                  </a:txBody>
                  <a:tcPr marL="36576" marR="36576" marT="18288" marB="18288">
                    <a:solidFill>
                      <a:srgbClr val="FFFFFF"/>
                    </a:solidFill>
                  </a:tcPr>
                </a:tc>
                <a:tc>
                  <a:txBody>
                    <a:bodyPr/>
                    <a:lstStyle/>
                    <a:p>
                      <a:pPr>
                        <a:defRPr sz="1200">
                          <a:solidFill>
                            <a:srgbClr val="01203C"/>
                          </a:solidFill>
                          <a:latin typeface="Microsoft YaHei"/>
                        </a:defRPr>
                      </a:pPr>
                      <a:r>
                        <a:t>1560</a:t>
                      </a:r>
                    </a:p>
                  </a:txBody>
                  <a:tcPr marL="36576" marR="36576" marT="18288" marB="18288">
                    <a:solidFill>
                      <a:srgbClr val="FFFFFF"/>
                    </a:solidFill>
                  </a:tcPr>
                </a:tc>
              </a:tr>
              <a:tr h="659674">
                <a:tc>
                  <a:txBody>
                    <a:bodyPr/>
                    <a:lstStyle/>
                    <a:p>
                      <a:pPr>
                        <a:defRPr sz="1200">
                          <a:solidFill>
                            <a:srgbClr val="01203C"/>
                          </a:solidFill>
                          <a:latin typeface="Microsoft YaHei"/>
                        </a:defRPr>
                      </a:pPr>
                      <a:r>
                        <a:t>8</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清淤土方</a:t>
                      </a:r>
                    </a:p>
                  </a:txBody>
                  <a:tcPr marL="36576" marR="36576" marT="18288" marB="18288">
                    <a:solidFill>
                      <a:srgbClr val="FFFFFF"/>
                    </a:solidFill>
                  </a:tcPr>
                </a:tc>
                <a:tc>
                  <a:txBody>
                    <a:bodyPr/>
                    <a:lstStyle/>
                    <a:p>
                      <a:pPr>
                        <a:defRPr sz="1200">
                          <a:solidFill>
                            <a:srgbClr val="01203C"/>
                          </a:solidFill>
                          <a:latin typeface="Microsoft YaHei"/>
                        </a:defRPr>
                      </a:pPr>
                      <a:r>
                        <a:t>355</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工程土石方平衡表 单位：m³</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报告列示数值：79.5</a:t>
            </a:r>
          </a:p>
          <a:p>
            <a:pPr>
              <a:spcAft>
                <a:spcPts val="400"/>
              </a:spcAft>
              <a:defRPr sz="1400">
                <a:solidFill>
                  <a:srgbClr val="01203C"/>
                </a:solidFill>
                <a:latin typeface="Microsoft YaHei"/>
              </a:defRPr>
            </a:pPr>
            <a:r>
              <a:t>报告列示数值：2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主体工程已列水保措施以土地整治和铺种草皮为主</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17</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项目区或措施名称</a:t>
                      </a:r>
                    </a:p>
                  </a:txBody>
                  <a:tcPr marL="36576" marR="36576" marT="18288" marB="18288">
                    <a:solidFill>
                      <a:srgbClr val="EAF2F8"/>
                    </a:solidFill>
                  </a:tcPr>
                </a:tc>
                <a:tc>
                  <a:txBody>
                    <a:bodyPr/>
                    <a:lstStyle/>
                    <a:p>
                      <a:pPr>
                        <a:defRPr sz="1200" b="1">
                          <a:solidFill>
                            <a:srgbClr val="01203C"/>
                          </a:solidFill>
                          <a:latin typeface="Microsoft YaHei"/>
                        </a:defRPr>
                      </a:pPr>
                      <a:r>
                        <a:t>单位</a:t>
                      </a:r>
                    </a:p>
                  </a:txBody>
                  <a:tcPr marL="36576" marR="36576" marT="18288" marB="18288">
                    <a:solidFill>
                      <a:srgbClr val="EAF2F8"/>
                    </a:solidFill>
                  </a:tcPr>
                </a:tc>
                <a:tc>
                  <a:txBody>
                    <a:bodyPr/>
                    <a:lstStyle/>
                    <a:p>
                      <a:pPr>
                        <a:defRPr sz="1200" b="1">
                          <a:solidFill>
                            <a:srgbClr val="01203C"/>
                          </a:solidFill>
                          <a:latin typeface="Microsoft YaHei"/>
                        </a:defRPr>
                      </a:pPr>
                      <a:r>
                        <a:t>数量</a:t>
                      </a:r>
                    </a:p>
                  </a:txBody>
                  <a:tcPr marL="36576" marR="36576" marT="18288" marB="18288">
                    <a:solidFill>
                      <a:srgbClr val="EAF2F8"/>
                    </a:solidFill>
                  </a:tcPr>
                </a:tc>
              </a:tr>
              <a:tr h="659674">
                <a:tc>
                  <a:txBody>
                    <a:bodyPr/>
                    <a:lstStyle/>
                    <a:p>
                      <a:pPr>
                        <a:defRPr sz="1200">
                          <a:solidFill>
                            <a:srgbClr val="01203C"/>
                          </a:solidFill>
                          <a:latin typeface="Microsoft YaHei"/>
                        </a:defRPr>
                      </a:pPr>
                      <a:r>
                        <a:t>第一部分 工程措施</a:t>
                      </a:r>
                    </a:p>
                  </a:txBody>
                  <a:tcPr marL="36576" marR="36576" marT="18288" marB="18288">
                    <a:solidFill>
                      <a:srgbClr val="FFFFFF"/>
                    </a:solidFill>
                  </a:tcPr>
                </a:tc>
                <a:tc>
                  <a:txBody>
                    <a:bodyPr/>
                    <a:lstStyle/>
                    <a:p>
                      <a:pPr>
                        <a:defRPr sz="1200">
                          <a:solidFill>
                            <a:srgbClr val="01203C"/>
                          </a:solidFill>
                          <a:latin typeface="Microsoft YaHei"/>
                        </a:defRPr>
                      </a:pPr>
                      <a:r>
                        <a:t>0.0196</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（一）</a:t>
                      </a:r>
                    </a:p>
                  </a:txBody>
                  <a:tcPr marL="36576" marR="36576" marT="18288" marB="18288">
                    <a:solidFill>
                      <a:srgbClr val="FFFFFF"/>
                    </a:solidFill>
                  </a:tcPr>
                </a:tc>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土地整治</a:t>
                      </a:r>
                    </a:p>
                  </a:txBody>
                  <a:tcPr marL="36576" marR="36576" marT="18288" marB="18288">
                    <a:solidFill>
                      <a:srgbClr val="FFFFFF"/>
                    </a:solidFill>
                  </a:tcPr>
                </a:tc>
                <a:tc>
                  <a:txBody>
                    <a:bodyPr/>
                    <a:lstStyle/>
                    <a:p>
                      <a:pPr>
                        <a:defRPr sz="1200">
                          <a:solidFill>
                            <a:srgbClr val="01203C"/>
                          </a:solidFill>
                          <a:latin typeface="Microsoft YaHei"/>
                        </a:defRPr>
                      </a:pPr>
                      <a:r>
                        <a:t>m²</a:t>
                      </a:r>
                    </a:p>
                  </a:txBody>
                  <a:tcPr marL="36576" marR="36576" marT="18288" marB="18288">
                    <a:solidFill>
                      <a:srgbClr val="FFFFFF"/>
                    </a:solidFill>
                  </a:tcPr>
                </a:tc>
                <a:tc>
                  <a:txBody>
                    <a:bodyPr/>
                    <a:lstStyle/>
                    <a:p>
                      <a:pPr>
                        <a:defRPr sz="1200">
                          <a:solidFill>
                            <a:srgbClr val="01203C"/>
                          </a:solidFill>
                          <a:latin typeface="Microsoft YaHei"/>
                        </a:defRPr>
                      </a:pPr>
                      <a:r>
                        <a:t>265</a:t>
                      </a:r>
                    </a:p>
                  </a:txBody>
                  <a:tcPr marL="36576" marR="36576" marT="18288" marB="18288">
                    <a:solidFill>
                      <a:srgbClr val="FFFFFF"/>
                    </a:solidFill>
                  </a:tcPr>
                </a:tc>
              </a:tr>
              <a:tr h="659674">
                <a:tc>
                  <a:txBody>
                    <a:bodyPr/>
                    <a:lstStyle/>
                    <a:p>
                      <a:pPr>
                        <a:defRPr sz="1200">
                          <a:solidFill>
                            <a:srgbClr val="01203C"/>
                          </a:solidFill>
                          <a:latin typeface="Microsoft YaHei"/>
                        </a:defRPr>
                      </a:pPr>
                      <a:r>
                        <a:t>第二部分 植物措施</a:t>
                      </a:r>
                    </a:p>
                  </a:txBody>
                  <a:tcPr marL="36576" marR="36576" marT="18288" marB="18288">
                    <a:solidFill>
                      <a:srgbClr val="FFFFFF"/>
                    </a:solidFill>
                  </a:tcPr>
                </a:tc>
                <a:tc>
                  <a:txBody>
                    <a:bodyPr/>
                    <a:lstStyle/>
                    <a:p>
                      <a:pPr>
                        <a:defRPr sz="1200">
                          <a:solidFill>
                            <a:srgbClr val="01203C"/>
                          </a:solidFill>
                          <a:latin typeface="Microsoft YaHei"/>
                        </a:defRPr>
                      </a:pPr>
                      <a:r>
                        <a:t>0.6185</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（一）</a:t>
                      </a:r>
                    </a:p>
                  </a:txBody>
                  <a:tcPr marL="36576" marR="36576" marT="18288" marB="18288">
                    <a:solidFill>
                      <a:srgbClr val="FFFFFF"/>
                    </a:solidFill>
                  </a:tcPr>
                </a:tc>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铺种草皮</a:t>
                      </a:r>
                    </a:p>
                  </a:txBody>
                  <a:tcPr marL="36576" marR="36576" marT="18288" marB="18288">
                    <a:solidFill>
                      <a:srgbClr val="FFFFFF"/>
                    </a:solidFill>
                  </a:tcPr>
                </a:tc>
                <a:tc>
                  <a:txBody>
                    <a:bodyPr/>
                    <a:lstStyle/>
                    <a:p>
                      <a:pPr>
                        <a:defRPr sz="1200">
                          <a:solidFill>
                            <a:srgbClr val="01203C"/>
                          </a:solidFill>
                          <a:latin typeface="Microsoft YaHei"/>
                        </a:defRPr>
                      </a:pPr>
                      <a:r>
                        <a:t>m²</a:t>
                      </a:r>
                    </a:p>
                  </a:txBody>
                  <a:tcPr marL="36576" marR="36576" marT="18288" marB="18288">
                    <a:solidFill>
                      <a:srgbClr val="FFFFFF"/>
                    </a:solidFill>
                  </a:tcPr>
                </a:tc>
                <a:tc>
                  <a:txBody>
                    <a:bodyPr/>
                    <a:lstStyle/>
                    <a:p>
                      <a:pPr>
                        <a:defRPr sz="1200">
                          <a:solidFill>
                            <a:srgbClr val="01203C"/>
                          </a:solidFill>
                          <a:latin typeface="Microsoft YaHei"/>
                        </a:defRPr>
                      </a:pPr>
                      <a:r>
                        <a:t>265</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本项目主体工程设计中应纳入水土保持的措施量及投资一览表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报告列示数值：0.0196</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报告列示数值：265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第05章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05</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水土流失分析与预测</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从扰动范围、侵蚀模数、预测时段和结果表说明施工期与自然恢复期流失量。</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扰动地表面积与预测单元集中在管网工程区</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40" cy="3456430"/>
        </p:xfrm>
        <a:graphic>
          <a:graphicData uri="http://schemas.openxmlformats.org/drawingml/2006/table">
            <a:tbl>
              <a:tblPr firstRow="1" bandRow="1">
                <a:tableStyleId>{5C22544A-7EE6-4342-B048-85BDC9FD1C3A}</a:tableStyleId>
              </a:tblPr>
              <a:tblGrid>
                <a:gridCol w="2766060"/>
                <a:gridCol w="2766060"/>
                <a:gridCol w="2766060"/>
                <a:gridCol w="2766060"/>
              </a:tblGrid>
              <a:tr h="691286">
                <a:tc>
                  <a:txBody>
                    <a:bodyPr/>
                    <a:lstStyle/>
                    <a:p>
                      <a:pPr>
                        <a:defRPr sz="1200" b="1">
                          <a:solidFill>
                            <a:srgbClr val="01203C"/>
                          </a:solidFill>
                          <a:latin typeface="Microsoft YaHei"/>
                        </a:defRPr>
                      </a:pPr>
                      <a:r>
                        <a:t>项目组成</a:t>
                      </a:r>
                    </a:p>
                  </a:txBody>
                  <a:tcPr marL="36576" marR="36576" marT="18288" marB="18288">
                    <a:solidFill>
                      <a:srgbClr val="EAF2F8"/>
                    </a:solidFill>
                  </a:tcPr>
                </a:tc>
                <a:tc>
                  <a:txBody>
                    <a:bodyPr/>
                    <a:lstStyle/>
                    <a:p>
                      <a:pPr>
                        <a:defRPr sz="1200" b="1">
                          <a:solidFill>
                            <a:srgbClr val="01203C"/>
                          </a:solidFill>
                          <a:latin typeface="Microsoft YaHei"/>
                        </a:defRPr>
                      </a:pPr>
                      <a:r>
                        <a:t>扰动地表面积</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691286">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交通运输用地</a:t>
                      </a:r>
                    </a:p>
                  </a:txBody>
                  <a:tcPr marL="36576" marR="36576" marT="18288" marB="18288">
                    <a:solidFill>
                      <a:srgbClr val="FFFFFF"/>
                    </a:solidFill>
                  </a:tcPr>
                </a:tc>
                <a:tc>
                  <a:txBody>
                    <a:bodyPr/>
                    <a:lstStyle/>
                    <a:p>
                      <a:pPr>
                        <a:defRPr sz="1200">
                          <a:solidFill>
                            <a:srgbClr val="01203C"/>
                          </a:solidFill>
                          <a:latin typeface="Microsoft YaHei"/>
                        </a:defRPr>
                      </a:pPr>
                      <a:r>
                        <a:t>公共管理与公共服务用地</a:t>
                      </a:r>
                    </a:p>
                  </a:txBody>
                  <a:tcPr marL="36576" marR="36576" marT="18288" marB="18288">
                    <a:solidFill>
                      <a:srgbClr val="FFFFFF"/>
                    </a:solidFill>
                  </a:tcPr>
                </a:tc>
                <a:tc>
                  <a:txBody>
                    <a:bodyPr/>
                    <a:lstStyle/>
                    <a:p>
                      <a:pPr>
                        <a:defRPr sz="1200">
                          <a:solidFill>
                            <a:srgbClr val="01203C"/>
                          </a:solidFill>
                          <a:latin typeface="Microsoft YaHei"/>
                        </a:defRPr>
                      </a:pPr>
                      <a:r>
                        <a:t>合计</a:t>
                      </a:r>
                    </a:p>
                  </a:txBody>
                  <a:tcPr marL="36576" marR="36576" marT="18288" marB="18288">
                    <a:solidFill>
                      <a:srgbClr val="FFFFFF"/>
                    </a:solidFill>
                  </a:tcPr>
                </a:tc>
              </a:tr>
              <a:tr h="691286">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城镇村道路用地</a:t>
                      </a:r>
                    </a:p>
                  </a:txBody>
                  <a:tcPr marL="36576" marR="36576" marT="18288" marB="18288">
                    <a:solidFill>
                      <a:srgbClr val="FFFFFF"/>
                    </a:solidFill>
                  </a:tcPr>
                </a:tc>
                <a:tc>
                  <a:txBody>
                    <a:bodyPr/>
                    <a:lstStyle/>
                    <a:p>
                      <a:pPr>
                        <a:defRPr sz="1200">
                          <a:solidFill>
                            <a:srgbClr val="01203C"/>
                          </a:solidFill>
                          <a:latin typeface="Microsoft YaHei"/>
                        </a:defRPr>
                      </a:pPr>
                      <a:r>
                        <a:t>公园与绿地</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91286">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34151.00</a:t>
                      </a:r>
                    </a:p>
                  </a:txBody>
                  <a:tcPr marL="36576" marR="36576" marT="18288" marB="18288">
                    <a:solidFill>
                      <a:srgbClr val="FFFFFF"/>
                    </a:solidFill>
                  </a:tcPr>
                </a:tc>
                <a:tc>
                  <a:txBody>
                    <a:bodyPr/>
                    <a:lstStyle/>
                    <a:p>
                      <a:pPr>
                        <a:defRPr sz="1200">
                          <a:solidFill>
                            <a:srgbClr val="01203C"/>
                          </a:solidFill>
                          <a:latin typeface="Microsoft YaHei"/>
                        </a:defRPr>
                      </a:pPr>
                      <a:r>
                        <a:t>265.00</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r>
              <a:tr h="691286">
                <a:tc>
                  <a:txBody>
                    <a:bodyPr/>
                    <a:lstStyle/>
                    <a:p>
                      <a:pPr>
                        <a:defRPr sz="1200">
                          <a:solidFill>
                            <a:srgbClr val="01203C"/>
                          </a:solidFill>
                          <a:latin typeface="Microsoft YaHei"/>
                        </a:defRPr>
                      </a:pPr>
                      <a:r>
                        <a:t>小计</a:t>
                      </a:r>
                    </a:p>
                  </a:txBody>
                  <a:tcPr marL="36576" marR="36576" marT="18288" marB="18288">
                    <a:solidFill>
                      <a:srgbClr val="FFFFFF"/>
                    </a:solidFill>
                  </a:tcPr>
                </a:tc>
                <a:tc>
                  <a:txBody>
                    <a:bodyPr/>
                    <a:lstStyle/>
                    <a:p>
                      <a:pPr>
                        <a:defRPr sz="1200">
                          <a:solidFill>
                            <a:srgbClr val="01203C"/>
                          </a:solidFill>
                          <a:latin typeface="Microsoft YaHei"/>
                        </a:defRPr>
                      </a:pPr>
                      <a:r>
                        <a:t>34151.00</a:t>
                      </a:r>
                    </a:p>
                  </a:txBody>
                  <a:tcPr marL="36576" marR="36576" marT="18288" marB="18288">
                    <a:solidFill>
                      <a:srgbClr val="FFFFFF"/>
                    </a:solidFill>
                  </a:tcPr>
                </a:tc>
                <a:tc>
                  <a:txBody>
                    <a:bodyPr/>
                    <a:lstStyle/>
                    <a:p>
                      <a:pPr>
                        <a:defRPr sz="1200">
                          <a:solidFill>
                            <a:srgbClr val="01203C"/>
                          </a:solidFill>
                          <a:latin typeface="Microsoft YaHei"/>
                        </a:defRPr>
                      </a:pPr>
                      <a:r>
                        <a:t>265.00</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r>
            </a:tbl>
          </a:graphicData>
        </a:graphic>
      </p:graphicFrame>
      <p:sp>
        <p:nvSpPr>
          <p:cNvPr id="7" name="TextBox 6"/>
          <p:cNvSpPr txBox="1"/>
          <p:nvPr/>
        </p:nvSpPr>
        <p:spPr>
          <a:xfrm>
            <a:off x="713232" y="4736592"/>
            <a:ext cx="4343400" cy="347472"/>
          </a:xfrm>
          <a:prstGeom prst="rect">
            <a:avLst/>
          </a:prstGeom>
          <a:noFill/>
        </p:spPr>
        <p:txBody>
          <a:bodyPr wrap="square">
            <a:noAutofit/>
          </a:bodyPr>
          <a:lstStyle/>
          <a:p>
            <a:pPr>
              <a:defRPr sz="1500" b="1">
                <a:solidFill>
                  <a:srgbClr val="4489C8"/>
                </a:solidFill>
                <a:latin typeface="Microsoft YaHei"/>
              </a:defRPr>
            </a:pPr>
            <a:r>
              <a:t>扰动地表面积表 单位：m²</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项目组成。</a:t>
            </a:r>
          </a:p>
          <a:p>
            <a:pPr>
              <a:spcAft>
                <a:spcPts val="400"/>
              </a:spcAft>
              <a:defRPr sz="1400">
                <a:solidFill>
                  <a:srgbClr val="01203C"/>
                </a:solidFill>
                <a:latin typeface="Microsoft YaHei"/>
              </a:defRPr>
            </a:pPr>
            <a:r>
              <a:t>报告列示数值：34151.00</a:t>
            </a:r>
          </a:p>
          <a:p>
            <a:pPr>
              <a:spcAft>
                <a:spcPts val="400"/>
              </a:spcAft>
              <a:defRPr sz="1400">
                <a:solidFill>
                  <a:srgbClr val="01203C"/>
                </a:solidFill>
                <a:latin typeface="Microsoft YaHei"/>
              </a:defRPr>
            </a:pPr>
            <a:r>
              <a:t>报告列示数值：265.00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背景土壤侵蚀模数取 261.46t/km²·a</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土地利用类型</a:t>
                      </a:r>
                    </a:p>
                  </a:txBody>
                  <a:tcPr marL="36576" marR="36576" marT="18288" marB="18288">
                    <a:solidFill>
                      <a:srgbClr val="EAF2F8"/>
                    </a:solidFill>
                  </a:tcPr>
                </a:tc>
                <a:tc>
                  <a:txBody>
                    <a:bodyPr/>
                    <a:lstStyle/>
                    <a:p>
                      <a:pPr>
                        <a:defRPr sz="1200" b="1">
                          <a:solidFill>
                            <a:srgbClr val="01203C"/>
                          </a:solidFill>
                          <a:latin typeface="Microsoft YaHei"/>
                        </a:defRPr>
                      </a:pPr>
                      <a:r>
                        <a:t>坡度（°）</a:t>
                      </a:r>
                    </a:p>
                  </a:txBody>
                  <a:tcPr marL="36576" marR="36576" marT="18288" marB="18288">
                    <a:solidFill>
                      <a:srgbClr val="EAF2F8"/>
                    </a:solidFill>
                  </a:tcPr>
                </a:tc>
                <a:tc>
                  <a:txBody>
                    <a:bodyPr/>
                    <a:lstStyle/>
                    <a:p>
                      <a:pPr>
                        <a:defRPr sz="1200" b="1">
                          <a:solidFill>
                            <a:srgbClr val="01203C"/>
                          </a:solidFill>
                          <a:latin typeface="Microsoft YaHei"/>
                        </a:defRPr>
                      </a:pPr>
                      <a:r>
                        <a:t>林草覆盖度（ % ）</a:t>
                      </a:r>
                    </a:p>
                  </a:txBody>
                  <a:tcPr marL="36576" marR="36576" marT="18288" marB="18288">
                    <a:solidFill>
                      <a:srgbClr val="EAF2F8"/>
                    </a:solidFill>
                  </a:tcPr>
                </a:tc>
              </a:tr>
              <a:tr h="1539240">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城镇村道路用地</a:t>
                      </a:r>
                    </a:p>
                  </a:txBody>
                  <a:tcPr marL="36576" marR="36576" marT="18288" marB="18288">
                    <a:solidFill>
                      <a:srgbClr val="FFFFFF"/>
                    </a:solidFill>
                  </a:tcPr>
                </a:tc>
                <a:tc>
                  <a:txBody>
                    <a:bodyPr/>
                    <a:lstStyle/>
                    <a:p>
                      <a:pPr>
                        <a:defRPr sz="1200">
                          <a:solidFill>
                            <a:srgbClr val="01203C"/>
                          </a:solidFill>
                          <a:latin typeface="Microsoft YaHei"/>
                        </a:defRPr>
                      </a:pPr>
                      <a:r>
                        <a:t>0~5</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1539240">
                <a:tc>
                  <a:txBody>
                    <a:bodyPr/>
                    <a:lstStyle/>
                    <a:p>
                      <a:pPr>
                        <a:defRPr sz="1200">
                          <a:solidFill>
                            <a:srgbClr val="01203C"/>
                          </a:solidFill>
                          <a:latin typeface="Microsoft YaHei"/>
                        </a:defRPr>
                      </a:pPr>
                      <a:r>
                        <a:t>2</a:t>
                      </a:r>
                    </a:p>
                  </a:txBody>
                  <a:tcPr marL="36576" marR="36576" marT="18288" marB="18288">
                    <a:solidFill>
                      <a:srgbClr val="FFFFFF"/>
                    </a:solidFill>
                  </a:tcPr>
                </a:tc>
                <a:tc>
                  <a:txBody>
                    <a:bodyPr/>
                    <a:lstStyle/>
                    <a:p>
                      <a:pPr>
                        <a:defRPr sz="1200">
                          <a:solidFill>
                            <a:srgbClr val="01203C"/>
                          </a:solidFill>
                          <a:latin typeface="Microsoft YaHei"/>
                        </a:defRPr>
                      </a:pPr>
                      <a:r>
                        <a:t>公园与绿地</a:t>
                      </a:r>
                    </a:p>
                  </a:txBody>
                  <a:tcPr marL="36576" marR="36576" marT="18288" marB="18288">
                    <a:solidFill>
                      <a:srgbClr val="FFFFFF"/>
                    </a:solidFill>
                  </a:tcPr>
                </a:tc>
                <a:tc>
                  <a:txBody>
                    <a:bodyPr/>
                    <a:lstStyle/>
                    <a:p>
                      <a:pPr>
                        <a:defRPr sz="1200">
                          <a:solidFill>
                            <a:srgbClr val="01203C"/>
                          </a:solidFill>
                          <a:latin typeface="Microsoft YaHei"/>
                        </a:defRPr>
                      </a:pPr>
                      <a:r>
                        <a:t>0~5</a:t>
                      </a:r>
                    </a:p>
                  </a:txBody>
                  <a:tcPr marL="36576" marR="36576" marT="18288" marB="18288">
                    <a:solidFill>
                      <a:srgbClr val="FFFFFF"/>
                    </a:solidFill>
                  </a:tcPr>
                </a:tc>
                <a:tc>
                  <a:txBody>
                    <a:bodyPr/>
                    <a:lstStyle/>
                    <a:p>
                      <a:pPr>
                        <a:defRPr sz="1200">
                          <a:solidFill>
                            <a:srgbClr val="01203C"/>
                          </a:solidFill>
                          <a:latin typeface="Microsoft YaHei"/>
                        </a:defRPr>
                      </a:pPr>
                      <a:r>
                        <a:t>75</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4.3.3.1 原地貌土壤侵蚀模数</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报告列示数值：0</a:t>
            </a:r>
          </a:p>
          <a:p>
            <a:pPr>
              <a:spcAft>
                <a:spcPts val="400"/>
              </a:spcAft>
              <a:defRPr sz="1400">
                <a:solidFill>
                  <a:srgbClr val="01203C"/>
                </a:solidFill>
                <a:latin typeface="Microsoft YaHei"/>
              </a:defRPr>
            </a:pPr>
            <a:r>
              <a:t>报告列示数值：5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施工期扰动后侵蚀模数显著高于背景值</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21</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项目</a:t>
                      </a:r>
                    </a:p>
                  </a:txBody>
                  <a:tcPr marL="36576" marR="36576" marT="18288" marB="18288">
                    <a:solidFill>
                      <a:srgbClr val="EAF2F8"/>
                    </a:solidFill>
                  </a:tcPr>
                </a:tc>
                <a:tc>
                  <a:txBody>
                    <a:bodyPr/>
                    <a:lstStyle/>
                    <a:p>
                      <a:pPr>
                        <a:defRPr sz="1200" b="1">
                          <a:solidFill>
                            <a:srgbClr val="01203C"/>
                          </a:solidFill>
                          <a:latin typeface="Microsoft YaHei"/>
                        </a:defRPr>
                      </a:pPr>
                      <a:r>
                        <a:t>因子</a:t>
                      </a:r>
                    </a:p>
                  </a:txBody>
                  <a:tcPr marL="36576" marR="36576" marT="18288" marB="18288">
                    <a:solidFill>
                      <a:srgbClr val="EAF2F8"/>
                    </a:solidFill>
                  </a:tcPr>
                </a:tc>
                <a:tc>
                  <a:txBody>
                    <a:bodyPr/>
                    <a:lstStyle/>
                    <a:p>
                      <a:pPr>
                        <a:defRPr sz="1200" b="1">
                          <a:solidFill>
                            <a:srgbClr val="01203C"/>
                          </a:solidFill>
                          <a:latin typeface="Microsoft YaHei"/>
                        </a:defRPr>
                      </a:pPr>
                      <a:r>
                        <a:t>管网工程区</a:t>
                      </a:r>
                    </a:p>
                  </a:txBody>
                  <a:tcPr marL="36576" marR="36576" marT="18288" marB="18288">
                    <a:solidFill>
                      <a:srgbClr val="EAF2F8"/>
                    </a:solidFill>
                  </a:tcPr>
                </a:tc>
              </a:tr>
              <a:tr h="659674">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土壤侵蚀模数（ t/km²·a ）</a:t>
                      </a:r>
                    </a:p>
                  </a:txBody>
                  <a:tcPr marL="36576" marR="36576" marT="18288" marB="18288">
                    <a:solidFill>
                      <a:srgbClr val="FFFFFF"/>
                    </a:solidFill>
                  </a:tcPr>
                </a:tc>
                <a:tc>
                  <a:txBody>
                    <a:bodyPr/>
                    <a:lstStyle/>
                    <a:p>
                      <a:pPr>
                        <a:defRPr sz="1200">
                          <a:solidFill>
                            <a:srgbClr val="01203C"/>
                          </a:solidFill>
                          <a:latin typeface="Microsoft YaHei"/>
                        </a:defRPr>
                      </a:pPr>
                      <a:r>
                        <a:t>M</a:t>
                      </a:r>
                    </a:p>
                  </a:txBody>
                  <a:tcPr marL="36576" marR="36576" marT="18288" marB="18288">
                    <a:solidFill>
                      <a:srgbClr val="FFFFFF"/>
                    </a:solidFill>
                  </a:tcPr>
                </a:tc>
                <a:tc>
                  <a:txBody>
                    <a:bodyPr/>
                    <a:lstStyle/>
                    <a:p>
                      <a:pPr>
                        <a:defRPr sz="1200">
                          <a:solidFill>
                            <a:srgbClr val="01203C"/>
                          </a:solidFill>
                          <a:latin typeface="Microsoft YaHei"/>
                        </a:defRPr>
                      </a:pPr>
                      <a:r>
                        <a:t>1153.34</a:t>
                      </a:r>
                    </a:p>
                  </a:txBody>
                  <a:tcPr marL="36576" marR="36576" marT="18288" marB="18288">
                    <a:solidFill>
                      <a:srgbClr val="FFFFFF"/>
                    </a:solidFill>
                  </a:tcPr>
                </a:tc>
              </a:tr>
              <a:tr h="659674">
                <a:tc>
                  <a:txBody>
                    <a:bodyPr/>
                    <a:lstStyle/>
                    <a:p>
                      <a:pPr>
                        <a:defRPr sz="1200">
                          <a:solidFill>
                            <a:srgbClr val="01203C"/>
                          </a:solidFill>
                          <a:latin typeface="Microsoft YaHei"/>
                        </a:defRPr>
                      </a:pPr>
                      <a:r>
                        <a:t>1.1</a:t>
                      </a:r>
                    </a:p>
                  </a:txBody>
                  <a:tcPr marL="36576" marR="36576" marT="18288" marB="18288">
                    <a:solidFill>
                      <a:srgbClr val="FFFFFF"/>
                    </a:solidFill>
                  </a:tcPr>
                </a:tc>
                <a:tc>
                  <a:txBody>
                    <a:bodyPr/>
                    <a:lstStyle/>
                    <a:p>
                      <a:pPr>
                        <a:defRPr sz="1200">
                          <a:solidFill>
                            <a:srgbClr val="01203C"/>
                          </a:solidFill>
                          <a:latin typeface="Microsoft YaHei"/>
                        </a:defRPr>
                      </a:pPr>
                      <a:r>
                        <a:t>降雨侵蚀力因子</a:t>
                      </a:r>
                    </a:p>
                  </a:txBody>
                  <a:tcPr marL="36576" marR="36576" marT="18288" marB="18288">
                    <a:solidFill>
                      <a:srgbClr val="FFFFFF"/>
                    </a:solidFill>
                  </a:tcPr>
                </a:tc>
                <a:tc>
                  <a:txBody>
                    <a:bodyPr/>
                    <a:lstStyle/>
                    <a:p>
                      <a:pPr>
                        <a:defRPr sz="1200">
                          <a:solidFill>
                            <a:srgbClr val="01203C"/>
                          </a:solidFill>
                          <a:latin typeface="Microsoft YaHei"/>
                        </a:defRPr>
                      </a:pPr>
                      <a:r>
                        <a:t>R</a:t>
                      </a:r>
                    </a:p>
                  </a:txBody>
                  <a:tcPr marL="36576" marR="36576" marT="18288" marB="18288">
                    <a:solidFill>
                      <a:srgbClr val="FFFFFF"/>
                    </a:solidFill>
                  </a:tcPr>
                </a:tc>
                <a:tc>
                  <a:txBody>
                    <a:bodyPr/>
                    <a:lstStyle/>
                    <a:p>
                      <a:pPr>
                        <a:defRPr sz="1200">
                          <a:solidFill>
                            <a:srgbClr val="01203C"/>
                          </a:solidFill>
                          <a:latin typeface="Microsoft YaHei"/>
                        </a:defRPr>
                      </a:pPr>
                      <a:r>
                        <a:t>7179.00</a:t>
                      </a:r>
                    </a:p>
                  </a:txBody>
                  <a:tcPr marL="36576" marR="36576" marT="18288" marB="18288">
                    <a:solidFill>
                      <a:srgbClr val="FFFFFF"/>
                    </a:solidFill>
                  </a:tcPr>
                </a:tc>
              </a:tr>
              <a:tr h="659674">
                <a:tc>
                  <a:txBody>
                    <a:bodyPr/>
                    <a:lstStyle/>
                    <a:p>
                      <a:pPr>
                        <a:defRPr sz="1200">
                          <a:solidFill>
                            <a:srgbClr val="01203C"/>
                          </a:solidFill>
                          <a:latin typeface="Microsoft YaHei"/>
                        </a:defRPr>
                      </a:pPr>
                      <a:r>
                        <a:t>1.2</a:t>
                      </a:r>
                    </a:p>
                  </a:txBody>
                  <a:tcPr marL="36576" marR="36576" marT="18288" marB="18288">
                    <a:solidFill>
                      <a:srgbClr val="FFFFFF"/>
                    </a:solidFill>
                  </a:tcPr>
                </a:tc>
                <a:tc>
                  <a:txBody>
                    <a:bodyPr/>
                    <a:lstStyle/>
                    <a:p>
                      <a:pPr>
                        <a:defRPr sz="1200">
                          <a:solidFill>
                            <a:srgbClr val="01203C"/>
                          </a:solidFill>
                          <a:latin typeface="Microsoft YaHei"/>
                        </a:defRPr>
                      </a:pPr>
                      <a:r>
                        <a:t>土壤可蚀性因子</a:t>
                      </a:r>
                    </a:p>
                  </a:txBody>
                  <a:tcPr marL="36576" marR="36576" marT="18288" marB="18288">
                    <a:solidFill>
                      <a:srgbClr val="FFFFFF"/>
                    </a:solidFill>
                  </a:tcPr>
                </a:tc>
                <a:tc>
                  <a:txBody>
                    <a:bodyPr/>
                    <a:lstStyle/>
                    <a:p>
                      <a:pPr>
                        <a:defRPr sz="1200">
                          <a:solidFill>
                            <a:srgbClr val="01203C"/>
                          </a:solidFill>
                          <a:latin typeface="Microsoft YaHei"/>
                        </a:defRPr>
                      </a:pPr>
                      <a:r>
                        <a:t>K</a:t>
                      </a:r>
                    </a:p>
                  </a:txBody>
                  <a:tcPr marL="36576" marR="36576" marT="18288" marB="18288">
                    <a:solidFill>
                      <a:srgbClr val="FFFFFF"/>
                    </a:solidFill>
                  </a:tcPr>
                </a:tc>
                <a:tc>
                  <a:txBody>
                    <a:bodyPr/>
                    <a:lstStyle/>
                    <a:p>
                      <a:pPr>
                        <a:defRPr sz="1200">
                          <a:solidFill>
                            <a:srgbClr val="01203C"/>
                          </a:solidFill>
                          <a:latin typeface="Microsoft YaHei"/>
                        </a:defRPr>
                      </a:pPr>
                      <a:r>
                        <a:t>0.0043</a:t>
                      </a:r>
                    </a:p>
                  </a:txBody>
                  <a:tcPr marL="36576" marR="36576" marT="18288" marB="18288">
                    <a:solidFill>
                      <a:srgbClr val="FFFFFF"/>
                    </a:solidFill>
                  </a:tcPr>
                </a:tc>
              </a:tr>
              <a:tr h="659674">
                <a:tc>
                  <a:txBody>
                    <a:bodyPr/>
                    <a:lstStyle/>
                    <a:p>
                      <a:pPr>
                        <a:defRPr sz="1200">
                          <a:solidFill>
                            <a:srgbClr val="01203C"/>
                          </a:solidFill>
                          <a:latin typeface="Microsoft YaHei"/>
                        </a:defRPr>
                      </a:pPr>
                      <a:r>
                        <a:t>1.3</a:t>
                      </a:r>
                    </a:p>
                  </a:txBody>
                  <a:tcPr marL="36576" marR="36576" marT="18288" marB="18288">
                    <a:solidFill>
                      <a:srgbClr val="FFFFFF"/>
                    </a:solidFill>
                  </a:tcPr>
                </a:tc>
                <a:tc>
                  <a:txBody>
                    <a:bodyPr/>
                    <a:lstStyle/>
                    <a:p>
                      <a:pPr>
                        <a:defRPr sz="1200">
                          <a:solidFill>
                            <a:srgbClr val="01203C"/>
                          </a:solidFill>
                          <a:latin typeface="Microsoft YaHei"/>
                        </a:defRPr>
                      </a:pPr>
                      <a:r>
                        <a:t>坡长因子</a:t>
                      </a:r>
                    </a:p>
                  </a:txBody>
                  <a:tcPr marL="36576" marR="36576" marT="18288" marB="18288">
                    <a:solidFill>
                      <a:srgbClr val="FFFFFF"/>
                    </a:solidFill>
                  </a:tcPr>
                </a:tc>
                <a:tc>
                  <a:txBody>
                    <a:bodyPr/>
                    <a:lstStyle/>
                    <a:p>
                      <a:pPr>
                        <a:defRPr sz="1200">
                          <a:solidFill>
                            <a:srgbClr val="01203C"/>
                          </a:solidFill>
                          <a:latin typeface="Microsoft YaHei"/>
                        </a:defRPr>
                      </a:pPr>
                      <a:r>
                        <a:t>Ly</a:t>
                      </a:r>
                    </a:p>
                  </a:txBody>
                  <a:tcPr marL="36576" marR="36576" marT="18288" marB="18288">
                    <a:solidFill>
                      <a:srgbClr val="FFFFFF"/>
                    </a:solidFill>
                  </a:tcPr>
                </a:tc>
                <a:tc>
                  <a:txBody>
                    <a:bodyPr/>
                    <a:lstStyle/>
                    <a:p>
                      <a:pPr>
                        <a:defRPr sz="1200">
                          <a:solidFill>
                            <a:srgbClr val="01203C"/>
                          </a:solidFill>
                          <a:latin typeface="Microsoft YaHei"/>
                        </a:defRPr>
                      </a:pPr>
                      <a:r>
                        <a:t>1.18</a:t>
                      </a:r>
                    </a:p>
                  </a:txBody>
                  <a:tcPr marL="36576" marR="36576" marT="18288" marB="18288">
                    <a:solidFill>
                      <a:srgbClr val="FFFFFF"/>
                    </a:solidFill>
                  </a:tcPr>
                </a:tc>
              </a:tr>
              <a:tr h="65967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坡长（ m ）</a:t>
                      </a:r>
                    </a:p>
                  </a:txBody>
                  <a:tcPr marL="36576" marR="36576" marT="18288" marB="18288">
                    <a:solidFill>
                      <a:srgbClr val="FFFFFF"/>
                    </a:solidFill>
                  </a:tcPr>
                </a:tc>
                <a:tc>
                  <a:txBody>
                    <a:bodyPr/>
                    <a:lstStyle/>
                    <a:p>
                      <a:pPr>
                        <a:defRPr sz="1200">
                          <a:solidFill>
                            <a:srgbClr val="01203C"/>
                          </a:solidFill>
                          <a:latin typeface="Microsoft YaHei"/>
                        </a:defRPr>
                      </a:pPr>
                      <a:r>
                        <a:t>λ</a:t>
                      </a:r>
                    </a:p>
                  </a:txBody>
                  <a:tcPr marL="36576" marR="36576" marT="18288" marB="18288">
                    <a:solidFill>
                      <a:srgbClr val="FFFFFF"/>
                    </a:solidFill>
                  </a:tcPr>
                </a:tc>
                <a:tc>
                  <a:txBody>
                    <a:bodyPr/>
                    <a:lstStyle/>
                    <a:p>
                      <a:pPr>
                        <a:defRPr sz="1200">
                          <a:solidFill>
                            <a:srgbClr val="01203C"/>
                          </a:solidFill>
                          <a:latin typeface="Microsoft YaHei"/>
                        </a:defRPr>
                      </a:pPr>
                      <a:r>
                        <a:t>30.00</a:t>
                      </a:r>
                    </a:p>
                  </a:txBody>
                  <a:tcPr marL="36576" marR="36576" marT="18288" marB="18288">
                    <a:solidFill>
                      <a:srgbClr val="FFFFFF"/>
                    </a:solidFill>
                  </a:tcPr>
                </a:tc>
              </a:tr>
              <a:tr h="65967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坡长指数</a:t>
                      </a:r>
                    </a:p>
                  </a:txBody>
                  <a:tcPr marL="36576" marR="36576" marT="18288" marB="18288">
                    <a:solidFill>
                      <a:srgbClr val="FFFFFF"/>
                    </a:solidFill>
                  </a:tcPr>
                </a:tc>
                <a:tc>
                  <a:txBody>
                    <a:bodyPr/>
                    <a:lstStyle/>
                    <a:p>
                      <a:pPr>
                        <a:defRPr sz="1200">
                          <a:solidFill>
                            <a:srgbClr val="01203C"/>
                          </a:solidFill>
                          <a:latin typeface="Microsoft YaHei"/>
                        </a:defRPr>
                      </a:pPr>
                      <a:r>
                        <a:t>m</a:t>
                      </a:r>
                    </a:p>
                  </a:txBody>
                  <a:tcPr marL="36576" marR="36576" marT="18288" marB="18288">
                    <a:solidFill>
                      <a:srgbClr val="FFFFFF"/>
                    </a:solidFill>
                  </a:tcPr>
                </a:tc>
                <a:tc>
                  <a:txBody>
                    <a:bodyPr/>
                    <a:lstStyle/>
                    <a:p>
                      <a:pPr>
                        <a:defRPr sz="1200">
                          <a:solidFill>
                            <a:srgbClr val="01203C"/>
                          </a:solidFill>
                          <a:latin typeface="Microsoft YaHei"/>
                        </a:defRPr>
                      </a:pPr>
                      <a:r>
                        <a:t>0.4</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4.3.3.2 扰动后土壤侵蚀模数</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报告列示数值：1153.34</a:t>
            </a:r>
          </a:p>
          <a:p>
            <a:pPr>
              <a:spcAft>
                <a:spcPts val="400"/>
              </a:spcAft>
              <a:defRPr sz="1400">
                <a:solidFill>
                  <a:srgbClr val="01203C"/>
                </a:solidFill>
                <a:latin typeface="Microsoft YaHei"/>
              </a:defRPr>
            </a:pPr>
            <a:r>
              <a:t>报告列示数值：1.1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预测土壤流失总量 104.05t，新增量 94.92t</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923544">
                <a:tc>
                  <a:txBody>
                    <a:bodyPr/>
                    <a:lstStyle/>
                    <a:p>
                      <a:pPr>
                        <a:defRPr sz="1200" b="1">
                          <a:solidFill>
                            <a:srgbClr val="01203C"/>
                          </a:solidFill>
                          <a:latin typeface="Microsoft YaHei"/>
                        </a:defRPr>
                      </a:pPr>
                      <a:r>
                        <a:t>预测单元</a:t>
                      </a:r>
                    </a:p>
                  </a:txBody>
                  <a:tcPr marL="36576" marR="36576" marT="18288" marB="18288">
                    <a:solidFill>
                      <a:srgbClr val="EAF2F8"/>
                    </a:solidFill>
                  </a:tcPr>
                </a:tc>
                <a:tc>
                  <a:txBody>
                    <a:bodyPr/>
                    <a:lstStyle/>
                    <a:p>
                      <a:pPr>
                        <a:defRPr sz="1200" b="1">
                          <a:solidFill>
                            <a:srgbClr val="01203C"/>
                          </a:solidFill>
                          <a:latin typeface="Microsoft YaHei"/>
                        </a:defRPr>
                      </a:pPr>
                      <a:r>
                        <a:t>预测面积（hm²）</a:t>
                      </a:r>
                    </a:p>
                  </a:txBody>
                  <a:tcPr marL="36576" marR="36576" marT="18288" marB="18288">
                    <a:solidFill>
                      <a:srgbClr val="EAF2F8"/>
                    </a:solidFill>
                  </a:tcPr>
                </a:tc>
                <a:tc>
                  <a:txBody>
                    <a:bodyPr/>
                    <a:lstStyle/>
                    <a:p>
                      <a:pPr>
                        <a:defRPr sz="1200" b="1">
                          <a:solidFill>
                            <a:srgbClr val="01203C"/>
                          </a:solidFill>
                          <a:latin typeface="Microsoft YaHei"/>
                        </a:defRPr>
                      </a:pPr>
                      <a:r>
                        <a:t>预测时段（a)</a:t>
                      </a:r>
                    </a:p>
                  </a:txBody>
                  <a:tcPr marL="36576" marR="36576" marT="18288" marB="18288">
                    <a:solidFill>
                      <a:srgbClr val="EAF2F8"/>
                    </a:solidFill>
                  </a:tcPr>
                </a:tc>
                <a:tc>
                  <a:txBody>
                    <a:bodyPr/>
                    <a:lstStyle/>
                    <a:p>
                      <a:pPr>
                        <a:defRPr sz="1200" b="1">
                          <a:solidFill>
                            <a:srgbClr val="01203C"/>
                          </a:solidFill>
                          <a:latin typeface="Microsoft YaHei"/>
                        </a:defRPr>
                      </a:pPr>
                      <a:r>
                        <a:t>侵蚀模数（t/km²·a）</a:t>
                      </a:r>
                    </a:p>
                  </a:txBody>
                  <a:tcPr marL="36576" marR="36576" marT="18288" marB="18288">
                    <a:solidFill>
                      <a:srgbClr val="EAF2F8"/>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施工期</a:t>
                      </a:r>
                    </a:p>
                  </a:txBody>
                  <a:tcPr marL="36576" marR="36576" marT="18288" marB="18288">
                    <a:solidFill>
                      <a:srgbClr val="FFFFFF"/>
                    </a:solidFill>
                  </a:tcPr>
                </a:tc>
                <a:tc>
                  <a:txBody>
                    <a:bodyPr/>
                    <a:lstStyle/>
                    <a:p>
                      <a:pPr>
                        <a:defRPr sz="1200">
                          <a:solidFill>
                            <a:srgbClr val="01203C"/>
                          </a:solidFill>
                          <a:latin typeface="Microsoft YaHei"/>
                        </a:defRPr>
                      </a:pPr>
                      <a:r>
                        <a:t>自然恢复期</a:t>
                      </a:r>
                    </a:p>
                  </a:txBody>
                  <a:tcPr marL="36576" marR="36576" marT="18288" marB="18288">
                    <a:solidFill>
                      <a:srgbClr val="FFFFFF"/>
                    </a:solidFill>
                  </a:tcPr>
                </a:tc>
                <a:tc>
                  <a:txBody>
                    <a:bodyPr/>
                    <a:lstStyle/>
                    <a:p>
                      <a:pPr>
                        <a:defRPr sz="1200">
                          <a:solidFill>
                            <a:srgbClr val="01203C"/>
                          </a:solidFill>
                          <a:latin typeface="Microsoft YaHei"/>
                        </a:defRPr>
                      </a:pPr>
                      <a:r>
                        <a:t>施工期</a:t>
                      </a:r>
                    </a:p>
                  </a:txBody>
                  <a:tcPr marL="36576" marR="36576" marT="18288" marB="18288">
                    <a:solidFill>
                      <a:srgbClr val="FFFFFF"/>
                    </a:solidFill>
                  </a:tcPr>
                </a:tc>
              </a:tr>
              <a:tr h="923544">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923544">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3.4416</a:t>
                      </a:r>
                    </a:p>
                  </a:txBody>
                  <a:tcPr marL="36576" marR="36576" marT="18288" marB="18288">
                    <a:solidFill>
                      <a:srgbClr val="FFFFFF"/>
                    </a:solidFill>
                  </a:tcPr>
                </a:tc>
                <a:tc>
                  <a:txBody>
                    <a:bodyPr/>
                    <a:lstStyle/>
                    <a:p>
                      <a:pPr>
                        <a:defRPr sz="1200">
                          <a:solidFill>
                            <a:srgbClr val="01203C"/>
                          </a:solidFill>
                          <a:latin typeface="Microsoft YaHei"/>
                        </a:defRPr>
                      </a:pPr>
                      <a:r>
                        <a:t>0.0256</a:t>
                      </a:r>
                    </a:p>
                  </a:txBody>
                  <a:tcPr marL="36576" marR="36576" marT="18288" marB="18288">
                    <a:solidFill>
                      <a:srgbClr val="FFFFFF"/>
                    </a:solidFill>
                  </a:tcPr>
                </a:tc>
                <a:tc>
                  <a:txBody>
                    <a:bodyPr/>
                    <a:lstStyle/>
                    <a:p>
                      <a:pPr>
                        <a:defRPr sz="1200">
                          <a:solidFill>
                            <a:srgbClr val="01203C"/>
                          </a:solidFill>
                          <a:latin typeface="Microsoft YaHei"/>
                        </a:defRPr>
                      </a:pPr>
                      <a:r>
                        <a:t>1</a:t>
                      </a:r>
                    </a:p>
                  </a:txBody>
                  <a:tcPr marL="36576" marR="36576" marT="18288" marB="18288">
                    <a:solidFill>
                      <a:srgbClr val="FFFFFF"/>
                    </a:solidFill>
                  </a:tcPr>
                </a:tc>
              </a:tr>
              <a:tr h="923544">
                <a:tc>
                  <a:txBody>
                    <a:bodyPr/>
                    <a:lstStyle/>
                    <a:p>
                      <a:pPr>
                        <a:defRPr sz="1200">
                          <a:solidFill>
                            <a:srgbClr val="01203C"/>
                          </a:solidFill>
                          <a:latin typeface="Microsoft YaHei"/>
                        </a:defRPr>
                      </a:pPr>
                      <a:r>
                        <a:t>合计</a:t>
                      </a:r>
                    </a:p>
                  </a:txBody>
                  <a:tcPr marL="36576" marR="36576" marT="18288" marB="18288">
                    <a:solidFill>
                      <a:srgbClr val="FFFFFF"/>
                    </a:solidFill>
                  </a:tcPr>
                </a:tc>
                <a:tc>
                  <a:txBody>
                    <a:bodyPr/>
                    <a:lstStyle/>
                    <a:p>
                      <a:pPr>
                        <a:defRPr sz="1200">
                          <a:solidFill>
                            <a:srgbClr val="01203C"/>
                          </a:solidFill>
                          <a:latin typeface="Microsoft YaHei"/>
                        </a:defRPr>
                      </a:pPr>
                      <a:r>
                        <a:t>3.4416</a:t>
                      </a:r>
                    </a:p>
                  </a:txBody>
                  <a:tcPr marL="36576" marR="36576" marT="18288" marB="18288">
                    <a:solidFill>
                      <a:srgbClr val="FFFFFF"/>
                    </a:solidFill>
                  </a:tcPr>
                </a:tc>
                <a:tc>
                  <a:txBody>
                    <a:bodyPr/>
                    <a:lstStyle/>
                    <a:p>
                      <a:pPr>
                        <a:defRPr sz="1200">
                          <a:solidFill>
                            <a:srgbClr val="01203C"/>
                          </a:solidFill>
                          <a:latin typeface="Microsoft YaHei"/>
                        </a:defRPr>
                      </a:pPr>
                      <a:r>
                        <a:t>0.0256</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工程建设可能造成的土壤流失量预测结果</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预测单元。</a:t>
            </a:r>
          </a:p>
          <a:p>
            <a:pPr>
              <a:spcAft>
                <a:spcPts val="400"/>
              </a:spcAft>
              <a:defRPr sz="1400">
                <a:solidFill>
                  <a:srgbClr val="01203C"/>
                </a:solidFill>
                <a:latin typeface="Microsoft YaHei"/>
              </a:defRPr>
            </a:pPr>
            <a:r>
              <a:t>报告列示数值：3.4416</a:t>
            </a:r>
          </a:p>
          <a:p>
            <a:pPr>
              <a:spcAft>
                <a:spcPts val="400"/>
              </a:spcAft>
              <a:defRPr sz="1400">
                <a:solidFill>
                  <a:srgbClr val="01203C"/>
                </a:solidFill>
                <a:latin typeface="Microsoft YaHei"/>
              </a:defRPr>
            </a:pPr>
            <a:r>
              <a:t>报告列示数值：0.0256</a:t>
            </a:r>
          </a:p>
          <a:p>
            <a:pPr>
              <a:spcAft>
                <a:spcPts val="400"/>
              </a:spcAft>
              <a:defRPr sz="1400">
                <a:solidFill>
                  <a:srgbClr val="01203C"/>
                </a:solidFill>
                <a:latin typeface="Microsoft YaHei"/>
              </a:defRPr>
            </a:pPr>
            <a:r>
              <a:t>报告列示数值：1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第06章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06</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水土保持措施与施工安排</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呈现防治分区、工程/植物/临时措施体系、工程量和实施进度。</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防治分区为管网工程区，防治面积 34416.00m²</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24</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2438400"/>
                <a:gridCol w="2438400"/>
                <a:gridCol w="2438400"/>
              </a:tblGrid>
              <a:tr h="1154430">
                <a:tc>
                  <a:txBody>
                    <a:bodyPr/>
                    <a:lstStyle/>
                    <a:p>
                      <a:pPr>
                        <a:defRPr sz="1200" b="1">
                          <a:solidFill>
                            <a:srgbClr val="01203C"/>
                          </a:solidFill>
                          <a:latin typeface="Microsoft YaHei"/>
                        </a:defRPr>
                      </a:pPr>
                      <a:r>
                        <a:t>防治分区</a:t>
                      </a:r>
                    </a:p>
                  </a:txBody>
                  <a:tcPr marL="36576" marR="36576" marT="18288" marB="18288">
                    <a:solidFill>
                      <a:srgbClr val="EAF2F8"/>
                    </a:solidFill>
                  </a:tcPr>
                </a:tc>
                <a:tc>
                  <a:txBody>
                    <a:bodyPr/>
                    <a:lstStyle/>
                    <a:p>
                      <a:pPr>
                        <a:defRPr sz="1200" b="1">
                          <a:solidFill>
                            <a:srgbClr val="01203C"/>
                          </a:solidFill>
                          <a:latin typeface="Microsoft YaHei"/>
                        </a:defRPr>
                      </a:pPr>
                      <a:r>
                        <a:t>防治面积（m²）</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1154430">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永久占地</a:t>
                      </a:r>
                    </a:p>
                  </a:txBody>
                  <a:tcPr marL="36576" marR="36576" marT="18288" marB="18288">
                    <a:solidFill>
                      <a:srgbClr val="FFFFFF"/>
                    </a:solidFill>
                  </a:tcPr>
                </a:tc>
                <a:tc>
                  <a:txBody>
                    <a:bodyPr/>
                    <a:lstStyle/>
                    <a:p>
                      <a:pPr>
                        <a:defRPr sz="1200">
                          <a:solidFill>
                            <a:srgbClr val="01203C"/>
                          </a:solidFill>
                          <a:latin typeface="Microsoft YaHei"/>
                        </a:defRPr>
                      </a:pPr>
                      <a:r>
                        <a:t>临时占地</a:t>
                      </a:r>
                    </a:p>
                  </a:txBody>
                  <a:tcPr marL="36576" marR="36576" marT="18288" marB="18288">
                    <a:solidFill>
                      <a:srgbClr val="FFFFFF"/>
                    </a:solidFill>
                  </a:tcPr>
                </a:tc>
              </a:tr>
              <a:tr h="1154430">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r>
              <a:tr h="1154430">
                <a:tc>
                  <a:txBody>
                    <a:bodyPr/>
                    <a:lstStyle/>
                    <a:p>
                      <a:pPr>
                        <a:defRPr sz="1200">
                          <a:solidFill>
                            <a:srgbClr val="01203C"/>
                          </a:solidFill>
                          <a:latin typeface="Microsoft YaHei"/>
                        </a:defRPr>
                      </a:pPr>
                      <a:r>
                        <a:t>合计</a:t>
                      </a:r>
                    </a:p>
                  </a:txBody>
                  <a:tcPr marL="36576" marR="36576" marT="18288" marB="18288">
                    <a:solidFill>
                      <a:srgbClr val="FFFFFF"/>
                    </a:solidFill>
                  </a:tcPr>
                </a:tc>
                <a:tc>
                  <a:txBody>
                    <a:bodyPr/>
                    <a:lstStyle/>
                    <a:p>
                      <a:pPr>
                        <a:defRPr sz="1200">
                          <a:solidFill>
                            <a:srgbClr val="01203C"/>
                          </a:solidFill>
                          <a:latin typeface="Microsoft YaHei"/>
                        </a:defRPr>
                      </a:pPr>
                      <a:r>
                        <a:t>/</a:t>
                      </a:r>
                    </a:p>
                  </a:txBody>
                  <a:tcPr marL="36576" marR="36576" marT="18288" marB="18288">
                    <a:solidFill>
                      <a:srgbClr val="FFFFFF"/>
                    </a:solidFill>
                  </a:tcPr>
                </a:tc>
                <a:tc>
                  <a:txBody>
                    <a:bodyPr/>
                    <a:lstStyle/>
                    <a:p>
                      <a:pPr>
                        <a:defRPr sz="1200">
                          <a:solidFill>
                            <a:srgbClr val="01203C"/>
                          </a:solidFill>
                          <a:latin typeface="Microsoft YaHei"/>
                        </a:defRPr>
                      </a:pPr>
                      <a:r>
                        <a:t>34416.00</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水土流失防治区划分表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防治分区。</a:t>
            </a:r>
          </a:p>
          <a:p>
            <a:pPr>
              <a:spcAft>
                <a:spcPts val="400"/>
              </a:spcAft>
              <a:defRPr sz="1400">
                <a:solidFill>
                  <a:srgbClr val="01203C"/>
                </a:solidFill>
                <a:latin typeface="Microsoft YaHei"/>
              </a:defRPr>
            </a:pPr>
            <a:r>
              <a:t>报告列示数值：34416.00</a:t>
            </a:r>
          </a:p>
          <a:p>
            <a:pPr>
              <a:spcAft>
                <a:spcPts val="400"/>
              </a:spcAft>
              <a:defRPr sz="1400">
                <a:solidFill>
                  <a:srgbClr val="01203C"/>
                </a:solidFill>
                <a:latin typeface="Microsoft YaHei"/>
              </a:defRPr>
            </a:pPr>
            <a:r>
              <a:t>报告列示数值：1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措施体系覆盖工程、植物和临时三类措施</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defRPr sz="1200" b="1">
                          <a:solidFill>
                            <a:srgbClr val="01203C"/>
                          </a:solidFill>
                          <a:latin typeface="Microsoft YaHei"/>
                        </a:defRPr>
                      </a:pPr>
                      <a:r>
                        <a:t>防治分区</a:t>
                      </a:r>
                    </a:p>
                  </a:txBody>
                  <a:tcPr marL="36576" marR="36576" marT="18288" marB="18288">
                    <a:solidFill>
                      <a:srgbClr val="EAF2F8"/>
                    </a:solidFill>
                  </a:tcPr>
                </a:tc>
                <a:tc>
                  <a:txBody>
                    <a:bodyPr/>
                    <a:lstStyle/>
                    <a:p>
                      <a:pPr>
                        <a:defRPr sz="1200" b="1">
                          <a:solidFill>
                            <a:srgbClr val="01203C"/>
                          </a:solidFill>
                          <a:latin typeface="Microsoft YaHei"/>
                        </a:defRPr>
                      </a:pPr>
                      <a:r>
                        <a:t>工程措施</a:t>
                      </a:r>
                    </a:p>
                  </a:txBody>
                  <a:tcPr marL="36576" marR="36576" marT="18288" marB="18288">
                    <a:solidFill>
                      <a:srgbClr val="EAF2F8"/>
                    </a:solidFill>
                  </a:tcPr>
                </a:tc>
                <a:tc>
                  <a:txBody>
                    <a:bodyPr/>
                    <a:lstStyle/>
                    <a:p>
                      <a:pPr>
                        <a:defRPr sz="1200" b="1">
                          <a:solidFill>
                            <a:srgbClr val="01203C"/>
                          </a:solidFill>
                          <a:latin typeface="Microsoft YaHei"/>
                        </a:defRPr>
                      </a:pPr>
                      <a:r>
                        <a:t>植物措施</a:t>
                      </a:r>
                    </a:p>
                  </a:txBody>
                  <a:tcPr marL="36576" marR="36576" marT="18288" marB="18288">
                    <a:solidFill>
                      <a:srgbClr val="EAF2F8"/>
                    </a:solidFill>
                  </a:tcPr>
                </a:tc>
                <a:tc>
                  <a:txBody>
                    <a:bodyPr/>
                    <a:lstStyle/>
                    <a:p>
                      <a:pPr>
                        <a:defRPr sz="1200" b="1">
                          <a:solidFill>
                            <a:srgbClr val="01203C"/>
                          </a:solidFill>
                          <a:latin typeface="Microsoft YaHei"/>
                        </a:defRPr>
                      </a:pPr>
                      <a:r>
                        <a:t>临时措施</a:t>
                      </a:r>
                    </a:p>
                  </a:txBody>
                  <a:tcPr marL="36576" marR="36576" marT="18288" marB="18288">
                    <a:solidFill>
                      <a:srgbClr val="EAF2F8"/>
                    </a:solidFill>
                  </a:tcPr>
                </a:tc>
              </a:tr>
              <a:tr h="1539240">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主体已有</a:t>
                      </a:r>
                    </a:p>
                  </a:txBody>
                  <a:tcPr marL="36576" marR="36576" marT="18288" marB="18288">
                    <a:solidFill>
                      <a:srgbClr val="FFFFFF"/>
                    </a:solidFill>
                  </a:tcPr>
                </a:tc>
                <a:tc>
                  <a:txBody>
                    <a:bodyPr/>
                    <a:lstStyle/>
                    <a:p>
                      <a:pPr>
                        <a:defRPr sz="1200">
                          <a:solidFill>
                            <a:srgbClr val="01203C"/>
                          </a:solidFill>
                          <a:latin typeface="Microsoft YaHei"/>
                        </a:defRPr>
                      </a:pPr>
                      <a:r>
                        <a:t>方案新增</a:t>
                      </a:r>
                    </a:p>
                  </a:txBody>
                  <a:tcPr marL="36576" marR="36576" marT="18288" marB="18288">
                    <a:solidFill>
                      <a:srgbClr val="FFFFFF"/>
                    </a:solidFill>
                  </a:tcPr>
                </a:tc>
                <a:tc>
                  <a:txBody>
                    <a:bodyPr/>
                    <a:lstStyle/>
                    <a:p>
                      <a:pPr>
                        <a:defRPr sz="1200">
                          <a:solidFill>
                            <a:srgbClr val="01203C"/>
                          </a:solidFill>
                          <a:latin typeface="Microsoft YaHei"/>
                        </a:defRPr>
                      </a:pPr>
                      <a:r>
                        <a:t>主体已有</a:t>
                      </a:r>
                    </a:p>
                  </a:txBody>
                  <a:tcPr marL="36576" marR="36576" marT="18288" marB="18288">
                    <a:solidFill>
                      <a:srgbClr val="FFFFFF"/>
                    </a:solidFill>
                  </a:tcPr>
                </a:tc>
              </a:tr>
              <a:tr h="1539240">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土地整治</a:t>
                      </a:r>
                    </a:p>
                  </a:txBody>
                  <a:tcPr marL="36576" marR="36576" marT="18288" marB="18288">
                    <a:solidFill>
                      <a:srgbClr val="FFFFFF"/>
                    </a:solidFill>
                  </a:tcPr>
                </a:tc>
                <a:tc>
                  <a:txBody>
                    <a:bodyPr/>
                    <a:lstStyle/>
                    <a:p>
                      <a:pPr>
                        <a:defRPr sz="1200">
                          <a:solidFill>
                            <a:srgbClr val="01203C"/>
                          </a:solidFill>
                          <a:latin typeface="Microsoft YaHei"/>
                        </a:defRPr>
                      </a:pPr>
                      <a:r>
                        <a:t>表土剥离、表土回覆</a:t>
                      </a:r>
                    </a:p>
                  </a:txBody>
                  <a:tcPr marL="36576" marR="36576" marT="18288" marB="18288">
                    <a:solidFill>
                      <a:srgbClr val="FFFFFF"/>
                    </a:solidFill>
                  </a:tcPr>
                </a:tc>
                <a:tc>
                  <a:txBody>
                    <a:bodyPr/>
                    <a:lstStyle/>
                    <a:p>
                      <a:pPr>
                        <a:defRPr sz="1200">
                          <a:solidFill>
                            <a:srgbClr val="01203C"/>
                          </a:solidFill>
                          <a:latin typeface="Microsoft YaHei"/>
                        </a:defRPr>
                      </a:pPr>
                      <a:r>
                        <a:t>铺种草皮</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本项目水土流失防治措施体系表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防治分区。</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报告列示数值：79.5</a:t>
            </a:r>
          </a:p>
          <a:p>
            <a:pPr>
              <a:spcAft>
                <a:spcPts val="400"/>
              </a:spcAft>
              <a:defRPr sz="1400">
                <a:solidFill>
                  <a:srgbClr val="01203C"/>
                </a:solidFill>
                <a:latin typeface="Microsoft YaHei"/>
              </a:defRPr>
            </a:pPr>
            <a:r>
              <a:t>报告列示数值：265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措施实施进度需嵌入 2025—2026 年施工窗口</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40" cy="3456432"/>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576072">
                <a:tc>
                  <a:txBody>
                    <a:bodyPr/>
                    <a:lstStyle/>
                    <a:p>
                      <a:pPr>
                        <a:defRPr sz="1200" b="1">
                          <a:solidFill>
                            <a:srgbClr val="01203C"/>
                          </a:solidFill>
                          <a:latin typeface="Microsoft YaHei"/>
                        </a:defRPr>
                      </a:pPr>
                      <a:r>
                        <a:t>项目组成</a:t>
                      </a:r>
                    </a:p>
                  </a:txBody>
                  <a:tcPr marL="36576" marR="36576" marT="18288" marB="18288">
                    <a:solidFill>
                      <a:srgbClr val="EAF2F8"/>
                    </a:solidFill>
                  </a:tcPr>
                </a:tc>
                <a:tc>
                  <a:txBody>
                    <a:bodyPr/>
                    <a:lstStyle/>
                    <a:p>
                      <a:pPr>
                        <a:defRPr sz="1200" b="1">
                          <a:solidFill>
                            <a:srgbClr val="01203C"/>
                          </a:solidFill>
                          <a:latin typeface="Microsoft YaHei"/>
                        </a:defRPr>
                      </a:pPr>
                      <a:r>
                        <a:t>水土保持工程施工</a:t>
                      </a:r>
                    </a:p>
                  </a:txBody>
                  <a:tcPr marL="36576" marR="36576" marT="18288" marB="18288">
                    <a:solidFill>
                      <a:srgbClr val="EAF2F8"/>
                    </a:solidFill>
                  </a:tcPr>
                </a:tc>
                <a:tc>
                  <a:txBody>
                    <a:bodyPr/>
                    <a:lstStyle/>
                    <a:p>
                      <a:pPr>
                        <a:defRPr sz="1200" b="1">
                          <a:solidFill>
                            <a:srgbClr val="01203C"/>
                          </a:solidFill>
                          <a:latin typeface="Microsoft YaHei"/>
                        </a:defRPr>
                      </a:pPr>
                      <a:r>
                        <a:t>2025 年</a:t>
                      </a:r>
                    </a:p>
                  </a:txBody>
                  <a:tcPr marL="36576" marR="36576" marT="18288" marB="18288">
                    <a:solidFill>
                      <a:srgbClr val="EAF2F8"/>
                    </a:solidFill>
                  </a:tcPr>
                </a:tc>
                <a:tc>
                  <a:txBody>
                    <a:bodyPr/>
                    <a:lstStyle/>
                    <a:p>
                      <a:pPr>
                        <a:defRPr sz="1200" b="1">
                          <a:solidFill>
                            <a:srgbClr val="01203C"/>
                          </a:solidFill>
                          <a:latin typeface="Microsoft YaHei"/>
                        </a:defRPr>
                      </a:pPr>
                      <a:r>
                        <a:t>2026 年</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576072">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r>
                        <a:t>工程措施</a:t>
                      </a:r>
                    </a:p>
                  </a:txBody>
                  <a:tcPr marL="36576" marR="36576" marT="18288" marB="18288">
                    <a:solidFill>
                      <a:srgbClr val="FFFFFF"/>
                    </a:solidFill>
                  </a:tcPr>
                </a:tc>
                <a:tc>
                  <a:txBody>
                    <a:bodyPr/>
                    <a:lstStyle/>
                    <a:p>
                      <a:pPr>
                        <a:defRPr sz="1200">
                          <a:solidFill>
                            <a:srgbClr val="01203C"/>
                          </a:solidFill>
                          <a:latin typeface="Microsoft YaHei"/>
                        </a:defRPr>
                      </a:pPr>
                      <a:r>
                        <a:t>表土剥离</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576072">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表土回覆</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576072">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植物措施</a:t>
                      </a:r>
                    </a:p>
                  </a:txBody>
                  <a:tcPr marL="36576" marR="36576" marT="18288" marB="18288">
                    <a:solidFill>
                      <a:srgbClr val="FFFFFF"/>
                    </a:solidFill>
                  </a:tcPr>
                </a:tc>
                <a:tc>
                  <a:txBody>
                    <a:bodyPr/>
                    <a:lstStyle/>
                    <a:p>
                      <a:pPr>
                        <a:defRPr sz="1200">
                          <a:solidFill>
                            <a:srgbClr val="01203C"/>
                          </a:solidFill>
                          <a:latin typeface="Microsoft YaHei"/>
                        </a:defRPr>
                      </a:pPr>
                      <a:r>
                        <a:t>铺种草皮</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576072">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临时措施</a:t>
                      </a:r>
                    </a:p>
                  </a:txBody>
                  <a:tcPr marL="36576" marR="36576" marT="18288" marB="18288">
                    <a:solidFill>
                      <a:srgbClr val="FFFFFF"/>
                    </a:solidFill>
                  </a:tcPr>
                </a:tc>
                <a:tc>
                  <a:txBody>
                    <a:bodyPr/>
                    <a:lstStyle/>
                    <a:p>
                      <a:pPr>
                        <a:defRPr sz="1200">
                          <a:solidFill>
                            <a:srgbClr val="01203C"/>
                          </a:solidFill>
                          <a:latin typeface="Microsoft YaHei"/>
                        </a:defRPr>
                      </a:pPr>
                      <a:r>
                        <a:t>临时苫盖</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576072">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高压洗车机</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bl>
          </a:graphicData>
        </a:graphic>
      </p:graphicFrame>
      <p:sp>
        <p:nvSpPr>
          <p:cNvPr id="7" name="TextBox 6"/>
          <p:cNvSpPr txBox="1"/>
          <p:nvPr/>
        </p:nvSpPr>
        <p:spPr>
          <a:xfrm>
            <a:off x="713232" y="4736592"/>
            <a:ext cx="4343400" cy="347472"/>
          </a:xfrm>
          <a:prstGeom prst="rect">
            <a:avLst/>
          </a:prstGeom>
          <a:noFill/>
        </p:spPr>
        <p:txBody>
          <a:bodyPr wrap="square">
            <a:noAutofit/>
          </a:bodyPr>
          <a:lstStyle/>
          <a:p>
            <a:pPr>
              <a:defRPr sz="1500" b="1">
                <a:solidFill>
                  <a:srgbClr val="4489C8"/>
                </a:solidFill>
                <a:latin typeface="Microsoft YaHei"/>
              </a:defRPr>
            </a:pPr>
            <a:r>
              <a:t>水土保持措施实施进度表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项目组成。</a:t>
            </a:r>
          </a:p>
          <a:p>
            <a:pPr>
              <a:spcAft>
                <a:spcPts val="400"/>
              </a:spcAft>
              <a:defRPr sz="1400">
                <a:solidFill>
                  <a:srgbClr val="01203C"/>
                </a:solidFill>
                <a:latin typeface="Microsoft YaHei"/>
              </a:defRPr>
            </a:pPr>
            <a:r>
              <a:t>报告列示数值：2025</a:t>
            </a:r>
          </a:p>
          <a:p>
            <a:pPr>
              <a:spcAft>
                <a:spcPts val="400"/>
              </a:spcAft>
              <a:defRPr sz="1400">
                <a:solidFill>
                  <a:srgbClr val="01203C"/>
                </a:solidFill>
                <a:latin typeface="Microsoft YaHei"/>
              </a:defRPr>
            </a:pPr>
            <a:r>
              <a:t>报告列示数值：2026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第07章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07</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投资概算、效益与管理验收</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说明投资构成、补偿费免征依据、防治效果达标情况及后续管理要求。</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水土保持估算总投资为 26.9211 万元</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28</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defRPr sz="1200" b="1">
                          <a:solidFill>
                            <a:srgbClr val="01203C"/>
                          </a:solidFill>
                          <a:latin typeface="Microsoft YaHei"/>
                        </a:defRPr>
                      </a:pPr>
                      <a:r>
                        <a:t>编号</a:t>
                      </a:r>
                    </a:p>
                  </a:txBody>
                  <a:tcPr marL="36576" marR="36576" marT="18288" marB="18288">
                    <a:solidFill>
                      <a:srgbClr val="EAF2F8"/>
                    </a:solidFill>
                  </a:tcPr>
                </a:tc>
                <a:tc>
                  <a:txBody>
                    <a:bodyPr/>
                    <a:lstStyle/>
                    <a:p>
                      <a:pPr>
                        <a:defRPr sz="1200" b="1">
                          <a:solidFill>
                            <a:srgbClr val="01203C"/>
                          </a:solidFill>
                          <a:latin typeface="Microsoft YaHei"/>
                        </a:defRPr>
                      </a:pPr>
                      <a:r>
                        <a:t>工程名称</a:t>
                      </a:r>
                    </a:p>
                  </a:txBody>
                  <a:tcPr marL="36576" marR="36576" marT="18288" marB="18288">
                    <a:solidFill>
                      <a:srgbClr val="EAF2F8"/>
                    </a:solidFill>
                  </a:tcPr>
                </a:tc>
                <a:tc>
                  <a:txBody>
                    <a:bodyPr/>
                    <a:lstStyle/>
                    <a:p>
                      <a:pPr>
                        <a:defRPr sz="1200" b="1">
                          <a:solidFill>
                            <a:srgbClr val="01203C"/>
                          </a:solidFill>
                          <a:latin typeface="Microsoft YaHei"/>
                        </a:defRPr>
                      </a:pPr>
                      <a:r>
                        <a:t>建安工程费</a:t>
                      </a:r>
                    </a:p>
                  </a:txBody>
                  <a:tcPr marL="36576" marR="36576" marT="18288" marB="18288">
                    <a:solidFill>
                      <a:srgbClr val="EAF2F8"/>
                    </a:solidFill>
                  </a:tcPr>
                </a:tc>
                <a:tc>
                  <a:txBody>
                    <a:bodyPr/>
                    <a:lstStyle/>
                    <a:p>
                      <a:pPr>
                        <a:defRPr sz="1200" b="1">
                          <a:solidFill>
                            <a:srgbClr val="01203C"/>
                          </a:solidFill>
                          <a:latin typeface="Microsoft YaHei"/>
                        </a:defRPr>
                      </a:pPr>
                      <a:r>
                        <a:t>植物措施费</a:t>
                      </a:r>
                    </a:p>
                  </a:txBody>
                  <a:tcPr marL="36576" marR="36576" marT="18288" marB="18288">
                    <a:solidFill>
                      <a:srgbClr val="EAF2F8"/>
                    </a:solidFill>
                  </a:tcPr>
                </a:tc>
              </a:tr>
              <a:tr h="659674">
                <a:tc>
                  <a:txBody>
                    <a:bodyPr/>
                    <a:lstStyle/>
                    <a:p>
                      <a:pPr>
                        <a:defRPr sz="1200">
                          <a:solidFill>
                            <a:srgbClr val="01203C"/>
                          </a:solidFill>
                          <a:latin typeface="Microsoft YaHei"/>
                        </a:defRPr>
                      </a:pPr>
                      <a:r>
                        <a:t>第一部分工程措施</a:t>
                      </a:r>
                    </a:p>
                  </a:txBody>
                  <a:tcPr marL="36576" marR="36576" marT="18288" marB="18288">
                    <a:solidFill>
                      <a:srgbClr val="FFFFFF"/>
                    </a:solidFill>
                  </a:tcPr>
                </a:tc>
                <a:tc>
                  <a:txBody>
                    <a:bodyPr/>
                    <a:lstStyle/>
                    <a:p>
                      <a:pPr>
                        <a:defRPr sz="1200">
                          <a:solidFill>
                            <a:srgbClr val="01203C"/>
                          </a:solidFill>
                          <a:latin typeface="Microsoft YaHei"/>
                        </a:defRPr>
                      </a:pPr>
                      <a:r>
                        <a:t>0.1827</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第二部分植物措施</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0.6185</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第三部分临时措施</a:t>
                      </a:r>
                    </a:p>
                  </a:txBody>
                  <a:tcPr marL="36576" marR="36576" marT="18288" marB="18288">
                    <a:solidFill>
                      <a:srgbClr val="FFFFFF"/>
                    </a:solidFill>
                  </a:tcPr>
                </a:tc>
                <a:tc>
                  <a:txBody>
                    <a:bodyPr/>
                    <a:lstStyle/>
                    <a:p>
                      <a:pPr>
                        <a:defRPr sz="1200">
                          <a:solidFill>
                            <a:srgbClr val="01203C"/>
                          </a:solidFill>
                          <a:latin typeface="Microsoft YaHei"/>
                        </a:defRPr>
                      </a:pPr>
                      <a:r>
                        <a:t>0.4253</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一至三部分合计</a:t>
                      </a:r>
                    </a:p>
                  </a:txBody>
                  <a:tcPr marL="36576" marR="36576" marT="18288" marB="18288">
                    <a:solidFill>
                      <a:srgbClr val="FFFFFF"/>
                    </a:solidFill>
                  </a:tcPr>
                </a:tc>
                <a:tc>
                  <a:txBody>
                    <a:bodyPr/>
                    <a:lstStyle/>
                    <a:p>
                      <a:pPr>
                        <a:defRPr sz="1200">
                          <a:solidFill>
                            <a:srgbClr val="01203C"/>
                          </a:solidFill>
                          <a:latin typeface="Microsoft YaHei"/>
                        </a:defRPr>
                      </a:pPr>
                      <a:r>
                        <a:t>0.6081</a:t>
                      </a:r>
                    </a:p>
                  </a:txBody>
                  <a:tcPr marL="36576" marR="36576" marT="18288" marB="18288">
                    <a:solidFill>
                      <a:srgbClr val="FFFFFF"/>
                    </a:solidFill>
                  </a:tcPr>
                </a:tc>
                <a:tc>
                  <a:txBody>
                    <a:bodyPr/>
                    <a:lstStyle/>
                    <a:p>
                      <a:pPr>
                        <a:defRPr sz="1200">
                          <a:solidFill>
                            <a:srgbClr val="01203C"/>
                          </a:solidFill>
                          <a:latin typeface="Microsoft YaHei"/>
                        </a:defRPr>
                      </a:pPr>
                      <a:r>
                        <a:t>0.6185</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659674">
                <a:tc>
                  <a:txBody>
                    <a:bodyPr/>
                    <a:lstStyle/>
                    <a:p>
                      <a:pPr>
                        <a:defRPr sz="1200">
                          <a:solidFill>
                            <a:srgbClr val="01203C"/>
                          </a:solidFill>
                          <a:latin typeface="Microsoft YaHei"/>
                        </a:defRPr>
                      </a:pPr>
                      <a:r>
                        <a:t>第四部分独立费用</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20.4968</a:t>
                      </a:r>
                    </a:p>
                  </a:txBody>
                  <a:tcPr marL="36576" marR="36576" marT="18288" marB="18288">
                    <a:solidFill>
                      <a:srgbClr val="FFFFFF"/>
                    </a:solidFill>
                  </a:tcPr>
                </a:tc>
              </a:tr>
              <a:tr h="659674">
                <a:tc>
                  <a:txBody>
                    <a:bodyPr/>
                    <a:lstStyle/>
                    <a:p>
                      <a:pPr>
                        <a:defRPr sz="1200">
                          <a:solidFill>
                            <a:srgbClr val="01203C"/>
                          </a:solidFill>
                          <a:latin typeface="Microsoft YaHei"/>
                        </a:defRPr>
                      </a:pPr>
                      <a:r>
                        <a:t>一至四部分合计</a:t>
                      </a:r>
                    </a:p>
                  </a:txBody>
                  <a:tcPr marL="36576" marR="36576" marT="18288" marB="18288">
                    <a:solidFill>
                      <a:srgbClr val="FFFFFF"/>
                    </a:solidFill>
                  </a:tcPr>
                </a:tc>
                <a:tc>
                  <a:txBody>
                    <a:bodyPr/>
                    <a:lstStyle/>
                    <a:p>
                      <a:pPr>
                        <a:defRPr sz="1200">
                          <a:solidFill>
                            <a:srgbClr val="01203C"/>
                          </a:solidFill>
                          <a:latin typeface="Microsoft YaHei"/>
                        </a:defRPr>
                      </a:pPr>
                      <a:r>
                        <a:t>0.6081</a:t>
                      </a:r>
                    </a:p>
                  </a:txBody>
                  <a:tcPr marL="36576" marR="36576" marT="18288" marB="18288">
                    <a:solidFill>
                      <a:srgbClr val="FFFFFF"/>
                    </a:solidFill>
                  </a:tcPr>
                </a:tc>
                <a:tc>
                  <a:txBody>
                    <a:bodyPr/>
                    <a:lstStyle/>
                    <a:p>
                      <a:pPr>
                        <a:defRPr sz="1200">
                          <a:solidFill>
                            <a:srgbClr val="01203C"/>
                          </a:solidFill>
                          <a:latin typeface="Microsoft YaHei"/>
                        </a:defRPr>
                      </a:pPr>
                      <a:r>
                        <a:t>0.6185</a:t>
                      </a:r>
                    </a:p>
                  </a:txBody>
                  <a:tcPr marL="36576" marR="36576" marT="18288" marB="18288">
                    <a:solidFill>
                      <a:srgbClr val="FFFFFF"/>
                    </a:solidFill>
                  </a:tcPr>
                </a:tc>
                <a:tc>
                  <a:txBody>
                    <a:bodyPr/>
                    <a:lstStyle/>
                    <a:p>
                      <a:pPr>
                        <a:defRPr sz="1200">
                          <a:solidFill>
                            <a:srgbClr val="01203C"/>
                          </a:solidFill>
                          <a:latin typeface="Microsoft YaHei"/>
                        </a:defRPr>
                      </a:pPr>
                      <a:r>
                        <a:t>20.4968</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本项目水土保持估算总表 单位：万元</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编号。</a:t>
            </a:r>
          </a:p>
          <a:p>
            <a:pPr>
              <a:spcAft>
                <a:spcPts val="400"/>
              </a:spcAft>
              <a:defRPr sz="1400">
                <a:solidFill>
                  <a:srgbClr val="01203C"/>
                </a:solidFill>
                <a:latin typeface="Microsoft YaHei"/>
              </a:defRPr>
            </a:pPr>
            <a:r>
              <a:t>报告列示数值：0.1827</a:t>
            </a:r>
          </a:p>
          <a:p>
            <a:pPr>
              <a:spcAft>
                <a:spcPts val="400"/>
              </a:spcAft>
              <a:defRPr sz="1400">
                <a:solidFill>
                  <a:srgbClr val="01203C"/>
                </a:solidFill>
                <a:latin typeface="Microsoft YaHei"/>
              </a:defRPr>
            </a:pPr>
            <a:r>
              <a:t>报告列示数值：0.1631</a:t>
            </a:r>
          </a:p>
          <a:p>
            <a:pPr>
              <a:spcAft>
                <a:spcPts val="400"/>
              </a:spcAft>
              <a:defRPr sz="1400">
                <a:solidFill>
                  <a:srgbClr val="01203C"/>
                </a:solidFill>
                <a:latin typeface="Microsoft YaHei"/>
              </a:defRPr>
            </a:pPr>
            <a:r>
              <a:t>报告列示数值：0.0196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工程、植物、临时和独立费用共同构成新增投资</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40" cy="3456432"/>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576072">
                <a:tc>
                  <a:txBody>
                    <a:bodyPr/>
                    <a:lstStyle/>
                    <a:p>
                      <a:pPr>
                        <a:defRPr sz="1200" b="1">
                          <a:solidFill>
                            <a:srgbClr val="01203C"/>
                          </a:solidFill>
                          <a:latin typeface="Microsoft YaHei"/>
                        </a:defRPr>
                      </a:pPr>
                      <a:r>
                        <a:t>项目区或措施名称</a:t>
                      </a:r>
                    </a:p>
                  </a:txBody>
                  <a:tcPr marL="36576" marR="36576" marT="18288" marB="18288">
                    <a:solidFill>
                      <a:srgbClr val="EAF2F8"/>
                    </a:solidFill>
                  </a:tcPr>
                </a:tc>
                <a:tc>
                  <a:txBody>
                    <a:bodyPr/>
                    <a:lstStyle/>
                    <a:p>
                      <a:pPr>
                        <a:defRPr sz="1200" b="1">
                          <a:solidFill>
                            <a:srgbClr val="01203C"/>
                          </a:solidFill>
                          <a:latin typeface="Microsoft YaHei"/>
                        </a:defRPr>
                      </a:pPr>
                      <a:r>
                        <a:t>单位</a:t>
                      </a:r>
                    </a:p>
                  </a:txBody>
                  <a:tcPr marL="36576" marR="36576" marT="18288" marB="18288">
                    <a:solidFill>
                      <a:srgbClr val="EAF2F8"/>
                    </a:solidFill>
                  </a:tcPr>
                </a:tc>
                <a:tc>
                  <a:txBody>
                    <a:bodyPr/>
                    <a:lstStyle/>
                    <a:p>
                      <a:pPr>
                        <a:defRPr sz="1200" b="1">
                          <a:solidFill>
                            <a:srgbClr val="01203C"/>
                          </a:solidFill>
                          <a:latin typeface="Microsoft YaHei"/>
                        </a:defRPr>
                      </a:pPr>
                      <a:r>
                        <a:t>数量</a:t>
                      </a:r>
                    </a:p>
                  </a:txBody>
                  <a:tcPr marL="36576" marR="36576" marT="18288" marB="18288">
                    <a:solidFill>
                      <a:srgbClr val="EAF2F8"/>
                    </a:solidFill>
                  </a:tcPr>
                </a:tc>
                <a:tc>
                  <a:txBody>
                    <a:bodyPr/>
                    <a:lstStyle/>
                    <a:p>
                      <a:pPr>
                        <a:defRPr sz="1200" b="1">
                          <a:solidFill>
                            <a:srgbClr val="01203C"/>
                          </a:solidFill>
                          <a:latin typeface="Microsoft YaHei"/>
                        </a:defRPr>
                      </a:pPr>
                      <a:r>
                        <a:t>单价（元）</a:t>
                      </a:r>
                    </a:p>
                  </a:txBody>
                  <a:tcPr marL="36576" marR="36576" marT="18288" marB="18288">
                    <a:solidFill>
                      <a:srgbClr val="EAF2F8"/>
                    </a:solidFill>
                  </a:tcPr>
                </a:tc>
                <a:tc>
                  <a:txBody>
                    <a:bodyPr/>
                    <a:lstStyle/>
                    <a:p>
                      <a:pPr>
                        <a:defRPr sz="1200" b="1">
                          <a:solidFill>
                            <a:srgbClr val="01203C"/>
                          </a:solidFill>
                          <a:latin typeface="Microsoft YaHei"/>
                        </a:defRPr>
                      </a:pPr>
                      <a:r>
                        <a:t>合计（万元）</a:t>
                      </a:r>
                    </a:p>
                  </a:txBody>
                  <a:tcPr marL="36576" marR="36576" marT="18288" marB="18288">
                    <a:solidFill>
                      <a:srgbClr val="EAF2F8"/>
                    </a:solidFill>
                  </a:tcPr>
                </a:tc>
              </a:tr>
              <a:tr h="576072">
                <a:tc>
                  <a:txBody>
                    <a:bodyPr/>
                    <a:lstStyle/>
                    <a:p>
                      <a:pPr>
                        <a:defRPr sz="1200">
                          <a:solidFill>
                            <a:srgbClr val="01203C"/>
                          </a:solidFill>
                          <a:latin typeface="Microsoft YaHei"/>
                        </a:defRPr>
                      </a:pPr>
                      <a:r>
                        <a:t>序号</a:t>
                      </a:r>
                    </a:p>
                  </a:txBody>
                  <a:tcPr marL="36576" marR="36576" marT="18288" marB="18288">
                    <a:solidFill>
                      <a:srgbClr val="FFFFFF"/>
                    </a:solidFill>
                  </a:tcPr>
                </a:tc>
                <a:tc>
                  <a:txBody>
                    <a:bodyPr/>
                    <a:lstStyle/>
                    <a:p>
                      <a:pPr>
                        <a:defRPr sz="1200">
                          <a:solidFill>
                            <a:srgbClr val="01203C"/>
                          </a:solidFill>
                          <a:latin typeface="Microsoft YaHei"/>
                        </a:defRPr>
                      </a:pPr>
                      <a:r>
                        <a:t>第一部分 工程措施</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0.1827</a:t>
                      </a:r>
                    </a:p>
                  </a:txBody>
                  <a:tcPr marL="36576" marR="36576" marT="18288" marB="18288">
                    <a:solidFill>
                      <a:srgbClr val="FFFFFF"/>
                    </a:solidFill>
                  </a:tcPr>
                </a:tc>
              </a:tr>
              <a:tr h="576072">
                <a:tc>
                  <a:txBody>
                    <a:bodyPr/>
                    <a:lstStyle/>
                    <a:p>
                      <a:pPr>
                        <a:defRPr sz="1200">
                          <a:solidFill>
                            <a:srgbClr val="01203C"/>
                          </a:solidFill>
                          <a:latin typeface="Microsoft YaHei"/>
                        </a:defRPr>
                      </a:pPr>
                      <a:r>
                        <a:t>（一）</a:t>
                      </a:r>
                    </a:p>
                  </a:txBody>
                  <a:tcPr marL="36576" marR="36576" marT="18288" marB="18288">
                    <a:solidFill>
                      <a:srgbClr val="FFFFFF"/>
                    </a:solidFill>
                  </a:tcPr>
                </a:tc>
                <a:tc>
                  <a:txBody>
                    <a:bodyPr/>
                    <a:lstStyle/>
                    <a:p>
                      <a:pPr>
                        <a:defRPr sz="1200">
                          <a:solidFill>
                            <a:srgbClr val="01203C"/>
                          </a:solidFill>
                          <a:latin typeface="Microsoft YaHei"/>
                        </a:defRPr>
                      </a:pPr>
                      <a:r>
                        <a:t>管网工程区</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0.1827</a:t>
                      </a:r>
                    </a:p>
                  </a:txBody>
                  <a:tcPr marL="36576" marR="36576" marT="18288" marB="18288">
                    <a:solidFill>
                      <a:srgbClr val="FFFFFF"/>
                    </a:solidFill>
                  </a:tcPr>
                </a:tc>
              </a:tr>
              <a:tr h="576072">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表土剥离</a:t>
                      </a:r>
                    </a:p>
                  </a:txBody>
                  <a:tcPr marL="36576" marR="36576" marT="18288" marB="18288">
                    <a:solidFill>
                      <a:srgbClr val="FFFFFF"/>
                    </a:solidFill>
                  </a:tcPr>
                </a:tc>
                <a:tc>
                  <a:txBody>
                    <a:bodyPr/>
                    <a:lstStyle/>
                    <a:p>
                      <a:pPr>
                        <a:defRPr sz="1200">
                          <a:solidFill>
                            <a:srgbClr val="01203C"/>
                          </a:solidFill>
                          <a:latin typeface="Microsoft YaHei"/>
                        </a:defRPr>
                      </a:pPr>
                      <a:r>
                        <a:t>m³</a:t>
                      </a:r>
                    </a:p>
                  </a:txBody>
                  <a:tcPr marL="36576" marR="36576" marT="18288" marB="18288">
                    <a:solidFill>
                      <a:srgbClr val="FFFFFF"/>
                    </a:solidFill>
                  </a:tcPr>
                </a:tc>
                <a:tc>
                  <a:txBody>
                    <a:bodyPr/>
                    <a:lstStyle/>
                    <a:p>
                      <a:pPr>
                        <a:defRPr sz="1200">
                          <a:solidFill>
                            <a:srgbClr val="01203C"/>
                          </a:solidFill>
                          <a:latin typeface="Microsoft YaHei"/>
                        </a:defRPr>
                      </a:pPr>
                      <a:r>
                        <a:t>79.5</a:t>
                      </a:r>
                    </a:p>
                  </a:txBody>
                  <a:tcPr marL="36576" marR="36576" marT="18288" marB="18288">
                    <a:solidFill>
                      <a:srgbClr val="FFFFFF"/>
                    </a:solidFill>
                  </a:tcPr>
                </a:tc>
                <a:tc>
                  <a:txBody>
                    <a:bodyPr/>
                    <a:lstStyle/>
                    <a:p>
                      <a:pPr>
                        <a:defRPr sz="1200">
                          <a:solidFill>
                            <a:srgbClr val="01203C"/>
                          </a:solidFill>
                          <a:latin typeface="Microsoft YaHei"/>
                        </a:defRPr>
                      </a:pPr>
                      <a:r>
                        <a:t>11.68</a:t>
                      </a:r>
                    </a:p>
                  </a:txBody>
                  <a:tcPr marL="36576" marR="36576" marT="18288" marB="18288">
                    <a:solidFill>
                      <a:srgbClr val="FFFFFF"/>
                    </a:solidFill>
                  </a:tcPr>
                </a:tc>
              </a:tr>
              <a:tr h="576072">
                <a:tc>
                  <a:txBody>
                    <a:bodyPr/>
                    <a:lstStyle/>
                    <a:p>
                      <a:pPr>
                        <a:defRPr sz="1200">
                          <a:solidFill>
                            <a:srgbClr val="01203C"/>
                          </a:solidFill>
                          <a:latin typeface="Microsoft YaHei"/>
                        </a:defRPr>
                      </a:pPr>
                      <a:r>
                        <a:t>2</a:t>
                      </a:r>
                    </a:p>
                  </a:txBody>
                  <a:tcPr marL="36576" marR="36576" marT="18288" marB="18288">
                    <a:solidFill>
                      <a:srgbClr val="FFFFFF"/>
                    </a:solidFill>
                  </a:tcPr>
                </a:tc>
                <a:tc>
                  <a:txBody>
                    <a:bodyPr/>
                    <a:lstStyle/>
                    <a:p>
                      <a:pPr>
                        <a:defRPr sz="1200">
                          <a:solidFill>
                            <a:srgbClr val="01203C"/>
                          </a:solidFill>
                          <a:latin typeface="Microsoft YaHei"/>
                        </a:defRPr>
                      </a:pPr>
                      <a:r>
                        <a:t>表土回覆</a:t>
                      </a:r>
                    </a:p>
                  </a:txBody>
                  <a:tcPr marL="36576" marR="36576" marT="18288" marB="18288">
                    <a:solidFill>
                      <a:srgbClr val="FFFFFF"/>
                    </a:solidFill>
                  </a:tcPr>
                </a:tc>
                <a:tc>
                  <a:txBody>
                    <a:bodyPr/>
                    <a:lstStyle/>
                    <a:p>
                      <a:pPr>
                        <a:defRPr sz="1200">
                          <a:solidFill>
                            <a:srgbClr val="01203C"/>
                          </a:solidFill>
                          <a:latin typeface="Microsoft YaHei"/>
                        </a:defRPr>
                      </a:pPr>
                      <a:r>
                        <a:t>m³</a:t>
                      </a:r>
                    </a:p>
                  </a:txBody>
                  <a:tcPr marL="36576" marR="36576" marT="18288" marB="18288">
                    <a:solidFill>
                      <a:srgbClr val="FFFFFF"/>
                    </a:solidFill>
                  </a:tcPr>
                </a:tc>
                <a:tc>
                  <a:txBody>
                    <a:bodyPr/>
                    <a:lstStyle/>
                    <a:p>
                      <a:pPr>
                        <a:defRPr sz="1200">
                          <a:solidFill>
                            <a:srgbClr val="01203C"/>
                          </a:solidFill>
                          <a:latin typeface="Microsoft YaHei"/>
                        </a:defRPr>
                      </a:pPr>
                      <a:r>
                        <a:t>79.5</a:t>
                      </a:r>
                    </a:p>
                  </a:txBody>
                  <a:tcPr marL="36576" marR="36576" marT="18288" marB="18288">
                    <a:solidFill>
                      <a:srgbClr val="FFFFFF"/>
                    </a:solidFill>
                  </a:tcPr>
                </a:tc>
                <a:tc>
                  <a:txBody>
                    <a:bodyPr/>
                    <a:lstStyle/>
                    <a:p>
                      <a:pPr>
                        <a:defRPr sz="1200">
                          <a:solidFill>
                            <a:srgbClr val="01203C"/>
                          </a:solidFill>
                          <a:latin typeface="Microsoft YaHei"/>
                        </a:defRPr>
                      </a:pPr>
                      <a:r>
                        <a:t>8.84</a:t>
                      </a:r>
                    </a:p>
                  </a:txBody>
                  <a:tcPr marL="36576" marR="36576" marT="18288" marB="18288">
                    <a:solidFill>
                      <a:srgbClr val="FFFFFF"/>
                    </a:solidFill>
                  </a:tcPr>
                </a:tc>
              </a:tr>
              <a:tr h="576072">
                <a:tc>
                  <a:txBody>
                    <a:bodyPr/>
                    <a:lstStyle/>
                    <a:p>
                      <a:pPr>
                        <a:defRPr sz="1200">
                          <a:solidFill>
                            <a:srgbClr val="01203C"/>
                          </a:solidFill>
                          <a:latin typeface="Microsoft YaHei"/>
                        </a:defRPr>
                      </a:pPr>
                      <a:r>
                        <a:t>3</a:t>
                      </a:r>
                    </a:p>
                  </a:txBody>
                  <a:tcPr marL="36576" marR="36576" marT="18288" marB="18288">
                    <a:solidFill>
                      <a:srgbClr val="FFFFFF"/>
                    </a:solidFill>
                  </a:tcPr>
                </a:tc>
                <a:tc>
                  <a:txBody>
                    <a:bodyPr/>
                    <a:lstStyle/>
                    <a:p>
                      <a:pPr>
                        <a:defRPr sz="1200">
                          <a:solidFill>
                            <a:srgbClr val="01203C"/>
                          </a:solidFill>
                          <a:latin typeface="Microsoft YaHei"/>
                        </a:defRPr>
                      </a:pPr>
                      <a:r>
                        <a:t>土地整治</a:t>
                      </a:r>
                    </a:p>
                  </a:txBody>
                  <a:tcPr marL="36576" marR="36576" marT="18288" marB="18288">
                    <a:solidFill>
                      <a:srgbClr val="FFFFFF"/>
                    </a:solidFill>
                  </a:tcPr>
                </a:tc>
                <a:tc>
                  <a:txBody>
                    <a:bodyPr/>
                    <a:lstStyle/>
                    <a:p>
                      <a:pPr>
                        <a:defRPr sz="1200">
                          <a:solidFill>
                            <a:srgbClr val="01203C"/>
                          </a:solidFill>
                          <a:latin typeface="Microsoft YaHei"/>
                        </a:defRPr>
                      </a:pPr>
                      <a:r>
                        <a:t>m²</a:t>
                      </a:r>
                    </a:p>
                  </a:txBody>
                  <a:tcPr marL="36576" marR="36576" marT="18288" marB="18288">
                    <a:solidFill>
                      <a:srgbClr val="FFFFFF"/>
                    </a:solidFill>
                  </a:tcPr>
                </a:tc>
                <a:tc>
                  <a:txBody>
                    <a:bodyPr/>
                    <a:lstStyle/>
                    <a:p>
                      <a:pPr>
                        <a:defRPr sz="1200">
                          <a:solidFill>
                            <a:srgbClr val="01203C"/>
                          </a:solidFill>
                          <a:latin typeface="Microsoft YaHei"/>
                        </a:defRPr>
                      </a:pPr>
                      <a:r>
                        <a:t>265</a:t>
                      </a:r>
                    </a:p>
                  </a:txBody>
                  <a:tcPr marL="36576" marR="36576" marT="18288" marB="18288">
                    <a:solidFill>
                      <a:srgbClr val="FFFFFF"/>
                    </a:solidFill>
                  </a:tcPr>
                </a:tc>
                <a:tc>
                  <a:txBody>
                    <a:bodyPr/>
                    <a:lstStyle/>
                    <a:p>
                      <a:pPr>
                        <a:defRPr sz="1200">
                          <a:solidFill>
                            <a:srgbClr val="01203C"/>
                          </a:solidFill>
                          <a:latin typeface="Microsoft YaHei"/>
                        </a:defRPr>
                      </a:pPr>
                      <a:r>
                        <a:t>0.74</a:t>
                      </a:r>
                    </a:p>
                  </a:txBody>
                  <a:tcPr marL="36576" marR="36576" marT="18288" marB="18288">
                    <a:solidFill>
                      <a:srgbClr val="FFFFFF"/>
                    </a:solidFill>
                  </a:tcPr>
                </a:tc>
              </a:tr>
            </a:tbl>
          </a:graphicData>
        </a:graphic>
      </p:graphicFrame>
      <p:sp>
        <p:nvSpPr>
          <p:cNvPr id="7" name="TextBox 6"/>
          <p:cNvSpPr txBox="1"/>
          <p:nvPr/>
        </p:nvSpPr>
        <p:spPr>
          <a:xfrm>
            <a:off x="713232" y="4736592"/>
            <a:ext cx="4343400" cy="347472"/>
          </a:xfrm>
          <a:prstGeom prst="rect">
            <a:avLst/>
          </a:prstGeom>
          <a:noFill/>
        </p:spPr>
        <p:txBody>
          <a:bodyPr wrap="square">
            <a:noAutofit/>
          </a:bodyPr>
          <a:lstStyle/>
          <a:p>
            <a:pPr>
              <a:defRPr sz="1500" b="1">
                <a:solidFill>
                  <a:srgbClr val="4489C8"/>
                </a:solidFill>
                <a:latin typeface="Microsoft YaHei"/>
              </a:defRPr>
            </a:pPr>
            <a:r>
              <a:t>本方案工程措施估算表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项目区或措施名称。</a:t>
            </a:r>
          </a:p>
          <a:p>
            <a:pPr>
              <a:spcAft>
                <a:spcPts val="400"/>
              </a:spcAft>
              <a:defRPr sz="1400">
                <a:solidFill>
                  <a:srgbClr val="01203C"/>
                </a:solidFill>
                <a:latin typeface="Microsoft YaHei"/>
              </a:defRPr>
            </a:pPr>
            <a:r>
              <a:t>报告列示数值：0.1827</a:t>
            </a:r>
          </a:p>
          <a:p>
            <a:pPr>
              <a:spcAft>
                <a:spcPts val="400"/>
              </a:spcAft>
              <a:defRPr sz="1400">
                <a:solidFill>
                  <a:srgbClr val="01203C"/>
                </a:solidFill>
                <a:latin typeface="Microsoft YaHei"/>
              </a:defRPr>
            </a:pPr>
            <a:r>
              <a:t>报告列示数值：1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水土保持补偿费 51624 元符合免征情形</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defRPr sz="1200" b="1">
                          <a:solidFill>
                            <a:srgbClr val="01203C"/>
                          </a:solidFill>
                          <a:latin typeface="Microsoft YaHei"/>
                        </a:defRPr>
                      </a:pPr>
                      <a:r>
                        <a:t>序号</a:t>
                      </a:r>
                    </a:p>
                  </a:txBody>
                  <a:tcPr marL="36576" marR="36576" marT="18288" marB="18288">
                    <a:solidFill>
                      <a:srgbClr val="EAF2F8"/>
                    </a:solidFill>
                  </a:tcPr>
                </a:tc>
                <a:tc>
                  <a:txBody>
                    <a:bodyPr/>
                    <a:lstStyle/>
                    <a:p>
                      <a:pPr>
                        <a:defRPr sz="1200" b="1">
                          <a:solidFill>
                            <a:srgbClr val="01203C"/>
                          </a:solidFill>
                          <a:latin typeface="Microsoft YaHei"/>
                        </a:defRPr>
                      </a:pPr>
                      <a:r>
                        <a:t>行政区</a:t>
                      </a:r>
                    </a:p>
                  </a:txBody>
                  <a:tcPr marL="36576" marR="36576" marT="18288" marB="18288">
                    <a:solidFill>
                      <a:srgbClr val="EAF2F8"/>
                    </a:solidFill>
                  </a:tcPr>
                </a:tc>
                <a:tc>
                  <a:txBody>
                    <a:bodyPr/>
                    <a:lstStyle/>
                    <a:p>
                      <a:pPr>
                        <a:defRPr sz="1200" b="1">
                          <a:solidFill>
                            <a:srgbClr val="01203C"/>
                          </a:solidFill>
                          <a:latin typeface="Microsoft YaHei"/>
                        </a:defRPr>
                      </a:pPr>
                      <a:r>
                        <a:t>征占地面积（ hm² ）</a:t>
                      </a:r>
                    </a:p>
                  </a:txBody>
                  <a:tcPr marL="36576" marR="36576" marT="18288" marB="18288">
                    <a:solidFill>
                      <a:srgbClr val="EAF2F8"/>
                    </a:solidFill>
                  </a:tcPr>
                </a:tc>
                <a:tc>
                  <a:txBody>
                    <a:bodyPr/>
                    <a:lstStyle/>
                    <a:p>
                      <a:pPr>
                        <a:defRPr sz="1200" b="1">
                          <a:solidFill>
                            <a:srgbClr val="01203C"/>
                          </a:solidFill>
                          <a:latin typeface="Microsoft YaHei"/>
                        </a:defRPr>
                      </a:pPr>
                      <a:r>
                        <a:t>征占地面积（ m² ）</a:t>
                      </a:r>
                    </a:p>
                  </a:txBody>
                  <a:tcPr marL="36576" marR="36576" marT="18288" marB="18288">
                    <a:solidFill>
                      <a:srgbClr val="EAF2F8"/>
                    </a:solidFill>
                  </a:tcPr>
                </a:tc>
              </a:tr>
              <a:tr h="1539240">
                <a:tc>
                  <a:txBody>
                    <a:bodyPr/>
                    <a:lstStyle/>
                    <a:p>
                      <a:pPr>
                        <a:defRPr sz="1200">
                          <a:solidFill>
                            <a:srgbClr val="01203C"/>
                          </a:solidFill>
                          <a:latin typeface="Microsoft YaHei"/>
                        </a:defRPr>
                      </a:pPr>
                      <a:r>
                        <a:t>1</a:t>
                      </a:r>
                    </a:p>
                  </a:txBody>
                  <a:tcPr marL="36576" marR="36576" marT="18288" marB="18288">
                    <a:solidFill>
                      <a:srgbClr val="FFFFFF"/>
                    </a:solidFill>
                  </a:tcPr>
                </a:tc>
                <a:tc>
                  <a:txBody>
                    <a:bodyPr/>
                    <a:lstStyle/>
                    <a:p>
                      <a:pPr>
                        <a:defRPr sz="1200">
                          <a:solidFill>
                            <a:srgbClr val="01203C"/>
                          </a:solidFill>
                          <a:latin typeface="Microsoft YaHei"/>
                        </a:defRPr>
                      </a:pPr>
                      <a:r>
                        <a:t>黄冈市黄州区</a:t>
                      </a:r>
                    </a:p>
                  </a:txBody>
                  <a:tcPr marL="36576" marR="36576" marT="18288" marB="18288">
                    <a:solidFill>
                      <a:srgbClr val="FFFFFF"/>
                    </a:solidFill>
                  </a:tcPr>
                </a:tc>
                <a:tc>
                  <a:txBody>
                    <a:bodyPr/>
                    <a:lstStyle/>
                    <a:p>
                      <a:pPr>
                        <a:defRPr sz="1200">
                          <a:solidFill>
                            <a:srgbClr val="01203C"/>
                          </a:solidFill>
                          <a:latin typeface="Microsoft YaHei"/>
                        </a:defRPr>
                      </a:pPr>
                      <a:r>
                        <a:t>3.4416</a:t>
                      </a:r>
                    </a:p>
                  </a:txBody>
                  <a:tcPr marL="36576" marR="36576" marT="18288" marB="18288">
                    <a:solidFill>
                      <a:srgbClr val="FFFFFF"/>
                    </a:solidFill>
                  </a:tcPr>
                </a:tc>
                <a:tc>
                  <a:txBody>
                    <a:bodyPr/>
                    <a:lstStyle/>
                    <a:p>
                      <a:pPr>
                        <a:defRPr sz="1200">
                          <a:solidFill>
                            <a:srgbClr val="01203C"/>
                          </a:solidFill>
                          <a:latin typeface="Microsoft YaHei"/>
                        </a:defRPr>
                      </a:pPr>
                      <a:r>
                        <a:t>34416</a:t>
                      </a:r>
                    </a:p>
                  </a:txBody>
                  <a:tcPr marL="36576" marR="36576" marT="18288" marB="18288">
                    <a:solidFill>
                      <a:srgbClr val="FFFFFF"/>
                    </a:solidFill>
                  </a:tcPr>
                </a:tc>
              </a:tr>
              <a:tr h="1539240">
                <a:tc>
                  <a:txBody>
                    <a:bodyPr/>
                    <a:lstStyle/>
                    <a:p>
                      <a:pPr>
                        <a:defRPr sz="1200">
                          <a:solidFill>
                            <a:srgbClr val="01203C"/>
                          </a:solidFill>
                          <a:latin typeface="Microsoft YaHei"/>
                        </a:defRPr>
                      </a:pPr>
                      <a:r>
                        <a:t>根据《财政部国家发展改革委水利部中国人民银行关于印发〈水土保持</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水土保持补偿费计算表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序号。</a:t>
            </a:r>
          </a:p>
          <a:p>
            <a:pPr>
              <a:spcAft>
                <a:spcPts val="400"/>
              </a:spcAft>
              <a:defRPr sz="1400">
                <a:solidFill>
                  <a:srgbClr val="01203C"/>
                </a:solidFill>
                <a:latin typeface="Microsoft YaHei"/>
              </a:defRPr>
            </a:pPr>
            <a:r>
              <a:t>报告列示数值：1</a:t>
            </a:r>
          </a:p>
          <a:p>
            <a:pPr>
              <a:spcAft>
                <a:spcPts val="400"/>
              </a:spcAft>
              <a:defRPr sz="1400">
                <a:solidFill>
                  <a:srgbClr val="01203C"/>
                </a:solidFill>
                <a:latin typeface="Microsoft YaHei"/>
              </a:defRPr>
            </a:pPr>
            <a:r>
              <a:t>报告列示数值：3.4416</a:t>
            </a:r>
          </a:p>
          <a:p>
            <a:pPr>
              <a:spcAft>
                <a:spcPts val="400"/>
              </a:spcAft>
              <a:defRPr sz="1400">
                <a:solidFill>
                  <a:srgbClr val="01203C"/>
                </a:solidFill>
                <a:latin typeface="Microsoft YaHei"/>
              </a:defRPr>
            </a:pPr>
            <a:r>
              <a:t>报告列示数值：34416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六项防治效果达到或高于目标值</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31</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154430">
                <a:tc>
                  <a:txBody>
                    <a:bodyPr/>
                    <a:lstStyle/>
                    <a:p>
                      <a:pPr>
                        <a:defRPr sz="1200" b="1">
                          <a:solidFill>
                            <a:srgbClr val="01203C"/>
                          </a:solidFill>
                          <a:latin typeface="Microsoft YaHei"/>
                        </a:defRPr>
                      </a:pPr>
                      <a:r>
                        <a:t>评估指标</a:t>
                      </a:r>
                    </a:p>
                  </a:txBody>
                  <a:tcPr marL="36576" marR="36576" marT="18288" marB="18288">
                    <a:solidFill>
                      <a:srgbClr val="EAF2F8"/>
                    </a:solidFill>
                  </a:tcPr>
                </a:tc>
                <a:tc>
                  <a:txBody>
                    <a:bodyPr/>
                    <a:lstStyle/>
                    <a:p>
                      <a:pPr>
                        <a:defRPr sz="1200" b="1">
                          <a:solidFill>
                            <a:srgbClr val="01203C"/>
                          </a:solidFill>
                          <a:latin typeface="Microsoft YaHei"/>
                        </a:defRPr>
                      </a:pPr>
                      <a:r>
                        <a:t>目标值</a:t>
                      </a:r>
                    </a:p>
                  </a:txBody>
                  <a:tcPr marL="36576" marR="36576" marT="18288" marB="18288">
                    <a:solidFill>
                      <a:srgbClr val="EAF2F8"/>
                    </a:solidFill>
                  </a:tcPr>
                </a:tc>
                <a:tc>
                  <a:txBody>
                    <a:bodyPr/>
                    <a:lstStyle/>
                    <a:p>
                      <a:pPr>
                        <a:defRPr sz="1200" b="1">
                          <a:solidFill>
                            <a:srgbClr val="01203C"/>
                          </a:solidFill>
                          <a:latin typeface="Microsoft YaHei"/>
                        </a:defRPr>
                      </a:pPr>
                      <a:r>
                        <a:t>评估依据</a:t>
                      </a:r>
                    </a:p>
                  </a:txBody>
                  <a:tcPr marL="36576" marR="36576" marT="18288" marB="18288">
                    <a:solidFill>
                      <a:srgbClr val="EAF2F8"/>
                    </a:solidFill>
                  </a:tcPr>
                </a:tc>
                <a:tc>
                  <a:txBody>
                    <a:bodyPr/>
                    <a:lstStyle/>
                    <a:p>
                      <a:pPr>
                        <a:defRPr sz="1200" b="1">
                          <a:solidFill>
                            <a:srgbClr val="01203C"/>
                          </a:solidFill>
                          <a:latin typeface="Microsoft YaHei"/>
                        </a:defRPr>
                      </a:pPr>
                      <a:r>
                        <a:t>单位</a:t>
                      </a:r>
                    </a:p>
                  </a:txBody>
                  <a:tcPr marL="36576" marR="36576" marT="18288" marB="18288">
                    <a:solidFill>
                      <a:srgbClr val="EAF2F8"/>
                    </a:solidFill>
                  </a:tcPr>
                </a:tc>
              </a:tr>
              <a:tr h="1154430">
                <a:tc>
                  <a:txBody>
                    <a:bodyPr/>
                    <a:lstStyle/>
                    <a:p>
                      <a:pPr>
                        <a:defRPr sz="1200">
                          <a:solidFill>
                            <a:srgbClr val="01203C"/>
                          </a:solidFill>
                          <a:latin typeface="Microsoft YaHei"/>
                        </a:defRPr>
                      </a:pPr>
                      <a:r>
                        <a:t>渣土防护率</a:t>
                      </a:r>
                    </a:p>
                  </a:txBody>
                  <a:tcPr marL="36576" marR="36576" marT="18288" marB="18288">
                    <a:solidFill>
                      <a:srgbClr val="FFFFFF"/>
                    </a:solidFill>
                  </a:tcPr>
                </a:tc>
                <a:tc>
                  <a:txBody>
                    <a:bodyPr/>
                    <a:lstStyle/>
                    <a:p>
                      <a:pPr>
                        <a:defRPr sz="1200">
                          <a:solidFill>
                            <a:srgbClr val="01203C"/>
                          </a:solidFill>
                          <a:latin typeface="Microsoft YaHei"/>
                        </a:defRPr>
                      </a:pPr>
                      <a:r>
                        <a:t>97 %</a:t>
                      </a:r>
                    </a:p>
                  </a:txBody>
                  <a:tcPr marL="36576" marR="36576" marT="18288" marB="18288">
                    <a:solidFill>
                      <a:srgbClr val="FFFFFF"/>
                    </a:solidFill>
                  </a:tcPr>
                </a:tc>
                <a:tc>
                  <a:txBody>
                    <a:bodyPr/>
                    <a:lstStyle/>
                    <a:p>
                      <a:pPr>
                        <a:defRPr sz="1200">
                          <a:solidFill>
                            <a:srgbClr val="01203C"/>
                          </a:solidFill>
                          <a:latin typeface="Microsoft YaHei"/>
                        </a:defRPr>
                      </a:pPr>
                      <a:r>
                        <a:t>采取措施实际挡护永久弃渣、临时堆土数量</a:t>
                      </a:r>
                    </a:p>
                  </a:txBody>
                  <a:tcPr marL="36576" marR="36576" marT="18288" marB="18288">
                    <a:solidFill>
                      <a:srgbClr val="FFFFFF"/>
                    </a:solidFill>
                  </a:tcPr>
                </a:tc>
                <a:tc>
                  <a:txBody>
                    <a:bodyPr/>
                    <a:lstStyle/>
                    <a:p>
                      <a:pPr>
                        <a:defRPr sz="1200">
                          <a:solidFill>
                            <a:srgbClr val="01203C"/>
                          </a:solidFill>
                          <a:latin typeface="Microsoft YaHei"/>
                        </a:defRPr>
                      </a:pPr>
                      <a:r>
                        <a:t>万m³</a:t>
                      </a:r>
                    </a:p>
                  </a:txBody>
                  <a:tcPr marL="36576" marR="36576" marT="18288" marB="18288">
                    <a:solidFill>
                      <a:srgbClr val="FFFFFF"/>
                    </a:solidFill>
                  </a:tcPr>
                </a:tc>
              </a:tr>
              <a:tr h="1154430">
                <a:tc>
                  <a:txBody>
                    <a:bodyPr/>
                    <a:lstStyle/>
                    <a:p>
                      <a:pPr>
                        <a:defRPr sz="1200">
                          <a:solidFill>
                            <a:srgbClr val="01203C"/>
                          </a:solidFill>
                          <a:latin typeface="Microsoft YaHei"/>
                        </a:defRPr>
                      </a:pPr>
                      <a:r>
                        <a:t>表土保护率</a:t>
                      </a:r>
                    </a:p>
                  </a:txBody>
                  <a:tcPr marL="36576" marR="36576" marT="18288" marB="18288">
                    <a:solidFill>
                      <a:srgbClr val="FFFFFF"/>
                    </a:solidFill>
                  </a:tcPr>
                </a:tc>
                <a:tc>
                  <a:txBody>
                    <a:bodyPr/>
                    <a:lstStyle/>
                    <a:p>
                      <a:pPr>
                        <a:defRPr sz="1200">
                          <a:solidFill>
                            <a:srgbClr val="01203C"/>
                          </a:solidFill>
                          <a:latin typeface="Microsoft YaHei"/>
                        </a:defRPr>
                      </a:pPr>
                      <a:r>
                        <a:t>92</a:t>
                      </a:r>
                    </a:p>
                  </a:txBody>
                  <a:tcPr marL="36576" marR="36576" marT="18288" marB="18288">
                    <a:solidFill>
                      <a:srgbClr val="FFFFFF"/>
                    </a:solidFill>
                  </a:tcPr>
                </a:tc>
                <a:tc>
                  <a:txBody>
                    <a:bodyPr/>
                    <a:lstStyle/>
                    <a:p>
                      <a:pPr>
                        <a:defRPr sz="1200">
                          <a:solidFill>
                            <a:srgbClr val="01203C"/>
                          </a:solidFill>
                          <a:latin typeface="Microsoft YaHei"/>
                        </a:defRPr>
                      </a:pPr>
                      <a:r>
                        <a:t>保护的表土数量</a:t>
                      </a:r>
                    </a:p>
                  </a:txBody>
                  <a:tcPr marL="36576" marR="36576" marT="18288" marB="18288">
                    <a:solidFill>
                      <a:srgbClr val="FFFFFF"/>
                    </a:solidFill>
                  </a:tcPr>
                </a:tc>
                <a:tc>
                  <a:txBody>
                    <a:bodyPr/>
                    <a:lstStyle/>
                    <a:p>
                      <a:pPr>
                        <a:defRPr sz="1200">
                          <a:solidFill>
                            <a:srgbClr val="01203C"/>
                          </a:solidFill>
                          <a:latin typeface="Microsoft YaHei"/>
                        </a:defRPr>
                      </a:pPr>
                      <a:r>
                        <a:t>万m³</a:t>
                      </a:r>
                    </a:p>
                  </a:txBody>
                  <a:tcPr marL="36576" marR="36576" marT="18288" marB="18288">
                    <a:solidFill>
                      <a:srgbClr val="FFFFFF"/>
                    </a:solidFill>
                  </a:tcPr>
                </a:tc>
              </a:tr>
              <a:tr h="1154430">
                <a:tc>
                  <a:txBody>
                    <a:bodyPr/>
                    <a:lstStyle/>
                    <a:p>
                      <a:pPr>
                        <a:defRPr sz="1200">
                          <a:solidFill>
                            <a:srgbClr val="01203C"/>
                          </a:solidFill>
                          <a:latin typeface="Microsoft YaHei"/>
                        </a:defRPr>
                      </a:pPr>
                      <a:r>
                        <a:t>林草覆盖率</a:t>
                      </a:r>
                    </a:p>
                  </a:txBody>
                  <a:tcPr marL="36576" marR="36576" marT="18288" marB="18288">
                    <a:solidFill>
                      <a:srgbClr val="FFFFFF"/>
                    </a:solidFill>
                  </a:tcPr>
                </a:tc>
                <a:tc>
                  <a:txBody>
                    <a:bodyPr/>
                    <a:lstStyle/>
                    <a:p>
                      <a:pPr>
                        <a:defRPr sz="1200">
                          <a:solidFill>
                            <a:srgbClr val="01203C"/>
                          </a:solidFill>
                          <a:latin typeface="Microsoft YaHei"/>
                        </a:defRPr>
                      </a:pPr>
                      <a:r>
                        <a:t>0.7 7 %</a:t>
                      </a:r>
                    </a:p>
                  </a:txBody>
                  <a:tcPr marL="36576" marR="36576" marT="18288" marB="18288">
                    <a:solidFill>
                      <a:srgbClr val="FFFFFF"/>
                    </a:solidFill>
                  </a:tcPr>
                </a:tc>
                <a:tc>
                  <a:txBody>
                    <a:bodyPr/>
                    <a:lstStyle/>
                    <a:p>
                      <a:pPr>
                        <a:defRPr sz="1200">
                          <a:solidFill>
                            <a:srgbClr val="01203C"/>
                          </a:solidFill>
                          <a:latin typeface="Microsoft YaHei"/>
                        </a:defRPr>
                      </a:pPr>
                      <a:r>
                        <a:t>林草植被面积</a:t>
                      </a:r>
                    </a:p>
                  </a:txBody>
                  <a:tcPr marL="36576" marR="36576" marT="18288" marB="18288">
                    <a:solidFill>
                      <a:srgbClr val="FFFFFF"/>
                    </a:solidFill>
                  </a:tcPr>
                </a:tc>
                <a:tc>
                  <a:txBody>
                    <a:bodyPr/>
                    <a:lstStyle/>
                    <a:p>
                      <a:pPr>
                        <a:defRPr sz="1200">
                          <a:solidFill>
                            <a:srgbClr val="01203C"/>
                          </a:solidFill>
                          <a:latin typeface="Microsoft YaHei"/>
                        </a:defRPr>
                      </a:pPr>
                      <a:r>
                        <a:t>hm²</a:t>
                      </a: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水土保持防治效果分析表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评估指标。</a:t>
            </a:r>
          </a:p>
          <a:p>
            <a:pPr>
              <a:spcAft>
                <a:spcPts val="400"/>
              </a:spcAft>
              <a:defRPr sz="1400">
                <a:solidFill>
                  <a:srgbClr val="01203C"/>
                </a:solidFill>
                <a:latin typeface="Microsoft YaHei"/>
              </a:defRPr>
            </a:pPr>
            <a:r>
              <a:t>报告列示数值：98</a:t>
            </a:r>
          </a:p>
          <a:p>
            <a:pPr>
              <a:spcAft>
                <a:spcPts val="400"/>
              </a:spcAft>
              <a:defRPr sz="1400">
                <a:solidFill>
                  <a:srgbClr val="01203C"/>
                </a:solidFill>
                <a:latin typeface="Microsoft YaHei"/>
              </a:defRPr>
            </a:pPr>
            <a:r>
              <a:t>报告列示数值：3.4416</a:t>
            </a:r>
          </a:p>
          <a:p>
            <a:pPr>
              <a:spcAft>
                <a:spcPts val="400"/>
              </a:spcAft>
              <a:defRPr sz="1400">
                <a:solidFill>
                  <a:srgbClr val="01203C"/>
                </a:solidFill>
                <a:latin typeface="Microsoft YaHei"/>
              </a:defRPr>
            </a:pPr>
            <a:r>
              <a:t>报告列示数值：99.99%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后续管理需落实组织管理、监理施工和设施验收</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defRPr sz="1200" b="1">
                          <a:solidFill>
                            <a:srgbClr val="01203C"/>
                          </a:solidFill>
                          <a:latin typeface="Microsoft YaHei"/>
                        </a:defRPr>
                      </a:pPr>
                      <a:r>
                        <a:t>定额编号： 10308 定额单位： 100m³</a:t>
                      </a: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c>
                  <a:txBody>
                    <a:bodyPr/>
                    <a:lstStyle/>
                    <a:p>
                      <a:pPr>
                        <a:defRPr sz="1200" b="1">
                          <a:solidFill>
                            <a:srgbClr val="01203C"/>
                          </a:solidFill>
                          <a:latin typeface="Microsoft YaHei"/>
                        </a:defRPr>
                      </a:pPr>
                    </a:p>
                  </a:txBody>
                  <a:tcPr marL="36576" marR="36576" marT="18288" marB="18288">
                    <a:solidFill>
                      <a:srgbClr val="EAF2F8"/>
                    </a:solidFill>
                  </a:tcPr>
                </a:tc>
              </a:tr>
              <a:tr h="1539240">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r>
                        <a:t>单价合计</a:t>
                      </a:r>
                    </a:p>
                  </a:txBody>
                  <a:tcPr marL="36576" marR="36576" marT="18288" marB="18288">
                    <a:solidFill>
                      <a:srgbClr val="FFFFFF"/>
                    </a:solidFill>
                  </a:tcPr>
                </a:tc>
                <a:tc>
                  <a:txBody>
                    <a:bodyPr/>
                    <a:lstStyle/>
                    <a:p>
                      <a:pPr>
                        <a:defRPr sz="1200">
                          <a:solidFill>
                            <a:srgbClr val="01203C"/>
                          </a:solidFill>
                          <a:latin typeface="Microsoft YaHei"/>
                        </a:defRPr>
                      </a:pPr>
                      <a:r>
                        <a:t>元</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r h="1539240">
                <a:tc>
                  <a:txBody>
                    <a:bodyPr/>
                    <a:lstStyle/>
                    <a:p>
                      <a:pPr>
                        <a:defRPr sz="1200">
                          <a:solidFill>
                            <a:srgbClr val="01203C"/>
                          </a:solidFill>
                          <a:latin typeface="Microsoft YaHei"/>
                        </a:defRPr>
                      </a:pPr>
                      <a:r>
                        <a:t>合计</a:t>
                      </a:r>
                    </a:p>
                  </a:txBody>
                  <a:tcPr marL="36576" marR="36576" marT="18288" marB="18288">
                    <a:solidFill>
                      <a:srgbClr val="FFFFFF"/>
                    </a:solidFill>
                  </a:tcPr>
                </a:tc>
                <a:tc>
                  <a:txBody>
                    <a:bodyPr/>
                    <a:lstStyle/>
                    <a:p>
                      <a:pPr>
                        <a:defRPr sz="1200">
                          <a:solidFill>
                            <a:srgbClr val="01203C"/>
                          </a:solidFill>
                          <a:latin typeface="Microsoft YaHei"/>
                        </a:defRPr>
                      </a:pPr>
                      <a:r>
                        <a:t>元/m³</a:t>
                      </a: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c>
                  <a:txBody>
                    <a:bodyPr/>
                    <a:lstStyle/>
                    <a:p>
                      <a:pPr>
                        <a:defRPr sz="1200">
                          <a:solidFill>
                            <a:srgbClr val="01203C"/>
                          </a:solidFill>
                          <a:latin typeface="Microsoft YaHei"/>
                        </a:defRPr>
                      </a:pPr>
                    </a:p>
                  </a:txBody>
                  <a:tcP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水土保持设施验收</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定额编号： 10308 定额单位： 100m³ 工作内容。</a:t>
            </a:r>
          </a:p>
          <a:p>
            <a:pPr>
              <a:spcAft>
                <a:spcPts val="400"/>
              </a:spcAft>
              <a:defRPr sz="1400">
                <a:solidFill>
                  <a:srgbClr val="01203C"/>
                </a:solidFill>
                <a:latin typeface="Microsoft YaHei"/>
              </a:defRPr>
            </a:pPr>
            <a:r>
              <a:t>报告列示数值：10308</a:t>
            </a:r>
          </a:p>
          <a:p>
            <a:pPr>
              <a:spcAft>
                <a:spcPts val="400"/>
              </a:spcAft>
              <a:defRPr sz="1400">
                <a:solidFill>
                  <a:srgbClr val="01203C"/>
                </a:solidFill>
                <a:latin typeface="Microsoft YaHei"/>
              </a:defRPr>
            </a:pPr>
            <a:r>
              <a:t>报告列示数值：630.96</a:t>
            </a:r>
          </a:p>
          <a:p>
            <a:pPr>
              <a:spcAft>
                <a:spcPts val="400"/>
              </a:spcAft>
              <a:defRPr sz="1400">
                <a:solidFill>
                  <a:srgbClr val="01203C"/>
                </a:solidFill>
                <a:latin typeface="Microsoft YaHei"/>
              </a:defRPr>
            </a:pPr>
            <a:r>
              <a:t>报告列示数值：595.24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
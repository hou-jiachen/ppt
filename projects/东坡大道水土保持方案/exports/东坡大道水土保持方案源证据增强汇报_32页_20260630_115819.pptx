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67665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AF3F3"/>
                </a:solidFill>
                <a:latin typeface="Microsoft YaHei"/>
              </a:defRPr>
            </a:pPr>
            <a:r>
              <a:t>水土保持方案报告表 · 技术评审汇报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950976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黄冈市东坡大道片区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12848"/>
            <a:ext cx="98755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污水收集管网建设工程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063240"/>
            <a:ext cx="7955279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EAF3F3"/>
                </a:solidFill>
                <a:latin typeface="Microsoft YaHei"/>
              </a:rPr>
              <a:t>围绕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34416.00m²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防治责任范围、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104.05t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预测流失总量、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26.9211万元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水保投资和验收管理闭环展开。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4736592"/>
            <a:ext cx="265176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64607"/>
            <a:ext cx="239572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6.2公里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39512"/>
            <a:ext cx="2395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污水主管网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4736592"/>
            <a:ext cx="265176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4864607"/>
            <a:ext cx="239572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34416.00m²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5239512"/>
            <a:ext cx="2395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防治责任范围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8544" y="4736592"/>
            <a:ext cx="265176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4864607"/>
            <a:ext cx="239572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26.9211万元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5239512"/>
            <a:ext cx="2395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水保总投资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6199632"/>
            <a:ext cx="56692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200" b="0">
                <a:solidFill>
                  <a:srgbClr val="EAF3F3"/>
                </a:solidFill>
                <a:latin typeface="Microsoft YaHei"/>
              </a:defRPr>
            </a:pPr>
            <a:r>
              <a:t>武汉中地环科水工环科技咨询有限责任公司；2026年1月报批稿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6177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0972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AF3F3"/>
                </a:solidFill>
                <a:latin typeface="Microsoft YaHei"/>
              </a:defRPr>
            </a:pPr>
            <a:r>
              <a:t>CHAPTER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48840"/>
            <a:ext cx="1097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67712"/>
            <a:ext cx="80467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063240"/>
            <a:ext cx="8046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EAF3F3"/>
                </a:solidFill>
                <a:latin typeface="Microsoft YaHei"/>
              </a:rPr>
              <a:t>先用全局控制指标说明项目边界、预测结果、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措施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投资和验收闭环。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931920"/>
            <a:ext cx="38862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3931920"/>
            <a:ext cx="64008" cy="1207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4032504"/>
            <a:ext cx="352044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覆盖证据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4389120"/>
            <a:ext cx="3520440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围绕本章原表、原图、关键原文和计算口径展开，先给结论，再回到报告证据逐项核对。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931920"/>
            <a:ext cx="438912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EAF3F3"/>
                </a:solidFill>
                <a:latin typeface="Microsoft YaHei"/>
              </a:defRPr>
            </a:pPr>
            <a:r>
              <a:t>核对重点：边界、目标、工程量、计算参数、投资和验收责任必须与源报告保持一致。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5989320"/>
            <a:ext cx="640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AF3F3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项目总览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项目边界、扰动预测、措施投资和验收管理形成闭环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5074920" cy="106070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64008" cy="1060704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270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1517904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132D46"/>
                </a:solidFill>
                <a:latin typeface="Microsoft YaHei"/>
              </a:rPr>
              <a:t>建设边界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874519"/>
            <a:ext cx="4709159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主管网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6.2公里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、预埋支管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2.2公里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，工程位于黄州区城北片区。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8" y="1417320"/>
            <a:ext cx="5074920" cy="106070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9048" y="1417320"/>
            <a:ext cx="64008" cy="1060704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270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1517904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132D46"/>
                </a:solidFill>
                <a:latin typeface="Microsoft YaHei"/>
              </a:rPr>
              <a:t>责任范围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1874519"/>
            <a:ext cx="4709159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防治责任范围与扰动范围统一为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34416.00m²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，均为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管网工程区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788920"/>
            <a:ext cx="5074920" cy="106070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788920"/>
            <a:ext cx="64008" cy="1060704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8986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2889503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132D46"/>
                </a:solidFill>
                <a:latin typeface="Microsoft YaHei"/>
              </a:rPr>
              <a:t>预测结果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246120"/>
            <a:ext cx="4709159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工程建设可能造成土壤流失总量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104.05t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，新增量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94.92t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8" y="2788920"/>
            <a:ext cx="5074920" cy="106070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2788920"/>
            <a:ext cx="64008" cy="1060704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986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2889503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132D46"/>
                </a:solidFill>
                <a:latin typeface="Microsoft YaHei"/>
              </a:rPr>
              <a:t>投资验收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3246120"/>
            <a:ext cx="4709159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水土保持总投资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26.9211万元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，后续以监理、验收和报备形成闭环。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553712"/>
            <a:ext cx="10652760" cy="71323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91456"/>
            <a:ext cx="100126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132D46"/>
                </a:solidFill>
                <a:latin typeface="Microsoft YaHei"/>
              </a:defRPr>
            </a:pPr>
            <a:r>
              <a:t>证据链：综合说明表 → 工程特性与图件 → 责任范围与目标 → 土石方与预测计算 → 措施工程量 → 投资效益与验收管理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5550407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" y="559155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5532120"/>
            <a:ext cx="9774936" cy="6309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132D46"/>
                </a:solidFill>
                <a:latin typeface="Microsoft YaHei"/>
              </a:defRPr>
            </a:pPr>
            <a:r>
              <a:t>原表和原图作为页面主体，解释文字只用于说明工程含义、控制关系和管理责任。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汇报结构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汇报结构沿报告七个技术章节展开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50749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64008" cy="8229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48132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1472184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01 综合说明与审批依据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828800"/>
            <a:ext cx="4709159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用综合表、批复依据和项目结论建立评审边界。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8" y="1371600"/>
            <a:ext cx="50749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9048" y="1371600"/>
            <a:ext cx="64008" cy="822960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8132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1472184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02 项目概况与工程布置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1828800"/>
            <a:ext cx="4709159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说明建设规模、工程布置、施工组织和扰动来源。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50591"/>
            <a:ext cx="50749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450591"/>
            <a:ext cx="64008" cy="82296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560320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2551175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03 防治责任范围与标准目标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2907791"/>
            <a:ext cx="4709159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锁定防治责任范围和南方红壤区一级目标。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8" y="2450591"/>
            <a:ext cx="50749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2450591"/>
            <a:ext cx="64008" cy="822960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560320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2551175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04 水土保持评价与土石方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2907791"/>
            <a:ext cx="4709159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核对制约因素、土石方平衡和主体已列措施。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529584"/>
            <a:ext cx="50749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529584"/>
            <a:ext cx="64008" cy="8229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39312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3630168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05 水土流失分析与预测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3986783"/>
            <a:ext cx="4709159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展示预测范围、侵蚀模数、计算参数和流失结果。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8" y="3529584"/>
            <a:ext cx="50749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9048" y="3529584"/>
            <a:ext cx="64008" cy="822960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639312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4264" y="3630168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06 水土保持措施与施工安排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3986783"/>
            <a:ext cx="4709159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呈现分区、措施体系、工程量和施工进度衔接。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608576"/>
            <a:ext cx="507492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608576"/>
            <a:ext cx="64008" cy="82296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4718304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" y="4709160"/>
            <a:ext cx="43251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07 投资概算、效益与管理验收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5065776"/>
            <a:ext cx="4709159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说明投资、补偿费、防治效益和验收管理闭环。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6177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0972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AF3F3"/>
                </a:solidFill>
                <a:latin typeface="Microsoft YaHei"/>
              </a:defRPr>
            </a:pPr>
            <a: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48840"/>
            <a:ext cx="1097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67712"/>
            <a:ext cx="80467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063240"/>
            <a:ext cx="8046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EAF3F3"/>
                </a:solidFill>
                <a:latin typeface="Microsoft YaHei"/>
              </a:rPr>
              <a:t>用综合表、批复依据和项目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结论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建立评审边界。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931920"/>
            <a:ext cx="38862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3931920"/>
            <a:ext cx="64008" cy="1207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4032504"/>
            <a:ext cx="352044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覆盖证据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4389120"/>
            <a:ext cx="3520440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围绕本章原表、原图、关键原文和计算口径展开，先给结论，再回到报告证据逐项核对。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931920"/>
            <a:ext cx="438912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EAF3F3"/>
                </a:solidFill>
                <a:latin typeface="Microsoft YaHei"/>
              </a:defRPr>
            </a:pPr>
            <a:r>
              <a:t>核对重点：边界、目标、工程量、计算参数、投资和验收责任必须与源报告保持一致。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5989320"/>
            <a:ext cx="640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AF3F3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综合报告表明确项目全局控制指标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69951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综合报告表节选：项目概况、土石方、措施和投资控制指标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26464"/>
            <a:ext cx="1165860" cy="542925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93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项目概况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2788" y="1426464"/>
            <a:ext cx="1165860" cy="542925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0220" y="14493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8648" y="1426464"/>
            <a:ext cx="1165860" cy="542925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4493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064508" y="1426464"/>
            <a:ext cx="1165860" cy="542925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1940" y="14493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湖北省黄冈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1426464"/>
            <a:ext cx="1165860" cy="542925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4493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396228" y="1426464"/>
            <a:ext cx="1165860" cy="542925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60" y="14493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566928" y="19693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9922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1732788" y="19693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60220" y="19922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建设内容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8648" y="19693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19922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4064508" y="19693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1940" y="19922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拟建黄冈市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0368" y="19693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19922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6396228" y="19693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3660" y="19922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566928" y="25123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5351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1732788" y="25123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60220" y="25351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建设性质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98648" y="25123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25351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4064508" y="25123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1940" y="25351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新建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30368" y="25123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25351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3" name="Rectangle 42"/>
          <p:cNvSpPr/>
          <p:nvPr/>
        </p:nvSpPr>
        <p:spPr>
          <a:xfrm>
            <a:off x="6396228" y="25123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3660" y="25351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566928" y="30552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0780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1732788" y="30552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60220" y="30780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土建投资（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8648" y="30552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0" y="30780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4064508" y="30552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91940" y="30780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6914.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30368" y="30552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57800" y="30780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5" name="Rectangle 54"/>
          <p:cNvSpPr/>
          <p:nvPr/>
        </p:nvSpPr>
        <p:spPr>
          <a:xfrm>
            <a:off x="6396228" y="30552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23660" y="30780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566928" y="359816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36210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9" name="Rectangle 58"/>
          <p:cNvSpPr/>
          <p:nvPr/>
        </p:nvSpPr>
        <p:spPr>
          <a:xfrm>
            <a:off x="1732788" y="359816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60220" y="36210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2898648" y="359816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0" y="36210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3" name="Rectangle 62"/>
          <p:cNvSpPr/>
          <p:nvPr/>
        </p:nvSpPr>
        <p:spPr>
          <a:xfrm>
            <a:off x="4064508" y="359816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91940" y="36210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5230368" y="359816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57800" y="36210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7" name="Rectangle 66"/>
          <p:cNvSpPr/>
          <p:nvPr/>
        </p:nvSpPr>
        <p:spPr>
          <a:xfrm>
            <a:off x="6396228" y="359816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23660" y="362102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566928" y="41410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41639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1732788" y="41410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60220" y="41639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动工时间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98648" y="41410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26080" y="41639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5" name="Rectangle 74"/>
          <p:cNvSpPr/>
          <p:nvPr/>
        </p:nvSpPr>
        <p:spPr>
          <a:xfrm>
            <a:off x="4064508" y="41410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91940" y="41639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2025年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30368" y="41410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57800" y="41639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9" name="Rectangle 78"/>
          <p:cNvSpPr/>
          <p:nvPr/>
        </p:nvSpPr>
        <p:spPr>
          <a:xfrm>
            <a:off x="6396228" y="414108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23660" y="416394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1" name="Rectangle 80"/>
          <p:cNvSpPr/>
          <p:nvPr/>
        </p:nvSpPr>
        <p:spPr>
          <a:xfrm>
            <a:off x="566928" y="46840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47068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3" name="Rectangle 82"/>
          <p:cNvSpPr/>
          <p:nvPr/>
        </p:nvSpPr>
        <p:spPr>
          <a:xfrm>
            <a:off x="1732788" y="46840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60220" y="47068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土石方（m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898648" y="46840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6080" y="47068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7" name="Rectangle 86"/>
          <p:cNvSpPr/>
          <p:nvPr/>
        </p:nvSpPr>
        <p:spPr>
          <a:xfrm>
            <a:off x="4064508" y="46840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91940" y="47068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挖方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30368" y="46840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57800" y="47068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1" name="Rectangle 90"/>
          <p:cNvSpPr/>
          <p:nvPr/>
        </p:nvSpPr>
        <p:spPr>
          <a:xfrm>
            <a:off x="6396228" y="4684014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23660" y="4706874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3" name="Rectangle 92"/>
          <p:cNvSpPr/>
          <p:nvPr/>
        </p:nvSpPr>
        <p:spPr>
          <a:xfrm>
            <a:off x="566928" y="52269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4360" y="52497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5" name="Rectangle 94"/>
          <p:cNvSpPr/>
          <p:nvPr/>
        </p:nvSpPr>
        <p:spPr>
          <a:xfrm>
            <a:off x="1732788" y="52269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60220" y="52497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7" name="Rectangle 96"/>
          <p:cNvSpPr/>
          <p:nvPr/>
        </p:nvSpPr>
        <p:spPr>
          <a:xfrm>
            <a:off x="2898648" y="52269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26080" y="52497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9" name="Rectangle 98"/>
          <p:cNvSpPr/>
          <p:nvPr/>
        </p:nvSpPr>
        <p:spPr>
          <a:xfrm>
            <a:off x="4064508" y="52269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091940" y="52497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4971.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230368" y="52269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57800" y="52497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3" name="Rectangle 102"/>
          <p:cNvSpPr/>
          <p:nvPr/>
        </p:nvSpPr>
        <p:spPr>
          <a:xfrm>
            <a:off x="6396228" y="5226939"/>
            <a:ext cx="1165860" cy="542925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23660" y="5249799"/>
            <a:ext cx="1110996" cy="5063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5" name="Rectangle 104"/>
          <p:cNvSpPr/>
          <p:nvPr/>
        </p:nvSpPr>
        <p:spPr>
          <a:xfrm>
            <a:off x="7909560" y="1554480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0708" y="1595628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30184" y="1536192"/>
            <a:ext cx="2642616" cy="11155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报告表明确主管网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6.2公里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、预埋支管2.2公里，工程范围集中于城北片区。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09560" y="2697479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50708" y="2738627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30184" y="2679191"/>
            <a:ext cx="2642616" cy="11155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防治责任范围为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34416.00m²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，后续目标、预测、措施和投资均围绕该范围展开。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09560" y="3840479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950708" y="3881628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30184" y="3822191"/>
            <a:ext cx="2642616" cy="11155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综合表同时列示土石方、措施体系和总投资，是全套方案的控制索引。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批复文件和报告附件限定方案编制边界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17904"/>
            <a:ext cx="491947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517904"/>
            <a:ext cx="64008" cy="107899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1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1618488"/>
            <a:ext cx="41696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前期批复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1975104"/>
            <a:ext cx="4553712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可研批复、初设批复和委托文件限定工程建设内容与方案编制范围。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1616" y="1517904"/>
            <a:ext cx="491947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71616" y="1517904"/>
            <a:ext cx="64008" cy="1078992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627631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1618488"/>
            <a:ext cx="41696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技术依据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975104"/>
            <a:ext cx="4553712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法律法规、GB50433-2018及水土保持监测评价规范共同支撑目标和预测计算。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962656"/>
            <a:ext cx="491947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962656"/>
            <a:ext cx="64008" cy="1078992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72384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063240"/>
            <a:ext cx="41696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附件支撑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419856"/>
            <a:ext cx="4553712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地理位置、措施布设、投资估算和批复资料共同构成报批依据。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71616" y="2962656"/>
            <a:ext cx="4919472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71616" y="2962656"/>
            <a:ext cx="64008" cy="1078992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072384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063240"/>
            <a:ext cx="41696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责任边界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419856"/>
            <a:ext cx="4553712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方案责任主体、工程扰动范围和水土保持措施需在施工及验收阶段延续闭合。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4800600"/>
            <a:ext cx="10378440" cy="80467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047488"/>
            <a:ext cx="99212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1">
                <a:solidFill>
                  <a:srgbClr val="132D46"/>
                </a:solidFill>
                <a:latin typeface="Microsoft YaHei"/>
              </a:defRPr>
            </a:pPr>
            <a:r>
              <a:t>编制边界不另行扩大：PPT 仅使用源报告的批复依据、表格、图件和报告结论，不采用旧 PPT 作为事实来源。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6177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0972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AF3F3"/>
                </a:solidFill>
                <a:latin typeface="Microsoft YaHei"/>
              </a:defRPr>
            </a:pPr>
            <a: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48840"/>
            <a:ext cx="1097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67712"/>
            <a:ext cx="80467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063240"/>
            <a:ext cx="8046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3F3"/>
                </a:solidFill>
                <a:latin typeface="Microsoft YaHei"/>
              </a:defRPr>
            </a:pPr>
            <a:r>
              <a:t>说明建设规模、工程布置、施工组织和扰动来源。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931920"/>
            <a:ext cx="38862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3931920"/>
            <a:ext cx="64008" cy="1207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4032504"/>
            <a:ext cx="352044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覆盖证据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4389120"/>
            <a:ext cx="3520440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围绕本章原表、原图、关键原文和计算口径展开，先给结论，再回到报告证据逐项核对。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931920"/>
            <a:ext cx="438912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EAF3F3"/>
                </a:solidFill>
                <a:latin typeface="Microsoft YaHei"/>
              </a:defRPr>
            </a:pPr>
            <a:r>
              <a:t>核对重点：边界、目标、工程量、计算参数、投资和验收责任必须与源报告保持一致。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5989320"/>
            <a:ext cx="640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AF3F3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工程特性表锁定规模、投资、工期和占地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43000"/>
            <a:ext cx="71323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建设项目工程特性表节选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891540" cy="4978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01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一、项目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58468" y="1417320"/>
            <a:ext cx="891540" cy="4978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5900" y="14401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2350008" y="1417320"/>
            <a:ext cx="891540" cy="4978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39" y="14401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3241548" y="1417320"/>
            <a:ext cx="891540" cy="4978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8979" y="14401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4133087" y="1417320"/>
            <a:ext cx="891540" cy="4978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4401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5024628" y="1417320"/>
            <a:ext cx="891540" cy="4978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2060" y="14401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5916168" y="1417320"/>
            <a:ext cx="891540" cy="4978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4401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807708" y="1417320"/>
            <a:ext cx="891540" cy="4978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5140" y="14401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566928" y="19151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19380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58468" y="19151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85900" y="19380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2350008" y="19151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39" y="19380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项目名称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1548" y="19151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8979" y="19380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4133087" y="19151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19380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5024628" y="19151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2060" y="19380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黄冈市东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16168" y="19151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19380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6807708" y="19151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5140" y="19380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566928" y="24130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24358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58468" y="24130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85900" y="24358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2350008" y="24130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7439" y="24358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工程性质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1548" y="24130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68979" y="24358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4133087" y="24130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24358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5024628" y="24130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52060" y="24358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新建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16168" y="24130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24358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5" name="Rectangle 54"/>
          <p:cNvSpPr/>
          <p:nvPr/>
        </p:nvSpPr>
        <p:spPr>
          <a:xfrm>
            <a:off x="6807708" y="24130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35140" y="24358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566928" y="29108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29337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58468" y="29108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85900" y="29337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2350008" y="29108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77439" y="29337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建设单位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1548" y="29108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68979" y="29337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4133087" y="29108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60520" y="29337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7" name="Rectangle 66"/>
          <p:cNvSpPr/>
          <p:nvPr/>
        </p:nvSpPr>
        <p:spPr>
          <a:xfrm>
            <a:off x="5024628" y="29108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52060" y="29337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黄冈市住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16168" y="29108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0" y="29337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807708" y="29108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35140" y="29337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3" name="Rectangle 72"/>
          <p:cNvSpPr/>
          <p:nvPr/>
        </p:nvSpPr>
        <p:spPr>
          <a:xfrm>
            <a:off x="566928" y="340868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343154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58468" y="340868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85900" y="343154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7" name="Rectangle 76"/>
          <p:cNvSpPr/>
          <p:nvPr/>
        </p:nvSpPr>
        <p:spPr>
          <a:xfrm>
            <a:off x="2350008" y="340868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77439" y="343154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建设地点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41548" y="340868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68979" y="343154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1" name="Rectangle 80"/>
          <p:cNvSpPr/>
          <p:nvPr/>
        </p:nvSpPr>
        <p:spPr>
          <a:xfrm>
            <a:off x="4133087" y="340868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60520" y="343154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3" name="Rectangle 82"/>
          <p:cNvSpPr/>
          <p:nvPr/>
        </p:nvSpPr>
        <p:spPr>
          <a:xfrm>
            <a:off x="5024628" y="340868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52060" y="343154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黄冈市黄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16168" y="340868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0" y="343154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7" name="Rectangle 86"/>
          <p:cNvSpPr/>
          <p:nvPr/>
        </p:nvSpPr>
        <p:spPr>
          <a:xfrm>
            <a:off x="6807708" y="340868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35140" y="343154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9" name="Rectangle 88"/>
          <p:cNvSpPr/>
          <p:nvPr/>
        </p:nvSpPr>
        <p:spPr>
          <a:xfrm>
            <a:off x="566928" y="390652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39293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58468" y="390652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85900" y="39293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3" name="Rectangle 92"/>
          <p:cNvSpPr/>
          <p:nvPr/>
        </p:nvSpPr>
        <p:spPr>
          <a:xfrm>
            <a:off x="2350008" y="390652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77439" y="39293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总投资（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41548" y="390652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68979" y="39293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7" name="Rectangle 96"/>
          <p:cNvSpPr/>
          <p:nvPr/>
        </p:nvSpPr>
        <p:spPr>
          <a:xfrm>
            <a:off x="4133087" y="390652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60520" y="39293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9" name="Rectangle 98"/>
          <p:cNvSpPr/>
          <p:nvPr/>
        </p:nvSpPr>
        <p:spPr>
          <a:xfrm>
            <a:off x="5024628" y="390652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52060" y="39293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8024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16168" y="390652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0" y="39293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3" name="Rectangle 102"/>
          <p:cNvSpPr/>
          <p:nvPr/>
        </p:nvSpPr>
        <p:spPr>
          <a:xfrm>
            <a:off x="6807708" y="390652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35140" y="392938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5" name="Rectangle 104"/>
          <p:cNvSpPr/>
          <p:nvPr/>
        </p:nvSpPr>
        <p:spPr>
          <a:xfrm>
            <a:off x="566928" y="44043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4360" y="44272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58468" y="44043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85900" y="44272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9" name="Rectangle 108"/>
          <p:cNvSpPr/>
          <p:nvPr/>
        </p:nvSpPr>
        <p:spPr>
          <a:xfrm>
            <a:off x="2350008" y="44043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77439" y="44272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工期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41548" y="44043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68979" y="44272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3" name="Rectangle 112"/>
          <p:cNvSpPr/>
          <p:nvPr/>
        </p:nvSpPr>
        <p:spPr>
          <a:xfrm>
            <a:off x="4133087" y="44043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60520" y="44272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5" name="Rectangle 114"/>
          <p:cNvSpPr/>
          <p:nvPr/>
        </p:nvSpPr>
        <p:spPr>
          <a:xfrm>
            <a:off x="5024628" y="44043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052060" y="44272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16168" y="44043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943600" y="44272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9" name="Rectangle 118"/>
          <p:cNvSpPr/>
          <p:nvPr/>
        </p:nvSpPr>
        <p:spPr>
          <a:xfrm>
            <a:off x="6807708" y="440436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35140" y="442722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1" name="Rectangle 120"/>
          <p:cNvSpPr/>
          <p:nvPr/>
        </p:nvSpPr>
        <p:spPr>
          <a:xfrm>
            <a:off x="566928" y="49022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94360" y="49250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458468" y="49022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485900" y="49250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5" name="Rectangle 124"/>
          <p:cNvSpPr/>
          <p:nvPr/>
        </p:nvSpPr>
        <p:spPr>
          <a:xfrm>
            <a:off x="2350008" y="49022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377439" y="49250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建设规模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41548" y="49022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268979" y="49250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9" name="Rectangle 128"/>
          <p:cNvSpPr/>
          <p:nvPr/>
        </p:nvSpPr>
        <p:spPr>
          <a:xfrm>
            <a:off x="4133087" y="49022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160520" y="49250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1" name="Rectangle 130"/>
          <p:cNvSpPr/>
          <p:nvPr/>
        </p:nvSpPr>
        <p:spPr>
          <a:xfrm>
            <a:off x="5024628" y="49022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52060" y="49250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总用地面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916168" y="49022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943600" y="49250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5" name="Rectangle 134"/>
          <p:cNvSpPr/>
          <p:nvPr/>
        </p:nvSpPr>
        <p:spPr>
          <a:xfrm>
            <a:off x="6807708" y="490220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35140" y="492506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566928" y="54000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94360" y="54229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9" name="Rectangle 138"/>
          <p:cNvSpPr/>
          <p:nvPr/>
        </p:nvSpPr>
        <p:spPr>
          <a:xfrm>
            <a:off x="1458468" y="54000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485900" y="54229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1" name="Rectangle 140"/>
          <p:cNvSpPr/>
          <p:nvPr/>
        </p:nvSpPr>
        <p:spPr>
          <a:xfrm>
            <a:off x="2350008" y="54000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377439" y="54229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3" name="Rectangle 142"/>
          <p:cNvSpPr/>
          <p:nvPr/>
        </p:nvSpPr>
        <p:spPr>
          <a:xfrm>
            <a:off x="3241548" y="54000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268979" y="54229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5" name="Rectangle 144"/>
          <p:cNvSpPr/>
          <p:nvPr/>
        </p:nvSpPr>
        <p:spPr>
          <a:xfrm>
            <a:off x="4133087" y="54000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160520" y="54229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7" name="Rectangle 146"/>
          <p:cNvSpPr/>
          <p:nvPr/>
        </p:nvSpPr>
        <p:spPr>
          <a:xfrm>
            <a:off x="5024628" y="54000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052060" y="54229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永久占地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16168" y="54000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43600" y="54229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1" name="Rectangle 150"/>
          <p:cNvSpPr/>
          <p:nvPr/>
        </p:nvSpPr>
        <p:spPr>
          <a:xfrm>
            <a:off x="6807708" y="5400040"/>
            <a:ext cx="891540" cy="497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35140" y="5422900"/>
            <a:ext cx="836676" cy="4612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3" name="Rectangle 152"/>
          <p:cNvSpPr/>
          <p:nvPr/>
        </p:nvSpPr>
        <p:spPr>
          <a:xfrm>
            <a:off x="8028431" y="1508760"/>
            <a:ext cx="30632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156448" y="1636776"/>
            <a:ext cx="280720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8024.00万元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156448" y="2011680"/>
            <a:ext cx="280720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总投资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028431" y="2542032"/>
            <a:ext cx="30632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156448" y="2670048"/>
            <a:ext cx="280720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2025年12月—2026年12月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156448" y="3044952"/>
            <a:ext cx="280720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计划工期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028431" y="3575304"/>
            <a:ext cx="30632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156448" y="3703320"/>
            <a:ext cx="280720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34416.00m²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156448" y="4078224"/>
            <a:ext cx="280720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临时占地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028431" y="4736592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069579" y="4777740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449056" y="4718304"/>
            <a:ext cx="2551176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132D46"/>
                </a:solidFill>
                <a:latin typeface="Microsoft YaHei"/>
              </a:defRPr>
            </a:pPr>
            <a:r>
              <a:t>工程规模、工期和占地共同决定施工扰动强度。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工程位于黄州区城北片区并沿既有道路布设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67884"/>
            <a:ext cx="7040880" cy="439538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973568" y="1499616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4716" y="1540764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481328"/>
            <a:ext cx="2642616" cy="1054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工程位于黄州区城北片区，管网沿既有城市道路布设。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3568" y="2581656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4716" y="2622804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563368"/>
            <a:ext cx="2642616" cy="1054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工程范围受黄州大道、东坡大道、赤壁大道等道路边界控制。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3663696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4716" y="3704844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645408"/>
            <a:ext cx="2642616" cy="1054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防治分区以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管网工程区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统一展开。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0E9F9A"/>
                </a:solidFill>
                <a:latin typeface="Microsoft YaHei"/>
              </a:rPr>
              <a:t>微顶管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施工工艺压缩开挖扰动但强化井位防护要求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88050"/>
            <a:ext cx="3453383" cy="1820026"/>
          </a:xfrm>
          <a:prstGeom prst="rect">
            <a:avLst/>
          </a:prstGeom>
        </p:spPr>
      </p:pic>
      <p:pic>
        <p:nvPicPr>
          <p:cNvPr id="9" name="Picture 8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912" y="1581615"/>
            <a:ext cx="3453383" cy="2432897"/>
          </a:xfrm>
          <a:prstGeom prst="rect">
            <a:avLst/>
          </a:prstGeom>
        </p:spPr>
      </p:pic>
      <p:pic>
        <p:nvPicPr>
          <p:cNvPr id="10" name="Picture 9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614" y="1289304"/>
            <a:ext cx="2575931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8" y="4617720"/>
            <a:ext cx="324612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4617720"/>
            <a:ext cx="64008" cy="107899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274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4718304"/>
            <a:ext cx="249631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132D46"/>
                </a:solidFill>
                <a:latin typeface="Microsoft YaHei"/>
              </a:rPr>
              <a:t>扰动控制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074920"/>
            <a:ext cx="28803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微顶管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减少道路大开挖，井位仍是临时防护重点。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4617720"/>
            <a:ext cx="324612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4617720"/>
            <a:ext cx="64008" cy="1078992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47274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4718304"/>
            <a:ext cx="24963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土方管理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74920"/>
            <a:ext cx="28803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井位开挖、回填和外运消纳与土石方平衡表对应。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1856" y="4617720"/>
            <a:ext cx="324612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1856" y="4617720"/>
            <a:ext cx="64008" cy="1078992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47274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4718304"/>
            <a:ext cx="249631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132D46"/>
                </a:solidFill>
                <a:latin typeface="Microsoft YaHei"/>
              </a:rPr>
              <a:t>恢复闭合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5074920"/>
            <a:ext cx="288036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路面恢复和绿化恢复与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土地整治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、表土回覆同步完成。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表土剥离、土石方平衡和施工进度共同决定扰动管理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78992"/>
            <a:ext cx="52578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表土剥离与回覆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353312"/>
          <a:ext cx="525779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31"/>
                <a:gridCol w="572939"/>
                <a:gridCol w="658428"/>
                <a:gridCol w="735990"/>
                <a:gridCol w="615400"/>
                <a:gridCol w="559352"/>
                <a:gridCol w="909230"/>
                <a:gridCol w="551426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占地面积（m²）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表土层厚度（m）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表土剥离面积（m²）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剥离厚度（m）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剥离量（m³）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堆放位置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0.3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0.3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管网工程区施工区域空地处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绿化覆土回填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2670048"/>
            <a:ext cx="52578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土石方平衡节选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44368"/>
            <a:ext cx="876300" cy="313508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67228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3228" y="2944368"/>
            <a:ext cx="876300" cy="313508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70660" y="2967228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工程分区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9528" y="2944368"/>
            <a:ext cx="876300" cy="313508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6960" y="2967228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5828" y="2944368"/>
            <a:ext cx="876300" cy="313508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23260" y="2967228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开挖量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2128" y="2944368"/>
            <a:ext cx="876300" cy="313508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9560" y="2967228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回填量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48428" y="2944368"/>
            <a:ext cx="876300" cy="313508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5860" y="2967228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调入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257876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80736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1443228" y="3257876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70660" y="3280736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2319528" y="3257876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6960" y="3280736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3195828" y="3257876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3260" y="3280736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4072128" y="3257876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99560" y="3280736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4948428" y="3257876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75860" y="3280736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571385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594245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3228" y="3571385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70660" y="3594245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19528" y="3571385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46960" y="3594245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表土剥离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8" y="3571385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23260" y="3594245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79.5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72128" y="3571385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99560" y="3594245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4948428" y="3571385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75860" y="3594245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566928" y="3884893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907753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43228" y="3884893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70660" y="3907753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2319528" y="3884893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46960" y="3907753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表土回覆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95828" y="3884893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23260" y="3907753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5" name="Rectangle 54"/>
          <p:cNvSpPr/>
          <p:nvPr/>
        </p:nvSpPr>
        <p:spPr>
          <a:xfrm>
            <a:off x="4072128" y="3884893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99560" y="3907753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79.5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48428" y="3884893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75860" y="3907753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9" name="Rectangle 58"/>
          <p:cNvSpPr/>
          <p:nvPr/>
        </p:nvSpPr>
        <p:spPr>
          <a:xfrm>
            <a:off x="566928" y="4198402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221262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43228" y="4198402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70660" y="4221262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3" name="Rectangle 62"/>
          <p:cNvSpPr/>
          <p:nvPr/>
        </p:nvSpPr>
        <p:spPr>
          <a:xfrm>
            <a:off x="2319528" y="4198402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46960" y="4221262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基础土方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95828" y="4198402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23260" y="4221262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2977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72128" y="4198402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99560" y="4221262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4948428" y="4198402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75860" y="4221262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566928" y="4511910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4534770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43228" y="4511910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70660" y="4534770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5" name="Rectangle 74"/>
          <p:cNvSpPr/>
          <p:nvPr/>
        </p:nvSpPr>
        <p:spPr>
          <a:xfrm>
            <a:off x="2319528" y="4511910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46960" y="4534770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基础土方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95828" y="4511910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23260" y="4534770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9" name="Rectangle 78"/>
          <p:cNvSpPr/>
          <p:nvPr/>
        </p:nvSpPr>
        <p:spPr>
          <a:xfrm>
            <a:off x="4072128" y="4511910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99560" y="4534770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1356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48428" y="4511910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75860" y="4534770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3" name="Rectangle 82"/>
          <p:cNvSpPr/>
          <p:nvPr/>
        </p:nvSpPr>
        <p:spPr>
          <a:xfrm>
            <a:off x="566928" y="4825419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4360" y="4848279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43228" y="4825419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70660" y="4848279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7" name="Rectangle 86"/>
          <p:cNvSpPr/>
          <p:nvPr/>
        </p:nvSpPr>
        <p:spPr>
          <a:xfrm>
            <a:off x="2319528" y="4825419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46960" y="4848279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机制砂回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95828" y="4825419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23260" y="4848279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1" name="Rectangle 90"/>
          <p:cNvSpPr/>
          <p:nvPr/>
        </p:nvSpPr>
        <p:spPr>
          <a:xfrm>
            <a:off x="4072128" y="4825419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99560" y="4848279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760.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48428" y="4825419"/>
            <a:ext cx="876300" cy="3135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75860" y="4848279"/>
            <a:ext cx="821436" cy="2769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5" name="TextBox 94"/>
          <p:cNvSpPr txBox="1"/>
          <p:nvPr/>
        </p:nvSpPr>
        <p:spPr>
          <a:xfrm>
            <a:off x="6144768" y="1078992"/>
            <a:ext cx="5074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施工进度原表节选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44768" y="1353312"/>
            <a:ext cx="845819" cy="3200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72200" y="13761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项目分区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90588" y="1353312"/>
            <a:ext cx="845819" cy="3200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18020" y="13761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工程分项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36408" y="1353312"/>
            <a:ext cx="845819" cy="3200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63840" y="13761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2" name="Rectangle 101"/>
          <p:cNvSpPr/>
          <p:nvPr/>
        </p:nvSpPr>
        <p:spPr>
          <a:xfrm>
            <a:off x="8682228" y="1353312"/>
            <a:ext cx="845819" cy="3200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709659" y="13761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28048" y="1353312"/>
            <a:ext cx="845819" cy="3200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55480" y="13761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373867" y="1353312"/>
            <a:ext cx="845819" cy="3200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01299" y="13761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8" name="Rectangle 107"/>
          <p:cNvSpPr/>
          <p:nvPr/>
        </p:nvSpPr>
        <p:spPr>
          <a:xfrm>
            <a:off x="6144768" y="167335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72200" y="169621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0" name="Rectangle 109"/>
          <p:cNvSpPr/>
          <p:nvPr/>
        </p:nvSpPr>
        <p:spPr>
          <a:xfrm>
            <a:off x="6990588" y="167335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18020" y="169621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2" name="Rectangle 111"/>
          <p:cNvSpPr/>
          <p:nvPr/>
        </p:nvSpPr>
        <p:spPr>
          <a:xfrm>
            <a:off x="7836408" y="167335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863840" y="169621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4" name="Rectangle 113"/>
          <p:cNvSpPr/>
          <p:nvPr/>
        </p:nvSpPr>
        <p:spPr>
          <a:xfrm>
            <a:off x="8682228" y="167335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709659" y="169621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12月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528048" y="167335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555480" y="169621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373867" y="167335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401299" y="169621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2月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44768" y="199339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72200" y="201625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990588" y="199339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018020" y="201625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施工准备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836408" y="199339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863840" y="201625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6" name="Rectangle 125"/>
          <p:cNvSpPr/>
          <p:nvPr/>
        </p:nvSpPr>
        <p:spPr>
          <a:xfrm>
            <a:off x="8682228" y="199339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709659" y="201625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8" name="Rectangle 127"/>
          <p:cNvSpPr/>
          <p:nvPr/>
        </p:nvSpPr>
        <p:spPr>
          <a:xfrm>
            <a:off x="9528048" y="199339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555480" y="201625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0" name="Rectangle 129"/>
          <p:cNvSpPr/>
          <p:nvPr/>
        </p:nvSpPr>
        <p:spPr>
          <a:xfrm>
            <a:off x="10373867" y="199339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401299" y="201625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2" name="Rectangle 131"/>
          <p:cNvSpPr/>
          <p:nvPr/>
        </p:nvSpPr>
        <p:spPr>
          <a:xfrm>
            <a:off x="6144768" y="231343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72200" y="233629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4" name="Rectangle 133"/>
          <p:cNvSpPr/>
          <p:nvPr/>
        </p:nvSpPr>
        <p:spPr>
          <a:xfrm>
            <a:off x="6990588" y="231343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018020" y="233629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东坡大道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836408" y="231343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863840" y="233629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围挡、路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682228" y="231343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09659" y="233629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0" name="Rectangle 139"/>
          <p:cNvSpPr/>
          <p:nvPr/>
        </p:nvSpPr>
        <p:spPr>
          <a:xfrm>
            <a:off x="9528048" y="231343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555480" y="233629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2" name="Rectangle 141"/>
          <p:cNvSpPr/>
          <p:nvPr/>
        </p:nvSpPr>
        <p:spPr>
          <a:xfrm>
            <a:off x="10373867" y="231343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401299" y="233629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4" name="Rectangle 143"/>
          <p:cNvSpPr/>
          <p:nvPr/>
        </p:nvSpPr>
        <p:spPr>
          <a:xfrm>
            <a:off x="6144768" y="263347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72200" y="265633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6" name="Rectangle 145"/>
          <p:cNvSpPr/>
          <p:nvPr/>
        </p:nvSpPr>
        <p:spPr>
          <a:xfrm>
            <a:off x="6990588" y="263347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018020" y="265633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8" name="Rectangle 147"/>
          <p:cNvSpPr/>
          <p:nvPr/>
        </p:nvSpPr>
        <p:spPr>
          <a:xfrm>
            <a:off x="7836408" y="263347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863840" y="265633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顶管井施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682228" y="263347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709659" y="265633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2" name="Rectangle 151"/>
          <p:cNvSpPr/>
          <p:nvPr/>
        </p:nvSpPr>
        <p:spPr>
          <a:xfrm>
            <a:off x="9528048" y="263347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555480" y="265633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4" name="Rectangle 153"/>
          <p:cNvSpPr/>
          <p:nvPr/>
        </p:nvSpPr>
        <p:spPr>
          <a:xfrm>
            <a:off x="10373867" y="263347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401299" y="265633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6" name="Rectangle 155"/>
          <p:cNvSpPr/>
          <p:nvPr/>
        </p:nvSpPr>
        <p:spPr>
          <a:xfrm>
            <a:off x="6144768" y="295351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72200" y="29763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8" name="Rectangle 157"/>
          <p:cNvSpPr/>
          <p:nvPr/>
        </p:nvSpPr>
        <p:spPr>
          <a:xfrm>
            <a:off x="6990588" y="295351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018020" y="29763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0" name="Rectangle 159"/>
          <p:cNvSpPr/>
          <p:nvPr/>
        </p:nvSpPr>
        <p:spPr>
          <a:xfrm>
            <a:off x="7836408" y="295351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863840" y="29763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顶管施工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682228" y="295351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709659" y="29763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4" name="Rectangle 163"/>
          <p:cNvSpPr/>
          <p:nvPr/>
        </p:nvSpPr>
        <p:spPr>
          <a:xfrm>
            <a:off x="9528048" y="295351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555480" y="29763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6" name="Rectangle 165"/>
          <p:cNvSpPr/>
          <p:nvPr/>
        </p:nvSpPr>
        <p:spPr>
          <a:xfrm>
            <a:off x="10373867" y="2953512"/>
            <a:ext cx="845819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401299" y="2976372"/>
            <a:ext cx="790956" cy="2834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8" name="Rectangle 167"/>
          <p:cNvSpPr/>
          <p:nvPr/>
        </p:nvSpPr>
        <p:spPr>
          <a:xfrm>
            <a:off x="6309360" y="3840479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50508" y="3881628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729984" y="3822191"/>
            <a:ext cx="4242816" cy="454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表土剥离量79.5m³，服务后续绿化覆土回填。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309360" y="4322063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0508" y="4363212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729984" y="4303775"/>
            <a:ext cx="4242816" cy="454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弃方委托湖北安达港务有限公司外运消纳，借方采用外购土石方。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309360" y="4803648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350508" y="484479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729984" y="4785360"/>
            <a:ext cx="4242816" cy="454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施工进度横跨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2025年12月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至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2026年12月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，临时防护需随扰动同步布设。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6177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0972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AF3F3"/>
                </a:solidFill>
                <a:latin typeface="Microsoft YaHei"/>
              </a:defRPr>
            </a:pPr>
            <a: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48840"/>
            <a:ext cx="1097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67712"/>
            <a:ext cx="80467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063240"/>
            <a:ext cx="8046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EAF3F3"/>
                </a:solidFill>
                <a:latin typeface="Microsoft YaHei"/>
              </a:rPr>
              <a:t>锁定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防治责任范围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和南方红壤区一级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目标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931920"/>
            <a:ext cx="38862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3931920"/>
            <a:ext cx="64008" cy="1207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4032504"/>
            <a:ext cx="352044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覆盖证据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4389120"/>
            <a:ext cx="3520440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围绕本章原表、原图、关键原文和计算口径展开，先给结论，再回到报告证据逐项核对。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931920"/>
            <a:ext cx="438912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EAF3F3"/>
                </a:solidFill>
                <a:latin typeface="Microsoft YaHei"/>
              </a:defRPr>
            </a:pPr>
            <a:r>
              <a:t>核对重点：边界、目标、工程量、计算参数、投资和验收责任必须与源报告保持一致。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5989320"/>
            <a:ext cx="640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AF3F3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防治责任范围全部纳入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管网工程区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临时占地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67208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防治责任范围一览表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44752"/>
          <a:ext cx="6720837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956"/>
                <a:gridCol w="1127766"/>
                <a:gridCol w="1130718"/>
                <a:gridCol w="1322616"/>
                <a:gridCol w="1992781"/>
              </a:tblGrid>
              <a:tr h="630936">
                <a:tc row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占地性质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占地类型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63093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公共管理与公共服务用地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3093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572768"/>
            <a:ext cx="31546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136" y="1700784"/>
            <a:ext cx="28986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34416.00m²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6136" y="2075688"/>
            <a:ext cx="28986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防治责任范围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615184"/>
            <a:ext cx="31546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46136" y="2743200"/>
            <a:ext cx="28986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34151.00m²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6136" y="3118104"/>
            <a:ext cx="28986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城镇村道路用地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3657600"/>
            <a:ext cx="31546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6136" y="3785615"/>
            <a:ext cx="28986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265.00m²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4160520"/>
            <a:ext cx="289864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公园与绿地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5093207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" y="513435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5074920"/>
            <a:ext cx="9820655" cy="6126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责任范围、占地类型和恢复对象在同一表内闭合，避免后续目标和措施脱离工程边界。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六项防治指标采用南方红壤区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一级标准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795527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水土流失防治目标值表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795527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889"/>
                <a:gridCol w="635100"/>
                <a:gridCol w="1091850"/>
                <a:gridCol w="3044999"/>
                <a:gridCol w="609870"/>
                <a:gridCol w="966569"/>
              </a:tblGrid>
              <a:tr h="514350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防治指标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标准值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采用标准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51435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设计水平年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设计水平年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水土流失治理度（%）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土壤流失控制比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0.9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+0.1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渣土防护率（%）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表土保护率（%）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+1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93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林草植被恢复率（%）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林草覆盖率（%）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按项目区实际情况调整为0.77%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0.77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887968" y="1645920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9116" y="1687068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1627632"/>
            <a:ext cx="2002536" cy="947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执行南方红壤区建设类项目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一级标准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2621280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29116" y="2662428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602992"/>
            <a:ext cx="2002536" cy="947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林草覆盖率按项目区实际情况调整为0.77%。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3596640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9116" y="3637787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3578352"/>
            <a:ext cx="2002536" cy="947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表土保护率修正后采用93%。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6177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0972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AF3F3"/>
                </a:solidFill>
                <a:latin typeface="Microsoft YaHei"/>
              </a:defRPr>
            </a:pPr>
            <a: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48840"/>
            <a:ext cx="1097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67712"/>
            <a:ext cx="80467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063240"/>
            <a:ext cx="8046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EAF3F3"/>
                </a:solidFill>
                <a:latin typeface="Microsoft YaHei"/>
              </a:rPr>
              <a:t>核对制约因素、土石方平衡和主体已列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措施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931920"/>
            <a:ext cx="38862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3931920"/>
            <a:ext cx="64008" cy="1207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4032504"/>
            <a:ext cx="352044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覆盖证据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4389120"/>
            <a:ext cx="3520440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围绕本章原表、原图、关键原文和计算口径展开，先给结论，再回到报告证据逐项核对。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931920"/>
            <a:ext cx="438912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EAF3F3"/>
                </a:solidFill>
                <a:latin typeface="Microsoft YaHei"/>
              </a:defRPr>
            </a:pPr>
            <a:r>
              <a:t>核对重点：边界、目标、工程量、计算参数、投资和验收责任必须与源报告保持一致。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5989320"/>
            <a:ext cx="640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AF3F3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水土保持法、技术标准和长江保护法评价结论均为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符合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44752"/>
            <a:ext cx="46634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44752"/>
            <a:ext cx="64008" cy="859536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554480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545336"/>
            <a:ext cx="391363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水土保持法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01952"/>
            <a:ext cx="429767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项目不涉及取土、挖沙、采石等禁止性因素。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560320"/>
            <a:ext cx="46634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560320"/>
            <a:ext cx="64008" cy="859536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6700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60903"/>
            <a:ext cx="391363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GB50433-2018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429767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工程选址、建设方案和施工组织不构成水保制约。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675887"/>
            <a:ext cx="46634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675887"/>
            <a:ext cx="64008" cy="859536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785615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776472"/>
            <a:ext cx="391363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长江保护法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33087"/>
            <a:ext cx="4297679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工程不属于长江岸线一公里范围内化工项目。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1097280"/>
            <a:ext cx="53492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水土保持法制约因素节选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1371600"/>
            <a:ext cx="1337310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1394460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43750" y="1371600"/>
            <a:ext cx="1337310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1182" y="1394460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条款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81059" y="1371600"/>
            <a:ext cx="1337310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8491" y="1394460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制约性因素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18369" y="1371600"/>
            <a:ext cx="1337310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5801" y="1394460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符合性分析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1834896"/>
            <a:ext cx="1337310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1857756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43750" y="1834896"/>
            <a:ext cx="1337310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1182" y="1857756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第十七条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81059" y="1834896"/>
            <a:ext cx="1337310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8491" y="1857756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地方各级人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18369" y="1834896"/>
            <a:ext cx="1337310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45801" y="1857756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本项目不涉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2298192"/>
            <a:ext cx="1337310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2321052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43750" y="2298192"/>
            <a:ext cx="1337310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1182" y="2321052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第十八条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81059" y="2298192"/>
            <a:ext cx="1337310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8491" y="2321052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水土流失严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18369" y="2298192"/>
            <a:ext cx="1337310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45801" y="2321052"/>
            <a:ext cx="1282445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本项目所在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2907792"/>
            <a:ext cx="53492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GB50433-2018制约因素节选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3182112"/>
            <a:ext cx="1069848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33872" y="3204972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76288" y="3182112"/>
            <a:ext cx="1069848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3204972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46136" y="3182112"/>
            <a:ext cx="1069848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7" y="3204972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规定内容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15984" y="3182112"/>
            <a:ext cx="1069848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43415" y="3204972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本方案符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85832" y="3182112"/>
            <a:ext cx="1069848" cy="4632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13263" y="3204972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是否存在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3645408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33872" y="3668268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76288" y="3645408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3720" y="3668268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工程选址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46136" y="3645408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73567" y="3668268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1、主体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15984" y="3645408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43415" y="3668268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1、本项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85832" y="3645408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13263" y="3668268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不存在制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06440" y="4108704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33872" y="4131564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76288" y="4108704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03720" y="4131564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施工组织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46136" y="4108704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73567" y="4131564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1、应控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15984" y="4108704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43415" y="4131564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1、本工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85832" y="4108704"/>
            <a:ext cx="1069848" cy="463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13263" y="4131564"/>
            <a:ext cx="1014983" cy="4267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不存在制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06440" y="4718304"/>
            <a:ext cx="53492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长江保护法制约因素节选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06440" y="4992624"/>
            <a:ext cx="1337310" cy="48006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33872" y="5015484"/>
            <a:ext cx="1282445" cy="4434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条款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43750" y="4992624"/>
            <a:ext cx="1337310" cy="48006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71182" y="5015484"/>
            <a:ext cx="1282445" cy="4434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要求内容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81059" y="4992624"/>
            <a:ext cx="1337310" cy="48006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8491" y="5015484"/>
            <a:ext cx="1282445" cy="4434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项目情况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18369" y="4992624"/>
            <a:ext cx="1337310" cy="48006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45801" y="5015484"/>
            <a:ext cx="1282445" cy="4434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符合性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06440" y="5472684"/>
            <a:ext cx="133731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33872" y="5495544"/>
            <a:ext cx="1282445" cy="4434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第二十六条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143750" y="5472684"/>
            <a:ext cx="133731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71182" y="5495544"/>
            <a:ext cx="1282445" cy="4434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禁止在长江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81059" y="5472684"/>
            <a:ext cx="133731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08491" y="5495544"/>
            <a:ext cx="1282445" cy="4434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本工程不在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18369" y="5472684"/>
            <a:ext cx="133731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845801" y="5495544"/>
            <a:ext cx="1282445" cy="4434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符合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土石方平衡显示弃方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委托消纳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、借方外购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97280"/>
            <a:ext cx="75438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工程土石方平衡表节选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71600"/>
            <a:ext cx="942975" cy="4434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394460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73327" y="1371600"/>
            <a:ext cx="942975" cy="4434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0759" y="1394460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工程分区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6302" y="1371600"/>
            <a:ext cx="942975" cy="4434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3734" y="1394460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9277" y="1371600"/>
            <a:ext cx="942975" cy="4434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6709" y="1394460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开挖量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2252" y="1371600"/>
            <a:ext cx="942975" cy="4434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9684" y="1394460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回填量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5227" y="1371600"/>
            <a:ext cx="942975" cy="4434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2659" y="1394460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调入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8202" y="1371600"/>
            <a:ext cx="942975" cy="4434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5634" y="1394460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131177" y="1371600"/>
            <a:ext cx="942975" cy="4434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8609" y="1394460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调出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181508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1837943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1473327" y="181508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0759" y="1837943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2416302" y="181508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43734" y="1837943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3359277" y="181508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6709" y="1837943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4302252" y="181508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9684" y="1837943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5245227" y="181508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2659" y="1837943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88202" y="181508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5634" y="1837943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来源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1177" y="181508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58609" y="1837943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225856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" y="2281427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73327" y="225856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00759" y="2281427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16302" y="225856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43734" y="2281427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表土剥离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59277" y="225856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6709" y="2281427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79.5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252" y="225856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9684" y="2281427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5245227" y="225856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72659" y="2281427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3" name="Rectangle 52"/>
          <p:cNvSpPr/>
          <p:nvPr/>
        </p:nvSpPr>
        <p:spPr>
          <a:xfrm>
            <a:off x="6188202" y="225856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5634" y="2281427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5" name="Rectangle 54"/>
          <p:cNvSpPr/>
          <p:nvPr/>
        </p:nvSpPr>
        <p:spPr>
          <a:xfrm>
            <a:off x="7131177" y="225856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58609" y="2281427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530352" y="270205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" y="272491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73327" y="270205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00759" y="272491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2416302" y="270205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43734" y="272491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表土回覆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59277" y="270205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86709" y="272491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4302252" y="270205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29684" y="272491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79.5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45227" y="270205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72659" y="272491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6188202" y="270205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5634" y="272491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7131177" y="270205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58609" y="272491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3" name="Rectangle 72"/>
          <p:cNvSpPr/>
          <p:nvPr/>
        </p:nvSpPr>
        <p:spPr>
          <a:xfrm>
            <a:off x="530352" y="314553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7784" y="316839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73327" y="314553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00759" y="316839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7" name="Rectangle 76"/>
          <p:cNvSpPr/>
          <p:nvPr/>
        </p:nvSpPr>
        <p:spPr>
          <a:xfrm>
            <a:off x="2416302" y="314553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43734" y="316839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基础土方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59277" y="314553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86709" y="316839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2977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02252" y="314553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29684" y="316839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3" name="Rectangle 82"/>
          <p:cNvSpPr/>
          <p:nvPr/>
        </p:nvSpPr>
        <p:spPr>
          <a:xfrm>
            <a:off x="5245227" y="314553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72659" y="316839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5" name="Rectangle 84"/>
          <p:cNvSpPr/>
          <p:nvPr/>
        </p:nvSpPr>
        <p:spPr>
          <a:xfrm>
            <a:off x="6188202" y="314553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5634" y="316839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7" name="Rectangle 86"/>
          <p:cNvSpPr/>
          <p:nvPr/>
        </p:nvSpPr>
        <p:spPr>
          <a:xfrm>
            <a:off x="7131177" y="314553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58609" y="316839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9" name="Rectangle 88"/>
          <p:cNvSpPr/>
          <p:nvPr/>
        </p:nvSpPr>
        <p:spPr>
          <a:xfrm>
            <a:off x="530352" y="3589020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7784" y="3611879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73327" y="3589020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00759" y="3611879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3" name="Rectangle 92"/>
          <p:cNvSpPr/>
          <p:nvPr/>
        </p:nvSpPr>
        <p:spPr>
          <a:xfrm>
            <a:off x="2416302" y="3589020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43734" y="3611879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基础土方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359277" y="3589020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86709" y="3611879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7" name="Rectangle 96"/>
          <p:cNvSpPr/>
          <p:nvPr/>
        </p:nvSpPr>
        <p:spPr>
          <a:xfrm>
            <a:off x="4302252" y="3589020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29684" y="3611879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1356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45227" y="3589020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72659" y="3611879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1" name="Rectangle 100"/>
          <p:cNvSpPr/>
          <p:nvPr/>
        </p:nvSpPr>
        <p:spPr>
          <a:xfrm>
            <a:off x="6188202" y="3589020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15634" y="3611879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3" name="Rectangle 102"/>
          <p:cNvSpPr/>
          <p:nvPr/>
        </p:nvSpPr>
        <p:spPr>
          <a:xfrm>
            <a:off x="7131177" y="3589020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58609" y="3611879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5" name="Rectangle 104"/>
          <p:cNvSpPr/>
          <p:nvPr/>
        </p:nvSpPr>
        <p:spPr>
          <a:xfrm>
            <a:off x="530352" y="403250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57784" y="4055364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73327" y="403250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00759" y="4055364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9" name="Rectangle 108"/>
          <p:cNvSpPr/>
          <p:nvPr/>
        </p:nvSpPr>
        <p:spPr>
          <a:xfrm>
            <a:off x="2416302" y="403250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443734" y="4055364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机制砂回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59277" y="403250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86709" y="4055364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3" name="Rectangle 112"/>
          <p:cNvSpPr/>
          <p:nvPr/>
        </p:nvSpPr>
        <p:spPr>
          <a:xfrm>
            <a:off x="4302252" y="403250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29684" y="4055364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760.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245227" y="403250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272659" y="4055364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7" name="Rectangle 116"/>
          <p:cNvSpPr/>
          <p:nvPr/>
        </p:nvSpPr>
        <p:spPr>
          <a:xfrm>
            <a:off x="6188202" y="403250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15634" y="4055364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9" name="Rectangle 118"/>
          <p:cNvSpPr/>
          <p:nvPr/>
        </p:nvSpPr>
        <p:spPr>
          <a:xfrm>
            <a:off x="7131177" y="4032504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58609" y="4055364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1" name="Rectangle 120"/>
          <p:cNvSpPr/>
          <p:nvPr/>
        </p:nvSpPr>
        <p:spPr>
          <a:xfrm>
            <a:off x="530352" y="447598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57784" y="4498848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473327" y="447598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00759" y="4498848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5" name="Rectangle 124"/>
          <p:cNvSpPr/>
          <p:nvPr/>
        </p:nvSpPr>
        <p:spPr>
          <a:xfrm>
            <a:off x="2416302" y="447598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443734" y="4498848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道路破除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359277" y="447598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386709" y="4498848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1560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302252" y="447598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329684" y="4498848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1" name="Rectangle 130"/>
          <p:cNvSpPr/>
          <p:nvPr/>
        </p:nvSpPr>
        <p:spPr>
          <a:xfrm>
            <a:off x="5245227" y="447598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272659" y="4498848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3" name="Rectangle 132"/>
          <p:cNvSpPr/>
          <p:nvPr/>
        </p:nvSpPr>
        <p:spPr>
          <a:xfrm>
            <a:off x="6188202" y="447598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215634" y="4498848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5" name="Rectangle 134"/>
          <p:cNvSpPr/>
          <p:nvPr/>
        </p:nvSpPr>
        <p:spPr>
          <a:xfrm>
            <a:off x="7131177" y="4475988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158609" y="4498848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530352" y="491947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57784" y="494233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473327" y="491947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00759" y="494233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1" name="Rectangle 140"/>
          <p:cNvSpPr/>
          <p:nvPr/>
        </p:nvSpPr>
        <p:spPr>
          <a:xfrm>
            <a:off x="2416302" y="491947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443734" y="494233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路面恢复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359277" y="491947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386709" y="494233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5" name="Rectangle 144"/>
          <p:cNvSpPr/>
          <p:nvPr/>
        </p:nvSpPr>
        <p:spPr>
          <a:xfrm>
            <a:off x="4302252" y="491947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329684" y="494233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35.2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245227" y="491947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272659" y="494233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9" name="Rectangle 148"/>
          <p:cNvSpPr/>
          <p:nvPr/>
        </p:nvSpPr>
        <p:spPr>
          <a:xfrm>
            <a:off x="6188202" y="491947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15634" y="494233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1" name="Rectangle 150"/>
          <p:cNvSpPr/>
          <p:nvPr/>
        </p:nvSpPr>
        <p:spPr>
          <a:xfrm>
            <a:off x="7131177" y="4919472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158609" y="4942332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3" name="Rectangle 152"/>
          <p:cNvSpPr/>
          <p:nvPr/>
        </p:nvSpPr>
        <p:spPr>
          <a:xfrm>
            <a:off x="530352" y="536295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57784" y="538581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73327" y="536295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00759" y="538581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7" name="Rectangle 156"/>
          <p:cNvSpPr/>
          <p:nvPr/>
        </p:nvSpPr>
        <p:spPr>
          <a:xfrm>
            <a:off x="2416302" y="536295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443734" y="538581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清淤土方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359277" y="536295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386709" y="538581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355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02252" y="536295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329684" y="538581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3" name="Rectangle 162"/>
          <p:cNvSpPr/>
          <p:nvPr/>
        </p:nvSpPr>
        <p:spPr>
          <a:xfrm>
            <a:off x="5245227" y="536295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272659" y="538581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5" name="Rectangle 164"/>
          <p:cNvSpPr/>
          <p:nvPr/>
        </p:nvSpPr>
        <p:spPr>
          <a:xfrm>
            <a:off x="6188202" y="536295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215634" y="538581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7" name="Rectangle 166"/>
          <p:cNvSpPr/>
          <p:nvPr/>
        </p:nvSpPr>
        <p:spPr>
          <a:xfrm>
            <a:off x="7131177" y="5362956"/>
            <a:ext cx="942975" cy="4434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158609" y="5385816"/>
            <a:ext cx="888111" cy="4069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9" name="Rectangle 168"/>
          <p:cNvSpPr/>
          <p:nvPr/>
        </p:nvSpPr>
        <p:spPr>
          <a:xfrm>
            <a:off x="8394192" y="1554480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435340" y="1595628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814816" y="1536192"/>
            <a:ext cx="2322576" cy="1130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总挖方4971.61m³、总填方2232.54m³。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394192" y="2712719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435340" y="2753867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814816" y="2694431"/>
            <a:ext cx="2322576" cy="1130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弃方4892.11m³，建筑垃圾和清淤土方均委托外运消纳。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394192" y="3870959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435340" y="3912108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814816" y="3852671"/>
            <a:ext cx="2322576" cy="1130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借方2153.04m³由外购土石方解决，施工过程不设置临时堆土场。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0E9F9A"/>
                </a:solidFill>
                <a:latin typeface="Microsoft YaHei"/>
              </a:rPr>
              <a:t>主体工程已列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措施以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土地整治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和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铺种草皮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为主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78992"/>
            <a:ext cx="75438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主体工程已列水保措施量及投资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353312"/>
          <a:ext cx="7543798" cy="4114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58"/>
                <a:gridCol w="1466643"/>
                <a:gridCol w="533475"/>
                <a:gridCol w="784522"/>
                <a:gridCol w="917478"/>
                <a:gridCol w="1000059"/>
                <a:gridCol w="1969563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单价（元）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合计（万元）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主体工程已列投资（万元）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587828">
                <a:tc gridSpan="6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87828">
                <a:tc gridSpan="6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第二部分 植物措施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23.34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458200" y="1591056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9348" y="1632204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8824" y="1572768"/>
            <a:ext cx="2276856" cy="10241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主体已列投资覆盖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土地整治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和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铺种草皮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2642616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9348" y="2683764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624328"/>
            <a:ext cx="2276856" cy="10241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土地整治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单价0.74元/m²，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铺种草皮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单价23.34元/m²。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3694176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9348" y="3735324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3675888"/>
            <a:ext cx="2276856" cy="10241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方案新增措施需补足施工期临时防护。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6177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0972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AF3F3"/>
                </a:solidFill>
                <a:latin typeface="Microsoft YaHei"/>
              </a:defRPr>
            </a:pPr>
            <a: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48840"/>
            <a:ext cx="1097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67712"/>
            <a:ext cx="80467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063240"/>
            <a:ext cx="8046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3F3"/>
                </a:solidFill>
                <a:latin typeface="Microsoft YaHei"/>
              </a:defRPr>
            </a:pPr>
            <a:r>
              <a:t>展示预测范围、侵蚀模数、计算参数和流失结果。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931920"/>
            <a:ext cx="38862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3931920"/>
            <a:ext cx="64008" cy="1207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4032504"/>
            <a:ext cx="352044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覆盖证据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4389120"/>
            <a:ext cx="3520440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围绕本章原表、原图、关键原文和计算口径展开，先给结论，再回到报告证据逐项核对。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931920"/>
            <a:ext cx="438912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EAF3F3"/>
                </a:solidFill>
                <a:latin typeface="Microsoft YaHei"/>
              </a:defRPr>
            </a:pPr>
            <a:r>
              <a:t>核对重点：边界、目标、工程量、计算参数、投资和验收责任必须与源报告保持一致。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5989320"/>
            <a:ext cx="640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AF3F3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预测范围与防治责任范围一致，预测单元为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管网工程区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78992"/>
            <a:ext cx="53035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扰动地表面积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353312"/>
          <a:ext cx="5303517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976"/>
                <a:gridCol w="1290976"/>
                <a:gridCol w="2022919"/>
                <a:gridCol w="698646"/>
              </a:tblGrid>
              <a:tr h="329184">
                <a:tc row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项目组成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扰动地表面积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329184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公共管理与公共服务用地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08192" y="1078992"/>
            <a:ext cx="5074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预测单元划分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08192" y="1353312"/>
          <a:ext cx="507491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478"/>
                <a:gridCol w="2005142"/>
                <a:gridCol w="1627298"/>
              </a:tblGrid>
              <a:tr h="411480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水土流失预测分区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预测单元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土壤流失类型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面积（m²）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11480"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地表翻扰型一般扰动地表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植被破坏型一般扰动地表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3182112"/>
            <a:ext cx="53035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预测范围与时段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3456432"/>
          <a:ext cx="5303517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004"/>
                <a:gridCol w="941527"/>
                <a:gridCol w="1216330"/>
                <a:gridCol w="687863"/>
                <a:gridCol w="1039793"/>
              </a:tblGrid>
              <a:tr h="472440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预测范围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预测面积（m²）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预测时段（a）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47244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自然恢复期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自然恢复期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254496" y="3621024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5644" y="3662172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02736"/>
            <a:ext cx="4334256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预测范围与防治责任范围一致，均以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管网工程区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为控制对象。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4270248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5644" y="431139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51960"/>
            <a:ext cx="4334256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施工期对应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34416.00m²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扰动范围，自然恢复期对应265.00m²绿化恢复范围。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背景土壤侵蚀模数由占地类型加权形成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97280"/>
            <a:ext cx="56235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各地类土壤侵蚀模数取值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371600"/>
          <a:ext cx="562355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989"/>
                <a:gridCol w="1089212"/>
                <a:gridCol w="794192"/>
                <a:gridCol w="1266103"/>
                <a:gridCol w="882032"/>
                <a:gridCol w="819029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土地利用类型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坡度（°）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林草覆盖度（%）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平均土壤侵蚀模数[t/(km。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土壤侵蚀强度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260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微度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450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轻度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127248"/>
            <a:ext cx="56235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背景值计算表节选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01568"/>
            <a:ext cx="937260" cy="3291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24428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预测分区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4188" y="3401568"/>
            <a:ext cx="937260" cy="3291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1620" y="3424428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占地类型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41448" y="3401568"/>
            <a:ext cx="937260" cy="3291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424428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378708" y="3401568"/>
            <a:ext cx="937260" cy="3291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40" y="3424428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4315968" y="3401568"/>
            <a:ext cx="937260" cy="3291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424428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平均土壤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3228" y="3401568"/>
            <a:ext cx="937260" cy="329184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0660" y="3424428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730752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53612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1504188" y="3730752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1620" y="3753612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交通运输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41448" y="3730752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3753612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公共管理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8708" y="3730752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6140" y="3753612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小计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5968" y="3730752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3753612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城镇村道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3228" y="3730752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0660" y="3753612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公园与绿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059936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082796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1504188" y="4059936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31620" y="4082796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城镇村道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41448" y="4059936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082796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公园与绿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78708" y="4059936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06140" y="4082796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3" name="Rectangle 42"/>
          <p:cNvSpPr/>
          <p:nvPr/>
        </p:nvSpPr>
        <p:spPr>
          <a:xfrm>
            <a:off x="4315968" y="4059936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4082796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5253228" y="4059936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80660" y="4082796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566928" y="4389120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411980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4188" y="4389120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1620" y="4411980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3415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41448" y="4389120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68880" y="4411980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265.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8708" y="4389120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06140" y="4411980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3441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15968" y="4389120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4411980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260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3228" y="4389120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80660" y="4411980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450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4718304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741164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合计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04188" y="4718304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31620" y="4741164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3415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41448" y="4718304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68880" y="4741164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265.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78708" y="4718304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06140" y="4741164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3441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15968" y="4718304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3400" y="4741164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260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53228" y="4718304"/>
            <a:ext cx="9372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80660" y="4741164"/>
            <a:ext cx="882396" cy="2926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450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20840" y="1536192"/>
            <a:ext cx="2103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48855" y="1664207"/>
            <a:ext cx="18470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261.46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48855" y="2039112"/>
            <a:ext cx="184708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背景侵蚀模数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34272" y="1536192"/>
            <a:ext cx="2103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62288" y="1664207"/>
            <a:ext cx="18470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500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62288" y="2039112"/>
            <a:ext cx="184708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容许流失量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66560" y="2761488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07708" y="280263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87184" y="2743200"/>
            <a:ext cx="3803904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132D46"/>
                </a:solidFill>
                <a:latin typeface="Microsoft YaHei"/>
              </a:defRPr>
            </a:pPr>
            <a:r>
              <a:t>背景模数由城镇村道路用地和公园与绿地面积加权形成。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3502152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07708" y="3543300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87184" y="3483864"/>
            <a:ext cx="3803904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132D46"/>
                </a:solidFill>
                <a:latin typeface="Microsoft YaHei"/>
              </a:defRPr>
            </a:pPr>
            <a:r>
              <a:t>背景值是后续施工期新增水土流失量计算的比较基准。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施工期侵蚀模数显著高于背景值，自然恢复期仍需覆盖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23317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45336"/>
            <a:ext cx="20756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1153.34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20240"/>
            <a:ext cx="207568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植被破坏型施工期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417320"/>
            <a:ext cx="23317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545336"/>
            <a:ext cx="20756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3032.58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920240"/>
            <a:ext cx="207568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地表翻扰型施工期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7024" y="1417320"/>
            <a:ext cx="23317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45336"/>
            <a:ext cx="20756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322.11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920240"/>
            <a:ext cx="207568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自然恢复期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417320"/>
            <a:ext cx="23317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1545336"/>
            <a:ext cx="20756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3018.60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1920240"/>
            <a:ext cx="207568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综合施工期取值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514600"/>
            <a:ext cx="47548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土壤侵蚀模数取值表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88920"/>
            <a:ext cx="1584960" cy="3962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811779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分区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4768" y="2788920"/>
            <a:ext cx="1584960" cy="3962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2199" y="2811779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本项目土壤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19728" y="2788920"/>
            <a:ext cx="1584960" cy="39624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47160" y="2811779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749808" y="3185160"/>
            <a:ext cx="158496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208020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2334768" y="3185160"/>
            <a:ext cx="158496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62199" y="3208020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施工期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19728" y="3185160"/>
            <a:ext cx="158496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47160" y="3208020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自然恢复期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581400"/>
            <a:ext cx="158496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604260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4768" y="3581400"/>
            <a:ext cx="158496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62199" y="3604260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3018.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19728" y="3581400"/>
            <a:ext cx="158496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47160" y="3604260"/>
            <a:ext cx="1530096" cy="359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322.1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2807208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39028" y="284835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4" y="2788920"/>
            <a:ext cx="4517136" cy="7589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施工期取值显著高于背景土壤侵蚀模数，反映施工扰动对水土流失强度的放大作用。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97880" y="3593591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39028" y="3634739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3575303"/>
            <a:ext cx="4517136" cy="7589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自然恢复期取值降至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322.11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t/km²·a，但仍需覆盖植被恢复阶段。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4389120"/>
            <a:ext cx="32461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植被破坏型参数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61338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88770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2868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00299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因子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84397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11829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8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61338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88770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土壤侵蚀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72868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00299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84397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11829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1153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8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61338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88770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降雨侵蚀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72868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00299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84397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11829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7179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8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61338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88770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土壤可蚀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72868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00299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84397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11829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34840" y="4389120"/>
            <a:ext cx="32461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地表翻扰型参数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34840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62272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46370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73802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57900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85332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因子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69429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96862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34840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62272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46370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73802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土壤侵蚀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57900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85332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69429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96862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3032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34840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62272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46370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73802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降雨侵蚀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57900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085332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69429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96862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7179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434840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462272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246370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73802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翻扰后土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57900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85332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Kyd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69429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96862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19872" y="4389120"/>
            <a:ext cx="32461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自然恢复期参数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19872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147304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序号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31402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58834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42932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70364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因子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554462" y="4663440"/>
            <a:ext cx="811530" cy="24003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581894" y="468630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119872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147304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31402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58834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土壤侵蚀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42932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770364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554462" y="490347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581894" y="492633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322.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119872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147304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931402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58834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降雨侵蚀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742932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770364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54462" y="5143500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581894" y="516636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7179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119872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147304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931402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958834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土壤可蚀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742932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70364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K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554462" y="5383529"/>
            <a:ext cx="811530" cy="2400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581894" y="5406390"/>
            <a:ext cx="756665" cy="20345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预测土壤流失总量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104.05t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，新增量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94.92t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78992"/>
            <a:ext cx="77724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土壤流失量预测结果表节选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53312"/>
            <a:ext cx="971550" cy="89611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376172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预测单元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1902" y="1353312"/>
            <a:ext cx="971550" cy="89611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9334" y="1376172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预测面积（hm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3452" y="1353312"/>
            <a:ext cx="971550" cy="89611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0884" y="1376172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3445002" y="1353312"/>
            <a:ext cx="971550" cy="89611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2434" y="1376172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预测时段（a)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1353312"/>
            <a:ext cx="971550" cy="89611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1376172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5388102" y="1353312"/>
            <a:ext cx="971550" cy="89611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5534" y="1376172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侵蚀模数（t/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9652" y="1353312"/>
            <a:ext cx="971550" cy="89611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7084" y="1376172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31202" y="1353312"/>
            <a:ext cx="971550" cy="89611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8633" y="1376172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530352" y="2249424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2272284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1501902" y="2249424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9334" y="2272284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施工期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3452" y="2249424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00884" y="2272284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自然恢复期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45002" y="2249424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2434" y="2272284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施工期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6552" y="2249424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3984" y="2272284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自然恢复期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8102" y="2249424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5534" y="2272284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背景值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9652" y="2249424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7084" y="2272284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施工期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1202" y="2249424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58633" y="2272284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自然恢复期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3145536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" y="3168396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3" name="Rectangle 42"/>
          <p:cNvSpPr/>
          <p:nvPr/>
        </p:nvSpPr>
        <p:spPr>
          <a:xfrm>
            <a:off x="1501902" y="3145536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29334" y="3168396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2473452" y="3145536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00884" y="3168396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3445002" y="3145536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2434" y="3168396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4416552" y="3145536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3984" y="3168396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5388102" y="3145536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5534" y="3168396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3" name="Rectangle 52"/>
          <p:cNvSpPr/>
          <p:nvPr/>
        </p:nvSpPr>
        <p:spPr>
          <a:xfrm>
            <a:off x="6359652" y="3145536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7084" y="3168396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5" name="Rectangle 54"/>
          <p:cNvSpPr/>
          <p:nvPr/>
        </p:nvSpPr>
        <p:spPr>
          <a:xfrm>
            <a:off x="7331202" y="3145536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58633" y="3168396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530352" y="4041648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" y="4064508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01902" y="4041648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9334" y="4064508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3.4416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73452" y="4041648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00884" y="4064508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0.0256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45002" y="4041648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2434" y="4064508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16552" y="4041648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43984" y="4064508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88102" y="4041648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15534" y="4064508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261.46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59652" y="4041648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87084" y="4064508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3018.60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31202" y="4041648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58633" y="4064508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322.11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0352" y="4937760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7784" y="4960620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合计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01902" y="4937760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29334" y="4960620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3.4416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73452" y="4937760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00884" y="4960620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0.0256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45002" y="4937760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72434" y="4960620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/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16552" y="4937760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43984" y="4960620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/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88102" y="4937760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15534" y="4960620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261.46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59652" y="4937760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87084" y="4960620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3018.60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31202" y="4937760"/>
            <a:ext cx="97155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58633" y="4960620"/>
            <a:ext cx="916686" cy="8595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322.11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1554480"/>
            <a:ext cx="265176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69096" y="1682495"/>
            <a:ext cx="239572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104.05t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69096" y="2057400"/>
            <a:ext cx="2395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预测土壤流失总量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41080" y="2596896"/>
            <a:ext cx="265176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69096" y="2724912"/>
            <a:ext cx="239572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94.92t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69096" y="3099815"/>
            <a:ext cx="239572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新增土壤流失量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50224" y="3858768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91372" y="389991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70848" y="3840480"/>
            <a:ext cx="2157984" cy="123443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新增流失量主要由施工扰动贡献，施工期是措施布设重点。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6177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0972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AF3F3"/>
                </a:solidFill>
                <a:latin typeface="Microsoft YaHei"/>
              </a:defRPr>
            </a:pPr>
            <a:r>
              <a:t>CHAPTER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48840"/>
            <a:ext cx="1097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67712"/>
            <a:ext cx="80467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063240"/>
            <a:ext cx="8046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EAF3F3"/>
                </a:solidFill>
                <a:latin typeface="Microsoft YaHei"/>
              </a:rPr>
              <a:t>呈现分区、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措施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体系、工程量和施工进度衔接。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931920"/>
            <a:ext cx="38862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3931920"/>
            <a:ext cx="64008" cy="1207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4032504"/>
            <a:ext cx="352044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覆盖证据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4389120"/>
            <a:ext cx="3520440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围绕本章原表、原图、关键原文和计算口径展开，先给结论，再回到报告证据逐项核对。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931920"/>
            <a:ext cx="438912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EAF3F3"/>
                </a:solidFill>
                <a:latin typeface="Microsoft YaHei"/>
              </a:defRPr>
            </a:pPr>
            <a:r>
              <a:t>核对重点：边界、目标、工程量、计算参数、投资和验收责任必须与源报告保持一致。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5989320"/>
            <a:ext cx="640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AF3F3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防治分区为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管网工程区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，防治面积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34416.00m²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水土流失防治区划分表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554480"/>
          <a:ext cx="548639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610"/>
                <a:gridCol w="1455394"/>
                <a:gridCol w="1455394"/>
              </a:tblGrid>
              <a:tr h="480060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防治面积（m²）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48006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720840" y="1682496"/>
            <a:ext cx="20574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8855" y="1810512"/>
            <a:ext cx="180136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1个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5" y="2185416"/>
            <a:ext cx="18013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防治分区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0848" y="1682496"/>
            <a:ext cx="20574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8864" y="1810512"/>
            <a:ext cx="180136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34416.00m²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2185416"/>
            <a:ext cx="18013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防治面积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87368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" y="412851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069080"/>
            <a:ext cx="9637776" cy="10241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报告将防治分区划定为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管网工程区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，后续措施体系、工程量、投资估算和防治效益均以该分区为基础。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300" b="1">
                <a:solidFill>
                  <a:srgbClr val="132D46"/>
                </a:solidFill>
                <a:latin typeface="Microsoft YaHei"/>
              </a:defRPr>
            </a:pPr>
            <a:r>
              <a:t>措施体系覆盖工程、植物和临时三类措施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51560"/>
            <a:ext cx="55778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水土流失防治措施体系表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325880"/>
          <a:ext cx="557783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124"/>
                <a:gridCol w="566777"/>
                <a:gridCol w="995331"/>
                <a:gridCol w="720091"/>
                <a:gridCol w="713451"/>
                <a:gridCol w="520904"/>
                <a:gridCol w="1067159"/>
              </a:tblGrid>
              <a:tr h="640080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工程措施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植物措施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临时措施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64008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表土剥离、表土回覆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临时苫盖、高压洗车机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456432"/>
            <a:ext cx="55778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措施工程量汇总表节选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30752"/>
            <a:ext cx="929640" cy="28738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53612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项目组成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6568" y="3730752"/>
            <a:ext cx="929640" cy="28738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3753612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水土保持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6208" y="3730752"/>
            <a:ext cx="929640" cy="28738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3640" y="3753612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355848" y="3730752"/>
            <a:ext cx="929640" cy="28738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3753612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单位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5488" y="3730752"/>
            <a:ext cx="929640" cy="28738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2920" y="3753612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5128" y="3730752"/>
            <a:ext cx="929640" cy="28738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2560" y="3753612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备注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018134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040994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96568" y="4018134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4000" y="4040994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工程措施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6208" y="4018134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3640" y="4040994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表土剥离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4018134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79" y="4040994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m³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5488" y="4018134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2920" y="4040994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79.5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5128" y="4018134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42560" y="4040994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方案新增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305517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328377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1496568" y="4305517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24000" y="4328377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2426208" y="4305517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3640" y="4328377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表土回覆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55848" y="4305517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79" y="4328377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m³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85488" y="4305517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2920" y="4328377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79.5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5128" y="4305517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42560" y="4328377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方案新增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592900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615760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1496568" y="4592900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24000" y="4615760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2426208" y="4592900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53640" y="4615760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土地整治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55848" y="4592900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79" y="4615760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m²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85488" y="4592900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12920" y="4615760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15128" y="4592900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42560" y="4615760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主体设计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4880283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903143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1496568" y="4880283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24000" y="4903143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植物措施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26208" y="4880283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53640" y="4903143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铺种草皮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55848" y="4880283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83279" y="4903143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m²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85488" y="4880283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12920" y="4903143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265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5128" y="4880283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42560" y="4903143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主体设计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5167666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5190526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3" name="Rectangle 72"/>
          <p:cNvSpPr/>
          <p:nvPr/>
        </p:nvSpPr>
        <p:spPr>
          <a:xfrm>
            <a:off x="1496568" y="5167666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24000" y="5190526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临时措施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26208" y="5167666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53640" y="5190526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临时苫盖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355848" y="5167666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83279" y="5190526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m²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85488" y="5167666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12920" y="5190526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15128" y="5167666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42560" y="5190526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方案新增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" y="5455049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4360" y="5477909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5" name="Rectangle 84"/>
          <p:cNvSpPr/>
          <p:nvPr/>
        </p:nvSpPr>
        <p:spPr>
          <a:xfrm>
            <a:off x="1496568" y="5455049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24000" y="5477909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7" name="Rectangle 86"/>
          <p:cNvSpPr/>
          <p:nvPr/>
        </p:nvSpPr>
        <p:spPr>
          <a:xfrm>
            <a:off x="2426208" y="5455049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53640" y="5477909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高压洗车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55848" y="5455049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83279" y="5477909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台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85488" y="5455049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12920" y="5477909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15128" y="5455049"/>
            <a:ext cx="929640" cy="28738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42560" y="5477909"/>
            <a:ext cx="874775" cy="25080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方案新增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83680" y="1417320"/>
            <a:ext cx="4343400" cy="96926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583680" y="1417320"/>
            <a:ext cx="64008" cy="969264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48272" y="152704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68896" y="1517904"/>
            <a:ext cx="359359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工程措施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84848" y="1874519"/>
            <a:ext cx="3977639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表土剥离、表土回覆、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土地整治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83680" y="2715768"/>
            <a:ext cx="4343400" cy="96926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583680" y="2715768"/>
            <a:ext cx="64008" cy="969264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48272" y="2825496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68896" y="2816351"/>
            <a:ext cx="359359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植物措施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784848" y="3172968"/>
            <a:ext cx="3977639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铺种草皮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，衔接道路绿化恢复。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0" y="4014215"/>
            <a:ext cx="4343400" cy="96926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0" y="4014215"/>
            <a:ext cx="64008" cy="969264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48272" y="4123944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68896" y="4114800"/>
            <a:ext cx="359359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临时措施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84848" y="4471416"/>
            <a:ext cx="3977639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临时苫盖和高压洗车机控制裸露面与车辆带泥。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措施实施进度嵌入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2025—2026年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施工窗口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24127"/>
            <a:ext cx="10927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水土保持措施实施进度表节选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1365885" cy="33310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321307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项目组成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4525" y="1298448"/>
            <a:ext cx="1365885" cy="33310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1956" y="1321307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水土保持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0410" y="1298448"/>
            <a:ext cx="1365885" cy="33310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7841" y="1321307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646294" y="1298448"/>
            <a:ext cx="1365885" cy="33310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3726" y="1321307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2179" y="1298448"/>
            <a:ext cx="1365885" cy="33310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9612" y="1321307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8065" y="1298448"/>
            <a:ext cx="1365885" cy="33310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5496" y="1321307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8743949" y="1298448"/>
            <a:ext cx="1365885" cy="33310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1381" y="1321307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10109834" y="1298448"/>
            <a:ext cx="1365885" cy="333102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7266" y="1321307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548640" y="1631550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1654410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1914525" y="1631550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1956" y="1654410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3280410" y="1631550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07841" y="1654410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4646294" y="1631550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3726" y="1654410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12月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2179" y="1631550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9612" y="1654410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78065" y="1631550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5496" y="1654410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43949" y="1631550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1381" y="1654410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09834" y="1631550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37266" y="1654410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1964653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1987513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14525" y="1964653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41956" y="1987513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工程措施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80410" y="1964653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07841" y="1987513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表土剥离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46294" y="1964653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73726" y="1987513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6012179" y="1964653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9612" y="1987513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7378065" y="1964653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5496" y="1987513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3" name="Rectangle 52"/>
          <p:cNvSpPr/>
          <p:nvPr/>
        </p:nvSpPr>
        <p:spPr>
          <a:xfrm>
            <a:off x="8743949" y="1964653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1381" y="1987513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5" name="Rectangle 54"/>
          <p:cNvSpPr/>
          <p:nvPr/>
        </p:nvSpPr>
        <p:spPr>
          <a:xfrm>
            <a:off x="10109834" y="1964653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37266" y="1987513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548640" y="2297756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" y="2320616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9" name="Rectangle 58"/>
          <p:cNvSpPr/>
          <p:nvPr/>
        </p:nvSpPr>
        <p:spPr>
          <a:xfrm>
            <a:off x="1914525" y="2297756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41956" y="2320616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3280410" y="2297756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07841" y="2320616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表土回覆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46294" y="2297756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73726" y="2320616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6012179" y="2297756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39612" y="2320616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7" name="Rectangle 66"/>
          <p:cNvSpPr/>
          <p:nvPr/>
        </p:nvSpPr>
        <p:spPr>
          <a:xfrm>
            <a:off x="7378065" y="2297756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05496" y="2320616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8743949" y="2297756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1381" y="2320616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10109834" y="2297756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37266" y="2320616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3" name="Rectangle 72"/>
          <p:cNvSpPr/>
          <p:nvPr/>
        </p:nvSpPr>
        <p:spPr>
          <a:xfrm>
            <a:off x="548640" y="2630859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72" y="2653719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5" name="Rectangle 74"/>
          <p:cNvSpPr/>
          <p:nvPr/>
        </p:nvSpPr>
        <p:spPr>
          <a:xfrm>
            <a:off x="1914525" y="2630859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41956" y="2653719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7" name="Rectangle 76"/>
          <p:cNvSpPr/>
          <p:nvPr/>
        </p:nvSpPr>
        <p:spPr>
          <a:xfrm>
            <a:off x="3280410" y="2630859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07841" y="2653719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土地整治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46294" y="2630859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73726" y="2653719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1" name="Rectangle 80"/>
          <p:cNvSpPr/>
          <p:nvPr/>
        </p:nvSpPr>
        <p:spPr>
          <a:xfrm>
            <a:off x="6012179" y="2630859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39612" y="2653719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3" name="Rectangle 82"/>
          <p:cNvSpPr/>
          <p:nvPr/>
        </p:nvSpPr>
        <p:spPr>
          <a:xfrm>
            <a:off x="7378065" y="2630859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05496" y="2653719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5" name="Rectangle 84"/>
          <p:cNvSpPr/>
          <p:nvPr/>
        </p:nvSpPr>
        <p:spPr>
          <a:xfrm>
            <a:off x="8743949" y="2630859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71381" y="2653719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7" name="Rectangle 86"/>
          <p:cNvSpPr/>
          <p:nvPr/>
        </p:nvSpPr>
        <p:spPr>
          <a:xfrm>
            <a:off x="10109834" y="2630859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37266" y="2653719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9" name="Rectangle 88"/>
          <p:cNvSpPr/>
          <p:nvPr/>
        </p:nvSpPr>
        <p:spPr>
          <a:xfrm>
            <a:off x="548640" y="2963962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6072" y="2986822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1" name="Rectangle 90"/>
          <p:cNvSpPr/>
          <p:nvPr/>
        </p:nvSpPr>
        <p:spPr>
          <a:xfrm>
            <a:off x="1914525" y="2963962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41956" y="2986822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植物措施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80410" y="2963962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07841" y="2986822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铺种草皮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46294" y="2963962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73726" y="2986822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7" name="Rectangle 96"/>
          <p:cNvSpPr/>
          <p:nvPr/>
        </p:nvSpPr>
        <p:spPr>
          <a:xfrm>
            <a:off x="6012179" y="2963962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039612" y="2986822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9" name="Rectangle 98"/>
          <p:cNvSpPr/>
          <p:nvPr/>
        </p:nvSpPr>
        <p:spPr>
          <a:xfrm>
            <a:off x="7378065" y="2963962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05496" y="2986822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1" name="Rectangle 100"/>
          <p:cNvSpPr/>
          <p:nvPr/>
        </p:nvSpPr>
        <p:spPr>
          <a:xfrm>
            <a:off x="8743949" y="2963962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771381" y="2986822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3" name="Rectangle 102"/>
          <p:cNvSpPr/>
          <p:nvPr/>
        </p:nvSpPr>
        <p:spPr>
          <a:xfrm>
            <a:off x="10109834" y="2963962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137266" y="2986822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5" name="Rectangle 104"/>
          <p:cNvSpPr/>
          <p:nvPr/>
        </p:nvSpPr>
        <p:spPr>
          <a:xfrm>
            <a:off x="548640" y="3297065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6072" y="3319925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7" name="Rectangle 106"/>
          <p:cNvSpPr/>
          <p:nvPr/>
        </p:nvSpPr>
        <p:spPr>
          <a:xfrm>
            <a:off x="1914525" y="3297065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941956" y="3319925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临时措施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80410" y="3297065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07841" y="3319925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临时苫盖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46294" y="3297065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73726" y="3319925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3" name="Rectangle 112"/>
          <p:cNvSpPr/>
          <p:nvPr/>
        </p:nvSpPr>
        <p:spPr>
          <a:xfrm>
            <a:off x="6012179" y="3297065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039612" y="3319925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5" name="Rectangle 114"/>
          <p:cNvSpPr/>
          <p:nvPr/>
        </p:nvSpPr>
        <p:spPr>
          <a:xfrm>
            <a:off x="7378065" y="3297065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405496" y="3319925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7" name="Rectangle 116"/>
          <p:cNvSpPr/>
          <p:nvPr/>
        </p:nvSpPr>
        <p:spPr>
          <a:xfrm>
            <a:off x="8743949" y="3297065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71381" y="3319925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9" name="Rectangle 118"/>
          <p:cNvSpPr/>
          <p:nvPr/>
        </p:nvSpPr>
        <p:spPr>
          <a:xfrm>
            <a:off x="10109834" y="3297065"/>
            <a:ext cx="1365885" cy="33310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137266" y="3319925"/>
            <a:ext cx="1311020" cy="2965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1" name="Rectangle 120"/>
          <p:cNvSpPr/>
          <p:nvPr/>
        </p:nvSpPr>
        <p:spPr>
          <a:xfrm>
            <a:off x="822960" y="4736592"/>
            <a:ext cx="2148840" cy="64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31520" y="4956048"/>
            <a:ext cx="23317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31520" y="4956048"/>
            <a:ext cx="64008" cy="7498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96112" y="5065776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16736" y="5056632"/>
            <a:ext cx="15819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2025年12月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2688" y="5413248"/>
            <a:ext cx="19659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施工准备与扰动启动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520440" y="4736592"/>
            <a:ext cx="2148840" cy="64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429000" y="4956048"/>
            <a:ext cx="23317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429000" y="4956048"/>
            <a:ext cx="64008" cy="74980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593592" y="5065776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14215" y="5056632"/>
            <a:ext cx="15819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2026年1—8月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5413248"/>
            <a:ext cx="19659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顶管井施工、顶管施工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17920" y="4736592"/>
            <a:ext cx="2148840" cy="64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126480" y="4956048"/>
            <a:ext cx="23317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126480" y="4956048"/>
            <a:ext cx="64008" cy="749808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91072" y="5065776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11696" y="5056632"/>
            <a:ext cx="1581912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2026年9—12月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5413248"/>
            <a:ext cx="19659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路面恢复、绿化恢复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915400" y="4736592"/>
            <a:ext cx="2148840" cy="64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823960" y="4956048"/>
            <a:ext cx="23317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823960" y="4956048"/>
            <a:ext cx="64008" cy="749808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988552" y="5065776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409176" y="5056632"/>
            <a:ext cx="158191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132D46"/>
                </a:solidFill>
                <a:latin typeface="Microsoft YaHei"/>
              </a:rPr>
              <a:t>验收前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25128" y="5413248"/>
            <a:ext cx="19659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资料整理与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设施验收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6177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097280"/>
            <a:ext cx="29260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AF3F3"/>
                </a:solidFill>
                <a:latin typeface="Microsoft YaHei"/>
              </a:defRPr>
            </a:pPr>
            <a:r>
              <a:t>CHAPTER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48840"/>
            <a:ext cx="10972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67712"/>
            <a:ext cx="80467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063240"/>
            <a:ext cx="80467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EAF3F3"/>
                </a:solidFill>
                <a:latin typeface="Microsoft YaHei"/>
              </a:rPr>
              <a:t>说明投资、补偿费、防治效益和</a:t>
            </a:r>
            <a:r>
              <a:rPr sz="1500" b="1">
                <a:solidFill>
                  <a:srgbClr val="0E9F9A"/>
                </a:solidFill>
                <a:latin typeface="Microsoft YaHei"/>
              </a:rPr>
              <a:t>验收管理</a:t>
            </a:r>
            <a:r>
              <a:rPr sz="1500" b="0">
                <a:solidFill>
                  <a:srgbClr val="EAF3F3"/>
                </a:solidFill>
                <a:latin typeface="Microsoft YaHei"/>
              </a:rPr>
              <a:t>闭环。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931920"/>
            <a:ext cx="3886200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3931920"/>
            <a:ext cx="64008" cy="1207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4032504"/>
            <a:ext cx="352044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覆盖证据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4389120"/>
            <a:ext cx="3520440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围绕本章原表、原图、关键原文和计算口径展开，先给结论，再回到报告证据逐项核对。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931920"/>
            <a:ext cx="4389120" cy="4023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50" b="0">
                <a:solidFill>
                  <a:srgbClr val="EAF3F3"/>
                </a:solidFill>
                <a:latin typeface="Microsoft YaHei"/>
              </a:defRPr>
            </a:pPr>
            <a:r>
              <a:t>核对重点：边界、目标、工程量、计算参数、投资和验收责任必须与源报告保持一致。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5989320"/>
            <a:ext cx="6400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AF3F3"/>
                </a:solidFill>
                <a:latin typeface="Microsoft Ya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水土保持总投资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26.9211万元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，新增投资与主体已列投资分项计列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78992"/>
            <a:ext cx="69951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水土保持估算总表节选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53312"/>
            <a:ext cx="874395" cy="4315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37617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编号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4747" y="1353312"/>
            <a:ext cx="874395" cy="4315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2179" y="137617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工程名称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79142" y="1353312"/>
            <a:ext cx="874395" cy="4315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6574" y="137617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建安工程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3537" y="1353312"/>
            <a:ext cx="874395" cy="4315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0969" y="137617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植物措施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7932" y="1353312"/>
            <a:ext cx="874395" cy="4315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5364" y="137617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独立费用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02327" y="1353312"/>
            <a:ext cx="874395" cy="4315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9759" y="137617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新增投资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6722" y="1353312"/>
            <a:ext cx="874395" cy="4315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4154" y="137617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主体工程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51117" y="1353312"/>
            <a:ext cx="874395" cy="431596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8549" y="137617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合计投资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1784908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1807768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1404747" y="1784908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32179" y="1807768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2279142" y="1784908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06574" y="1807768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3153537" y="1784908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80969" y="1807768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4027932" y="1784908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55364" y="1807768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4902327" y="1784908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9759" y="1807768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5776722" y="1784908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4154" y="1807768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6651117" y="1784908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8549" y="1807768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530352" y="2216505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" y="2239365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第一部分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04747" y="2216505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32179" y="2239365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2279142" y="2216505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6574" y="2239365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3537" y="2216505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80969" y="2239365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4027932" y="2216505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55364" y="2239365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4902327" y="2216505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29759" y="2239365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6722" y="2216505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04154" y="2239365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51117" y="2216505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8549" y="2239365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" y="264810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" y="267096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04747" y="264810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32179" y="267096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79142" y="264810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06574" y="267096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0.18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3537" y="264810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80969" y="267096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4027932" y="264810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55364" y="267096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7" name="Rectangle 66"/>
          <p:cNvSpPr/>
          <p:nvPr/>
        </p:nvSpPr>
        <p:spPr>
          <a:xfrm>
            <a:off x="4902327" y="264810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29759" y="267096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0.16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76722" y="264810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04154" y="267096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51117" y="264810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8549" y="267096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0.18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0352" y="307969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7784" y="310255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第二部分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04747" y="307969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32179" y="310255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7" name="Rectangle 76"/>
          <p:cNvSpPr/>
          <p:nvPr/>
        </p:nvSpPr>
        <p:spPr>
          <a:xfrm>
            <a:off x="2279142" y="307969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06574" y="310255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9" name="Rectangle 78"/>
          <p:cNvSpPr/>
          <p:nvPr/>
        </p:nvSpPr>
        <p:spPr>
          <a:xfrm>
            <a:off x="3153537" y="307969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80969" y="310255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7932" y="307969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55364" y="310255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3" name="Rectangle 82"/>
          <p:cNvSpPr/>
          <p:nvPr/>
        </p:nvSpPr>
        <p:spPr>
          <a:xfrm>
            <a:off x="4902327" y="307969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29759" y="310255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85" name="Rectangle 84"/>
          <p:cNvSpPr/>
          <p:nvPr/>
        </p:nvSpPr>
        <p:spPr>
          <a:xfrm>
            <a:off x="5776722" y="307969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04154" y="310255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51117" y="307969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8549" y="310255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0352" y="351129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7784" y="353415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04747" y="351129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32179" y="353415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79142" y="351129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06574" y="353415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5" name="Rectangle 94"/>
          <p:cNvSpPr/>
          <p:nvPr/>
        </p:nvSpPr>
        <p:spPr>
          <a:xfrm>
            <a:off x="3153537" y="351129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80969" y="353415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27932" y="351129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055364" y="353415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9" name="Rectangle 98"/>
          <p:cNvSpPr/>
          <p:nvPr/>
        </p:nvSpPr>
        <p:spPr>
          <a:xfrm>
            <a:off x="4902327" y="351129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29759" y="353415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1" name="Rectangle 100"/>
          <p:cNvSpPr/>
          <p:nvPr/>
        </p:nvSpPr>
        <p:spPr>
          <a:xfrm>
            <a:off x="5776722" y="351129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04154" y="353415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51117" y="351129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78549" y="353415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30352" y="394289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57784" y="396575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第三部分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04747" y="394289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32179" y="396575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9" name="Rectangle 108"/>
          <p:cNvSpPr/>
          <p:nvPr/>
        </p:nvSpPr>
        <p:spPr>
          <a:xfrm>
            <a:off x="2279142" y="394289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06574" y="396575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153537" y="394289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180969" y="396575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3" name="Rectangle 112"/>
          <p:cNvSpPr/>
          <p:nvPr/>
        </p:nvSpPr>
        <p:spPr>
          <a:xfrm>
            <a:off x="4027932" y="394289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55364" y="396575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5" name="Rectangle 114"/>
          <p:cNvSpPr/>
          <p:nvPr/>
        </p:nvSpPr>
        <p:spPr>
          <a:xfrm>
            <a:off x="4902327" y="394289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929759" y="396575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0.42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76722" y="394289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804154" y="396575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19" name="Rectangle 118"/>
          <p:cNvSpPr/>
          <p:nvPr/>
        </p:nvSpPr>
        <p:spPr>
          <a:xfrm>
            <a:off x="6651117" y="3942892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678549" y="3965752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0.42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30352" y="437448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57784" y="439734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404747" y="437448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432179" y="439734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管网工程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79142" y="437448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306574" y="439734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0.42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153537" y="437448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180969" y="439734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29" name="Rectangle 128"/>
          <p:cNvSpPr/>
          <p:nvPr/>
        </p:nvSpPr>
        <p:spPr>
          <a:xfrm>
            <a:off x="4027932" y="437448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055364" y="439734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1" name="Rectangle 130"/>
          <p:cNvSpPr/>
          <p:nvPr/>
        </p:nvSpPr>
        <p:spPr>
          <a:xfrm>
            <a:off x="4902327" y="437448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29759" y="439734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0.42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776722" y="437448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04154" y="439734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35" name="Rectangle 134"/>
          <p:cNvSpPr/>
          <p:nvPr/>
        </p:nvSpPr>
        <p:spPr>
          <a:xfrm>
            <a:off x="6651117" y="4374489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78549" y="4397349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0.42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30352" y="480608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57784" y="482894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一至三部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404747" y="480608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432179" y="482894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1" name="Rectangle 140"/>
          <p:cNvSpPr/>
          <p:nvPr/>
        </p:nvSpPr>
        <p:spPr>
          <a:xfrm>
            <a:off x="2279142" y="480608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306574" y="482894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3537" y="480608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80969" y="482894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027932" y="480608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055364" y="482894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47" name="Rectangle 146"/>
          <p:cNvSpPr/>
          <p:nvPr/>
        </p:nvSpPr>
        <p:spPr>
          <a:xfrm>
            <a:off x="4902327" y="480608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929759" y="482894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0.58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776722" y="480608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804154" y="482894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0.63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51117" y="4806086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678549" y="4828946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1.22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30352" y="5237683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57784" y="5260543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第四部分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404747" y="5237683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432179" y="5260543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7" name="Rectangle 156"/>
          <p:cNvSpPr/>
          <p:nvPr/>
        </p:nvSpPr>
        <p:spPr>
          <a:xfrm>
            <a:off x="2279142" y="5237683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306574" y="5260543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59" name="Rectangle 158"/>
          <p:cNvSpPr/>
          <p:nvPr/>
        </p:nvSpPr>
        <p:spPr>
          <a:xfrm>
            <a:off x="3153537" y="5237683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180969" y="5260543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1" name="Rectangle 160"/>
          <p:cNvSpPr/>
          <p:nvPr/>
        </p:nvSpPr>
        <p:spPr>
          <a:xfrm>
            <a:off x="4027932" y="5237683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055364" y="5260543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20.4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902327" y="5237683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929759" y="5260543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5" name="Rectangle 164"/>
          <p:cNvSpPr/>
          <p:nvPr/>
        </p:nvSpPr>
        <p:spPr>
          <a:xfrm>
            <a:off x="5776722" y="5237683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804154" y="5260543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67" name="Rectangle 166"/>
          <p:cNvSpPr/>
          <p:nvPr/>
        </p:nvSpPr>
        <p:spPr>
          <a:xfrm>
            <a:off x="6651117" y="5237683"/>
            <a:ext cx="874395" cy="4315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78549" y="5260543"/>
            <a:ext cx="819531" cy="3950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20.4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973568" y="1536192"/>
            <a:ext cx="29718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101584" y="1664207"/>
            <a:ext cx="271576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26.9211万元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101584" y="2039112"/>
            <a:ext cx="27157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水土保持总投资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973568" y="2578608"/>
            <a:ext cx="29718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101584" y="2706624"/>
            <a:ext cx="271576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0.5885万元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101584" y="3081528"/>
            <a:ext cx="27157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方案新增投资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973568" y="3621024"/>
            <a:ext cx="297180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101584" y="3749039"/>
            <a:ext cx="271576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0.6381万元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101584" y="4123944"/>
            <a:ext cx="2715768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主体已列投资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028431" y="4773168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069579" y="481431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49056" y="4754880"/>
            <a:ext cx="2432304" cy="7955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独立费用和补偿费构成投资主体，工程、植物、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临时措施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投资需与措施工程量一致。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水土保持补偿费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51624元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符合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免征情形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66294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水土保持补偿费计算表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44752"/>
          <a:ext cx="662939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778"/>
                <a:gridCol w="1466338"/>
                <a:gridCol w="1028495"/>
                <a:gridCol w="828971"/>
                <a:gridCol w="779882"/>
                <a:gridCol w="1216933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行政区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征占地面积（hm²）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征占地面积（m²）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收费标准（元/m²）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水保补偿费（元）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黄冈市黄州区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34416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51624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716280">
                <a:tc gridSpan="6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根据《财政部国家发展改革委水利部中国人民银行。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726679" y="1627632"/>
            <a:ext cx="3246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755648"/>
            <a:ext cx="29900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51624元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130552"/>
            <a:ext cx="299008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补偿费测算金额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2670048"/>
            <a:ext cx="3246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4696" y="2798064"/>
            <a:ext cx="2990087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3.4416hm²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3172968"/>
            <a:ext cx="2990087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征占地面积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087368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" y="4128516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069080"/>
            <a:ext cx="9912096" cy="5577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报告依据财综〔2014〕8号说明项目属于市政生态环境保护基础设施，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符合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水土保持补偿费</a:t>
            </a:r>
            <a:r>
              <a:rPr sz="1450" b="1">
                <a:solidFill>
                  <a:srgbClr val="0E9F9A"/>
                </a:solidFill>
                <a:latin typeface="Microsoft YaHei"/>
              </a:rPr>
              <a:t>免征情形</a:t>
            </a:r>
            <a:r>
              <a:rPr sz="1450" b="0">
                <a:solidFill>
                  <a:srgbClr val="132D46"/>
                </a:solidFill>
                <a:latin typeface="Microsoft YaHei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672583"/>
            <a:ext cx="310896" cy="27432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" y="4713732"/>
            <a:ext cx="22860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654296"/>
            <a:ext cx="9912096" cy="5577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0">
                <a:solidFill>
                  <a:srgbClr val="132D46"/>
                </a:solidFill>
                <a:latin typeface="Microsoft YaHei"/>
              </a:rPr>
              <a:t>免征不改变补偿费计算依据，方案仍保留征占地面积、收费标准和测算金额。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762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274320"/>
            <a:ext cx="73152" cy="347472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19456"/>
            <a:ext cx="7955279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03504"/>
            <a:ext cx="1033272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300" b="1">
                <a:solidFill>
                  <a:srgbClr val="132D46"/>
                </a:solidFill>
                <a:latin typeface="Microsoft YaHei"/>
              </a:rPr>
              <a:t>防治效果</a:t>
            </a:r>
            <a:r>
              <a:rPr sz="2300" b="1">
                <a:solidFill>
                  <a:srgbClr val="0E9F9A"/>
                </a:solidFill>
                <a:latin typeface="Microsoft YaHei"/>
              </a:rPr>
              <a:t>达标</a:t>
            </a:r>
            <a:r>
              <a:rPr sz="2300" b="1">
                <a:solidFill>
                  <a:srgbClr val="132D46"/>
                </a:solidFill>
                <a:latin typeface="Microsoft YaHei"/>
              </a:rPr>
              <a:t>后仍需落实监理、验收和资料公开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7936" y="310896"/>
            <a:ext cx="4206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1">
                <a:solidFill>
                  <a:srgbClr val="5B6F82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0808208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72694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水土保持防治效果分析表节选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1038497" cy="52578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3761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评估指标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7137" y="1353312"/>
            <a:ext cx="1038497" cy="52578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4569" y="13761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目标值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5634" y="1353312"/>
            <a:ext cx="1038497" cy="52578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3066" y="13761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评估依据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4131" y="1353312"/>
            <a:ext cx="1038497" cy="52578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563" y="13761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单位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2628" y="1353312"/>
            <a:ext cx="1038497" cy="52578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0060" y="13761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41125" y="1353312"/>
            <a:ext cx="1038497" cy="52578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8557" y="13761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设计达到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79622" y="1353312"/>
            <a:ext cx="1038497" cy="525780"/>
          </a:xfrm>
          <a:prstGeom prst="rect">
            <a:avLst/>
          </a:prstGeom>
          <a:solidFill>
            <a:srgbClr val="EAF3F3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7054" y="13761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评估结果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87909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190195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水土流失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87137" y="187909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14569" y="190195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98%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25634" y="187909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3066" y="190195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水土流失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64131" y="187909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1563" y="190195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hm²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2628" y="187909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0060" y="190195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3.44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41125" y="187909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8557" y="190195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99.9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79622" y="187909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7054" y="190195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达标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40487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242773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1587137" y="240487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14569" y="242773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2625634" y="240487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3066" y="242773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水土流失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64131" y="240487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1563" y="242773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hm²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2628" y="240487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30060" y="242773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3.44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41125" y="240487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8557" y="242773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6779622" y="240487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07054" y="242773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548640" y="293065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295351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土壤流失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87137" y="293065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14569" y="295351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25634" y="293065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3066" y="295351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容许土壤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64131" y="293065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91563" y="295351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t/km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02628" y="293065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30060" y="295351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500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41125" y="293065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8557" y="295351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1.55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9622" y="293065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07054" y="295351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达标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345643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" y="347929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7" name="Rectangle 66"/>
          <p:cNvSpPr/>
          <p:nvPr/>
        </p:nvSpPr>
        <p:spPr>
          <a:xfrm>
            <a:off x="1587137" y="345643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14569" y="347929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2625634" y="345643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3066" y="347929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治理后每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64131" y="345643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91563" y="347929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t/km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2628" y="345643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30060" y="347929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322.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41125" y="345643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68557" y="347929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7" name="Rectangle 76"/>
          <p:cNvSpPr/>
          <p:nvPr/>
        </p:nvSpPr>
        <p:spPr>
          <a:xfrm>
            <a:off x="6779622" y="345643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07054" y="347929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79" name="Rectangle 78"/>
          <p:cNvSpPr/>
          <p:nvPr/>
        </p:nvSpPr>
        <p:spPr>
          <a:xfrm>
            <a:off x="548640" y="398221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72" y="40050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渣土防护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87137" y="398221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14569" y="40050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97%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25634" y="398221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53066" y="40050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采取措施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64131" y="398221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91563" y="40050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万m³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02628" y="398221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30060" y="40050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0.47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41125" y="398221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68557" y="40050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97.8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79622" y="398221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07054" y="400507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达标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450799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6072" y="453085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5" name="Rectangle 94"/>
          <p:cNvSpPr/>
          <p:nvPr/>
        </p:nvSpPr>
        <p:spPr>
          <a:xfrm>
            <a:off x="1587137" y="450799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614569" y="453085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97" name="Rectangle 96"/>
          <p:cNvSpPr/>
          <p:nvPr/>
        </p:nvSpPr>
        <p:spPr>
          <a:xfrm>
            <a:off x="2625634" y="450799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3066" y="453085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永久弃渣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64131" y="450799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91563" y="453085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万m³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02628" y="450799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30060" y="453085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0.48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741125" y="450799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768557" y="453085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5" name="Rectangle 104"/>
          <p:cNvSpPr/>
          <p:nvPr/>
        </p:nvSpPr>
        <p:spPr>
          <a:xfrm>
            <a:off x="6779622" y="4507992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07054" y="4530852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</a:p>
        </p:txBody>
      </p:sp>
      <p:sp>
        <p:nvSpPr>
          <p:cNvPr id="107" name="Rectangle 106"/>
          <p:cNvSpPr/>
          <p:nvPr/>
        </p:nvSpPr>
        <p:spPr>
          <a:xfrm>
            <a:off x="548640" y="503377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6072" y="505663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表土保护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587137" y="503377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614569" y="505663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92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625634" y="503377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53066" y="505663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保护的表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64131" y="503377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91563" y="505663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万m³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02628" y="503377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730060" y="505663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41125" y="503377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768557" y="505663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99.9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779622" y="5033771"/>
            <a:ext cx="1038497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07054" y="5056631"/>
            <a:ext cx="983633" cy="48920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400" b="0">
                <a:solidFill>
                  <a:srgbClr val="132D46"/>
                </a:solidFill>
                <a:latin typeface="Microsoft YaHei"/>
              </a:defRPr>
            </a:pPr>
            <a:r>
              <a:t>达标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56448" y="1335024"/>
            <a:ext cx="278892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156448" y="1335024"/>
            <a:ext cx="64008" cy="91440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21040" y="1444752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741664" y="1435608"/>
            <a:ext cx="203911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监理记录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57616" y="1792224"/>
            <a:ext cx="24231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控制质量、进度和投资。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156448" y="2459736"/>
            <a:ext cx="278892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156448" y="2459736"/>
            <a:ext cx="64008" cy="914400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321040" y="2569464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741664" y="2560320"/>
            <a:ext cx="203911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施工资料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357616" y="2916936"/>
            <a:ext cx="24231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留存防护、恢复和消纳记录。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156448" y="3584448"/>
            <a:ext cx="278892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156448" y="3584448"/>
            <a:ext cx="64008" cy="914400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21040" y="3694176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741664" y="3685032"/>
            <a:ext cx="203911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设施验收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57616" y="4041648"/>
            <a:ext cx="24231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验收合格后再进入竣工验收。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156448" y="4709160"/>
            <a:ext cx="278892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156448" y="4709160"/>
            <a:ext cx="64008" cy="9144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321040" y="4818888"/>
            <a:ext cx="347472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741664" y="4809744"/>
            <a:ext cx="203911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E9F9A"/>
                </a:solidFill>
                <a:latin typeface="Microsoft YaHei"/>
              </a:rPr>
              <a:t>报备公开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357616" y="5166360"/>
            <a:ext cx="24231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验收材料公开并报备审批机关。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
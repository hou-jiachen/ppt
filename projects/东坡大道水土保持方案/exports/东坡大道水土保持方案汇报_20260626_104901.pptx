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1203C"/>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1203C"/>
          </a:solidFill>
          <a:ln w="7620">
            <a:solidFill>
              <a:srgbClr val="0120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21792"/>
            <a:ext cx="7498079" cy="310896"/>
          </a:xfrm>
          <a:prstGeom prst="rect">
            <a:avLst/>
          </a:prstGeom>
          <a:noFill/>
        </p:spPr>
        <p:txBody>
          <a:bodyPr wrap="square">
            <a:noAutofit/>
          </a:bodyPr>
          <a:lstStyle/>
          <a:p>
            <a:pPr>
              <a:defRPr sz="1500" b="0">
                <a:solidFill>
                  <a:srgbClr val="FFFFFF"/>
                </a:solidFill>
                <a:latin typeface="Microsoft YaHei"/>
              </a:defRPr>
            </a:pPr>
            <a:r>
              <a:t>黄冈市住房和城市更新局</a:t>
            </a:r>
          </a:p>
        </p:txBody>
      </p:sp>
      <p:sp>
        <p:nvSpPr>
          <p:cNvPr id="4" name="TextBox 3"/>
          <p:cNvSpPr txBox="1"/>
          <p:nvPr/>
        </p:nvSpPr>
        <p:spPr>
          <a:xfrm>
            <a:off x="731520" y="1325880"/>
            <a:ext cx="10515600" cy="658368"/>
          </a:xfrm>
          <a:prstGeom prst="rect">
            <a:avLst/>
          </a:prstGeom>
          <a:noFill/>
        </p:spPr>
        <p:txBody>
          <a:bodyPr wrap="square">
            <a:noAutofit/>
          </a:bodyPr>
          <a:lstStyle/>
          <a:p>
            <a:pPr>
              <a:defRPr sz="3000" b="1">
                <a:solidFill>
                  <a:srgbClr val="FFFFFF"/>
                </a:solidFill>
                <a:latin typeface="Microsoft YaHei"/>
              </a:defRPr>
            </a:pPr>
            <a:r>
              <a:t>黄冈市东坡大道片区污水收集管网建设工程</a:t>
            </a:r>
          </a:p>
        </p:txBody>
      </p:sp>
      <p:sp>
        <p:nvSpPr>
          <p:cNvPr id="5" name="TextBox 4"/>
          <p:cNvSpPr txBox="1"/>
          <p:nvPr/>
        </p:nvSpPr>
        <p:spPr>
          <a:xfrm>
            <a:off x="749808" y="2139696"/>
            <a:ext cx="9875520" cy="585216"/>
          </a:xfrm>
          <a:prstGeom prst="rect">
            <a:avLst/>
          </a:prstGeom>
          <a:noFill/>
        </p:spPr>
        <p:txBody>
          <a:bodyPr wrap="square">
            <a:noAutofit/>
          </a:bodyPr>
          <a:lstStyle/>
          <a:p>
            <a:pPr>
              <a:defRPr sz="2800" b="1">
                <a:solidFill>
                  <a:srgbClr val="FFFFFF"/>
                </a:solidFill>
                <a:latin typeface="Microsoft YaHei"/>
              </a:defRPr>
            </a:pPr>
            <a:r>
              <a:t>水土保持方案报告表汇报</a:t>
            </a:r>
          </a:p>
        </p:txBody>
      </p:sp>
      <p:sp>
        <p:nvSpPr>
          <p:cNvPr id="6" name="TextBox 5"/>
          <p:cNvSpPr txBox="1"/>
          <p:nvPr/>
        </p:nvSpPr>
        <p:spPr>
          <a:xfrm>
            <a:off x="768096" y="3474720"/>
            <a:ext cx="9509760" cy="329184"/>
          </a:xfrm>
          <a:prstGeom prst="rect">
            <a:avLst/>
          </a:prstGeom>
          <a:noFill/>
        </p:spPr>
        <p:txBody>
          <a:bodyPr wrap="square">
            <a:noAutofit/>
          </a:bodyPr>
          <a:lstStyle/>
          <a:p>
            <a:pPr>
              <a:defRPr sz="1500" b="0">
                <a:solidFill>
                  <a:srgbClr val="FFFFFF"/>
                </a:solidFill>
                <a:latin typeface="Microsoft YaHei"/>
              </a:defRPr>
            </a:pPr>
            <a:r>
              <a:t>水土保持方案；报批稿；2026年1月</a:t>
            </a:r>
          </a:p>
        </p:txBody>
      </p:sp>
      <p:sp>
        <p:nvSpPr>
          <p:cNvPr id="7" name="TextBox 6"/>
          <p:cNvSpPr txBox="1"/>
          <p:nvPr/>
        </p:nvSpPr>
        <p:spPr>
          <a:xfrm>
            <a:off x="768096" y="3950208"/>
            <a:ext cx="9875520" cy="347472"/>
          </a:xfrm>
          <a:prstGeom prst="rect">
            <a:avLst/>
          </a:prstGeom>
          <a:noFill/>
        </p:spPr>
        <p:txBody>
          <a:bodyPr wrap="square">
            <a:noAutofit/>
          </a:bodyPr>
          <a:lstStyle/>
          <a:p>
            <a:pPr>
              <a:defRPr sz="1400" b="0">
                <a:solidFill>
                  <a:srgbClr val="FFFFFF"/>
                </a:solidFill>
                <a:latin typeface="Microsoft YaHei"/>
              </a:defRPr>
            </a:pPr>
            <a:r>
              <a:t>围绕项目边界、预测结果、防治措施、投资效益和验收管理形成评审级汇报</a:t>
            </a:r>
          </a:p>
        </p:txBody>
      </p:sp>
      <p:sp>
        <p:nvSpPr>
          <p:cNvPr id="8" name="TextBox 7"/>
          <p:cNvSpPr txBox="1"/>
          <p:nvPr/>
        </p:nvSpPr>
        <p:spPr>
          <a:xfrm>
            <a:off x="786384" y="6089904"/>
            <a:ext cx="5486400" cy="310896"/>
          </a:xfrm>
          <a:prstGeom prst="rect">
            <a:avLst/>
          </a:prstGeom>
          <a:noFill/>
        </p:spPr>
        <p:txBody>
          <a:bodyPr wrap="square">
            <a:noAutofit/>
          </a:bodyPr>
          <a:lstStyle/>
          <a:p>
            <a:pPr>
              <a:defRPr sz="1400" b="0">
                <a:solidFill>
                  <a:srgbClr val="FFFFFF"/>
                </a:solidFill>
                <a:latin typeface="Microsoft YaHei"/>
              </a:defRPr>
            </a:pPr>
            <a:r>
              <a:t>武汉中地环科水工环科技咨询有限责任公司</a:t>
            </a:r>
          </a:p>
        </p:txBody>
      </p:sp>
      <p:sp>
        <p:nvSpPr>
          <p:cNvPr id="9" name="TextBox 8"/>
          <p:cNvSpPr txBox="1"/>
          <p:nvPr/>
        </p:nvSpPr>
        <p:spPr>
          <a:xfrm>
            <a:off x="9418320" y="6089904"/>
            <a:ext cx="1828800" cy="310896"/>
          </a:xfrm>
          <a:prstGeom prst="rect">
            <a:avLst/>
          </a:prstGeom>
          <a:noFill/>
        </p:spPr>
        <p:txBody>
          <a:bodyPr wrap="square">
            <a:noAutofit/>
          </a:bodyPr>
          <a:lstStyle/>
          <a:p>
            <a:pPr algn="r">
              <a:defRPr sz="1400" b="0">
                <a:solidFill>
                  <a:srgbClr val="FFFFFF"/>
                </a:solidFill>
                <a:latin typeface="Microsoft YaHei"/>
              </a:defRPr>
            </a:pPr>
            <a:r>
              <a:t>2026年06月</a:t>
            </a:r>
          </a:p>
        </p:txBody>
      </p:sp>
      <p:sp>
        <p:nvSpPr>
          <p:cNvPr id="10" name="TextBox 9"/>
          <p:cNvSpPr txBox="1"/>
          <p:nvPr/>
        </p:nvSpPr>
        <p:spPr>
          <a:xfrm>
            <a:off x="6400800" y="6089904"/>
            <a:ext cx="2011680" cy="310896"/>
          </a:xfrm>
          <a:prstGeom prst="rect">
            <a:avLst/>
          </a:prstGeom>
          <a:noFill/>
        </p:spPr>
        <p:txBody>
          <a:bodyPr wrap="square">
            <a:noAutofit/>
          </a:bodyPr>
          <a:lstStyle/>
          <a:p>
            <a:pPr>
              <a:defRPr sz="1400" b="0">
                <a:solidFill>
                  <a:srgbClr val="FFFFFF"/>
                </a:solidFill>
                <a:latin typeface="Microsoft YaHei"/>
              </a:defRPr>
            </a:pPr>
            <a:r>
              <a:t>技术评审汇报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566928"/>
            <a:ext cx="5303520" cy="566928"/>
          </a:xfrm>
          <a:prstGeom prst="rect">
            <a:avLst/>
          </a:prstGeom>
          <a:noFill/>
        </p:spPr>
        <p:txBody>
          <a:bodyPr wrap="square">
            <a:noAutofit/>
          </a:bodyPr>
          <a:lstStyle/>
          <a:p>
            <a:pPr>
              <a:defRPr sz="3000" b="1">
                <a:solidFill>
                  <a:srgbClr val="01203C"/>
                </a:solidFill>
                <a:latin typeface="Microsoft YaHei"/>
              </a:defRPr>
            </a:pPr>
            <a:r>
              <a:t>目录</a:t>
            </a:r>
          </a:p>
        </p:txBody>
      </p:sp>
      <p:sp>
        <p:nvSpPr>
          <p:cNvPr id="4" name="TextBox 3"/>
          <p:cNvSpPr txBox="1"/>
          <p:nvPr/>
        </p:nvSpPr>
        <p:spPr>
          <a:xfrm>
            <a:off x="713232" y="1188720"/>
            <a:ext cx="3657600" cy="228600"/>
          </a:xfrm>
          <a:prstGeom prst="rect">
            <a:avLst/>
          </a:prstGeom>
          <a:noFill/>
        </p:spPr>
        <p:txBody>
          <a:bodyPr wrap="square">
            <a:noAutofit/>
          </a:bodyPr>
          <a:lstStyle/>
          <a:p>
            <a:pPr>
              <a:defRPr sz="1000" b="0">
                <a:solidFill>
                  <a:srgbClr val="4489C8"/>
                </a:solidFill>
                <a:latin typeface="Microsoft YaHei"/>
              </a:defRPr>
            </a:pPr>
            <a:r>
              <a:t>CONTENTS</a:t>
            </a:r>
          </a:p>
        </p:txBody>
      </p:sp>
      <p:sp>
        <p:nvSpPr>
          <p:cNvPr id="5" name="TextBox 4"/>
          <p:cNvSpPr txBox="1"/>
          <p:nvPr/>
        </p:nvSpPr>
        <p:spPr>
          <a:xfrm>
            <a:off x="777240" y="1600200"/>
            <a:ext cx="384048" cy="256032"/>
          </a:xfrm>
          <a:prstGeom prst="rect">
            <a:avLst/>
          </a:prstGeom>
          <a:noFill/>
        </p:spPr>
        <p:txBody>
          <a:bodyPr wrap="square">
            <a:noAutofit/>
          </a:bodyPr>
          <a:lstStyle/>
          <a:p>
            <a:pPr>
              <a:defRPr sz="1400" b="1">
                <a:solidFill>
                  <a:srgbClr val="4489C8"/>
                </a:solidFill>
                <a:latin typeface="Microsoft YaHei"/>
              </a:defRPr>
            </a:pPr>
            <a:r>
              <a:t>01</a:t>
            </a:r>
          </a:p>
        </p:txBody>
      </p:sp>
      <p:sp>
        <p:nvSpPr>
          <p:cNvPr id="6" name="TextBox 5"/>
          <p:cNvSpPr txBox="1"/>
          <p:nvPr/>
        </p:nvSpPr>
        <p:spPr>
          <a:xfrm>
            <a:off x="1280160" y="1572768"/>
            <a:ext cx="4526280" cy="329184"/>
          </a:xfrm>
          <a:prstGeom prst="rect">
            <a:avLst/>
          </a:prstGeom>
          <a:noFill/>
        </p:spPr>
        <p:txBody>
          <a:bodyPr wrap="square">
            <a:noAutofit/>
          </a:bodyPr>
          <a:lstStyle/>
          <a:p>
            <a:pPr>
              <a:defRPr sz="1400" b="1">
                <a:solidFill>
                  <a:srgbClr val="01203C"/>
                </a:solidFill>
                <a:latin typeface="Microsoft YaHei"/>
              </a:defRPr>
            </a:pPr>
            <a:r>
              <a:t>综合说明与审批依据</a:t>
            </a:r>
          </a:p>
        </p:txBody>
      </p:sp>
      <p:sp>
        <p:nvSpPr>
          <p:cNvPr id="7" name="TextBox 6"/>
          <p:cNvSpPr txBox="1"/>
          <p:nvPr/>
        </p:nvSpPr>
        <p:spPr>
          <a:xfrm>
            <a:off x="777240" y="2350008"/>
            <a:ext cx="384048" cy="256032"/>
          </a:xfrm>
          <a:prstGeom prst="rect">
            <a:avLst/>
          </a:prstGeom>
          <a:noFill/>
        </p:spPr>
        <p:txBody>
          <a:bodyPr wrap="square">
            <a:noAutofit/>
          </a:bodyPr>
          <a:lstStyle/>
          <a:p>
            <a:pPr>
              <a:defRPr sz="1400" b="1">
                <a:solidFill>
                  <a:srgbClr val="4489C8"/>
                </a:solidFill>
                <a:latin typeface="Microsoft YaHei"/>
              </a:defRPr>
            </a:pPr>
            <a:r>
              <a:t>02</a:t>
            </a:r>
          </a:p>
        </p:txBody>
      </p:sp>
      <p:sp>
        <p:nvSpPr>
          <p:cNvPr id="8" name="TextBox 7"/>
          <p:cNvSpPr txBox="1"/>
          <p:nvPr/>
        </p:nvSpPr>
        <p:spPr>
          <a:xfrm>
            <a:off x="1280160" y="2322576"/>
            <a:ext cx="4526280" cy="329184"/>
          </a:xfrm>
          <a:prstGeom prst="rect">
            <a:avLst/>
          </a:prstGeom>
          <a:noFill/>
        </p:spPr>
        <p:txBody>
          <a:bodyPr wrap="square">
            <a:noAutofit/>
          </a:bodyPr>
          <a:lstStyle/>
          <a:p>
            <a:pPr>
              <a:defRPr sz="1400" b="1">
                <a:solidFill>
                  <a:srgbClr val="01203C"/>
                </a:solidFill>
                <a:latin typeface="Microsoft YaHei"/>
              </a:defRPr>
            </a:pPr>
            <a:r>
              <a:t>项目概况与工程布置</a:t>
            </a:r>
          </a:p>
        </p:txBody>
      </p:sp>
      <p:sp>
        <p:nvSpPr>
          <p:cNvPr id="9" name="TextBox 8"/>
          <p:cNvSpPr txBox="1"/>
          <p:nvPr/>
        </p:nvSpPr>
        <p:spPr>
          <a:xfrm>
            <a:off x="777240" y="3099815"/>
            <a:ext cx="384048" cy="256032"/>
          </a:xfrm>
          <a:prstGeom prst="rect">
            <a:avLst/>
          </a:prstGeom>
          <a:noFill/>
        </p:spPr>
        <p:txBody>
          <a:bodyPr wrap="square">
            <a:noAutofit/>
          </a:bodyPr>
          <a:lstStyle/>
          <a:p>
            <a:pPr>
              <a:defRPr sz="1400" b="1">
                <a:solidFill>
                  <a:srgbClr val="4489C8"/>
                </a:solidFill>
                <a:latin typeface="Microsoft YaHei"/>
              </a:defRPr>
            </a:pPr>
            <a:r>
              <a:t>03</a:t>
            </a:r>
          </a:p>
        </p:txBody>
      </p:sp>
      <p:sp>
        <p:nvSpPr>
          <p:cNvPr id="10" name="TextBox 9"/>
          <p:cNvSpPr txBox="1"/>
          <p:nvPr/>
        </p:nvSpPr>
        <p:spPr>
          <a:xfrm>
            <a:off x="1280160" y="3072384"/>
            <a:ext cx="4526280" cy="329184"/>
          </a:xfrm>
          <a:prstGeom prst="rect">
            <a:avLst/>
          </a:prstGeom>
          <a:noFill/>
        </p:spPr>
        <p:txBody>
          <a:bodyPr wrap="square">
            <a:noAutofit/>
          </a:bodyPr>
          <a:lstStyle/>
          <a:p>
            <a:pPr>
              <a:defRPr sz="1400" b="1">
                <a:solidFill>
                  <a:srgbClr val="01203C"/>
                </a:solidFill>
                <a:latin typeface="Microsoft YaHei"/>
              </a:defRPr>
            </a:pPr>
            <a:r>
              <a:t>防治责任范围与标准目标</a:t>
            </a:r>
          </a:p>
        </p:txBody>
      </p:sp>
      <p:sp>
        <p:nvSpPr>
          <p:cNvPr id="11" name="TextBox 10"/>
          <p:cNvSpPr txBox="1"/>
          <p:nvPr/>
        </p:nvSpPr>
        <p:spPr>
          <a:xfrm>
            <a:off x="777240" y="3849624"/>
            <a:ext cx="384048" cy="256032"/>
          </a:xfrm>
          <a:prstGeom prst="rect">
            <a:avLst/>
          </a:prstGeom>
          <a:noFill/>
        </p:spPr>
        <p:txBody>
          <a:bodyPr wrap="square">
            <a:noAutofit/>
          </a:bodyPr>
          <a:lstStyle/>
          <a:p>
            <a:pPr>
              <a:defRPr sz="1400" b="1">
                <a:solidFill>
                  <a:srgbClr val="4489C8"/>
                </a:solidFill>
                <a:latin typeface="Microsoft YaHei"/>
              </a:defRPr>
            </a:pPr>
            <a:r>
              <a:t>04</a:t>
            </a:r>
          </a:p>
        </p:txBody>
      </p:sp>
      <p:sp>
        <p:nvSpPr>
          <p:cNvPr id="12" name="TextBox 11"/>
          <p:cNvSpPr txBox="1"/>
          <p:nvPr/>
        </p:nvSpPr>
        <p:spPr>
          <a:xfrm>
            <a:off x="1280160" y="3822191"/>
            <a:ext cx="4526280" cy="329184"/>
          </a:xfrm>
          <a:prstGeom prst="rect">
            <a:avLst/>
          </a:prstGeom>
          <a:noFill/>
        </p:spPr>
        <p:txBody>
          <a:bodyPr wrap="square">
            <a:noAutofit/>
          </a:bodyPr>
          <a:lstStyle/>
          <a:p>
            <a:pPr>
              <a:defRPr sz="1400" b="1">
                <a:solidFill>
                  <a:srgbClr val="01203C"/>
                </a:solidFill>
                <a:latin typeface="Microsoft YaHei"/>
              </a:defRPr>
            </a:pPr>
            <a:r>
              <a:t>水土保持评价与土石方</a:t>
            </a:r>
          </a:p>
        </p:txBody>
      </p:sp>
      <p:sp>
        <p:nvSpPr>
          <p:cNvPr id="13" name="TextBox 12"/>
          <p:cNvSpPr txBox="1"/>
          <p:nvPr/>
        </p:nvSpPr>
        <p:spPr>
          <a:xfrm>
            <a:off x="777240" y="4599431"/>
            <a:ext cx="384048" cy="256032"/>
          </a:xfrm>
          <a:prstGeom prst="rect">
            <a:avLst/>
          </a:prstGeom>
          <a:noFill/>
        </p:spPr>
        <p:txBody>
          <a:bodyPr wrap="square">
            <a:noAutofit/>
          </a:bodyPr>
          <a:lstStyle/>
          <a:p>
            <a:pPr>
              <a:defRPr sz="1400" b="1">
                <a:solidFill>
                  <a:srgbClr val="4489C8"/>
                </a:solidFill>
                <a:latin typeface="Microsoft YaHei"/>
              </a:defRPr>
            </a:pPr>
            <a:r>
              <a:t>05</a:t>
            </a:r>
          </a:p>
        </p:txBody>
      </p:sp>
      <p:sp>
        <p:nvSpPr>
          <p:cNvPr id="14" name="TextBox 13"/>
          <p:cNvSpPr txBox="1"/>
          <p:nvPr/>
        </p:nvSpPr>
        <p:spPr>
          <a:xfrm>
            <a:off x="1280160" y="4571999"/>
            <a:ext cx="4526280" cy="329184"/>
          </a:xfrm>
          <a:prstGeom prst="rect">
            <a:avLst/>
          </a:prstGeom>
          <a:noFill/>
        </p:spPr>
        <p:txBody>
          <a:bodyPr wrap="square">
            <a:noAutofit/>
          </a:bodyPr>
          <a:lstStyle/>
          <a:p>
            <a:pPr>
              <a:defRPr sz="1400" b="1">
                <a:solidFill>
                  <a:srgbClr val="01203C"/>
                </a:solidFill>
                <a:latin typeface="Microsoft YaHei"/>
              </a:defRPr>
            </a:pPr>
            <a:r>
              <a:t>水土流失分析与预测</a:t>
            </a:r>
          </a:p>
        </p:txBody>
      </p:sp>
      <p:sp>
        <p:nvSpPr>
          <p:cNvPr id="15" name="TextBox 14"/>
          <p:cNvSpPr txBox="1"/>
          <p:nvPr/>
        </p:nvSpPr>
        <p:spPr>
          <a:xfrm>
            <a:off x="6263640" y="1600200"/>
            <a:ext cx="384048" cy="256032"/>
          </a:xfrm>
          <a:prstGeom prst="rect">
            <a:avLst/>
          </a:prstGeom>
          <a:noFill/>
        </p:spPr>
        <p:txBody>
          <a:bodyPr wrap="square">
            <a:noAutofit/>
          </a:bodyPr>
          <a:lstStyle/>
          <a:p>
            <a:pPr>
              <a:defRPr sz="1400" b="1">
                <a:solidFill>
                  <a:srgbClr val="4489C8"/>
                </a:solidFill>
                <a:latin typeface="Microsoft YaHei"/>
              </a:defRPr>
            </a:pPr>
            <a:r>
              <a:t>06</a:t>
            </a:r>
          </a:p>
        </p:txBody>
      </p:sp>
      <p:sp>
        <p:nvSpPr>
          <p:cNvPr id="16" name="TextBox 15"/>
          <p:cNvSpPr txBox="1"/>
          <p:nvPr/>
        </p:nvSpPr>
        <p:spPr>
          <a:xfrm>
            <a:off x="6766559" y="1572768"/>
            <a:ext cx="4526280" cy="329184"/>
          </a:xfrm>
          <a:prstGeom prst="rect">
            <a:avLst/>
          </a:prstGeom>
          <a:noFill/>
        </p:spPr>
        <p:txBody>
          <a:bodyPr wrap="square">
            <a:noAutofit/>
          </a:bodyPr>
          <a:lstStyle/>
          <a:p>
            <a:pPr>
              <a:defRPr sz="1400" b="1">
                <a:solidFill>
                  <a:srgbClr val="01203C"/>
                </a:solidFill>
                <a:latin typeface="Microsoft YaHei"/>
              </a:defRPr>
            </a:pPr>
            <a:r>
              <a:t>水土保持措施与施工安排</a:t>
            </a:r>
          </a:p>
        </p:txBody>
      </p:sp>
      <p:sp>
        <p:nvSpPr>
          <p:cNvPr id="17" name="TextBox 16"/>
          <p:cNvSpPr txBox="1"/>
          <p:nvPr/>
        </p:nvSpPr>
        <p:spPr>
          <a:xfrm>
            <a:off x="6263640" y="2350008"/>
            <a:ext cx="384048" cy="256032"/>
          </a:xfrm>
          <a:prstGeom prst="rect">
            <a:avLst/>
          </a:prstGeom>
          <a:noFill/>
        </p:spPr>
        <p:txBody>
          <a:bodyPr wrap="square">
            <a:noAutofit/>
          </a:bodyPr>
          <a:lstStyle/>
          <a:p>
            <a:pPr>
              <a:defRPr sz="1400" b="1">
                <a:solidFill>
                  <a:srgbClr val="4489C8"/>
                </a:solidFill>
                <a:latin typeface="Microsoft YaHei"/>
              </a:defRPr>
            </a:pPr>
            <a:r>
              <a:t>07</a:t>
            </a:r>
          </a:p>
        </p:txBody>
      </p:sp>
      <p:sp>
        <p:nvSpPr>
          <p:cNvPr id="18" name="TextBox 17"/>
          <p:cNvSpPr txBox="1"/>
          <p:nvPr/>
        </p:nvSpPr>
        <p:spPr>
          <a:xfrm>
            <a:off x="6766559" y="2322576"/>
            <a:ext cx="4526280" cy="329184"/>
          </a:xfrm>
          <a:prstGeom prst="rect">
            <a:avLst/>
          </a:prstGeom>
          <a:noFill/>
        </p:spPr>
        <p:txBody>
          <a:bodyPr wrap="square">
            <a:noAutofit/>
          </a:bodyPr>
          <a:lstStyle/>
          <a:p>
            <a:pPr>
              <a:defRPr sz="1400" b="1">
                <a:solidFill>
                  <a:srgbClr val="01203C"/>
                </a:solidFill>
                <a:latin typeface="Microsoft YaHei"/>
              </a:defRPr>
            </a:pPr>
            <a:r>
              <a:t>投资概算、效益与管理验收</a:t>
            </a:r>
          </a:p>
        </p:txBody>
      </p:sp>
      <p:sp>
        <p:nvSpPr>
          <p:cNvPr id="19" name="TextBox 18"/>
          <p:cNvSpPr txBox="1"/>
          <p:nvPr/>
        </p:nvSpPr>
        <p:spPr>
          <a:xfrm>
            <a:off x="731520" y="6172200"/>
            <a:ext cx="8961120" cy="274320"/>
          </a:xfrm>
          <a:prstGeom prst="rect">
            <a:avLst/>
          </a:prstGeom>
          <a:noFill/>
        </p:spPr>
        <p:txBody>
          <a:bodyPr wrap="square">
            <a:noAutofit/>
          </a:bodyPr>
          <a:lstStyle/>
          <a:p>
            <a:pPr>
              <a:defRPr sz="1050" b="0">
                <a:solidFill>
                  <a:srgbClr val="566B7F"/>
                </a:solidFill>
                <a:latin typeface="Microsoft YaHei"/>
              </a:defRPr>
            </a:pPr>
            <a:r>
              <a:t>汇报按报告章节展开，依次呈现项目背景、工程概况、评价预测、措施体系、投资效益与管理验收。</a:t>
            </a:r>
          </a:p>
        </p:txBody>
      </p:sp>
      <p:sp>
        <p:nvSpPr>
          <p:cNvPr id="20" name="TextBox 19"/>
          <p:cNvSpPr txBox="1"/>
          <p:nvPr/>
        </p:nvSpPr>
        <p:spPr>
          <a:xfrm>
            <a:off x="10652760" y="6236208"/>
            <a:ext cx="640080" cy="182880"/>
          </a:xfrm>
          <a:prstGeom prst="rect">
            <a:avLst/>
          </a:prstGeom>
          <a:noFill/>
        </p:spPr>
        <p:txBody>
          <a:bodyPr wrap="square">
            <a:noAutofit/>
          </a:bodyPr>
          <a:lstStyle/>
          <a:p>
            <a:pPr algn="r">
              <a:defRPr sz="900" b="0">
                <a:solidFill>
                  <a:srgbClr val="566B7F"/>
                </a:solidFill>
                <a:latin typeface="Microsoft YaHei"/>
              </a:defRPr>
            </a:pPr>
            <a:r>
              <a:t>03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1203C"/>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1203C"/>
          </a:solidFill>
          <a:ln w="7620">
            <a:solidFill>
              <a:srgbClr val="0120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960120"/>
            <a:ext cx="73152" cy="4736592"/>
          </a:xfrm>
          <a:prstGeom prst="rect">
            <a:avLst/>
          </a:prstGeom>
          <a:solidFill>
            <a:srgbClr val="4489C8"/>
          </a:solidFill>
          <a:ln w="7620">
            <a:solidFill>
              <a:srgbClr val="448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640080"/>
            <a:ext cx="4206240" cy="320040"/>
          </a:xfrm>
          <a:prstGeom prst="rect">
            <a:avLst/>
          </a:prstGeom>
          <a:noFill/>
        </p:spPr>
        <p:txBody>
          <a:bodyPr wrap="square">
            <a:noAutofit/>
          </a:bodyPr>
          <a:lstStyle/>
          <a:p>
            <a:pPr>
              <a:defRPr sz="1600" b="1">
                <a:solidFill>
                  <a:srgbClr val="EAF2F8"/>
                </a:solidFill>
                <a:latin typeface="Microsoft YaHei"/>
              </a:defRPr>
            </a:pPr>
            <a:r>
              <a:t>第01章 / 共07章</a:t>
            </a:r>
          </a:p>
        </p:txBody>
      </p:sp>
      <p:sp>
        <p:nvSpPr>
          <p:cNvPr id="5" name="TextBox 4"/>
          <p:cNvSpPr txBox="1"/>
          <p:nvPr/>
        </p:nvSpPr>
        <p:spPr>
          <a:xfrm>
            <a:off x="749808" y="1901952"/>
            <a:ext cx="1298448" cy="804672"/>
          </a:xfrm>
          <a:prstGeom prst="rect">
            <a:avLst/>
          </a:prstGeom>
          <a:noFill/>
        </p:spPr>
        <p:txBody>
          <a:bodyPr wrap="square">
            <a:noAutofit/>
          </a:bodyPr>
          <a:lstStyle/>
          <a:p>
            <a:pPr>
              <a:defRPr sz="5400" b="1">
                <a:solidFill>
                  <a:srgbClr val="FFFFFF"/>
                </a:solidFill>
                <a:latin typeface="Microsoft YaHei"/>
              </a:defRPr>
            </a:pPr>
            <a:r>
              <a:t>01</a:t>
            </a:r>
          </a:p>
        </p:txBody>
      </p:sp>
      <p:sp>
        <p:nvSpPr>
          <p:cNvPr id="6" name="TextBox 5"/>
          <p:cNvSpPr txBox="1"/>
          <p:nvPr/>
        </p:nvSpPr>
        <p:spPr>
          <a:xfrm>
            <a:off x="2176272" y="2011680"/>
            <a:ext cx="8961120" cy="749808"/>
          </a:xfrm>
          <a:prstGeom prst="rect">
            <a:avLst/>
          </a:prstGeom>
          <a:noFill/>
        </p:spPr>
        <p:txBody>
          <a:bodyPr wrap="square">
            <a:noAutofit/>
          </a:bodyPr>
          <a:lstStyle/>
          <a:p>
            <a:pPr>
              <a:defRPr sz="3000" b="1">
                <a:solidFill>
                  <a:srgbClr val="FFFFFF"/>
                </a:solidFill>
                <a:latin typeface="Microsoft YaHei"/>
              </a:defRPr>
            </a:pPr>
            <a:r>
              <a:t>综合说明与审批依据</a:t>
            </a:r>
          </a:p>
        </p:txBody>
      </p:sp>
      <p:sp>
        <p:nvSpPr>
          <p:cNvPr id="7" name="TextBox 6"/>
          <p:cNvSpPr txBox="1"/>
          <p:nvPr/>
        </p:nvSpPr>
        <p:spPr>
          <a:xfrm>
            <a:off x="2212848" y="2962656"/>
            <a:ext cx="8229600" cy="329184"/>
          </a:xfrm>
          <a:prstGeom prst="rect">
            <a:avLst/>
          </a:prstGeom>
          <a:noFill/>
        </p:spPr>
        <p:txBody>
          <a:bodyPr wrap="square">
            <a:noAutofit/>
          </a:bodyPr>
          <a:lstStyle/>
          <a:p>
            <a:pPr>
              <a:defRPr sz="1500" b="0">
                <a:solidFill>
                  <a:srgbClr val="EAF2F8"/>
                </a:solidFill>
                <a:latin typeface="Microsoft YaHei"/>
              </a:defRPr>
            </a:pPr>
            <a:r>
              <a:t>先交代项目来源、编制依据、核心建设参数和方案结论，帮助评审快速建立全局判断。</a:t>
            </a:r>
          </a:p>
        </p:txBody>
      </p:sp>
      <p:sp>
        <p:nvSpPr>
          <p:cNvPr id="8" name="Rectangle 7"/>
          <p:cNvSpPr/>
          <p:nvPr/>
        </p:nvSpPr>
        <p:spPr>
          <a:xfrm>
            <a:off x="2212848" y="3749039"/>
            <a:ext cx="6400800" cy="18288"/>
          </a:xfrm>
          <a:prstGeom prst="rect">
            <a:avLst/>
          </a:prstGeom>
          <a:solidFill>
            <a:srgbClr val="4489C8"/>
          </a:solidFill>
          <a:ln w="7620">
            <a:solidFill>
              <a:srgbClr val="448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384048" y="182880"/>
            <a:ext cx="10835640" cy="457200"/>
          </a:xfrm>
          <a:prstGeom prst="rect">
            <a:avLst/>
          </a:prstGeom>
          <a:noFill/>
        </p:spPr>
        <p:txBody>
          <a:bodyPr wrap="square">
            <a:noAutofit/>
          </a:bodyPr>
          <a:lstStyle/>
          <a:p>
            <a:pPr>
              <a:defRPr sz="2400" b="1">
                <a:solidFill>
                  <a:srgbClr val="01203C"/>
                </a:solidFill>
                <a:latin typeface="Microsoft YaHei"/>
              </a:defRPr>
            </a:pPr>
            <a:r>
              <a:t>综合报告表给出项目全局控制指标</a:t>
            </a:r>
          </a:p>
        </p:txBody>
      </p:sp>
      <p:sp>
        <p:nvSpPr>
          <p:cNvPr id="3" name="TextBox 2"/>
          <p:cNvSpPr txBox="1"/>
          <p:nvPr/>
        </p:nvSpPr>
        <p:spPr>
          <a:xfrm>
            <a:off x="393192" y="621792"/>
            <a:ext cx="6400800" cy="219456"/>
          </a:xfrm>
          <a:prstGeom prst="rect">
            <a:avLst/>
          </a:prstGeom>
          <a:noFill/>
        </p:spPr>
        <p:txBody>
          <a:bodyPr wrap="square">
            <a:noAutofit/>
          </a:bodyPr>
          <a:lstStyle/>
          <a:p>
            <a:pPr>
              <a:defRPr sz="950" b="0">
                <a:solidFill>
                  <a:srgbClr val="4489C8"/>
                </a:solidFill>
                <a:latin typeface="Microsoft YaHei"/>
              </a:defRPr>
            </a:pPr>
            <a:r>
              <a:t>综合说明与审批依据</a:t>
            </a:r>
          </a:p>
        </p:txBody>
      </p:sp>
      <p:sp>
        <p:nvSpPr>
          <p:cNvPr id="4" name="TextBox 3"/>
          <p:cNvSpPr txBox="1"/>
          <p:nvPr/>
        </p:nvSpPr>
        <p:spPr>
          <a:xfrm>
            <a:off x="10652760" y="603504"/>
            <a:ext cx="640080" cy="182880"/>
          </a:xfrm>
          <a:prstGeom prst="rect">
            <a:avLst/>
          </a:prstGeom>
          <a:noFill/>
        </p:spPr>
        <p:txBody>
          <a:bodyPr wrap="square">
            <a:noAutofit/>
          </a:bodyPr>
          <a:lstStyle/>
          <a:p>
            <a:pPr algn="r">
              <a:defRPr sz="900" b="0">
                <a:solidFill>
                  <a:srgbClr val="566B7F"/>
                </a:solidFill>
                <a:latin typeface="Microsoft YaHei"/>
              </a:defRPr>
            </a:pPr>
            <a:r>
              <a:t>05</a:t>
            </a:r>
          </a:p>
        </p:txBody>
      </p:sp>
      <p:sp>
        <p:nvSpPr>
          <p:cNvPr id="5" name="Rectangle 4"/>
          <p:cNvSpPr/>
          <p:nvPr/>
        </p:nvSpPr>
        <p:spPr>
          <a:xfrm>
            <a:off x="384048" y="804672"/>
            <a:ext cx="10826496" cy="13716"/>
          </a:xfrm>
          <a:prstGeom prst="rect">
            <a:avLst/>
          </a:prstGeom>
          <a:solidFill>
            <a:srgbClr val="448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060704"/>
          <a:ext cx="7315200" cy="4617720"/>
        </p:xfrm>
        <a:graphic>
          <a:graphicData uri="http://schemas.openxmlformats.org/drawingml/2006/table">
            <a:tbl>
              <a:tblPr firstRow="1" bandRow="1">
                <a:tableStyleId>{5C22544A-7EE6-4342-B048-85BDC9FD1C3A}</a:tableStyleId>
              </a:tblPr>
              <a:tblGrid>
                <a:gridCol w="1828800"/>
                <a:gridCol w="1828800"/>
                <a:gridCol w="1828800"/>
                <a:gridCol w="1828800"/>
              </a:tblGrid>
              <a:tr h="923544">
                <a:tc>
                  <a:txBody>
                    <a:bodyPr/>
                    <a:lstStyle/>
                    <a:p>
                      <a:pPr algn="ctr">
                        <a:defRPr sz="1200" b="1">
                          <a:solidFill>
                            <a:srgbClr val="01203C"/>
                          </a:solidFill>
                          <a:latin typeface="Microsoft YaHei"/>
                        </a:defRPr>
                      </a:pPr>
                      <a:r>
                        <a:t>项目 概况</a:t>
                      </a:r>
                    </a:p>
                  </a:txBody>
                  <a:tcPr anchor="ctr" marL="36576" marR="36576" marT="18288" marB="18288">
                    <a:solidFill>
                      <a:srgbClr val="EAF2F8"/>
                    </a:solidFill>
                  </a:tcPr>
                </a:tc>
                <a:tc>
                  <a:txBody>
                    <a:bodyPr/>
                    <a:lstStyle/>
                    <a:p>
                      <a:pPr algn="ctr">
                        <a:defRPr sz="1200" b="1">
                          <a:solidFill>
                            <a:srgbClr val="01203C"/>
                          </a:solidFill>
                          <a:latin typeface="Microsoft YaHei"/>
                        </a:defRPr>
                      </a:pPr>
                      <a:r>
                        <a:t>位置</a:t>
                      </a:r>
                    </a:p>
                  </a:txBody>
                  <a:tcPr anchor="ctr" marL="36576" marR="36576" marT="18288" marB="18288">
                    <a:solidFill>
                      <a:srgbClr val="EAF2F8"/>
                    </a:solidFill>
                  </a:tcPr>
                </a:tc>
                <a:tc>
                  <a:txBody>
                    <a:bodyPr/>
                    <a:lstStyle/>
                    <a:p>
                      <a:pPr algn="ctr">
                        <a:defRPr sz="1200" b="1">
                          <a:solidFill>
                            <a:srgbClr val="01203C"/>
                          </a:solidFill>
                          <a:latin typeface="Microsoft YaHei"/>
                        </a:defRPr>
                      </a:pPr>
                      <a:r>
                        <a:t>湖北省黄冈市黄州区城北片区</a:t>
                      </a:r>
                    </a:p>
                  </a:txBody>
                  <a:tcPr anchor="ctr" marL="36576" marR="36576" marT="18288" marB="18288">
                    <a:solidFill>
                      <a:srgbClr val="EAF2F8"/>
                    </a:solidFill>
                  </a:tcPr>
                </a:tc>
                <a:tc>
                  <a:txBody>
                    <a:bodyPr/>
                    <a:lstStyle/>
                    <a:p>
                      <a:pPr algn="ctr">
                        <a:defRPr sz="1200" b="1">
                          <a:solidFill>
                            <a:srgbClr val="01203C"/>
                          </a:solidFill>
                          <a:latin typeface="Microsoft YaHei"/>
                        </a:defRPr>
                      </a:pPr>
                    </a:p>
                  </a:txBody>
                  <a:tcPr anchor="ctr" marL="36576" marR="36576" marT="18288" marB="18288">
                    <a:solidFill>
                      <a:srgbClr val="EAF2F8"/>
                    </a:solidFill>
                  </a:tcPr>
                </a:tc>
              </a:tr>
              <a:tr h="923544">
                <a:tc>
                  <a:txBody>
                    <a:bodyPr/>
                    <a:lstStyle/>
                    <a:p>
                      <a:pPr algn="ctr">
                        <a:defRPr sz="1200">
                          <a:solidFill>
                            <a:srgbClr val="01203C"/>
                          </a:solidFill>
                          <a:latin typeface="Microsoft YaHei"/>
                        </a:defRPr>
                      </a:pPr>
                    </a:p>
                  </a:txBody>
                  <a:tcPr anchor="ctr" marL="36576" marR="36576" marT="18288" marB="18288">
                    <a:solidFill>
                      <a:srgbClr val="FFFFFF"/>
                    </a:solidFill>
                  </a:tcPr>
                </a:tc>
                <a:tc>
                  <a:txBody>
                    <a:bodyPr/>
                    <a:lstStyle/>
                    <a:p>
                      <a:pPr algn="ctr">
                        <a:defRPr sz="1200">
                          <a:solidFill>
                            <a:srgbClr val="01203C"/>
                          </a:solidFill>
                          <a:latin typeface="Microsoft YaHei"/>
                        </a:defRPr>
                      </a:pPr>
                      <a:r>
                        <a:t>建设性质</a:t>
                      </a:r>
                    </a:p>
                  </a:txBody>
                  <a:tcPr anchor="ctr" marL="36576" marR="36576" marT="18288" marB="18288">
                    <a:solidFill>
                      <a:srgbClr val="FFFFFF"/>
                    </a:solidFill>
                  </a:tcPr>
                </a:tc>
                <a:tc>
                  <a:txBody>
                    <a:bodyPr/>
                    <a:lstStyle/>
                    <a:p>
                      <a:pPr algn="ctr">
                        <a:defRPr sz="1200">
                          <a:solidFill>
                            <a:srgbClr val="01203C"/>
                          </a:solidFill>
                          <a:latin typeface="Microsoft YaHei"/>
                        </a:defRPr>
                      </a:pPr>
                      <a:r>
                        <a:t>新建</a:t>
                      </a:r>
                    </a:p>
                  </a:txBody>
                  <a:tcPr anchor="ctr" marL="36576" marR="36576" marT="18288" marB="18288">
                    <a:solidFill>
                      <a:srgbClr val="FFFFFF"/>
                    </a:solidFill>
                  </a:tcPr>
                </a:tc>
                <a:tc>
                  <a:txBody>
                    <a:bodyPr/>
                    <a:lstStyle/>
                    <a:p>
                      <a:pPr algn="ctr">
                        <a:defRPr sz="1200">
                          <a:solidFill>
                            <a:srgbClr val="01203C"/>
                          </a:solidFill>
                          <a:latin typeface="Microsoft YaHei"/>
                        </a:defRPr>
                      </a:pPr>
                      <a:r>
                        <a:t>总投资（万元）</a:t>
                      </a:r>
                    </a:p>
                  </a:txBody>
                  <a:tcPr anchor="ctr" marL="36576" marR="36576" marT="18288" marB="18288">
                    <a:solidFill>
                      <a:srgbClr val="FFFFFF"/>
                    </a:solidFill>
                  </a:tcPr>
                </a:tc>
              </a:tr>
              <a:tr h="923544">
                <a:tc>
                  <a:txBody>
                    <a:bodyPr/>
                    <a:lstStyle/>
                    <a:p>
                      <a:pPr algn="ctr">
                        <a:defRPr sz="1200">
                          <a:solidFill>
                            <a:srgbClr val="01203C"/>
                          </a:solidFill>
                          <a:latin typeface="Microsoft YaHei"/>
                        </a:defRPr>
                      </a:pPr>
                    </a:p>
                  </a:txBody>
                  <a:tcPr anchor="ctr" marL="36576" marR="36576" marT="18288" marB="18288">
                    <a:solidFill>
                      <a:srgbClr val="FFFFFF"/>
                    </a:solidFill>
                  </a:tcPr>
                </a:tc>
                <a:tc>
                  <a:txBody>
                    <a:bodyPr/>
                    <a:lstStyle/>
                    <a:p>
                      <a:pPr algn="ctr">
                        <a:defRPr sz="1200">
                          <a:solidFill>
                            <a:srgbClr val="01203C"/>
                          </a:solidFill>
                          <a:latin typeface="Microsoft YaHei"/>
                        </a:defRPr>
                      </a:pPr>
                      <a:r>
                        <a:t>土建投资（万元）</a:t>
                      </a:r>
                    </a:p>
                  </a:txBody>
                  <a:tcPr anchor="ctr" marL="36576" marR="36576" marT="18288" marB="18288">
                    <a:solidFill>
                      <a:srgbClr val="FFFFFF"/>
                    </a:solidFill>
                  </a:tcPr>
                </a:tc>
                <a:tc>
                  <a:txBody>
                    <a:bodyPr/>
                    <a:lstStyle/>
                    <a:p>
                      <a:pPr algn="ctr">
                        <a:defRPr sz="1200">
                          <a:solidFill>
                            <a:srgbClr val="01203C"/>
                          </a:solidFill>
                          <a:latin typeface="Microsoft YaHei"/>
                        </a:defRPr>
                      </a:pPr>
                      <a:r>
                        <a:t>6914.95</a:t>
                      </a:r>
                    </a:p>
                  </a:txBody>
                  <a:tcPr anchor="ctr" marL="36576" marR="36576" marT="18288" marB="18288">
                    <a:solidFill>
                      <a:srgbClr val="FFFFFF"/>
                    </a:solidFill>
                  </a:tcPr>
                </a:tc>
                <a:tc>
                  <a:txBody>
                    <a:bodyPr/>
                    <a:lstStyle/>
                    <a:p>
                      <a:pPr algn="ctr">
                        <a:defRPr sz="1200">
                          <a:solidFill>
                            <a:srgbClr val="01203C"/>
                          </a:solidFill>
                          <a:latin typeface="Microsoft YaHei"/>
                        </a:defRPr>
                      </a:pPr>
                      <a:r>
                        <a:t>占地面积（m²）</a:t>
                      </a:r>
                    </a:p>
                  </a:txBody>
                  <a:tcPr anchor="ctr" marL="36576" marR="36576" marT="18288" marB="18288">
                    <a:solidFill>
                      <a:srgbClr val="FFFFFF"/>
                    </a:solidFill>
                  </a:tcPr>
                </a:tc>
              </a:tr>
              <a:tr h="923544">
                <a:tc>
                  <a:txBody>
                    <a:bodyPr/>
                    <a:lstStyle/>
                    <a:p>
                      <a:pPr algn="ctr">
                        <a:defRPr sz="1200">
                          <a:solidFill>
                            <a:srgbClr val="01203C"/>
                          </a:solidFill>
                          <a:latin typeface="Microsoft YaHei"/>
                        </a:defRPr>
                      </a:pPr>
                    </a:p>
                  </a:txBody>
                  <a:tcPr anchor="ctr" marL="36576" marR="36576" marT="18288" marB="18288">
                    <a:solidFill>
                      <a:srgbClr val="FFFFFF"/>
                    </a:solidFill>
                  </a:tcPr>
                </a:tc>
                <a:tc>
                  <a:txBody>
                    <a:bodyPr/>
                    <a:lstStyle/>
                    <a:p>
                      <a:pPr algn="ctr">
                        <a:defRPr sz="1200">
                          <a:solidFill>
                            <a:srgbClr val="01203C"/>
                          </a:solidFill>
                          <a:latin typeface="Microsoft YaHei"/>
                        </a:defRPr>
                      </a:pPr>
                      <a:r>
                        <a:t>管网工程区</a:t>
                      </a:r>
                    </a:p>
                  </a:txBody>
                  <a:tcPr anchor="ctr" marL="36576" marR="36576" marT="18288" marB="18288">
                    <a:solidFill>
                      <a:srgbClr val="FFFFFF"/>
                    </a:solidFill>
                  </a:tcPr>
                </a:tc>
                <a:tc>
                  <a:txBody>
                    <a:bodyPr/>
                    <a:lstStyle/>
                    <a:p>
                      <a:pPr algn="ctr">
                        <a:defRPr sz="1200">
                          <a:solidFill>
                            <a:srgbClr val="01203C"/>
                          </a:solidFill>
                          <a:latin typeface="Microsoft YaHei"/>
                        </a:defRPr>
                      </a:pPr>
                      <a:r>
                        <a:t>表土剥离及回覆79.5m³、土地整治265㎡</a:t>
                      </a:r>
                    </a:p>
                  </a:txBody>
                  <a:tcPr anchor="ctr" marL="36576" marR="36576" marT="18288" marB="18288">
                    <a:solidFill>
                      <a:srgbClr val="FFFFFF"/>
                    </a:solidFill>
                  </a:tcPr>
                </a:tc>
                <a:tc>
                  <a:txBody>
                    <a:bodyPr/>
                    <a:lstStyle/>
                    <a:p>
                      <a:pPr algn="ctr">
                        <a:defRPr sz="1200">
                          <a:solidFill>
                            <a:srgbClr val="01203C"/>
                          </a:solidFill>
                          <a:latin typeface="Microsoft YaHei"/>
                        </a:defRPr>
                      </a:pPr>
                      <a:r>
                        <a:t>铺种草皮265㎡</a:t>
                      </a:r>
                    </a:p>
                  </a:txBody>
                  <a:tcPr anchor="ctr" marL="36576" marR="36576" marT="18288" marB="18288">
                    <a:solidFill>
                      <a:srgbClr val="FFFFFF"/>
                    </a:solidFill>
                  </a:tcPr>
                </a:tc>
              </a:tr>
              <a:tr h="923544">
                <a:tc>
                  <a:txBody>
                    <a:bodyPr/>
                    <a:lstStyle/>
                    <a:p>
                      <a:pPr algn="ctr">
                        <a:defRPr sz="1200">
                          <a:solidFill>
                            <a:srgbClr val="01203C"/>
                          </a:solidFill>
                          <a:latin typeface="Microsoft YaHei"/>
                        </a:defRPr>
                      </a:pPr>
                    </a:p>
                  </a:txBody>
                  <a:tcPr anchor="ctr" marL="36576" marR="36576" marT="18288" marB="18288">
                    <a:solidFill>
                      <a:srgbClr val="FFFFFF"/>
                    </a:solidFill>
                  </a:tcPr>
                </a:tc>
                <a:tc>
                  <a:txBody>
                    <a:bodyPr/>
                    <a:lstStyle/>
                    <a:p>
                      <a:pPr algn="ctr">
                        <a:defRPr sz="1200">
                          <a:solidFill>
                            <a:srgbClr val="01203C"/>
                          </a:solidFill>
                          <a:latin typeface="Microsoft YaHei"/>
                        </a:defRPr>
                      </a:pPr>
                      <a:r>
                        <a:t>总投资</a:t>
                      </a:r>
                    </a:p>
                  </a:txBody>
                  <a:tcPr anchor="ctr" marL="36576" marR="36576" marT="18288" marB="18288">
                    <a:solidFill>
                      <a:srgbClr val="FFFFFF"/>
                    </a:solidFill>
                  </a:tcPr>
                </a:tc>
                <a:tc>
                  <a:txBody>
                    <a:bodyPr/>
                    <a:lstStyle/>
                    <a:p>
                      <a:pPr algn="ctr">
                        <a:defRPr sz="1200">
                          <a:solidFill>
                            <a:srgbClr val="01203C"/>
                          </a:solidFill>
                          <a:latin typeface="Microsoft YaHei"/>
                        </a:defRPr>
                      </a:pPr>
                      <a:r>
                        <a:t>26.9211</a:t>
                      </a:r>
                    </a:p>
                  </a:txBody>
                  <a:tcPr anchor="ctr" marL="36576" marR="36576" marT="18288" marB="18288">
                    <a:solidFill>
                      <a:srgbClr val="FFFFFF"/>
                    </a:solidFill>
                  </a:tcPr>
                </a:tc>
                <a:tc>
                  <a:txBody>
                    <a:bodyPr/>
                    <a:lstStyle/>
                    <a:p>
                      <a:pPr algn="ctr">
                        <a:defRPr sz="1200">
                          <a:solidFill>
                            <a:srgbClr val="01203C"/>
                          </a:solidFill>
                          <a:latin typeface="Microsoft YaHei"/>
                        </a:defRPr>
                      </a:pPr>
                    </a:p>
                  </a:txBody>
                  <a:tcPr anchor="ctr" marL="36576" marR="36576" marT="18288" marB="18288">
                    <a:solidFill>
                      <a:srgbClr val="FFFFFF"/>
                    </a:solidFill>
                  </a:tcPr>
                </a:tc>
              </a:tr>
            </a:tbl>
          </a:graphicData>
        </a:graphic>
      </p:graphicFrame>
      <p:sp>
        <p:nvSpPr>
          <p:cNvPr id="7" name="TextBox 6"/>
          <p:cNvSpPr txBox="1"/>
          <p:nvPr/>
        </p:nvSpPr>
        <p:spPr>
          <a:xfrm>
            <a:off x="8183879" y="1115568"/>
            <a:ext cx="3063240" cy="438912"/>
          </a:xfrm>
          <a:prstGeom prst="rect">
            <a:avLst/>
          </a:prstGeom>
          <a:noFill/>
        </p:spPr>
        <p:txBody>
          <a:bodyPr wrap="square">
            <a:noAutofit/>
          </a:bodyPr>
          <a:lstStyle/>
          <a:p>
            <a:pPr>
              <a:defRPr sz="1500" b="1">
                <a:solidFill>
                  <a:srgbClr val="4489C8"/>
                </a:solidFill>
                <a:latin typeface="Microsoft YaHei"/>
              </a:defRPr>
            </a:pPr>
            <a:r>
              <a:t>综合说明与审批依据</a:t>
            </a:r>
          </a:p>
        </p:txBody>
      </p:sp>
      <p:sp>
        <p:nvSpPr>
          <p:cNvPr id="8" name="TextBox 7"/>
          <p:cNvSpPr txBox="1"/>
          <p:nvPr/>
        </p:nvSpPr>
        <p:spPr>
          <a:xfrm>
            <a:off x="8183879" y="1719072"/>
            <a:ext cx="2880360" cy="3611880"/>
          </a:xfrm>
          <a:prstGeom prst="rect">
            <a:avLst/>
          </a:prstGeom>
          <a:noFill/>
        </p:spPr>
        <p:txBody>
          <a:bodyPr wrap="square">
            <a:noAutofit/>
          </a:bodyPr>
          <a:lstStyle/>
          <a:p>
            <a:pPr>
              <a:spcAft>
                <a:spcPts val="400"/>
              </a:spcAft>
              <a:defRPr sz="1400">
                <a:solidFill>
                  <a:srgbClr val="01203C"/>
                </a:solidFill>
                <a:latin typeface="Microsoft YaHei"/>
              </a:defRPr>
            </a:pPr>
            <a:r>
              <a:t>综合报告表集中列示建设内容、占地、土石方、防治目标、措施和投资控制指标。</a:t>
            </a:r>
          </a:p>
          <a:p>
            <a:pPr>
              <a:spcAft>
                <a:spcPts val="400"/>
              </a:spcAft>
              <a:defRPr sz="1400">
                <a:solidFill>
                  <a:srgbClr val="01203C"/>
                </a:solidFill>
                <a:latin typeface="Microsoft YaHei"/>
              </a:defRPr>
            </a:pPr>
            <a:r>
              <a:t>工程规模、责任范围与投资口径在综合报告表中保持统一控制关系。</a:t>
            </a:r>
          </a:p>
          <a:p>
            <a:pPr>
              <a:spcAft>
                <a:spcPts val="400"/>
              </a:spcAft>
              <a:defRPr sz="1400">
                <a:solidFill>
                  <a:srgbClr val="01203C"/>
                </a:solidFill>
                <a:latin typeface="Microsoft YaHei"/>
              </a:defRPr>
            </a:pPr>
            <a:r>
              <a:t>土石方平衡、预测计算、措施布设和投资概算均以综合表控制参数为依据。</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384048" y="182880"/>
            <a:ext cx="10835640" cy="457200"/>
          </a:xfrm>
          <a:prstGeom prst="rect">
            <a:avLst/>
          </a:prstGeom>
          <a:noFill/>
        </p:spPr>
        <p:txBody>
          <a:bodyPr wrap="square">
            <a:noAutofit/>
          </a:bodyPr>
          <a:lstStyle/>
          <a:p>
            <a:pPr>
              <a:defRPr sz="2400" b="1">
                <a:solidFill>
                  <a:srgbClr val="01203C"/>
                </a:solidFill>
                <a:latin typeface="Microsoft YaHei"/>
              </a:defRPr>
            </a:pPr>
            <a:r>
              <a:t>前期批复和编制依据明确方案边界</a:t>
            </a:r>
          </a:p>
        </p:txBody>
      </p:sp>
      <p:sp>
        <p:nvSpPr>
          <p:cNvPr id="3" name="TextBox 2"/>
          <p:cNvSpPr txBox="1"/>
          <p:nvPr/>
        </p:nvSpPr>
        <p:spPr>
          <a:xfrm>
            <a:off x="393192" y="621792"/>
            <a:ext cx="6400800" cy="219456"/>
          </a:xfrm>
          <a:prstGeom prst="rect">
            <a:avLst/>
          </a:prstGeom>
          <a:noFill/>
        </p:spPr>
        <p:txBody>
          <a:bodyPr wrap="square">
            <a:noAutofit/>
          </a:bodyPr>
          <a:lstStyle/>
          <a:p>
            <a:pPr>
              <a:defRPr sz="950" b="0">
                <a:solidFill>
                  <a:srgbClr val="4489C8"/>
                </a:solidFill>
                <a:latin typeface="Microsoft YaHei"/>
              </a:defRPr>
            </a:pPr>
            <a:r>
              <a:t>综合说明与审批依据</a:t>
            </a:r>
          </a:p>
        </p:txBody>
      </p:sp>
      <p:sp>
        <p:nvSpPr>
          <p:cNvPr id="4" name="TextBox 3"/>
          <p:cNvSpPr txBox="1"/>
          <p:nvPr/>
        </p:nvSpPr>
        <p:spPr>
          <a:xfrm>
            <a:off x="10652760" y="603504"/>
            <a:ext cx="640080" cy="182880"/>
          </a:xfrm>
          <a:prstGeom prst="rect">
            <a:avLst/>
          </a:prstGeom>
          <a:noFill/>
        </p:spPr>
        <p:txBody>
          <a:bodyPr wrap="square">
            <a:noAutofit/>
          </a:bodyPr>
          <a:lstStyle/>
          <a:p>
            <a:pPr algn="r">
              <a:defRPr sz="900" b="0">
                <a:solidFill>
                  <a:srgbClr val="566B7F"/>
                </a:solidFill>
                <a:latin typeface="Microsoft YaHei"/>
              </a:defRPr>
            </a:pPr>
            <a:r>
              <a:t>06</a:t>
            </a:r>
          </a:p>
        </p:txBody>
      </p:sp>
      <p:sp>
        <p:nvSpPr>
          <p:cNvPr id="5" name="Rectangle 4"/>
          <p:cNvSpPr/>
          <p:nvPr/>
        </p:nvSpPr>
        <p:spPr>
          <a:xfrm>
            <a:off x="384048" y="804672"/>
            <a:ext cx="10826496" cy="13716"/>
          </a:xfrm>
          <a:prstGeom prst="rect">
            <a:avLst/>
          </a:prstGeom>
          <a:solidFill>
            <a:srgbClr val="448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3504" y="1124712"/>
            <a:ext cx="10972800" cy="4462272"/>
          </a:xfrm>
          <a:prstGeom prst="rect">
            <a:avLst/>
          </a:prstGeom>
          <a:solidFill>
            <a:srgbClr val="FFFFFF"/>
          </a:solidFill>
          <a:ln w="7620">
            <a:solidFill>
              <a:srgbClr val="CCD8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417320"/>
            <a:ext cx="10332720" cy="347472"/>
          </a:xfrm>
          <a:prstGeom prst="rect">
            <a:avLst/>
          </a:prstGeom>
          <a:noFill/>
        </p:spPr>
        <p:txBody>
          <a:bodyPr wrap="square">
            <a:noAutofit/>
          </a:bodyPr>
          <a:lstStyle/>
          <a:p>
            <a:pPr>
              <a:defRPr sz="1600" b="1">
                <a:solidFill>
                  <a:srgbClr val="4489C8"/>
                </a:solidFill>
                <a:latin typeface="Microsoft YaHei"/>
              </a:defRPr>
            </a:pPr>
            <a:r>
              <a:t>项目前期工作概况</a:t>
            </a:r>
          </a:p>
        </p:txBody>
      </p:sp>
      <p:sp>
        <p:nvSpPr>
          <p:cNvPr id="8" name="TextBox 7"/>
          <p:cNvSpPr txBox="1"/>
          <p:nvPr/>
        </p:nvSpPr>
        <p:spPr>
          <a:xfrm>
            <a:off x="877824" y="1920240"/>
            <a:ext cx="4800600" cy="3429000"/>
          </a:xfrm>
          <a:prstGeom prst="rect">
            <a:avLst/>
          </a:prstGeom>
          <a:noFill/>
        </p:spPr>
        <p:txBody>
          <a:bodyPr wrap="square">
            <a:noAutofit/>
          </a:bodyPr>
          <a:lstStyle/>
          <a:p>
            <a:pPr>
              <a:spcAft>
                <a:spcPts val="400"/>
              </a:spcAft>
              <a:defRPr sz="1400">
                <a:solidFill>
                  <a:srgbClr val="01203C"/>
                </a:solidFill>
                <a:latin typeface="Microsoft YaHei"/>
              </a:defRPr>
            </a:pPr>
            <a:r>
              <a:t>本方案以可研批复、初设批复和项目既有前期工作为边界，明确工程建设内容与水土保持评价对象。</a:t>
            </a:r>
          </a:p>
          <a:p>
            <a:pPr>
              <a:spcAft>
                <a:spcPts val="400"/>
              </a:spcAft>
              <a:defRPr sz="1400">
                <a:solidFill>
                  <a:srgbClr val="01203C"/>
                </a:solidFill>
                <a:latin typeface="Microsoft YaHei"/>
              </a:defRPr>
            </a:pPr>
            <a:r>
              <a:t>编制依据覆盖水土保持法律法规、技术标准和地方管理要求，是防治目标、预测计算和投资概算的共同基础。</a:t>
            </a:r>
          </a:p>
        </p:txBody>
      </p:sp>
      <p:sp>
        <p:nvSpPr>
          <p:cNvPr id="9" name="TextBox 8"/>
          <p:cNvSpPr txBox="1"/>
          <p:nvPr/>
        </p:nvSpPr>
        <p:spPr>
          <a:xfrm>
            <a:off x="6053328" y="1920240"/>
            <a:ext cx="4800600" cy="3429000"/>
          </a:xfrm>
          <a:prstGeom prst="rect">
            <a:avLst/>
          </a:prstGeom>
          <a:noFill/>
        </p:spPr>
        <p:txBody>
          <a:bodyPr wrap="square">
            <a:noAutofit/>
          </a:bodyPr>
          <a:lstStyle/>
          <a:p>
            <a:pPr>
              <a:spcAft>
                <a:spcPts val="400"/>
              </a:spcAft>
              <a:defRPr sz="1400">
                <a:solidFill>
                  <a:srgbClr val="01203C"/>
                </a:solidFill>
                <a:latin typeface="Microsoft YaHei"/>
              </a:defRPr>
            </a:pPr>
            <a:r>
              <a:t>附件清单包括批复、委托、地理位置、措施布设和投资估算等支撑材料。</a:t>
            </a:r>
          </a:p>
          <a:p>
            <a:pPr>
              <a:spcAft>
                <a:spcPts val="400"/>
              </a:spcAft>
              <a:defRPr sz="1400">
                <a:solidFill>
                  <a:srgbClr val="01203C"/>
                </a:solidFill>
                <a:latin typeface="Microsoft YaHei"/>
              </a:defRPr>
            </a:pPr>
            <a:r>
              <a:t>前期手续与依据文件共同限定方案编制范围和水土保持责任边界。</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1203C"/>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1203C"/>
          </a:solidFill>
          <a:ln w="7620">
            <a:solidFill>
              <a:srgbClr val="0120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960120"/>
            <a:ext cx="73152" cy="4736592"/>
          </a:xfrm>
          <a:prstGeom prst="rect">
            <a:avLst/>
          </a:prstGeom>
          <a:solidFill>
            <a:srgbClr val="4489C8"/>
          </a:solidFill>
          <a:ln w="7620">
            <a:solidFill>
              <a:srgbClr val="448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640080"/>
            <a:ext cx="4206240" cy="320040"/>
          </a:xfrm>
          <a:prstGeom prst="rect">
            <a:avLst/>
          </a:prstGeom>
          <a:noFill/>
        </p:spPr>
        <p:txBody>
          <a:bodyPr wrap="square">
            <a:noAutofit/>
          </a:bodyPr>
          <a:lstStyle/>
          <a:p>
            <a:pPr>
              <a:defRPr sz="1600" b="1">
                <a:solidFill>
                  <a:srgbClr val="EAF2F8"/>
                </a:solidFill>
                <a:latin typeface="Microsoft YaHei"/>
              </a:defRPr>
            </a:pPr>
            <a:r>
              <a:t>第02章 / 共07章</a:t>
            </a:r>
          </a:p>
        </p:txBody>
      </p:sp>
      <p:sp>
        <p:nvSpPr>
          <p:cNvPr id="5" name="TextBox 4"/>
          <p:cNvSpPr txBox="1"/>
          <p:nvPr/>
        </p:nvSpPr>
        <p:spPr>
          <a:xfrm>
            <a:off x="749808" y="1901952"/>
            <a:ext cx="1298448" cy="804672"/>
          </a:xfrm>
          <a:prstGeom prst="rect">
            <a:avLst/>
          </a:prstGeom>
          <a:noFill/>
        </p:spPr>
        <p:txBody>
          <a:bodyPr wrap="square">
            <a:noAutofit/>
          </a:bodyPr>
          <a:lstStyle/>
          <a:p>
            <a:pPr>
              <a:defRPr sz="5400" b="1">
                <a:solidFill>
                  <a:srgbClr val="FFFFFF"/>
                </a:solidFill>
                <a:latin typeface="Microsoft YaHei"/>
              </a:defRPr>
            </a:pPr>
            <a:r>
              <a:t>02</a:t>
            </a:r>
          </a:p>
        </p:txBody>
      </p:sp>
      <p:sp>
        <p:nvSpPr>
          <p:cNvPr id="6" name="TextBox 5"/>
          <p:cNvSpPr txBox="1"/>
          <p:nvPr/>
        </p:nvSpPr>
        <p:spPr>
          <a:xfrm>
            <a:off x="2176272" y="2011680"/>
            <a:ext cx="8961120" cy="749808"/>
          </a:xfrm>
          <a:prstGeom prst="rect">
            <a:avLst/>
          </a:prstGeom>
          <a:noFill/>
        </p:spPr>
        <p:txBody>
          <a:bodyPr wrap="square">
            <a:noAutofit/>
          </a:bodyPr>
          <a:lstStyle/>
          <a:p>
            <a:pPr>
              <a:defRPr sz="3000" b="1">
                <a:solidFill>
                  <a:srgbClr val="FFFFFF"/>
                </a:solidFill>
                <a:latin typeface="Microsoft YaHei"/>
              </a:defRPr>
            </a:pPr>
            <a:r>
              <a:t>项目概况与工程布置</a:t>
            </a:r>
          </a:p>
        </p:txBody>
      </p:sp>
      <p:sp>
        <p:nvSpPr>
          <p:cNvPr id="7" name="TextBox 6"/>
          <p:cNvSpPr txBox="1"/>
          <p:nvPr/>
        </p:nvSpPr>
        <p:spPr>
          <a:xfrm>
            <a:off x="2212848" y="2962656"/>
            <a:ext cx="8229600" cy="329184"/>
          </a:xfrm>
          <a:prstGeom prst="rect">
            <a:avLst/>
          </a:prstGeom>
          <a:noFill/>
        </p:spPr>
        <p:txBody>
          <a:bodyPr wrap="square">
            <a:noAutofit/>
          </a:bodyPr>
          <a:lstStyle/>
          <a:p>
            <a:pPr>
              <a:defRPr sz="1500" b="0">
                <a:solidFill>
                  <a:srgbClr val="EAF2F8"/>
                </a:solidFill>
                <a:latin typeface="Microsoft YaHei"/>
              </a:defRPr>
            </a:pPr>
            <a:r>
              <a:t>说明管网建设内容、道路段落、工程占地、施工组织、工艺和土石方基础。</a:t>
            </a:r>
          </a:p>
        </p:txBody>
      </p:sp>
      <p:sp>
        <p:nvSpPr>
          <p:cNvPr id="8" name="Rectangle 7"/>
          <p:cNvSpPr/>
          <p:nvPr/>
        </p:nvSpPr>
        <p:spPr>
          <a:xfrm>
            <a:off x="2212848" y="3749039"/>
            <a:ext cx="6400800" cy="18288"/>
          </a:xfrm>
          <a:prstGeom prst="rect">
            <a:avLst/>
          </a:prstGeom>
          <a:solidFill>
            <a:srgbClr val="4489C8"/>
          </a:solidFill>
          <a:ln w="7620">
            <a:solidFill>
              <a:srgbClr val="448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384048" y="182880"/>
            <a:ext cx="10835640" cy="457200"/>
          </a:xfrm>
          <a:prstGeom prst="rect">
            <a:avLst/>
          </a:prstGeom>
          <a:noFill/>
        </p:spPr>
        <p:txBody>
          <a:bodyPr wrap="square">
            <a:noAutofit/>
          </a:bodyPr>
          <a:lstStyle/>
          <a:p>
            <a:pPr>
              <a:defRPr sz="2400" b="1">
                <a:solidFill>
                  <a:srgbClr val="01203C"/>
                </a:solidFill>
                <a:latin typeface="Microsoft YaHei"/>
              </a:defRPr>
            </a:pPr>
            <a:r>
              <a:t>建设项目工程特性表锁定规模、投资与工期</a:t>
            </a:r>
          </a:p>
        </p:txBody>
      </p:sp>
      <p:sp>
        <p:nvSpPr>
          <p:cNvPr id="3" name="TextBox 2"/>
          <p:cNvSpPr txBox="1"/>
          <p:nvPr/>
        </p:nvSpPr>
        <p:spPr>
          <a:xfrm>
            <a:off x="393192" y="621792"/>
            <a:ext cx="6400800" cy="219456"/>
          </a:xfrm>
          <a:prstGeom prst="rect">
            <a:avLst/>
          </a:prstGeom>
          <a:noFill/>
        </p:spPr>
        <p:txBody>
          <a:bodyPr wrap="square">
            <a:noAutofit/>
          </a:bodyPr>
          <a:lstStyle/>
          <a:p>
            <a:pPr>
              <a:defRPr sz="950" b="0">
                <a:solidFill>
                  <a:srgbClr val="4489C8"/>
                </a:solidFill>
                <a:latin typeface="Microsoft YaHei"/>
              </a:defRPr>
            </a:pPr>
            <a:r>
              <a:t>项目概况与工程布置</a:t>
            </a:r>
          </a:p>
        </p:txBody>
      </p:sp>
      <p:sp>
        <p:nvSpPr>
          <p:cNvPr id="4" name="TextBox 3"/>
          <p:cNvSpPr txBox="1"/>
          <p:nvPr/>
        </p:nvSpPr>
        <p:spPr>
          <a:xfrm>
            <a:off x="10652760" y="603504"/>
            <a:ext cx="640080" cy="182880"/>
          </a:xfrm>
          <a:prstGeom prst="rect">
            <a:avLst/>
          </a:prstGeom>
          <a:noFill/>
        </p:spPr>
        <p:txBody>
          <a:bodyPr wrap="square">
            <a:noAutofit/>
          </a:bodyPr>
          <a:lstStyle/>
          <a:p>
            <a:pPr algn="r">
              <a:defRPr sz="900" b="0">
                <a:solidFill>
                  <a:srgbClr val="566B7F"/>
                </a:solidFill>
                <a:latin typeface="Microsoft YaHei"/>
              </a:defRPr>
            </a:pPr>
            <a:r>
              <a:t>08</a:t>
            </a:r>
          </a:p>
        </p:txBody>
      </p:sp>
      <p:sp>
        <p:nvSpPr>
          <p:cNvPr id="5" name="Rectangle 4"/>
          <p:cNvSpPr/>
          <p:nvPr/>
        </p:nvSpPr>
        <p:spPr>
          <a:xfrm>
            <a:off x="384048" y="804672"/>
            <a:ext cx="10826496" cy="13716"/>
          </a:xfrm>
          <a:prstGeom prst="rect">
            <a:avLst/>
          </a:prstGeom>
          <a:solidFill>
            <a:srgbClr val="448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060704"/>
          <a:ext cx="7315200" cy="4617720"/>
        </p:xfrm>
        <a:graphic>
          <a:graphicData uri="http://schemas.openxmlformats.org/drawingml/2006/table">
            <a:tbl>
              <a:tblPr firstRow="1" bandRow="1">
                <a:tableStyleId>{5C22544A-7EE6-4342-B048-85BDC9FD1C3A}</a:tableStyleId>
              </a:tblPr>
              <a:tblGrid>
                <a:gridCol w="1828800"/>
                <a:gridCol w="1828800"/>
                <a:gridCol w="1828800"/>
                <a:gridCol w="1828800"/>
              </a:tblGrid>
              <a:tr h="1154430">
                <a:tc>
                  <a:txBody>
                    <a:bodyPr/>
                    <a:lstStyle/>
                    <a:p>
                      <a:pPr algn="ctr">
                        <a:defRPr sz="1200" b="1">
                          <a:solidFill>
                            <a:srgbClr val="01203C"/>
                          </a:solidFill>
                          <a:latin typeface="Microsoft YaHei"/>
                        </a:defRPr>
                      </a:pPr>
                      <a:r>
                        <a:t>一、项目的基本情况</a:t>
                      </a:r>
                    </a:p>
                  </a:txBody>
                  <a:tcPr anchor="ctr" marL="36576" marR="36576" marT="18288" marB="18288">
                    <a:solidFill>
                      <a:srgbClr val="EAF2F8"/>
                    </a:solidFill>
                  </a:tcPr>
                </a:tc>
                <a:tc>
                  <a:txBody>
                    <a:bodyPr/>
                    <a:lstStyle/>
                    <a:p>
                      <a:pPr algn="ctr">
                        <a:defRPr sz="1200" b="1">
                          <a:solidFill>
                            <a:srgbClr val="01203C"/>
                          </a:solidFill>
                          <a:latin typeface="Microsoft YaHei"/>
                        </a:defRPr>
                      </a:pPr>
                    </a:p>
                  </a:txBody>
                  <a:tcPr anchor="ctr" marL="36576" marR="36576" marT="18288" marB="18288">
                    <a:solidFill>
                      <a:srgbClr val="EAF2F8"/>
                    </a:solidFill>
                  </a:tcPr>
                </a:tc>
                <a:tc>
                  <a:txBody>
                    <a:bodyPr/>
                    <a:lstStyle/>
                    <a:p>
                      <a:pPr algn="ctr">
                        <a:defRPr sz="1200" b="1">
                          <a:solidFill>
                            <a:srgbClr val="01203C"/>
                          </a:solidFill>
                          <a:latin typeface="Microsoft YaHei"/>
                        </a:defRPr>
                      </a:pPr>
                    </a:p>
                  </a:txBody>
                  <a:tcPr anchor="ctr" marL="36576" marR="36576" marT="18288" marB="18288">
                    <a:solidFill>
                      <a:srgbClr val="EAF2F8"/>
                    </a:solidFill>
                  </a:tcPr>
                </a:tc>
                <a:tc>
                  <a:txBody>
                    <a:bodyPr/>
                    <a:lstStyle/>
                    <a:p>
                      <a:pPr algn="ctr">
                        <a:defRPr sz="1200" b="1">
                          <a:solidFill>
                            <a:srgbClr val="01203C"/>
                          </a:solidFill>
                          <a:latin typeface="Microsoft YaHei"/>
                        </a:defRPr>
                      </a:pPr>
                    </a:p>
                  </a:txBody>
                  <a:tcPr anchor="ctr" marL="36576" marR="36576" marT="18288" marB="18288">
                    <a:solidFill>
                      <a:srgbClr val="EAF2F8"/>
                    </a:solidFill>
                  </a:tcPr>
                </a:tc>
              </a:tr>
              <a:tr h="1154430">
                <a:tc>
                  <a:txBody>
                    <a:bodyPr/>
                    <a:lstStyle/>
                    <a:p>
                      <a:pPr algn="ctr">
                        <a:defRPr sz="1200">
                          <a:solidFill>
                            <a:srgbClr val="01203C"/>
                          </a:solidFill>
                          <a:latin typeface="Microsoft YaHei"/>
                        </a:defRPr>
                      </a:pPr>
                      <a:r>
                        <a:t>项目分区</a:t>
                      </a:r>
                    </a:p>
                  </a:txBody>
                  <a:tcPr anchor="ctr" marL="36576" marR="36576" marT="18288" marB="18288">
                    <a:solidFill>
                      <a:srgbClr val="FFFFFF"/>
                    </a:solidFill>
                  </a:tcPr>
                </a:tc>
                <a:tc>
                  <a:txBody>
                    <a:bodyPr/>
                    <a:lstStyle/>
                    <a:p>
                      <a:pPr algn="ctr">
                        <a:defRPr sz="1200">
                          <a:solidFill>
                            <a:srgbClr val="01203C"/>
                          </a:solidFill>
                          <a:latin typeface="Microsoft YaHei"/>
                        </a:defRPr>
                      </a:pPr>
                      <a:r>
                        <a:t>项目区面积（ m² ）</a:t>
                      </a:r>
                    </a:p>
                  </a:txBody>
                  <a:tcPr anchor="ctr" marL="36576" marR="36576" marT="18288" marB="18288">
                    <a:solidFill>
                      <a:srgbClr val="FFFFFF"/>
                    </a:solidFill>
                  </a:tcPr>
                </a:tc>
                <a:tc>
                  <a:txBody>
                    <a:bodyPr/>
                    <a:lstStyle/>
                    <a:p>
                      <a:pPr algn="ctr">
                        <a:defRPr sz="1200">
                          <a:solidFill>
                            <a:srgbClr val="01203C"/>
                          </a:solidFill>
                          <a:latin typeface="Microsoft YaHei"/>
                        </a:defRPr>
                      </a:pPr>
                      <a:r>
                        <a:t>占地性质（ m² ）</a:t>
                      </a:r>
                    </a:p>
                  </a:txBody>
                  <a:tcPr anchor="ctr" marL="36576" marR="36576" marT="18288" marB="18288">
                    <a:solidFill>
                      <a:srgbClr val="FFFFFF"/>
                    </a:solidFill>
                  </a:tcPr>
                </a:tc>
                <a:tc>
                  <a:txBody>
                    <a:bodyPr/>
                    <a:lstStyle/>
                    <a:p>
                      <a:pPr algn="ctr">
                        <a:defRPr sz="1200">
                          <a:solidFill>
                            <a:srgbClr val="01203C"/>
                          </a:solidFill>
                          <a:latin typeface="Microsoft YaHei"/>
                        </a:defRPr>
                      </a:pPr>
                      <a:r>
                        <a:t>占地类型（ m² ）</a:t>
                      </a:r>
                    </a:p>
                  </a:txBody>
                  <a:tcPr anchor="ctr" marL="36576" marR="36576" marT="18288" marB="18288">
                    <a:solidFill>
                      <a:srgbClr val="FFFFFF"/>
                    </a:solidFill>
                  </a:tcPr>
                </a:tc>
              </a:tr>
              <a:tr h="1154430">
                <a:tc>
                  <a:txBody>
                    <a:bodyPr/>
                    <a:lstStyle/>
                    <a:p>
                      <a:pPr algn="ctr">
                        <a:defRPr sz="1200">
                          <a:solidFill>
                            <a:srgbClr val="01203C"/>
                          </a:solidFill>
                          <a:latin typeface="Microsoft YaHei"/>
                        </a:defRPr>
                      </a:pPr>
                      <a:r>
                        <a:t>合计</a:t>
                      </a:r>
                    </a:p>
                  </a:txBody>
                  <a:tcPr anchor="ctr" marL="36576" marR="36576" marT="18288" marB="18288">
                    <a:solidFill>
                      <a:srgbClr val="FFFFFF"/>
                    </a:solidFill>
                  </a:tcPr>
                </a:tc>
                <a:tc>
                  <a:txBody>
                    <a:bodyPr/>
                    <a:lstStyle/>
                    <a:p>
                      <a:pPr algn="ctr">
                        <a:defRPr sz="1200">
                          <a:solidFill>
                            <a:srgbClr val="01203C"/>
                          </a:solidFill>
                          <a:latin typeface="Microsoft YaHei"/>
                        </a:defRPr>
                      </a:pPr>
                      <a:r>
                        <a:t>34416 .00</a:t>
                      </a:r>
                    </a:p>
                  </a:txBody>
                  <a:tcPr anchor="ctr" marL="36576" marR="36576" marT="18288" marB="18288">
                    <a:solidFill>
                      <a:srgbClr val="FFFFFF"/>
                    </a:solidFill>
                  </a:tcPr>
                </a:tc>
                <a:tc>
                  <a:txBody>
                    <a:bodyPr/>
                    <a:lstStyle/>
                    <a:p>
                      <a:pPr algn="ctr">
                        <a:defRPr sz="1200">
                          <a:solidFill>
                            <a:srgbClr val="01203C"/>
                          </a:solidFill>
                          <a:latin typeface="Microsoft YaHei"/>
                        </a:defRPr>
                      </a:pPr>
                      <a:r>
                        <a:t>/</a:t>
                      </a:r>
                    </a:p>
                  </a:txBody>
                  <a:tcPr anchor="ctr" marL="36576" marR="36576" marT="18288" marB="18288">
                    <a:solidFill>
                      <a:srgbClr val="FFFFFF"/>
                    </a:solidFill>
                  </a:tcPr>
                </a:tc>
                <a:tc>
                  <a:txBody>
                    <a:bodyPr/>
                    <a:lstStyle/>
                    <a:p>
                      <a:pPr algn="ctr">
                        <a:defRPr sz="1200">
                          <a:solidFill>
                            <a:srgbClr val="01203C"/>
                          </a:solidFill>
                          <a:latin typeface="Microsoft YaHei"/>
                        </a:defRPr>
                      </a:pPr>
                      <a:r>
                        <a:t>34416 .00</a:t>
                      </a:r>
                    </a:p>
                  </a:txBody>
                  <a:tcPr anchor="ctr" marL="36576" marR="36576" marT="18288" marB="18288">
                    <a:solidFill>
                      <a:srgbClr val="FFFFFF"/>
                    </a:solidFill>
                  </a:tcPr>
                </a:tc>
              </a:tr>
              <a:tr h="1154430">
                <a:tc>
                  <a:txBody>
                    <a:bodyPr/>
                    <a:lstStyle/>
                    <a:p>
                      <a:pPr algn="ctr">
                        <a:defRPr sz="1200">
                          <a:solidFill>
                            <a:srgbClr val="01203C"/>
                          </a:solidFill>
                          <a:latin typeface="Microsoft YaHei"/>
                        </a:defRPr>
                      </a:pPr>
                      <a:r>
                        <a:t>合计</a:t>
                      </a:r>
                    </a:p>
                  </a:txBody>
                  <a:tcPr anchor="ctr" marL="36576" marR="36576" marT="18288" marB="18288">
                    <a:solidFill>
                      <a:srgbClr val="FFFFFF"/>
                    </a:solidFill>
                  </a:tcPr>
                </a:tc>
                <a:tc>
                  <a:txBody>
                    <a:bodyPr/>
                    <a:lstStyle/>
                    <a:p>
                      <a:pPr algn="ctr">
                        <a:defRPr sz="1200">
                          <a:solidFill>
                            <a:srgbClr val="01203C"/>
                          </a:solidFill>
                          <a:latin typeface="Microsoft YaHei"/>
                        </a:defRPr>
                      </a:pPr>
                      <a:r>
                        <a:t>4971.61</a:t>
                      </a:r>
                    </a:p>
                  </a:txBody>
                  <a:tcPr anchor="ctr" marL="36576" marR="36576" marT="18288" marB="18288">
                    <a:solidFill>
                      <a:srgbClr val="FFFFFF"/>
                    </a:solidFill>
                  </a:tcPr>
                </a:tc>
                <a:tc>
                  <a:txBody>
                    <a:bodyPr/>
                    <a:lstStyle/>
                    <a:p>
                      <a:pPr algn="ctr">
                        <a:defRPr sz="1200">
                          <a:solidFill>
                            <a:srgbClr val="01203C"/>
                          </a:solidFill>
                          <a:latin typeface="Microsoft YaHei"/>
                        </a:defRPr>
                      </a:pPr>
                      <a:r>
                        <a:t>2232.54</a:t>
                      </a:r>
                    </a:p>
                  </a:txBody>
                  <a:tcPr anchor="ctr" marL="36576" marR="36576" marT="18288" marB="18288">
                    <a:solidFill>
                      <a:srgbClr val="FFFFFF"/>
                    </a:solidFill>
                  </a:tcPr>
                </a:tc>
                <a:tc>
                  <a:txBody>
                    <a:bodyPr/>
                    <a:lstStyle/>
                    <a:p>
                      <a:pPr algn="ctr">
                        <a:defRPr sz="1200">
                          <a:solidFill>
                            <a:srgbClr val="01203C"/>
                          </a:solidFill>
                          <a:latin typeface="Microsoft YaHei"/>
                        </a:defRPr>
                      </a:pPr>
                    </a:p>
                  </a:txBody>
                  <a:tcPr anchor="ctr" marL="36576" marR="36576" marT="18288" marB="18288">
                    <a:solidFill>
                      <a:srgbClr val="FFFFFF"/>
                    </a:solidFill>
                  </a:tcPr>
                </a:tc>
              </a:tr>
            </a:tbl>
          </a:graphicData>
        </a:graphic>
      </p:graphicFrame>
      <p:sp>
        <p:nvSpPr>
          <p:cNvPr id="7" name="TextBox 6"/>
          <p:cNvSpPr txBox="1"/>
          <p:nvPr/>
        </p:nvSpPr>
        <p:spPr>
          <a:xfrm>
            <a:off x="8183879" y="1115568"/>
            <a:ext cx="3063240" cy="438912"/>
          </a:xfrm>
          <a:prstGeom prst="rect">
            <a:avLst/>
          </a:prstGeom>
          <a:noFill/>
        </p:spPr>
        <p:txBody>
          <a:bodyPr wrap="square">
            <a:noAutofit/>
          </a:bodyPr>
          <a:lstStyle/>
          <a:p>
            <a:pPr>
              <a:defRPr sz="1500" b="1">
                <a:solidFill>
                  <a:srgbClr val="4489C8"/>
                </a:solidFill>
                <a:latin typeface="Microsoft YaHei"/>
              </a:defRPr>
            </a:pPr>
            <a:r>
              <a:t>建设项目工程特性表</a:t>
            </a:r>
          </a:p>
        </p:txBody>
      </p:sp>
      <p:sp>
        <p:nvSpPr>
          <p:cNvPr id="8" name="TextBox 7"/>
          <p:cNvSpPr txBox="1"/>
          <p:nvPr/>
        </p:nvSpPr>
        <p:spPr>
          <a:xfrm>
            <a:off x="8183879" y="1719072"/>
            <a:ext cx="2880360" cy="3611880"/>
          </a:xfrm>
          <a:prstGeom prst="rect">
            <a:avLst/>
          </a:prstGeom>
          <a:noFill/>
        </p:spPr>
        <p:txBody>
          <a:bodyPr wrap="square">
            <a:noAutofit/>
          </a:bodyPr>
          <a:lstStyle/>
          <a:p>
            <a:pPr>
              <a:spcAft>
                <a:spcPts val="400"/>
              </a:spcAft>
              <a:defRPr sz="1400">
                <a:solidFill>
                  <a:srgbClr val="01203C"/>
                </a:solidFill>
                <a:latin typeface="Microsoft YaHei"/>
              </a:defRPr>
            </a:pPr>
            <a:r>
              <a:t>工程特性表明确项目性质、建设规模、投资组成、施工时段和占地口径。</a:t>
            </a:r>
          </a:p>
          <a:p>
            <a:pPr>
              <a:spcAft>
                <a:spcPts val="400"/>
              </a:spcAft>
              <a:defRPr sz="1400">
                <a:solidFill>
                  <a:srgbClr val="01203C"/>
                </a:solidFill>
                <a:latin typeface="Microsoft YaHei"/>
              </a:defRPr>
            </a:pPr>
            <a:r>
              <a:t>建设规模和工期决定扰动持续时间，是水土流失预测和措施进度安排的基础。</a:t>
            </a:r>
          </a:p>
          <a:p>
            <a:pPr>
              <a:spcAft>
                <a:spcPts val="400"/>
              </a:spcAft>
              <a:defRPr sz="1400">
                <a:solidFill>
                  <a:srgbClr val="01203C"/>
                </a:solidFill>
                <a:latin typeface="Microsoft YaHei"/>
              </a:defRPr>
            </a:pPr>
            <a:r>
              <a:t>管网工程区作为防治分区覆盖项目建设活动和临时占地范围。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384048" y="182880"/>
            <a:ext cx="10835640" cy="457200"/>
          </a:xfrm>
          <a:prstGeom prst="rect">
            <a:avLst/>
          </a:prstGeom>
          <a:noFill/>
        </p:spPr>
        <p:txBody>
          <a:bodyPr wrap="square">
            <a:noAutofit/>
          </a:bodyPr>
          <a:lstStyle/>
          <a:p>
            <a:pPr>
              <a:defRPr sz="2400" b="1">
                <a:solidFill>
                  <a:srgbClr val="01203C"/>
                </a:solidFill>
                <a:latin typeface="Microsoft YaHei"/>
              </a:defRPr>
            </a:pPr>
            <a:r>
              <a:t>项目位于黄州区城北片区并沿多条道路布设</a:t>
            </a:r>
          </a:p>
        </p:txBody>
      </p:sp>
      <p:sp>
        <p:nvSpPr>
          <p:cNvPr id="3" name="TextBox 2"/>
          <p:cNvSpPr txBox="1"/>
          <p:nvPr/>
        </p:nvSpPr>
        <p:spPr>
          <a:xfrm>
            <a:off x="393192" y="621792"/>
            <a:ext cx="6400800" cy="219456"/>
          </a:xfrm>
          <a:prstGeom prst="rect">
            <a:avLst/>
          </a:prstGeom>
          <a:noFill/>
        </p:spPr>
        <p:txBody>
          <a:bodyPr wrap="square">
            <a:noAutofit/>
          </a:bodyPr>
          <a:lstStyle/>
          <a:p>
            <a:pPr>
              <a:defRPr sz="950" b="0">
                <a:solidFill>
                  <a:srgbClr val="4489C8"/>
                </a:solidFill>
                <a:latin typeface="Microsoft YaHei"/>
              </a:defRPr>
            </a:pPr>
            <a:r>
              <a:t>项目概况与工程布置</a:t>
            </a:r>
          </a:p>
        </p:txBody>
      </p:sp>
      <p:sp>
        <p:nvSpPr>
          <p:cNvPr id="4" name="TextBox 3"/>
          <p:cNvSpPr txBox="1"/>
          <p:nvPr/>
        </p:nvSpPr>
        <p:spPr>
          <a:xfrm>
            <a:off x="10652760" y="603504"/>
            <a:ext cx="640080" cy="182880"/>
          </a:xfrm>
          <a:prstGeom prst="rect">
            <a:avLst/>
          </a:prstGeom>
          <a:noFill/>
        </p:spPr>
        <p:txBody>
          <a:bodyPr wrap="square">
            <a:noAutofit/>
          </a:bodyPr>
          <a:lstStyle/>
          <a:p>
            <a:pPr algn="r">
              <a:defRPr sz="900" b="0">
                <a:solidFill>
                  <a:srgbClr val="566B7F"/>
                </a:solidFill>
                <a:latin typeface="Microsoft YaHei"/>
              </a:defRPr>
            </a:pPr>
            <a:r>
              <a:t>09</a:t>
            </a:r>
          </a:p>
        </p:txBody>
      </p:sp>
      <p:sp>
        <p:nvSpPr>
          <p:cNvPr id="5" name="Rectangle 4"/>
          <p:cNvSpPr/>
          <p:nvPr/>
        </p:nvSpPr>
        <p:spPr>
          <a:xfrm>
            <a:off x="384048" y="804672"/>
            <a:ext cx="10826496" cy="13716"/>
          </a:xfrm>
          <a:prstGeom prst="rect">
            <a:avLst/>
          </a:prstGeom>
          <a:solidFill>
            <a:srgbClr val="448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8.png"/>
          <p:cNvPicPr>
            <a:picLocks noChangeAspect="1"/>
          </p:cNvPicPr>
          <p:nvPr/>
        </p:nvPicPr>
        <p:blipFill>
          <a:blip r:embed="rId2"/>
          <a:stretch>
            <a:fillRect/>
          </a:stretch>
        </p:blipFill>
        <p:spPr>
          <a:xfrm>
            <a:off x="603504" y="1086113"/>
            <a:ext cx="6949440" cy="4338300"/>
          </a:xfrm>
          <a:prstGeom prst="rect">
            <a:avLst/>
          </a:prstGeom>
        </p:spPr>
      </p:pic>
      <p:sp>
        <p:nvSpPr>
          <p:cNvPr id="7" name="TextBox 6"/>
          <p:cNvSpPr txBox="1"/>
          <p:nvPr/>
        </p:nvSpPr>
        <p:spPr>
          <a:xfrm>
            <a:off x="7973568" y="1115568"/>
            <a:ext cx="3246120" cy="420624"/>
          </a:xfrm>
          <a:prstGeom prst="rect">
            <a:avLst/>
          </a:prstGeom>
          <a:noFill/>
        </p:spPr>
        <p:txBody>
          <a:bodyPr wrap="square">
            <a:noAutofit/>
          </a:bodyPr>
          <a:lstStyle/>
          <a:p>
            <a:pPr>
              <a:defRPr sz="1500" b="1">
                <a:solidFill>
                  <a:srgbClr val="4489C8"/>
                </a:solidFill>
                <a:latin typeface="Microsoft YaHei"/>
              </a:defRPr>
            </a:pPr>
            <a:r>
              <a:t>工程建设地点示意图</a:t>
            </a:r>
          </a:p>
        </p:txBody>
      </p:sp>
      <p:sp>
        <p:nvSpPr>
          <p:cNvPr id="8" name="TextBox 7"/>
          <p:cNvSpPr txBox="1"/>
          <p:nvPr/>
        </p:nvSpPr>
        <p:spPr>
          <a:xfrm>
            <a:off x="7973568" y="1700784"/>
            <a:ext cx="2999232" cy="3611880"/>
          </a:xfrm>
          <a:prstGeom prst="rect">
            <a:avLst/>
          </a:prstGeom>
          <a:noFill/>
        </p:spPr>
        <p:txBody>
          <a:bodyPr wrap="square">
            <a:noAutofit/>
          </a:bodyPr>
          <a:lstStyle/>
          <a:p>
            <a:pPr>
              <a:spcAft>
                <a:spcPts val="400"/>
              </a:spcAft>
              <a:defRPr sz="1400">
                <a:solidFill>
                  <a:srgbClr val="01203C"/>
                </a:solidFill>
                <a:latin typeface="Microsoft YaHei"/>
              </a:defRPr>
            </a:pPr>
            <a:r>
              <a:t>图件显示项目位于黄州区城北片区，工程范围受黄州大道、三台河路、东坡大道、赤壁大道等道路边界控制。</a:t>
            </a:r>
          </a:p>
          <a:p>
            <a:pPr>
              <a:spcAft>
                <a:spcPts val="400"/>
              </a:spcAft>
              <a:defRPr sz="1400">
                <a:solidFill>
                  <a:srgbClr val="01203C"/>
                </a:solidFill>
                <a:latin typeface="Microsoft YaHei"/>
              </a:defRPr>
            </a:pPr>
            <a:r>
              <a:t>管网沿既有城市道路布设，施工扰动与交通组织、现状绿化和恢复边界关系密切。</a:t>
            </a:r>
          </a:p>
          <a:p>
            <a:pPr>
              <a:spcAft>
                <a:spcPts val="400"/>
              </a:spcAft>
              <a:defRPr sz="1400">
                <a:solidFill>
                  <a:srgbClr val="01203C"/>
                </a:solidFill>
                <a:latin typeface="Microsoft YaHei"/>
              </a:defRPr>
            </a:pPr>
            <a:r>
              <a:t>图件定位责任范围和扰动场景，防治分区以管网工程区统一展开。</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384048" y="182880"/>
            <a:ext cx="10835640" cy="457200"/>
          </a:xfrm>
          <a:prstGeom prst="rect">
            <a:avLst/>
          </a:prstGeom>
          <a:noFill/>
        </p:spPr>
        <p:txBody>
          <a:bodyPr wrap="square">
            <a:noAutofit/>
          </a:bodyPr>
          <a:lstStyle/>
          <a:p>
            <a:pPr>
              <a:defRPr sz="2400" b="1">
                <a:solidFill>
                  <a:srgbClr val="01203C"/>
                </a:solidFill>
                <a:latin typeface="Microsoft YaHei"/>
              </a:defRPr>
            </a:pPr>
            <a:r>
              <a:t>施工组织与顶管工艺决定扰动范围和防护时序</a:t>
            </a:r>
          </a:p>
        </p:txBody>
      </p:sp>
      <p:sp>
        <p:nvSpPr>
          <p:cNvPr id="3" name="TextBox 2"/>
          <p:cNvSpPr txBox="1"/>
          <p:nvPr/>
        </p:nvSpPr>
        <p:spPr>
          <a:xfrm>
            <a:off x="393192" y="621792"/>
            <a:ext cx="6400800" cy="219456"/>
          </a:xfrm>
          <a:prstGeom prst="rect">
            <a:avLst/>
          </a:prstGeom>
          <a:noFill/>
        </p:spPr>
        <p:txBody>
          <a:bodyPr wrap="square">
            <a:noAutofit/>
          </a:bodyPr>
          <a:lstStyle/>
          <a:p>
            <a:pPr>
              <a:defRPr sz="950" b="0">
                <a:solidFill>
                  <a:srgbClr val="4489C8"/>
                </a:solidFill>
                <a:latin typeface="Microsoft YaHei"/>
              </a:defRPr>
            </a:pPr>
            <a:r>
              <a:t>项目概况与工程布置</a:t>
            </a:r>
          </a:p>
        </p:txBody>
      </p:sp>
      <p:sp>
        <p:nvSpPr>
          <p:cNvPr id="4" name="TextBox 3"/>
          <p:cNvSpPr txBox="1"/>
          <p:nvPr/>
        </p:nvSpPr>
        <p:spPr>
          <a:xfrm>
            <a:off x="10652760" y="603504"/>
            <a:ext cx="640080" cy="182880"/>
          </a:xfrm>
          <a:prstGeom prst="rect">
            <a:avLst/>
          </a:prstGeom>
          <a:noFill/>
        </p:spPr>
        <p:txBody>
          <a:bodyPr wrap="square">
            <a:noAutofit/>
          </a:bodyPr>
          <a:lstStyle/>
          <a:p>
            <a:pPr algn="r">
              <a:defRPr sz="900" b="0">
                <a:solidFill>
                  <a:srgbClr val="566B7F"/>
                </a:solidFill>
                <a:latin typeface="Microsoft YaHei"/>
              </a:defRPr>
            </a:pPr>
            <a:r>
              <a:t>10</a:t>
            </a:r>
          </a:p>
        </p:txBody>
      </p:sp>
      <p:sp>
        <p:nvSpPr>
          <p:cNvPr id="5" name="Rectangle 4"/>
          <p:cNvSpPr/>
          <p:nvPr/>
        </p:nvSpPr>
        <p:spPr>
          <a:xfrm>
            <a:off x="384048" y="804672"/>
            <a:ext cx="10826496" cy="13716"/>
          </a:xfrm>
          <a:prstGeom prst="rect">
            <a:avLst/>
          </a:prstGeom>
          <a:solidFill>
            <a:srgbClr val="448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mage19.png"/>
          <p:cNvPicPr>
            <a:picLocks noChangeAspect="1"/>
          </p:cNvPicPr>
          <p:nvPr/>
        </p:nvPicPr>
        <p:blipFill>
          <a:blip r:embed="rId2"/>
          <a:stretch>
            <a:fillRect/>
          </a:stretch>
        </p:blipFill>
        <p:spPr>
          <a:xfrm>
            <a:off x="630936" y="1904546"/>
            <a:ext cx="3529584" cy="1860186"/>
          </a:xfrm>
          <a:prstGeom prst="rect">
            <a:avLst/>
          </a:prstGeom>
        </p:spPr>
      </p:pic>
      <p:pic>
        <p:nvPicPr>
          <p:cNvPr id="7" name="Picture 6" descr="image20.png"/>
          <p:cNvPicPr>
            <a:picLocks noChangeAspect="1"/>
          </p:cNvPicPr>
          <p:nvPr/>
        </p:nvPicPr>
        <p:blipFill>
          <a:blip r:embed="rId3"/>
          <a:stretch>
            <a:fillRect/>
          </a:stretch>
        </p:blipFill>
        <p:spPr>
          <a:xfrm>
            <a:off x="4325112" y="1591349"/>
            <a:ext cx="3529584" cy="2486580"/>
          </a:xfrm>
          <a:prstGeom prst="rect">
            <a:avLst/>
          </a:prstGeom>
        </p:spPr>
      </p:pic>
      <p:pic>
        <p:nvPicPr>
          <p:cNvPr id="8" name="Picture 7" descr="image21.png"/>
          <p:cNvPicPr>
            <a:picLocks noChangeAspect="1"/>
          </p:cNvPicPr>
          <p:nvPr/>
        </p:nvPicPr>
        <p:blipFill>
          <a:blip r:embed="rId4"/>
          <a:stretch>
            <a:fillRect/>
          </a:stretch>
        </p:blipFill>
        <p:spPr>
          <a:xfrm>
            <a:off x="8277550" y="1069848"/>
            <a:ext cx="3013059" cy="3529584"/>
          </a:xfrm>
          <a:prstGeom prst="rect">
            <a:avLst/>
          </a:prstGeom>
        </p:spPr>
      </p:pic>
      <p:sp>
        <p:nvSpPr>
          <p:cNvPr id="9" name="TextBox 8"/>
          <p:cNvSpPr txBox="1"/>
          <p:nvPr/>
        </p:nvSpPr>
        <p:spPr>
          <a:xfrm>
            <a:off x="713232" y="4809744"/>
            <a:ext cx="4526280" cy="347472"/>
          </a:xfrm>
          <a:prstGeom prst="rect">
            <a:avLst/>
          </a:prstGeom>
          <a:noFill/>
        </p:spPr>
        <p:txBody>
          <a:bodyPr wrap="square">
            <a:noAutofit/>
          </a:bodyPr>
          <a:lstStyle/>
          <a:p>
            <a:pPr>
              <a:defRPr sz="1500" b="1">
                <a:solidFill>
                  <a:srgbClr val="4489C8"/>
                </a:solidFill>
                <a:latin typeface="Microsoft YaHei"/>
              </a:defRPr>
            </a:pPr>
            <a:r>
              <a:t>图2.1- 2 顶管施工示意图</a:t>
            </a:r>
          </a:p>
        </p:txBody>
      </p:sp>
      <p:sp>
        <p:nvSpPr>
          <p:cNvPr id="10" name="TextBox 9"/>
          <p:cNvSpPr txBox="1"/>
          <p:nvPr/>
        </p:nvSpPr>
        <p:spPr>
          <a:xfrm>
            <a:off x="713232" y="5212080"/>
            <a:ext cx="10561320" cy="731520"/>
          </a:xfrm>
          <a:prstGeom prst="rect">
            <a:avLst/>
          </a:prstGeom>
          <a:noFill/>
        </p:spPr>
        <p:txBody>
          <a:bodyPr wrap="square">
            <a:noAutofit/>
          </a:bodyPr>
          <a:lstStyle/>
          <a:p>
            <a:pPr>
              <a:spcAft>
                <a:spcPts val="400"/>
              </a:spcAft>
              <a:defRPr sz="1400">
                <a:solidFill>
                  <a:srgbClr val="01203C"/>
                </a:solidFill>
                <a:latin typeface="Microsoft YaHei"/>
              </a:defRPr>
            </a:pPr>
            <a:r>
              <a:t>顶管示意图说明本项目以微顶管减少城区道路大开挖扰动，是施工组织和水保措施时序的关键依据。</a:t>
            </a:r>
          </a:p>
          <a:p>
            <a:pPr>
              <a:spcAft>
                <a:spcPts val="400"/>
              </a:spcAft>
              <a:defRPr sz="1400">
                <a:solidFill>
                  <a:srgbClr val="01203C"/>
                </a:solidFill>
                <a:latin typeface="Microsoft YaHei"/>
              </a:defRPr>
            </a:pPr>
            <a:r>
              <a:t>工作井、接收井和井内回填剖面决定临时占地、土方周转、排水降水和分层压实管理重点。</a:t>
            </a:r>
          </a:p>
          <a:p>
            <a:pPr>
              <a:spcAft>
                <a:spcPts val="400"/>
              </a:spcAft>
              <a:defRPr sz="1400">
                <a:solidFill>
                  <a:srgbClr val="01203C"/>
                </a:solidFill>
                <a:latin typeface="Microsoft YaHei"/>
              </a:defRPr>
            </a:pPr>
            <a:r>
              <a:t>图件内容与土石方平衡、临时苫盖、施工排水和路面绿化恢复措施相互对应。</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1203C"/>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1203C"/>
          </a:solidFill>
          <a:ln w="7620">
            <a:solidFill>
              <a:srgbClr val="0120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960120"/>
            <a:ext cx="73152" cy="4736592"/>
          </a:xfrm>
          <a:prstGeom prst="rect">
            <a:avLst/>
          </a:prstGeom>
          <a:solidFill>
            <a:srgbClr val="4489C8"/>
          </a:solidFill>
          <a:ln w="7620">
            <a:solidFill>
              <a:srgbClr val="448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640080"/>
            <a:ext cx="4206240" cy="320040"/>
          </a:xfrm>
          <a:prstGeom prst="rect">
            <a:avLst/>
          </a:prstGeom>
          <a:noFill/>
        </p:spPr>
        <p:txBody>
          <a:bodyPr wrap="square">
            <a:noAutofit/>
          </a:bodyPr>
          <a:lstStyle/>
          <a:p>
            <a:pPr>
              <a:defRPr sz="1600" b="1">
                <a:solidFill>
                  <a:srgbClr val="EAF2F8"/>
                </a:solidFill>
                <a:latin typeface="Microsoft YaHei"/>
              </a:defRPr>
            </a:pPr>
            <a:r>
              <a:t>第03章 / 共07章</a:t>
            </a:r>
          </a:p>
        </p:txBody>
      </p:sp>
      <p:sp>
        <p:nvSpPr>
          <p:cNvPr id="5" name="TextBox 4"/>
          <p:cNvSpPr txBox="1"/>
          <p:nvPr/>
        </p:nvSpPr>
        <p:spPr>
          <a:xfrm>
            <a:off x="749808" y="1901952"/>
            <a:ext cx="1298448" cy="804672"/>
          </a:xfrm>
          <a:prstGeom prst="rect">
            <a:avLst/>
          </a:prstGeom>
          <a:noFill/>
        </p:spPr>
        <p:txBody>
          <a:bodyPr wrap="square">
            <a:noAutofit/>
          </a:bodyPr>
          <a:lstStyle/>
          <a:p>
            <a:pPr>
              <a:defRPr sz="5400" b="1">
                <a:solidFill>
                  <a:srgbClr val="FFFFFF"/>
                </a:solidFill>
                <a:latin typeface="Microsoft YaHei"/>
              </a:defRPr>
            </a:pPr>
            <a:r>
              <a:t>03</a:t>
            </a:r>
          </a:p>
        </p:txBody>
      </p:sp>
      <p:sp>
        <p:nvSpPr>
          <p:cNvPr id="6" name="TextBox 5"/>
          <p:cNvSpPr txBox="1"/>
          <p:nvPr/>
        </p:nvSpPr>
        <p:spPr>
          <a:xfrm>
            <a:off x="2176272" y="2011680"/>
            <a:ext cx="8961120" cy="749808"/>
          </a:xfrm>
          <a:prstGeom prst="rect">
            <a:avLst/>
          </a:prstGeom>
          <a:noFill/>
        </p:spPr>
        <p:txBody>
          <a:bodyPr wrap="square">
            <a:noAutofit/>
          </a:bodyPr>
          <a:lstStyle/>
          <a:p>
            <a:pPr>
              <a:defRPr sz="3000" b="1">
                <a:solidFill>
                  <a:srgbClr val="FFFFFF"/>
                </a:solidFill>
                <a:latin typeface="Microsoft YaHei"/>
              </a:defRPr>
            </a:pPr>
            <a:r>
              <a:t>防治责任范围与标准目标</a:t>
            </a:r>
          </a:p>
        </p:txBody>
      </p:sp>
      <p:sp>
        <p:nvSpPr>
          <p:cNvPr id="7" name="TextBox 6"/>
          <p:cNvSpPr txBox="1"/>
          <p:nvPr/>
        </p:nvSpPr>
        <p:spPr>
          <a:xfrm>
            <a:off x="2212848" y="2962656"/>
            <a:ext cx="8229600" cy="329184"/>
          </a:xfrm>
          <a:prstGeom prst="rect">
            <a:avLst/>
          </a:prstGeom>
          <a:noFill/>
        </p:spPr>
        <p:txBody>
          <a:bodyPr wrap="square">
            <a:noAutofit/>
          </a:bodyPr>
          <a:lstStyle/>
          <a:p>
            <a:pPr>
              <a:defRPr sz="1500" b="0">
                <a:solidFill>
                  <a:srgbClr val="EAF2F8"/>
                </a:solidFill>
                <a:latin typeface="Microsoft YaHei"/>
              </a:defRPr>
            </a:pPr>
            <a:r>
              <a:t>界定防治责任范围，明确南方红壤区建设类项目一级标准及六项防治目标。</a:t>
            </a:r>
          </a:p>
        </p:txBody>
      </p:sp>
      <p:sp>
        <p:nvSpPr>
          <p:cNvPr id="8" name="Rectangle 7"/>
          <p:cNvSpPr/>
          <p:nvPr/>
        </p:nvSpPr>
        <p:spPr>
          <a:xfrm>
            <a:off x="2212848" y="3749039"/>
            <a:ext cx="6400800" cy="18288"/>
          </a:xfrm>
          <a:prstGeom prst="rect">
            <a:avLst/>
          </a:prstGeom>
          <a:solidFill>
            <a:srgbClr val="4489C8"/>
          </a:solidFill>
          <a:ln w="7620">
            <a:solidFill>
              <a:srgbClr val="448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384048" y="182880"/>
            <a:ext cx="10835640" cy="457200"/>
          </a:xfrm>
          <a:prstGeom prst="rect">
            <a:avLst/>
          </a:prstGeom>
          <a:noFill/>
        </p:spPr>
        <p:txBody>
          <a:bodyPr wrap="square">
            <a:noAutofit/>
          </a:bodyPr>
          <a:lstStyle/>
          <a:p>
            <a:pPr>
              <a:defRPr sz="2400" b="1">
                <a:solidFill>
                  <a:srgbClr val="01203C"/>
                </a:solidFill>
                <a:latin typeface="Microsoft YaHei"/>
              </a:defRPr>
            </a:pPr>
            <a:r>
              <a:t>防治责任范围全部为临时占地 34416.00m²</a:t>
            </a:r>
          </a:p>
        </p:txBody>
      </p:sp>
      <p:sp>
        <p:nvSpPr>
          <p:cNvPr id="3" name="TextBox 2"/>
          <p:cNvSpPr txBox="1"/>
          <p:nvPr/>
        </p:nvSpPr>
        <p:spPr>
          <a:xfrm>
            <a:off x="393192" y="621792"/>
            <a:ext cx="6400800" cy="219456"/>
          </a:xfrm>
          <a:prstGeom prst="rect">
            <a:avLst/>
          </a:prstGeom>
          <a:noFill/>
        </p:spPr>
        <p:txBody>
          <a:bodyPr wrap="square">
            <a:noAutofit/>
          </a:bodyPr>
          <a:lstStyle/>
          <a:p>
            <a:pPr>
              <a:defRPr sz="950" b="0">
                <a:solidFill>
                  <a:srgbClr val="4489C8"/>
                </a:solidFill>
                <a:latin typeface="Microsoft YaHei"/>
              </a:defRPr>
            </a:pPr>
            <a:r>
              <a:t>防治责任范围与标准目标</a:t>
            </a:r>
          </a:p>
        </p:txBody>
      </p:sp>
      <p:sp>
        <p:nvSpPr>
          <p:cNvPr id="4" name="TextBox 3"/>
          <p:cNvSpPr txBox="1"/>
          <p:nvPr/>
        </p:nvSpPr>
        <p:spPr>
          <a:xfrm>
            <a:off x="10652760" y="603504"/>
            <a:ext cx="640080" cy="182880"/>
          </a:xfrm>
          <a:prstGeom prst="rect">
            <a:avLst/>
          </a:prstGeom>
          <a:noFill/>
        </p:spPr>
        <p:txBody>
          <a:bodyPr wrap="square">
            <a:noAutofit/>
          </a:bodyPr>
          <a:lstStyle/>
          <a:p>
            <a:pPr algn="r">
              <a:defRPr sz="900" b="0">
                <a:solidFill>
                  <a:srgbClr val="566B7F"/>
                </a:solidFill>
                <a:latin typeface="Microsoft YaHei"/>
              </a:defRPr>
            </a:pPr>
            <a:r>
              <a:t>12</a:t>
            </a:r>
          </a:p>
        </p:txBody>
      </p:sp>
      <p:sp>
        <p:nvSpPr>
          <p:cNvPr id="5" name="Rectangle 4"/>
          <p:cNvSpPr/>
          <p:nvPr/>
        </p:nvSpPr>
        <p:spPr>
          <a:xfrm>
            <a:off x="384048" y="804672"/>
            <a:ext cx="10826496" cy="13716"/>
          </a:xfrm>
          <a:prstGeom prst="rect">
            <a:avLst/>
          </a:prstGeom>
          <a:solidFill>
            <a:srgbClr val="448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060704"/>
          <a:ext cx="11064237" cy="3456430"/>
        </p:xfrm>
        <a:graphic>
          <a:graphicData uri="http://schemas.openxmlformats.org/drawingml/2006/table">
            <a:tbl>
              <a:tblPr firstRow="1" bandRow="1">
                <a:tableStyleId>{5C22544A-7EE6-4342-B048-85BDC9FD1C3A}</a:tableStyleId>
              </a:tblPr>
              <a:tblGrid>
                <a:gridCol w="1888186"/>
                <a:gridCol w="1856595"/>
                <a:gridCol w="1861455"/>
                <a:gridCol w="2177368"/>
                <a:gridCol w="3280633"/>
              </a:tblGrid>
              <a:tr h="691286">
                <a:tc rowSpan="3">
                  <a:txBody>
                    <a:bodyPr/>
                    <a:lstStyle/>
                    <a:p>
                      <a:pPr algn="ctr">
                        <a:defRPr sz="1200" b="1">
                          <a:solidFill>
                            <a:srgbClr val="01203C"/>
                          </a:solidFill>
                          <a:latin typeface="Microsoft YaHei"/>
                        </a:defRPr>
                      </a:pPr>
                      <a:r>
                        <a:t>分区</a:t>
                      </a:r>
                    </a:p>
                  </a:txBody>
                  <a:tcPr anchor="ctr" marL="32004" marR="32004" marT="16459" marB="16459">
                    <a:solidFill>
                      <a:srgbClr val="EAF2F8"/>
                    </a:solidFill>
                  </a:tcPr>
                </a:tc>
                <a:tc gridSpan="2">
                  <a:txBody>
                    <a:bodyPr/>
                    <a:lstStyle/>
                    <a:p>
                      <a:pPr algn="ctr">
                        <a:defRPr sz="1200" b="1">
                          <a:solidFill>
                            <a:srgbClr val="01203C"/>
                          </a:solidFill>
                          <a:latin typeface="Microsoft YaHei"/>
                        </a:defRPr>
                      </a:pPr>
                      <a:r>
                        <a:t>占地性质</a:t>
                      </a:r>
                    </a:p>
                  </a:txBody>
                  <a:tcPr anchor="ctr" marL="32004" marR="32004" marT="16459" marB="16459">
                    <a:solidFill>
                      <a:srgbClr val="EAF2F8"/>
                    </a:solidFill>
                  </a:tcPr>
                </a:tc>
                <a:tc hMerge="1">
                  <a:txBody>
                    <a:bodyPr/>
                    <a:lstStyle/>
                    <a:p>
                      <a:pPr algn="ctr">
                        <a:defRPr sz="1200" b="1">
                          <a:solidFill>
                            <a:srgbClr val="01203C"/>
                          </a:solidFill>
                          <a:latin typeface="Microsoft YaHei"/>
                        </a:defRPr>
                      </a:pPr>
                    </a:p>
                  </a:txBody>
                  <a:tcPr anchor="ctr" marL="32004" marR="32004" marT="16459" marB="16459">
                    <a:solidFill>
                      <a:srgbClr val="EAF2F8"/>
                    </a:solidFill>
                  </a:tcPr>
                </a:tc>
                <a:tc gridSpan="2">
                  <a:txBody>
                    <a:bodyPr/>
                    <a:lstStyle/>
                    <a:p>
                      <a:pPr algn="ctr">
                        <a:defRPr sz="1200" b="1">
                          <a:solidFill>
                            <a:srgbClr val="01203C"/>
                          </a:solidFill>
                          <a:latin typeface="Microsoft YaHei"/>
                        </a:defRPr>
                      </a:pPr>
                      <a:r>
                        <a:t>占地类型</a:t>
                      </a:r>
                    </a:p>
                  </a:txBody>
                  <a:tcPr anchor="ctr" marL="32004" marR="32004" marT="16459" marB="16459">
                    <a:solidFill>
                      <a:srgbClr val="EAF2F8"/>
                    </a:solidFill>
                  </a:tcPr>
                </a:tc>
                <a:tc hMerge="1">
                  <a:txBody>
                    <a:bodyPr/>
                    <a:lstStyle/>
                    <a:p>
                      <a:pPr algn="ctr">
                        <a:defRPr sz="1200" b="1">
                          <a:solidFill>
                            <a:srgbClr val="01203C"/>
                          </a:solidFill>
                          <a:latin typeface="Microsoft YaHei"/>
                        </a:defRPr>
                      </a:pPr>
                    </a:p>
                  </a:txBody>
                  <a:tcPr anchor="ctr" marL="32004" marR="32004" marT="16459" marB="16459">
                    <a:solidFill>
                      <a:srgbClr val="EAF2F8"/>
                    </a:solidFill>
                  </a:tcPr>
                </a:tc>
              </a:tr>
              <a:tr h="691286">
                <a:tc vMerge="1">
                  <a:txBody>
                    <a:bodyPr/>
                    <a:lstStyle/>
                    <a:p>
                      <a:pPr algn="ctr">
                        <a:defRPr sz="1200" b="0">
                          <a:solidFill>
                            <a:srgbClr val="01203C"/>
                          </a:solidFill>
                          <a:latin typeface="Microsoft YaHei"/>
                        </a:defRPr>
                      </a:pPr>
                    </a:p>
                  </a:txBody>
                  <a:tcPr anchor="ctr" marL="32004" marR="32004" marT="16459" marB="16459">
                    <a:solidFill>
                      <a:srgbClr val="FFFFFF"/>
                    </a:solidFill>
                  </a:tcPr>
                </a:tc>
                <a:tc rowSpan="2">
                  <a:txBody>
                    <a:bodyPr/>
                    <a:lstStyle/>
                    <a:p>
                      <a:pPr algn="ctr">
                        <a:defRPr sz="1200" b="0">
                          <a:solidFill>
                            <a:srgbClr val="01203C"/>
                          </a:solidFill>
                          <a:latin typeface="Microsoft YaHei"/>
                        </a:defRPr>
                      </a:pPr>
                      <a:r>
                        <a:t>临时占地</a:t>
                      </a:r>
                    </a:p>
                  </a:txBody>
                  <a:tcPr anchor="ctr" marL="32004" marR="32004" marT="16459" marB="16459">
                    <a:solidFill>
                      <a:srgbClr val="FFFFFF"/>
                    </a:solidFill>
                  </a:tcPr>
                </a:tc>
                <a:tc rowSpan="2">
                  <a:txBody>
                    <a:bodyPr/>
                    <a:lstStyle/>
                    <a:p>
                      <a:pPr algn="ctr">
                        <a:defRPr sz="1200" b="0">
                          <a:solidFill>
                            <a:srgbClr val="01203C"/>
                          </a:solidFill>
                          <a:latin typeface="Microsoft YaHei"/>
                        </a:defRPr>
                      </a:pPr>
                      <a:r>
                        <a:t>永久占地</a:t>
                      </a:r>
                    </a:p>
                  </a:txBody>
                  <a:tcPr anchor="ctr" marL="32004" marR="32004" marT="16459" marB="16459">
                    <a:solidFill>
                      <a:srgbClr val="FFFFFF"/>
                    </a:solidFill>
                  </a:tcPr>
                </a:tc>
                <a:tc>
                  <a:txBody>
                    <a:bodyPr/>
                    <a:lstStyle/>
                    <a:p>
                      <a:pPr algn="ctr">
                        <a:defRPr sz="1200" b="0">
                          <a:solidFill>
                            <a:srgbClr val="01203C"/>
                          </a:solidFill>
                          <a:latin typeface="Microsoft YaHei"/>
                        </a:defRPr>
                      </a:pPr>
                      <a:r>
                        <a:t>交通运输用地</a:t>
                      </a:r>
                    </a:p>
                  </a:txBody>
                  <a:tcPr anchor="ctr" marL="32004" marR="32004" marT="16459" marB="16459">
                    <a:solidFill>
                      <a:srgbClr val="FFFFFF"/>
                    </a:solidFill>
                  </a:tcPr>
                </a:tc>
                <a:tc>
                  <a:txBody>
                    <a:bodyPr/>
                    <a:lstStyle/>
                    <a:p>
                      <a:pPr algn="ctr">
                        <a:defRPr sz="1200" b="0">
                          <a:solidFill>
                            <a:srgbClr val="01203C"/>
                          </a:solidFill>
                          <a:latin typeface="Microsoft YaHei"/>
                        </a:defRPr>
                      </a:pPr>
                      <a:r>
                        <a:t>公共管理与公共服务用地</a:t>
                      </a:r>
                    </a:p>
                  </a:txBody>
                  <a:tcPr anchor="ctr" marL="32004" marR="32004" marT="16459" marB="16459">
                    <a:solidFill>
                      <a:srgbClr val="FFFFFF"/>
                    </a:solidFill>
                  </a:tcPr>
                </a:tc>
              </a:tr>
              <a:tr h="691286">
                <a:tc vMerge="1">
                  <a:txBody>
                    <a:bodyPr/>
                    <a:lstStyle/>
                    <a:p>
                      <a:pPr algn="ctr">
                        <a:defRPr sz="1200" b="0">
                          <a:solidFill>
                            <a:srgbClr val="01203C"/>
                          </a:solidFill>
                          <a:latin typeface="Microsoft YaHei"/>
                        </a:defRPr>
                      </a:pPr>
                    </a:p>
                  </a:txBody>
                  <a:tcPr anchor="ctr" marL="32004" marR="32004" marT="16459" marB="16459">
                    <a:solidFill>
                      <a:srgbClr val="FFFFFF"/>
                    </a:solidFill>
                  </a:tcPr>
                </a:tc>
                <a:tc vMerge="1">
                  <a:txBody>
                    <a:bodyPr/>
                    <a:lstStyle/>
                    <a:p>
                      <a:pPr algn="ctr">
                        <a:defRPr sz="1200" b="0">
                          <a:solidFill>
                            <a:srgbClr val="01203C"/>
                          </a:solidFill>
                          <a:latin typeface="Microsoft YaHei"/>
                        </a:defRPr>
                      </a:pPr>
                    </a:p>
                  </a:txBody>
                  <a:tcPr anchor="ctr" marL="32004" marR="32004" marT="16459" marB="16459">
                    <a:solidFill>
                      <a:srgbClr val="FFFFFF"/>
                    </a:solidFill>
                  </a:tcPr>
                </a:tc>
                <a:tc vMerge="1">
                  <a:txBody>
                    <a:bodyPr/>
                    <a:lstStyle/>
                    <a:p>
                      <a:pPr algn="ctr">
                        <a:defRPr sz="1200" b="0">
                          <a:solidFill>
                            <a:srgbClr val="01203C"/>
                          </a:solidFill>
                          <a:latin typeface="Microsoft YaHei"/>
                        </a:defRPr>
                      </a:pPr>
                    </a:p>
                  </a:txBody>
                  <a:tcPr anchor="ctr" marL="32004" marR="32004" marT="16459" marB="16459">
                    <a:solidFill>
                      <a:srgbClr val="FFFFFF"/>
                    </a:solidFill>
                  </a:tcPr>
                </a:tc>
                <a:tc>
                  <a:txBody>
                    <a:bodyPr/>
                    <a:lstStyle/>
                    <a:p>
                      <a:pPr algn="ctr">
                        <a:defRPr sz="1200" b="0">
                          <a:solidFill>
                            <a:srgbClr val="01203C"/>
                          </a:solidFill>
                          <a:latin typeface="Microsoft YaHei"/>
                        </a:defRPr>
                      </a:pPr>
                      <a:r>
                        <a:t>城镇村道路用地</a:t>
                      </a:r>
                    </a:p>
                  </a:txBody>
                  <a:tcPr anchor="ctr" marL="32004" marR="32004" marT="16459" marB="16459">
                    <a:solidFill>
                      <a:srgbClr val="FFFFFF"/>
                    </a:solidFill>
                  </a:tcPr>
                </a:tc>
                <a:tc>
                  <a:txBody>
                    <a:bodyPr/>
                    <a:lstStyle/>
                    <a:p>
                      <a:pPr algn="ctr">
                        <a:defRPr sz="1200" b="0">
                          <a:solidFill>
                            <a:srgbClr val="01203C"/>
                          </a:solidFill>
                          <a:latin typeface="Microsoft YaHei"/>
                        </a:defRPr>
                      </a:pPr>
                      <a:r>
                        <a:t>公园与绿地</a:t>
                      </a:r>
                    </a:p>
                  </a:txBody>
                  <a:tcPr anchor="ctr" marL="32004" marR="32004" marT="16459" marB="16459">
                    <a:solidFill>
                      <a:srgbClr val="FFFFFF"/>
                    </a:solidFill>
                  </a:tcPr>
                </a:tc>
              </a:tr>
              <a:tr h="691286">
                <a:tc>
                  <a:txBody>
                    <a:bodyPr/>
                    <a:lstStyle/>
                    <a:p>
                      <a:pPr algn="ctr">
                        <a:defRPr sz="1200" b="0">
                          <a:solidFill>
                            <a:srgbClr val="01203C"/>
                          </a:solidFill>
                          <a:latin typeface="Microsoft YaHei"/>
                        </a:defRPr>
                      </a:pPr>
                      <a:r>
                        <a:t>管网工程区</a:t>
                      </a:r>
                    </a:p>
                  </a:txBody>
                  <a:tcPr anchor="ctr" marL="32004" marR="32004" marT="16459" marB="16459">
                    <a:solidFill>
                      <a:srgbClr val="FFFFFF"/>
                    </a:solidFill>
                  </a:tcPr>
                </a:tc>
                <a:tc>
                  <a:txBody>
                    <a:bodyPr/>
                    <a:lstStyle/>
                    <a:p>
                      <a:pPr algn="ctr">
                        <a:defRPr sz="1200" b="0">
                          <a:solidFill>
                            <a:srgbClr val="01203C"/>
                          </a:solidFill>
                          <a:latin typeface="Microsoft YaHei"/>
                        </a:defRPr>
                      </a:pPr>
                      <a:r>
                        <a:t>34416.00</a:t>
                      </a:r>
                    </a:p>
                  </a:txBody>
                  <a:tcPr anchor="ctr" marL="32004" marR="32004" marT="16459" marB="16459">
                    <a:solidFill>
                      <a:srgbClr val="FFFFFF"/>
                    </a:solidFill>
                  </a:tcPr>
                </a:tc>
                <a:tc>
                  <a:txBody>
                    <a:bodyPr/>
                    <a:lstStyle/>
                    <a:p>
                      <a:pPr algn="ctr">
                        <a:defRPr sz="1200" b="0">
                          <a:solidFill>
                            <a:srgbClr val="01203C"/>
                          </a:solidFill>
                          <a:latin typeface="Microsoft YaHei"/>
                        </a:defRPr>
                      </a:pPr>
                      <a:r>
                        <a:t>/</a:t>
                      </a:r>
                    </a:p>
                  </a:txBody>
                  <a:tcPr anchor="ctr" marL="32004" marR="32004" marT="16459" marB="16459">
                    <a:solidFill>
                      <a:srgbClr val="FFFFFF"/>
                    </a:solidFill>
                  </a:tcPr>
                </a:tc>
                <a:tc>
                  <a:txBody>
                    <a:bodyPr/>
                    <a:lstStyle/>
                    <a:p>
                      <a:pPr algn="ctr">
                        <a:defRPr sz="1200" b="0">
                          <a:solidFill>
                            <a:srgbClr val="01203C"/>
                          </a:solidFill>
                          <a:latin typeface="Microsoft YaHei"/>
                        </a:defRPr>
                      </a:pPr>
                      <a:r>
                        <a:t>34151.00</a:t>
                      </a:r>
                    </a:p>
                  </a:txBody>
                  <a:tcPr anchor="ctr" marL="32004" marR="32004" marT="16459" marB="16459">
                    <a:solidFill>
                      <a:srgbClr val="FFFFFF"/>
                    </a:solidFill>
                  </a:tcPr>
                </a:tc>
                <a:tc>
                  <a:txBody>
                    <a:bodyPr/>
                    <a:lstStyle/>
                    <a:p>
                      <a:pPr algn="ctr">
                        <a:defRPr sz="1200" b="0">
                          <a:solidFill>
                            <a:srgbClr val="01203C"/>
                          </a:solidFill>
                          <a:latin typeface="Microsoft YaHei"/>
                        </a:defRPr>
                      </a:pPr>
                      <a:r>
                        <a:t>265.00</a:t>
                      </a:r>
                    </a:p>
                  </a:txBody>
                  <a:tcPr anchor="ctr" marL="32004" marR="32004" marT="16459" marB="16459">
                    <a:solidFill>
                      <a:srgbClr val="FFFFFF"/>
                    </a:solidFill>
                  </a:tcPr>
                </a:tc>
              </a:tr>
              <a:tr h="691286">
                <a:tc>
                  <a:txBody>
                    <a:bodyPr/>
                    <a:lstStyle/>
                    <a:p>
                      <a:pPr algn="ctr">
                        <a:defRPr sz="1200" b="0">
                          <a:solidFill>
                            <a:srgbClr val="01203C"/>
                          </a:solidFill>
                          <a:latin typeface="Microsoft YaHei"/>
                        </a:defRPr>
                      </a:pPr>
                      <a:r>
                        <a:t>小计</a:t>
                      </a:r>
                    </a:p>
                  </a:txBody>
                  <a:tcPr anchor="ctr" marL="32004" marR="32004" marT="16459" marB="16459">
                    <a:solidFill>
                      <a:srgbClr val="FFFFFF"/>
                    </a:solidFill>
                  </a:tcPr>
                </a:tc>
                <a:tc>
                  <a:txBody>
                    <a:bodyPr/>
                    <a:lstStyle/>
                    <a:p>
                      <a:pPr algn="ctr">
                        <a:defRPr sz="1200" b="0">
                          <a:solidFill>
                            <a:srgbClr val="01203C"/>
                          </a:solidFill>
                          <a:latin typeface="Microsoft YaHei"/>
                        </a:defRPr>
                      </a:pPr>
                      <a:r>
                        <a:t>34416.00</a:t>
                      </a:r>
                    </a:p>
                  </a:txBody>
                  <a:tcPr anchor="ctr" marL="32004" marR="32004" marT="16459" marB="16459">
                    <a:solidFill>
                      <a:srgbClr val="FFFFFF"/>
                    </a:solidFill>
                  </a:tcPr>
                </a:tc>
                <a:tc>
                  <a:txBody>
                    <a:bodyPr/>
                    <a:lstStyle/>
                    <a:p>
                      <a:pPr algn="ctr">
                        <a:defRPr sz="1200" b="0">
                          <a:solidFill>
                            <a:srgbClr val="01203C"/>
                          </a:solidFill>
                          <a:latin typeface="Microsoft YaHei"/>
                        </a:defRPr>
                      </a:pPr>
                      <a:r>
                        <a:t>/</a:t>
                      </a:r>
                    </a:p>
                  </a:txBody>
                  <a:tcPr anchor="ctr" marL="32004" marR="32004" marT="16459" marB="16459">
                    <a:solidFill>
                      <a:srgbClr val="FFFFFF"/>
                    </a:solidFill>
                  </a:tcPr>
                </a:tc>
                <a:tc>
                  <a:txBody>
                    <a:bodyPr/>
                    <a:lstStyle/>
                    <a:p>
                      <a:pPr algn="ctr">
                        <a:defRPr sz="1200" b="0">
                          <a:solidFill>
                            <a:srgbClr val="01203C"/>
                          </a:solidFill>
                          <a:latin typeface="Microsoft YaHei"/>
                        </a:defRPr>
                      </a:pPr>
                      <a:r>
                        <a:t>34151.00</a:t>
                      </a:r>
                    </a:p>
                  </a:txBody>
                  <a:tcPr anchor="ctr" marL="32004" marR="32004" marT="16459" marB="16459">
                    <a:solidFill>
                      <a:srgbClr val="FFFFFF"/>
                    </a:solidFill>
                  </a:tcPr>
                </a:tc>
                <a:tc>
                  <a:txBody>
                    <a:bodyPr/>
                    <a:lstStyle/>
                    <a:p>
                      <a:pPr algn="ctr">
                        <a:defRPr sz="1200" b="0">
                          <a:solidFill>
                            <a:srgbClr val="01203C"/>
                          </a:solidFill>
                          <a:latin typeface="Microsoft YaHei"/>
                        </a:defRPr>
                      </a:pPr>
                      <a:r>
                        <a:t>265.00</a:t>
                      </a:r>
                    </a:p>
                  </a:txBody>
                  <a:tcPr anchor="ctr" marL="32004" marR="32004" marT="16459" marB="16459">
                    <a:solidFill>
                      <a:srgbClr val="FFFFFF"/>
                    </a:solidFill>
                  </a:tcPr>
                </a:tc>
              </a:tr>
            </a:tbl>
          </a:graphicData>
        </a:graphic>
      </p:graphicFrame>
      <p:sp>
        <p:nvSpPr>
          <p:cNvPr id="7" name="TextBox 6"/>
          <p:cNvSpPr txBox="1"/>
          <p:nvPr/>
        </p:nvSpPr>
        <p:spPr>
          <a:xfrm>
            <a:off x="713232" y="4681728"/>
            <a:ext cx="6583680" cy="493776"/>
          </a:xfrm>
          <a:prstGeom prst="rect">
            <a:avLst/>
          </a:prstGeom>
          <a:noFill/>
        </p:spPr>
        <p:txBody>
          <a:bodyPr wrap="square">
            <a:noAutofit/>
          </a:bodyPr>
          <a:lstStyle/>
          <a:p>
            <a:pPr>
              <a:defRPr sz="1500" b="1">
                <a:solidFill>
                  <a:srgbClr val="4489C8"/>
                </a:solidFill>
                <a:latin typeface="Microsoft YaHei"/>
              </a:defRPr>
            </a:pPr>
            <a:r>
              <a:t>本项目防治责任范围一览表 单位：m²</a:t>
            </a:r>
          </a:p>
        </p:txBody>
      </p:sp>
      <p:sp>
        <p:nvSpPr>
          <p:cNvPr id="8" name="TextBox 7"/>
          <p:cNvSpPr txBox="1"/>
          <p:nvPr/>
        </p:nvSpPr>
        <p:spPr>
          <a:xfrm>
            <a:off x="713232" y="5138928"/>
            <a:ext cx="10561320" cy="868680"/>
          </a:xfrm>
          <a:prstGeom prst="rect">
            <a:avLst/>
          </a:prstGeom>
          <a:noFill/>
        </p:spPr>
        <p:txBody>
          <a:bodyPr wrap="square">
            <a:noAutofit/>
          </a:bodyPr>
          <a:lstStyle/>
          <a:p>
            <a:pPr>
              <a:spcAft>
                <a:spcPts val="400"/>
              </a:spcAft>
              <a:defRPr sz="1400">
                <a:solidFill>
                  <a:srgbClr val="01203C"/>
                </a:solidFill>
                <a:latin typeface="Microsoft YaHei"/>
              </a:defRPr>
            </a:pPr>
            <a:r>
              <a:t>防治责任范围落实到管网工程区，方案责任边界与工程占地口径一致。</a:t>
            </a:r>
          </a:p>
          <a:p>
            <a:pPr>
              <a:spcAft>
                <a:spcPts val="400"/>
              </a:spcAft>
              <a:defRPr sz="1400">
                <a:solidFill>
                  <a:srgbClr val="01203C"/>
                </a:solidFill>
                <a:latin typeface="Microsoft YaHei"/>
              </a:defRPr>
            </a:pPr>
            <a:r>
              <a:t>临时占地范围纳入措施布设、投资估算和效益分析的统一控制。</a:t>
            </a:r>
          </a:p>
          <a:p>
            <a:pPr>
              <a:spcAft>
                <a:spcPts val="400"/>
              </a:spcAft>
              <a:defRPr sz="1400">
                <a:solidFill>
                  <a:srgbClr val="01203C"/>
                </a:solidFill>
                <a:latin typeface="Microsoft YaHei"/>
              </a:defRPr>
            </a:pPr>
            <a:r>
              <a:t>管线、施工场地、顶管井和恢复范围共同构成水土保持管理对象。</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384048" y="182880"/>
            <a:ext cx="10835640" cy="457200"/>
          </a:xfrm>
          <a:prstGeom prst="rect">
            <a:avLst/>
          </a:prstGeom>
          <a:noFill/>
        </p:spPr>
        <p:txBody>
          <a:bodyPr wrap="square">
            <a:noAutofit/>
          </a:bodyPr>
          <a:lstStyle/>
          <a:p>
            <a:pPr>
              <a:defRPr sz="2400" b="1">
                <a:solidFill>
                  <a:srgbClr val="01203C"/>
                </a:solidFill>
                <a:latin typeface="Microsoft YaHei"/>
              </a:defRPr>
            </a:pPr>
            <a:r>
              <a:t>六项防治指标采用南方红壤区一级标准</a:t>
            </a:r>
          </a:p>
        </p:txBody>
      </p:sp>
      <p:sp>
        <p:nvSpPr>
          <p:cNvPr id="3" name="TextBox 2"/>
          <p:cNvSpPr txBox="1"/>
          <p:nvPr/>
        </p:nvSpPr>
        <p:spPr>
          <a:xfrm>
            <a:off x="393192" y="621792"/>
            <a:ext cx="6400800" cy="219456"/>
          </a:xfrm>
          <a:prstGeom prst="rect">
            <a:avLst/>
          </a:prstGeom>
          <a:noFill/>
        </p:spPr>
        <p:txBody>
          <a:bodyPr wrap="square">
            <a:noAutofit/>
          </a:bodyPr>
          <a:lstStyle/>
          <a:p>
            <a:pPr>
              <a:defRPr sz="950" b="0">
                <a:solidFill>
                  <a:srgbClr val="4489C8"/>
                </a:solidFill>
                <a:latin typeface="Microsoft YaHei"/>
              </a:defRPr>
            </a:pPr>
            <a:r>
              <a:t>防治责任范围与标准目标</a:t>
            </a:r>
          </a:p>
        </p:txBody>
      </p:sp>
      <p:sp>
        <p:nvSpPr>
          <p:cNvPr id="4" name="TextBox 3"/>
          <p:cNvSpPr txBox="1"/>
          <p:nvPr/>
        </p:nvSpPr>
        <p:spPr>
          <a:xfrm>
            <a:off x="10652760" y="603504"/>
            <a:ext cx="640080" cy="182880"/>
          </a:xfrm>
          <a:prstGeom prst="rect">
            <a:avLst/>
          </a:prstGeom>
          <a:noFill/>
        </p:spPr>
        <p:txBody>
          <a:bodyPr wrap="square">
            <a:noAutofit/>
          </a:bodyPr>
          <a:lstStyle/>
          <a:p>
            <a:pPr algn="r">
              <a:defRPr sz="900" b="0">
                <a:solidFill>
                  <a:srgbClr val="566B7F"/>
                </a:solidFill>
                <a:latin typeface="Microsoft YaHei"/>
              </a:defRPr>
            </a:pPr>
            <a:r>
              <a:t>13</a:t>
            </a:r>
          </a:p>
        </p:txBody>
      </p:sp>
      <p:sp>
        <p:nvSpPr>
          <p:cNvPr id="5" name="Rectangle 4"/>
          <p:cNvSpPr/>
          <p:nvPr/>
        </p:nvSpPr>
        <p:spPr>
          <a:xfrm>
            <a:off x="384048" y="804672"/>
            <a:ext cx="10826496" cy="13716"/>
          </a:xfrm>
          <a:prstGeom prst="rect">
            <a:avLst/>
          </a:prstGeom>
          <a:solidFill>
            <a:srgbClr val="448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060704"/>
          <a:ext cx="7315200" cy="4617718"/>
        </p:xfrm>
        <a:graphic>
          <a:graphicData uri="http://schemas.openxmlformats.org/drawingml/2006/table">
            <a:tbl>
              <a:tblPr firstRow="1" bandRow="1">
                <a:tableStyleId>{5C22544A-7EE6-4342-B048-85BDC9FD1C3A}</a:tableStyleId>
              </a:tblPr>
              <a:tblGrid>
                <a:gridCol w="1828800"/>
                <a:gridCol w="1828800"/>
                <a:gridCol w="1828800"/>
                <a:gridCol w="1828800"/>
              </a:tblGrid>
              <a:tr h="659674">
                <a:tc>
                  <a:txBody>
                    <a:bodyPr/>
                    <a:lstStyle/>
                    <a:p>
                      <a:pPr algn="ctr">
                        <a:defRPr sz="1200" b="1">
                          <a:solidFill>
                            <a:srgbClr val="01203C"/>
                          </a:solidFill>
                          <a:latin typeface="Microsoft YaHei"/>
                        </a:defRPr>
                      </a:pPr>
                      <a:r>
                        <a:t>防治指标</a:t>
                      </a:r>
                    </a:p>
                  </a:txBody>
                  <a:tcPr anchor="ctr" marL="36576" marR="36576" marT="18288" marB="18288">
                    <a:solidFill>
                      <a:srgbClr val="EAF2F8"/>
                    </a:solidFill>
                  </a:tcPr>
                </a:tc>
                <a:tc>
                  <a:txBody>
                    <a:bodyPr/>
                    <a:lstStyle/>
                    <a:p>
                      <a:pPr algn="ctr">
                        <a:defRPr sz="1200" b="1">
                          <a:solidFill>
                            <a:srgbClr val="01203C"/>
                          </a:solidFill>
                          <a:latin typeface="Microsoft YaHei"/>
                        </a:defRPr>
                      </a:pPr>
                      <a:r>
                        <a:t>标准值</a:t>
                      </a:r>
                    </a:p>
                  </a:txBody>
                  <a:tcPr anchor="ctr" marL="36576" marR="36576" marT="18288" marB="18288">
                    <a:solidFill>
                      <a:srgbClr val="EAF2F8"/>
                    </a:solidFill>
                  </a:tcPr>
                </a:tc>
                <a:tc>
                  <a:txBody>
                    <a:bodyPr/>
                    <a:lstStyle/>
                    <a:p>
                      <a:pPr algn="ctr">
                        <a:defRPr sz="1200" b="1">
                          <a:solidFill>
                            <a:srgbClr val="01203C"/>
                          </a:solidFill>
                          <a:latin typeface="Microsoft YaHei"/>
                        </a:defRPr>
                      </a:pPr>
                      <a:r>
                        <a:t>修正</a:t>
                      </a:r>
                    </a:p>
                  </a:txBody>
                  <a:tcPr anchor="ctr" marL="36576" marR="36576" marT="18288" marB="18288">
                    <a:solidFill>
                      <a:srgbClr val="EAF2F8"/>
                    </a:solidFill>
                  </a:tcPr>
                </a:tc>
                <a:tc>
                  <a:txBody>
                    <a:bodyPr/>
                    <a:lstStyle/>
                    <a:p>
                      <a:pPr algn="ctr">
                        <a:defRPr sz="1200" b="1">
                          <a:solidFill>
                            <a:srgbClr val="01203C"/>
                          </a:solidFill>
                          <a:latin typeface="Microsoft YaHei"/>
                        </a:defRPr>
                      </a:pPr>
                      <a:r>
                        <a:t>采用标准</a:t>
                      </a:r>
                    </a:p>
                  </a:txBody>
                  <a:tcPr anchor="ctr" marL="36576" marR="36576" marT="18288" marB="18288">
                    <a:solidFill>
                      <a:srgbClr val="EAF2F8"/>
                    </a:solidFill>
                  </a:tcPr>
                </a:tc>
              </a:tr>
              <a:tr h="659674">
                <a:tc>
                  <a:txBody>
                    <a:bodyPr/>
                    <a:lstStyle/>
                    <a:p>
                      <a:pPr algn="ctr">
                        <a:defRPr sz="1200">
                          <a:solidFill>
                            <a:srgbClr val="01203C"/>
                          </a:solidFill>
                          <a:latin typeface="Microsoft YaHei"/>
                        </a:defRPr>
                      </a:pPr>
                      <a:r>
                        <a:t>水土流失治理度（%）</a:t>
                      </a:r>
                    </a:p>
                  </a:txBody>
                  <a:tcPr anchor="ctr" marL="36576" marR="36576" marT="18288" marB="18288">
                    <a:solidFill>
                      <a:srgbClr val="FFFFFF"/>
                    </a:solidFill>
                  </a:tcPr>
                </a:tc>
                <a:tc>
                  <a:txBody>
                    <a:bodyPr/>
                    <a:lstStyle/>
                    <a:p>
                      <a:pPr algn="ctr">
                        <a:defRPr sz="1200">
                          <a:solidFill>
                            <a:srgbClr val="01203C"/>
                          </a:solidFill>
                          <a:latin typeface="Microsoft YaHei"/>
                        </a:defRPr>
                      </a:pPr>
                      <a:r>
                        <a:t>—</a:t>
                      </a:r>
                    </a:p>
                  </a:txBody>
                  <a:tcPr anchor="ctr" marL="36576" marR="36576" marT="18288" marB="18288">
                    <a:solidFill>
                      <a:srgbClr val="FFFFFF"/>
                    </a:solidFill>
                  </a:tcPr>
                </a:tc>
                <a:tc>
                  <a:txBody>
                    <a:bodyPr/>
                    <a:lstStyle/>
                    <a:p>
                      <a:pPr algn="ctr">
                        <a:defRPr sz="1200">
                          <a:solidFill>
                            <a:srgbClr val="01203C"/>
                          </a:solidFill>
                          <a:latin typeface="Microsoft YaHei"/>
                        </a:defRPr>
                      </a:pPr>
                      <a:r>
                        <a:t>98</a:t>
                      </a:r>
                    </a:p>
                  </a:txBody>
                  <a:tcPr anchor="ctr" marL="36576" marR="36576" marT="18288" marB="18288">
                    <a:solidFill>
                      <a:srgbClr val="FFFFFF"/>
                    </a:solidFill>
                  </a:tcPr>
                </a:tc>
                <a:tc>
                  <a:txBody>
                    <a:bodyPr/>
                    <a:lstStyle/>
                    <a:p>
                      <a:pPr algn="ctr">
                        <a:defRPr sz="1200">
                          <a:solidFill>
                            <a:srgbClr val="01203C"/>
                          </a:solidFill>
                          <a:latin typeface="Microsoft YaHei"/>
                        </a:defRPr>
                      </a:pPr>
                      <a:r>
                        <a:t>/</a:t>
                      </a:r>
                    </a:p>
                  </a:txBody>
                  <a:tcPr anchor="ctr" marL="36576" marR="36576" marT="18288" marB="18288">
                    <a:solidFill>
                      <a:srgbClr val="FFFFFF"/>
                    </a:solidFill>
                  </a:tcPr>
                </a:tc>
              </a:tr>
              <a:tr h="659674">
                <a:tc>
                  <a:txBody>
                    <a:bodyPr/>
                    <a:lstStyle/>
                    <a:p>
                      <a:pPr algn="ctr">
                        <a:defRPr sz="1200">
                          <a:solidFill>
                            <a:srgbClr val="01203C"/>
                          </a:solidFill>
                          <a:latin typeface="Microsoft YaHei"/>
                        </a:defRPr>
                      </a:pPr>
                      <a:r>
                        <a:t>土壤流失控制比</a:t>
                      </a:r>
                    </a:p>
                  </a:txBody>
                  <a:tcPr anchor="ctr" marL="36576" marR="36576" marT="18288" marB="18288">
                    <a:solidFill>
                      <a:srgbClr val="FFFFFF"/>
                    </a:solidFill>
                  </a:tcPr>
                </a:tc>
                <a:tc>
                  <a:txBody>
                    <a:bodyPr/>
                    <a:lstStyle/>
                    <a:p>
                      <a:pPr algn="ctr">
                        <a:defRPr sz="1200">
                          <a:solidFill>
                            <a:srgbClr val="01203C"/>
                          </a:solidFill>
                          <a:latin typeface="Microsoft YaHei"/>
                        </a:defRPr>
                      </a:pPr>
                      <a:r>
                        <a:t>—</a:t>
                      </a:r>
                    </a:p>
                  </a:txBody>
                  <a:tcPr anchor="ctr" marL="36576" marR="36576" marT="18288" marB="18288">
                    <a:solidFill>
                      <a:srgbClr val="FFFFFF"/>
                    </a:solidFill>
                  </a:tcPr>
                </a:tc>
                <a:tc>
                  <a:txBody>
                    <a:bodyPr/>
                    <a:lstStyle/>
                    <a:p>
                      <a:pPr algn="ctr">
                        <a:defRPr sz="1200">
                          <a:solidFill>
                            <a:srgbClr val="01203C"/>
                          </a:solidFill>
                          <a:latin typeface="Microsoft YaHei"/>
                        </a:defRPr>
                      </a:pPr>
                      <a:r>
                        <a:t>0.9</a:t>
                      </a:r>
                    </a:p>
                  </a:txBody>
                  <a:tcPr anchor="ctr" marL="36576" marR="36576" marT="18288" marB="18288">
                    <a:solidFill>
                      <a:srgbClr val="FFFFFF"/>
                    </a:solidFill>
                  </a:tcPr>
                </a:tc>
                <a:tc>
                  <a:txBody>
                    <a:bodyPr/>
                    <a:lstStyle/>
                    <a:p>
                      <a:pPr algn="ctr">
                        <a:defRPr sz="1200">
                          <a:solidFill>
                            <a:srgbClr val="01203C"/>
                          </a:solidFill>
                          <a:latin typeface="Microsoft YaHei"/>
                        </a:defRPr>
                      </a:pPr>
                      <a:r>
                        <a:t>+0.1</a:t>
                      </a:r>
                    </a:p>
                  </a:txBody>
                  <a:tcPr anchor="ctr" marL="36576" marR="36576" marT="18288" marB="18288">
                    <a:solidFill>
                      <a:srgbClr val="FFFFFF"/>
                    </a:solidFill>
                  </a:tcPr>
                </a:tc>
              </a:tr>
              <a:tr h="659674">
                <a:tc>
                  <a:txBody>
                    <a:bodyPr/>
                    <a:lstStyle/>
                    <a:p>
                      <a:pPr algn="ctr">
                        <a:defRPr sz="1200">
                          <a:solidFill>
                            <a:srgbClr val="01203C"/>
                          </a:solidFill>
                          <a:latin typeface="Microsoft YaHei"/>
                        </a:defRPr>
                      </a:pPr>
                      <a:r>
                        <a:t>渣土防护率（%）</a:t>
                      </a:r>
                    </a:p>
                  </a:txBody>
                  <a:tcPr anchor="ctr" marL="36576" marR="36576" marT="18288" marB="18288">
                    <a:solidFill>
                      <a:srgbClr val="FFFFFF"/>
                    </a:solidFill>
                  </a:tcPr>
                </a:tc>
                <a:tc>
                  <a:txBody>
                    <a:bodyPr/>
                    <a:lstStyle/>
                    <a:p>
                      <a:pPr algn="ctr">
                        <a:defRPr sz="1200">
                          <a:solidFill>
                            <a:srgbClr val="01203C"/>
                          </a:solidFill>
                          <a:latin typeface="Microsoft YaHei"/>
                        </a:defRPr>
                      </a:pPr>
                      <a:r>
                        <a:t>95</a:t>
                      </a:r>
                    </a:p>
                  </a:txBody>
                  <a:tcPr anchor="ctr" marL="36576" marR="36576" marT="18288" marB="18288">
                    <a:solidFill>
                      <a:srgbClr val="FFFFFF"/>
                    </a:solidFill>
                  </a:tcPr>
                </a:tc>
                <a:tc>
                  <a:txBody>
                    <a:bodyPr/>
                    <a:lstStyle/>
                    <a:p>
                      <a:pPr algn="ctr">
                        <a:defRPr sz="1200">
                          <a:solidFill>
                            <a:srgbClr val="01203C"/>
                          </a:solidFill>
                          <a:latin typeface="Microsoft YaHei"/>
                        </a:defRPr>
                      </a:pPr>
                      <a:r>
                        <a:t>97</a:t>
                      </a:r>
                    </a:p>
                  </a:txBody>
                  <a:tcPr anchor="ctr" marL="36576" marR="36576" marT="18288" marB="18288">
                    <a:solidFill>
                      <a:srgbClr val="FFFFFF"/>
                    </a:solidFill>
                  </a:tcPr>
                </a:tc>
                <a:tc>
                  <a:txBody>
                    <a:bodyPr/>
                    <a:lstStyle/>
                    <a:p>
                      <a:pPr algn="ctr">
                        <a:defRPr sz="1200">
                          <a:solidFill>
                            <a:srgbClr val="01203C"/>
                          </a:solidFill>
                          <a:latin typeface="Microsoft YaHei"/>
                        </a:defRPr>
                      </a:pPr>
                      <a:r>
                        <a:t>/</a:t>
                      </a:r>
                    </a:p>
                  </a:txBody>
                  <a:tcPr anchor="ctr" marL="36576" marR="36576" marT="18288" marB="18288">
                    <a:solidFill>
                      <a:srgbClr val="FFFFFF"/>
                    </a:solidFill>
                  </a:tcPr>
                </a:tc>
              </a:tr>
              <a:tr h="659674">
                <a:tc>
                  <a:txBody>
                    <a:bodyPr/>
                    <a:lstStyle/>
                    <a:p>
                      <a:pPr algn="ctr">
                        <a:defRPr sz="1200">
                          <a:solidFill>
                            <a:srgbClr val="01203C"/>
                          </a:solidFill>
                          <a:latin typeface="Microsoft YaHei"/>
                        </a:defRPr>
                      </a:pPr>
                      <a:r>
                        <a:t>表土保护率（%）</a:t>
                      </a:r>
                    </a:p>
                  </a:txBody>
                  <a:tcPr anchor="ctr" marL="36576" marR="36576" marT="18288" marB="18288">
                    <a:solidFill>
                      <a:srgbClr val="FFFFFF"/>
                    </a:solidFill>
                  </a:tcPr>
                </a:tc>
                <a:tc>
                  <a:txBody>
                    <a:bodyPr/>
                    <a:lstStyle/>
                    <a:p>
                      <a:pPr algn="ctr">
                        <a:defRPr sz="1200">
                          <a:solidFill>
                            <a:srgbClr val="01203C"/>
                          </a:solidFill>
                          <a:latin typeface="Microsoft YaHei"/>
                        </a:defRPr>
                      </a:pPr>
                      <a:r>
                        <a:t>92</a:t>
                      </a:r>
                    </a:p>
                  </a:txBody>
                  <a:tcPr anchor="ctr" marL="36576" marR="36576" marT="18288" marB="18288">
                    <a:solidFill>
                      <a:srgbClr val="FFFFFF"/>
                    </a:solidFill>
                  </a:tcPr>
                </a:tc>
                <a:tc>
                  <a:txBody>
                    <a:bodyPr/>
                    <a:lstStyle/>
                    <a:p>
                      <a:pPr algn="ctr">
                        <a:defRPr sz="1200">
                          <a:solidFill>
                            <a:srgbClr val="01203C"/>
                          </a:solidFill>
                          <a:latin typeface="Microsoft YaHei"/>
                        </a:defRPr>
                      </a:pPr>
                      <a:r>
                        <a:t>92</a:t>
                      </a:r>
                    </a:p>
                  </a:txBody>
                  <a:tcPr anchor="ctr" marL="36576" marR="36576" marT="18288" marB="18288">
                    <a:solidFill>
                      <a:srgbClr val="FFFFFF"/>
                    </a:solidFill>
                  </a:tcPr>
                </a:tc>
                <a:tc>
                  <a:txBody>
                    <a:bodyPr/>
                    <a:lstStyle/>
                    <a:p>
                      <a:pPr algn="ctr">
                        <a:defRPr sz="1200">
                          <a:solidFill>
                            <a:srgbClr val="01203C"/>
                          </a:solidFill>
                          <a:latin typeface="Microsoft YaHei"/>
                        </a:defRPr>
                      </a:pPr>
                      <a:r>
                        <a:t>+1</a:t>
                      </a:r>
                    </a:p>
                  </a:txBody>
                  <a:tcPr anchor="ctr" marL="36576" marR="36576" marT="18288" marB="18288">
                    <a:solidFill>
                      <a:srgbClr val="FFFFFF"/>
                    </a:solidFill>
                  </a:tcPr>
                </a:tc>
              </a:tr>
              <a:tr h="659674">
                <a:tc>
                  <a:txBody>
                    <a:bodyPr/>
                    <a:lstStyle/>
                    <a:p>
                      <a:pPr algn="ctr">
                        <a:defRPr sz="1200">
                          <a:solidFill>
                            <a:srgbClr val="01203C"/>
                          </a:solidFill>
                          <a:latin typeface="Microsoft YaHei"/>
                        </a:defRPr>
                      </a:pPr>
                      <a:r>
                        <a:t>林草植被恢复率（%）</a:t>
                      </a:r>
                    </a:p>
                  </a:txBody>
                  <a:tcPr anchor="ctr" marL="36576" marR="36576" marT="18288" marB="18288">
                    <a:solidFill>
                      <a:srgbClr val="FFFFFF"/>
                    </a:solidFill>
                  </a:tcPr>
                </a:tc>
                <a:tc>
                  <a:txBody>
                    <a:bodyPr/>
                    <a:lstStyle/>
                    <a:p>
                      <a:pPr algn="ctr">
                        <a:defRPr sz="1200">
                          <a:solidFill>
                            <a:srgbClr val="01203C"/>
                          </a:solidFill>
                          <a:latin typeface="Microsoft YaHei"/>
                        </a:defRPr>
                      </a:pPr>
                      <a:r>
                        <a:t>—</a:t>
                      </a:r>
                    </a:p>
                  </a:txBody>
                  <a:tcPr anchor="ctr" marL="36576" marR="36576" marT="18288" marB="18288">
                    <a:solidFill>
                      <a:srgbClr val="FFFFFF"/>
                    </a:solidFill>
                  </a:tcPr>
                </a:tc>
                <a:tc>
                  <a:txBody>
                    <a:bodyPr/>
                    <a:lstStyle/>
                    <a:p>
                      <a:pPr algn="ctr">
                        <a:defRPr sz="1200">
                          <a:solidFill>
                            <a:srgbClr val="01203C"/>
                          </a:solidFill>
                          <a:latin typeface="Microsoft YaHei"/>
                        </a:defRPr>
                      </a:pPr>
                      <a:r>
                        <a:t>98</a:t>
                      </a:r>
                    </a:p>
                  </a:txBody>
                  <a:tcPr anchor="ctr" marL="36576" marR="36576" marT="18288" marB="18288">
                    <a:solidFill>
                      <a:srgbClr val="FFFFFF"/>
                    </a:solidFill>
                  </a:tcPr>
                </a:tc>
                <a:tc>
                  <a:txBody>
                    <a:bodyPr/>
                    <a:lstStyle/>
                    <a:p>
                      <a:pPr algn="ctr">
                        <a:defRPr sz="1200">
                          <a:solidFill>
                            <a:srgbClr val="01203C"/>
                          </a:solidFill>
                          <a:latin typeface="Microsoft YaHei"/>
                        </a:defRPr>
                      </a:pPr>
                      <a:r>
                        <a:t>/</a:t>
                      </a:r>
                    </a:p>
                  </a:txBody>
                  <a:tcPr anchor="ctr" marL="36576" marR="36576" marT="18288" marB="18288">
                    <a:solidFill>
                      <a:srgbClr val="FFFFFF"/>
                    </a:solidFill>
                  </a:tcPr>
                </a:tc>
              </a:tr>
              <a:tr h="659674">
                <a:tc>
                  <a:txBody>
                    <a:bodyPr/>
                    <a:lstStyle/>
                    <a:p>
                      <a:pPr algn="ctr">
                        <a:defRPr sz="1200">
                          <a:solidFill>
                            <a:srgbClr val="01203C"/>
                          </a:solidFill>
                          <a:latin typeface="Microsoft YaHei"/>
                        </a:defRPr>
                      </a:pPr>
                      <a:r>
                        <a:t>林草覆盖率（%）</a:t>
                      </a:r>
                    </a:p>
                  </a:txBody>
                  <a:tcPr anchor="ctr" marL="36576" marR="36576" marT="18288" marB="18288">
                    <a:solidFill>
                      <a:srgbClr val="FFFFFF"/>
                    </a:solidFill>
                  </a:tcPr>
                </a:tc>
                <a:tc>
                  <a:txBody>
                    <a:bodyPr/>
                    <a:lstStyle/>
                    <a:p>
                      <a:pPr algn="ctr">
                        <a:defRPr sz="1200">
                          <a:solidFill>
                            <a:srgbClr val="01203C"/>
                          </a:solidFill>
                          <a:latin typeface="Microsoft YaHei"/>
                        </a:defRPr>
                      </a:pPr>
                      <a:r>
                        <a:t>—</a:t>
                      </a:r>
                    </a:p>
                  </a:txBody>
                  <a:tcPr anchor="ctr" marL="36576" marR="36576" marT="18288" marB="18288">
                    <a:solidFill>
                      <a:srgbClr val="FFFFFF"/>
                    </a:solidFill>
                  </a:tcPr>
                </a:tc>
                <a:tc>
                  <a:txBody>
                    <a:bodyPr/>
                    <a:lstStyle/>
                    <a:p>
                      <a:pPr algn="ctr">
                        <a:defRPr sz="1200">
                          <a:solidFill>
                            <a:srgbClr val="01203C"/>
                          </a:solidFill>
                          <a:latin typeface="Microsoft YaHei"/>
                        </a:defRPr>
                      </a:pPr>
                      <a:r>
                        <a:t>25</a:t>
                      </a:r>
                    </a:p>
                  </a:txBody>
                  <a:tcPr anchor="ctr" marL="36576" marR="36576" marT="18288" marB="18288">
                    <a:solidFill>
                      <a:srgbClr val="FFFFFF"/>
                    </a:solidFill>
                  </a:tcPr>
                </a:tc>
                <a:tc>
                  <a:txBody>
                    <a:bodyPr/>
                    <a:lstStyle/>
                    <a:p>
                      <a:pPr algn="ctr">
                        <a:defRPr sz="1200">
                          <a:solidFill>
                            <a:srgbClr val="01203C"/>
                          </a:solidFill>
                          <a:latin typeface="Microsoft YaHei"/>
                        </a:defRPr>
                      </a:pPr>
                      <a:r>
                        <a:t>按 项目区 实际情况调整 为0.77%</a:t>
                      </a:r>
                    </a:p>
                  </a:txBody>
                  <a:tcPr anchor="ctr" marL="36576" marR="36576" marT="18288" marB="18288">
                    <a:solidFill>
                      <a:srgbClr val="FFFFFF"/>
                    </a:solidFill>
                  </a:tcPr>
                </a:tc>
              </a:tr>
            </a:tbl>
          </a:graphicData>
        </a:graphic>
      </p:graphicFrame>
      <p:sp>
        <p:nvSpPr>
          <p:cNvPr id="7" name="TextBox 6"/>
          <p:cNvSpPr txBox="1"/>
          <p:nvPr/>
        </p:nvSpPr>
        <p:spPr>
          <a:xfrm>
            <a:off x="8183879" y="1115568"/>
            <a:ext cx="3063240" cy="438912"/>
          </a:xfrm>
          <a:prstGeom prst="rect">
            <a:avLst/>
          </a:prstGeom>
          <a:noFill/>
        </p:spPr>
        <p:txBody>
          <a:bodyPr wrap="square">
            <a:noAutofit/>
          </a:bodyPr>
          <a:lstStyle/>
          <a:p>
            <a:pPr>
              <a:defRPr sz="1500" b="1">
                <a:solidFill>
                  <a:srgbClr val="4489C8"/>
                </a:solidFill>
                <a:latin typeface="Microsoft YaHei"/>
              </a:defRPr>
            </a:pPr>
            <a:r>
              <a:t>本工程水土流失防治目标值</a:t>
            </a:r>
          </a:p>
        </p:txBody>
      </p:sp>
      <p:sp>
        <p:nvSpPr>
          <p:cNvPr id="8" name="TextBox 7"/>
          <p:cNvSpPr txBox="1"/>
          <p:nvPr/>
        </p:nvSpPr>
        <p:spPr>
          <a:xfrm>
            <a:off x="8183879" y="1719072"/>
            <a:ext cx="2880360" cy="3611880"/>
          </a:xfrm>
          <a:prstGeom prst="rect">
            <a:avLst/>
          </a:prstGeom>
          <a:noFill/>
        </p:spPr>
        <p:txBody>
          <a:bodyPr wrap="square">
            <a:noAutofit/>
          </a:bodyPr>
          <a:lstStyle/>
          <a:p>
            <a:pPr>
              <a:spcAft>
                <a:spcPts val="400"/>
              </a:spcAft>
              <a:defRPr sz="1400">
                <a:solidFill>
                  <a:srgbClr val="01203C"/>
                </a:solidFill>
                <a:latin typeface="Microsoft YaHei"/>
              </a:defRPr>
            </a:pPr>
            <a:r>
              <a:t>目标值表明确本项目执行南方红壤区建设类项目一级标准。</a:t>
            </a:r>
          </a:p>
          <a:p>
            <a:pPr>
              <a:spcAft>
                <a:spcPts val="400"/>
              </a:spcAft>
              <a:defRPr sz="1400">
                <a:solidFill>
                  <a:srgbClr val="01203C"/>
                </a:solidFill>
                <a:latin typeface="Microsoft YaHei"/>
              </a:defRPr>
            </a:pPr>
            <a:r>
              <a:t>六项指标分别约束治理度、控制比、防护率、表土保护、植被恢复和林草覆盖。</a:t>
            </a:r>
          </a:p>
          <a:p>
            <a:pPr>
              <a:spcAft>
                <a:spcPts val="400"/>
              </a:spcAft>
              <a:defRPr sz="1400">
                <a:solidFill>
                  <a:srgbClr val="01203C"/>
                </a:solidFill>
                <a:latin typeface="Microsoft YaHei"/>
              </a:defRPr>
            </a:pPr>
            <a:r>
              <a:t>该表是末章防治效果达标分析的直接对照基准。</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1203C"/>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1203C"/>
          </a:solidFill>
          <a:ln w="7620">
            <a:solidFill>
              <a:srgbClr val="0120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960120"/>
            <a:ext cx="73152" cy="4736592"/>
          </a:xfrm>
          <a:prstGeom prst="rect">
            <a:avLst/>
          </a:prstGeom>
          <a:solidFill>
            <a:srgbClr val="4489C8"/>
          </a:solidFill>
          <a:ln w="7620">
            <a:solidFill>
              <a:srgbClr val="448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640080"/>
            <a:ext cx="4206240" cy="320040"/>
          </a:xfrm>
          <a:prstGeom prst="rect">
            <a:avLst/>
          </a:prstGeom>
          <a:noFill/>
        </p:spPr>
        <p:txBody>
          <a:bodyPr wrap="square">
            <a:noAutofit/>
          </a:bodyPr>
          <a:lstStyle/>
          <a:p>
            <a:pPr>
              <a:defRPr sz="1600" b="1">
                <a:solidFill>
                  <a:srgbClr val="EAF2F8"/>
                </a:solidFill>
                <a:latin typeface="Microsoft YaHei"/>
              </a:defRPr>
            </a:pPr>
            <a:r>
              <a:t>第04章 / 共07章</a:t>
            </a:r>
          </a:p>
        </p:txBody>
      </p:sp>
      <p:sp>
        <p:nvSpPr>
          <p:cNvPr id="5" name="TextBox 4"/>
          <p:cNvSpPr txBox="1"/>
          <p:nvPr/>
        </p:nvSpPr>
        <p:spPr>
          <a:xfrm>
            <a:off x="749808" y="1901952"/>
            <a:ext cx="1298448" cy="804672"/>
          </a:xfrm>
          <a:prstGeom prst="rect">
            <a:avLst/>
          </a:prstGeom>
          <a:noFill/>
        </p:spPr>
        <p:txBody>
          <a:bodyPr wrap="square">
            <a:noAutofit/>
          </a:bodyPr>
          <a:lstStyle/>
          <a:p>
            <a:pPr>
              <a:defRPr sz="5400" b="1">
                <a:solidFill>
                  <a:srgbClr val="FFFFFF"/>
                </a:solidFill>
                <a:latin typeface="Microsoft YaHei"/>
              </a:defRPr>
            </a:pPr>
            <a:r>
              <a:t>04</a:t>
            </a:r>
          </a:p>
        </p:txBody>
      </p:sp>
      <p:sp>
        <p:nvSpPr>
          <p:cNvPr id="6" name="TextBox 5"/>
          <p:cNvSpPr txBox="1"/>
          <p:nvPr/>
        </p:nvSpPr>
        <p:spPr>
          <a:xfrm>
            <a:off x="2176272" y="2011680"/>
            <a:ext cx="8961120" cy="749808"/>
          </a:xfrm>
          <a:prstGeom prst="rect">
            <a:avLst/>
          </a:prstGeom>
          <a:noFill/>
        </p:spPr>
        <p:txBody>
          <a:bodyPr wrap="square">
            <a:noAutofit/>
          </a:bodyPr>
          <a:lstStyle/>
          <a:p>
            <a:pPr>
              <a:defRPr sz="3000" b="1">
                <a:solidFill>
                  <a:srgbClr val="FFFFFF"/>
                </a:solidFill>
                <a:latin typeface="Microsoft YaHei"/>
              </a:defRPr>
            </a:pPr>
            <a:r>
              <a:t>水土保持评价与土石方</a:t>
            </a:r>
          </a:p>
        </p:txBody>
      </p:sp>
      <p:sp>
        <p:nvSpPr>
          <p:cNvPr id="7" name="TextBox 6"/>
          <p:cNvSpPr txBox="1"/>
          <p:nvPr/>
        </p:nvSpPr>
        <p:spPr>
          <a:xfrm>
            <a:off x="2212848" y="2962656"/>
            <a:ext cx="8229600" cy="329184"/>
          </a:xfrm>
          <a:prstGeom prst="rect">
            <a:avLst/>
          </a:prstGeom>
          <a:noFill/>
        </p:spPr>
        <p:txBody>
          <a:bodyPr wrap="square">
            <a:noAutofit/>
          </a:bodyPr>
          <a:lstStyle/>
          <a:p>
            <a:pPr>
              <a:defRPr sz="1500" b="0">
                <a:solidFill>
                  <a:srgbClr val="EAF2F8"/>
                </a:solidFill>
                <a:latin typeface="Microsoft YaHei"/>
              </a:defRPr>
            </a:pPr>
            <a:r>
              <a:t>评价选址、建设方案、施工组织、土石方平衡及主体工程中已列水保措施。</a:t>
            </a:r>
          </a:p>
        </p:txBody>
      </p:sp>
      <p:sp>
        <p:nvSpPr>
          <p:cNvPr id="8" name="Rectangle 7"/>
          <p:cNvSpPr/>
          <p:nvPr/>
        </p:nvSpPr>
        <p:spPr>
          <a:xfrm>
            <a:off x="2212848" y="3749039"/>
            <a:ext cx="6400800" cy="18288"/>
          </a:xfrm>
          <a:prstGeom prst="rect">
            <a:avLst/>
          </a:prstGeom>
          <a:solidFill>
            <a:srgbClr val="4489C8"/>
          </a:solidFill>
          <a:ln w="7620">
            <a:solidFill>
              <a:srgbClr val="448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384048" y="182880"/>
            <a:ext cx="10835640" cy="457200"/>
          </a:xfrm>
          <a:prstGeom prst="rect">
            <a:avLst/>
          </a:prstGeom>
          <a:noFill/>
        </p:spPr>
        <p:txBody>
          <a:bodyPr wrap="square">
            <a:noAutofit/>
          </a:bodyPr>
          <a:lstStyle/>
          <a:p>
            <a:pPr>
              <a:defRPr sz="2400" b="1">
                <a:solidFill>
                  <a:srgbClr val="01203C"/>
                </a:solidFill>
                <a:latin typeface="Microsoft YaHei"/>
              </a:defRPr>
            </a:pPr>
            <a:r>
              <a:t>法制约因素与技术标准评价结论均为符合</a:t>
            </a:r>
          </a:p>
        </p:txBody>
      </p:sp>
      <p:sp>
        <p:nvSpPr>
          <p:cNvPr id="3" name="TextBox 2"/>
          <p:cNvSpPr txBox="1"/>
          <p:nvPr/>
        </p:nvSpPr>
        <p:spPr>
          <a:xfrm>
            <a:off x="393192" y="621792"/>
            <a:ext cx="6400800" cy="219456"/>
          </a:xfrm>
          <a:prstGeom prst="rect">
            <a:avLst/>
          </a:prstGeom>
          <a:noFill/>
        </p:spPr>
        <p:txBody>
          <a:bodyPr wrap="square">
            <a:noAutofit/>
          </a:bodyPr>
          <a:lstStyle/>
          <a:p>
            <a:pPr>
              <a:defRPr sz="950" b="0">
                <a:solidFill>
                  <a:srgbClr val="4489C8"/>
                </a:solidFill>
                <a:latin typeface="Microsoft YaHei"/>
              </a:defRPr>
            </a:pPr>
            <a:r>
              <a:t>水土保持评价与土石方</a:t>
            </a:r>
          </a:p>
        </p:txBody>
      </p:sp>
      <p:sp>
        <p:nvSpPr>
          <p:cNvPr id="4" name="TextBox 3"/>
          <p:cNvSpPr txBox="1"/>
          <p:nvPr/>
        </p:nvSpPr>
        <p:spPr>
          <a:xfrm>
            <a:off x="10652760" y="603504"/>
            <a:ext cx="640080" cy="182880"/>
          </a:xfrm>
          <a:prstGeom prst="rect">
            <a:avLst/>
          </a:prstGeom>
          <a:noFill/>
        </p:spPr>
        <p:txBody>
          <a:bodyPr wrap="square">
            <a:noAutofit/>
          </a:bodyPr>
          <a:lstStyle/>
          <a:p>
            <a:pPr algn="r">
              <a:defRPr sz="900" b="0">
                <a:solidFill>
                  <a:srgbClr val="566B7F"/>
                </a:solidFill>
                <a:latin typeface="Microsoft YaHei"/>
              </a:defRPr>
            </a:pPr>
            <a:r>
              <a:t>15</a:t>
            </a:r>
          </a:p>
        </p:txBody>
      </p:sp>
      <p:sp>
        <p:nvSpPr>
          <p:cNvPr id="5" name="Rectangle 4"/>
          <p:cNvSpPr/>
          <p:nvPr/>
        </p:nvSpPr>
        <p:spPr>
          <a:xfrm>
            <a:off x="384048" y="804672"/>
            <a:ext cx="10826496" cy="13716"/>
          </a:xfrm>
          <a:prstGeom prst="rect">
            <a:avLst/>
          </a:prstGeom>
          <a:solidFill>
            <a:srgbClr val="448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060704"/>
          <a:ext cx="11064237" cy="3456425"/>
        </p:xfrm>
        <a:graphic>
          <a:graphicData uri="http://schemas.openxmlformats.org/drawingml/2006/table">
            <a:tbl>
              <a:tblPr firstRow="1" bandRow="1">
                <a:tableStyleId>{5C22544A-7EE6-4342-B048-85BDC9FD1C3A}</a:tableStyleId>
              </a:tblPr>
              <a:tblGrid>
                <a:gridCol w="506710"/>
                <a:gridCol w="1219391"/>
                <a:gridCol w="5353949"/>
                <a:gridCol w="3984187"/>
              </a:tblGrid>
              <a:tr h="493775">
                <a:tc>
                  <a:txBody>
                    <a:bodyPr/>
                    <a:lstStyle/>
                    <a:p>
                      <a:pPr algn="ctr">
                        <a:defRPr sz="1200" b="1">
                          <a:solidFill>
                            <a:srgbClr val="01203C"/>
                          </a:solidFill>
                          <a:latin typeface="Microsoft YaHei"/>
                        </a:defRPr>
                      </a:pPr>
                      <a:r>
                        <a:t>序号</a:t>
                      </a:r>
                    </a:p>
                  </a:txBody>
                  <a:tcPr anchor="ctr" marL="32004" marR="32004" marT="16459" marB="16459">
                    <a:solidFill>
                      <a:srgbClr val="EAF2F8"/>
                    </a:solidFill>
                  </a:tcPr>
                </a:tc>
                <a:tc>
                  <a:txBody>
                    <a:bodyPr/>
                    <a:lstStyle/>
                    <a:p>
                      <a:pPr algn="ctr">
                        <a:defRPr sz="1200" b="1">
                          <a:solidFill>
                            <a:srgbClr val="01203C"/>
                          </a:solidFill>
                          <a:latin typeface="Microsoft YaHei"/>
                        </a:defRPr>
                      </a:pPr>
                      <a:r>
                        <a:t>条款</a:t>
                      </a:r>
                    </a:p>
                  </a:txBody>
                  <a:tcPr anchor="ctr" marL="32004" marR="32004" marT="16459" marB="16459">
                    <a:solidFill>
                      <a:srgbClr val="EAF2F8"/>
                    </a:solidFill>
                  </a:tcPr>
                </a:tc>
                <a:tc>
                  <a:txBody>
                    <a:bodyPr/>
                    <a:lstStyle/>
                    <a:p>
                      <a:pPr algn="ctr">
                        <a:defRPr sz="1200" b="1">
                          <a:solidFill>
                            <a:srgbClr val="01203C"/>
                          </a:solidFill>
                          <a:latin typeface="Microsoft YaHei"/>
                        </a:defRPr>
                      </a:pPr>
                      <a:r>
                        <a:t>制约性因素条款</a:t>
                      </a:r>
                    </a:p>
                  </a:txBody>
                  <a:tcPr anchor="ctr" marL="32004" marR="32004" marT="16459" marB="16459">
                    <a:solidFill>
                      <a:srgbClr val="EAF2F8"/>
                    </a:solidFill>
                  </a:tcPr>
                </a:tc>
                <a:tc>
                  <a:txBody>
                    <a:bodyPr/>
                    <a:lstStyle/>
                    <a:p>
                      <a:pPr algn="ctr">
                        <a:defRPr sz="1200" b="1">
                          <a:solidFill>
                            <a:srgbClr val="01203C"/>
                          </a:solidFill>
                          <a:latin typeface="Microsoft YaHei"/>
                        </a:defRPr>
                      </a:pPr>
                      <a:r>
                        <a:t>符合性分析</a:t>
                      </a:r>
                    </a:p>
                  </a:txBody>
                  <a:tcPr anchor="ctr" marL="32004" marR="32004" marT="16459" marB="16459">
                    <a:solidFill>
                      <a:srgbClr val="EAF2F8"/>
                    </a:solidFill>
                  </a:tcPr>
                </a:tc>
              </a:tr>
              <a:tr h="493775">
                <a:tc>
                  <a:txBody>
                    <a:bodyPr/>
                    <a:lstStyle/>
                    <a:p>
                      <a:pPr algn="ctr">
                        <a:defRPr sz="1200" b="0">
                          <a:solidFill>
                            <a:srgbClr val="01203C"/>
                          </a:solidFill>
                          <a:latin typeface="Microsoft YaHei"/>
                        </a:defRPr>
                      </a:pPr>
                      <a:r>
                        <a:t>1</a:t>
                      </a:r>
                    </a:p>
                  </a:txBody>
                  <a:tcPr anchor="ctr" marL="32004" marR="32004" marT="16459" marB="16459">
                    <a:solidFill>
                      <a:srgbClr val="FFFFFF"/>
                    </a:solidFill>
                  </a:tcPr>
                </a:tc>
                <a:tc>
                  <a:txBody>
                    <a:bodyPr/>
                    <a:lstStyle/>
                    <a:p>
                      <a:pPr algn="ctr">
                        <a:defRPr sz="1200" b="0">
                          <a:solidFill>
                            <a:srgbClr val="01203C"/>
                          </a:solidFill>
                          <a:latin typeface="Microsoft YaHei"/>
                        </a:defRPr>
                      </a:pPr>
                      <a:r>
                        <a:t>第十七条</a:t>
                      </a:r>
                    </a:p>
                  </a:txBody>
                  <a:tcPr anchor="ctr" marL="32004" marR="32004" marT="16459" marB="16459">
                    <a:solidFill>
                      <a:srgbClr val="FFFFFF"/>
                    </a:solidFill>
                  </a:tcPr>
                </a:tc>
                <a:tc>
                  <a:txBody>
                    <a:bodyPr/>
                    <a:lstStyle/>
                    <a:p>
                      <a:pPr algn="ctr">
                        <a:defRPr sz="1200" b="0">
                          <a:solidFill>
                            <a:srgbClr val="01203C"/>
                          </a:solidFill>
                          <a:latin typeface="Microsoft YaHei"/>
                        </a:defRPr>
                      </a:pPr>
                      <a:r>
                        <a:t>地方各级人民政府应当加强对取土、挖沙、采石等活动的管理，预防和减轻水土流失。</a:t>
                      </a:r>
                    </a:p>
                  </a:txBody>
                  <a:tcPr anchor="ctr" marL="32004" marR="32004" marT="16459" marB="16459">
                    <a:solidFill>
                      <a:srgbClr val="FFFFFF"/>
                    </a:solidFill>
                  </a:tcPr>
                </a:tc>
                <a:tc>
                  <a:txBody>
                    <a:bodyPr/>
                    <a:lstStyle/>
                    <a:p>
                      <a:pPr algn="ctr">
                        <a:defRPr sz="1200" b="0">
                          <a:solidFill>
                            <a:srgbClr val="01203C"/>
                          </a:solidFill>
                          <a:latin typeface="Microsoft YaHei"/>
                        </a:defRPr>
                      </a:pPr>
                      <a:r>
                        <a:t>本项目不涉及取土、挖沙、采石等活动， 且所在区域不属于政府公告的崩塌、滑。</a:t>
                      </a:r>
                    </a:p>
                  </a:txBody>
                  <a:tcPr anchor="ctr" marL="32004" marR="32004" marT="16459" marB="16459">
                    <a:solidFill>
                      <a:srgbClr val="FFFFFF"/>
                    </a:solidFill>
                  </a:tcPr>
                </a:tc>
              </a:tr>
              <a:tr h="493775">
                <a:tc>
                  <a:txBody>
                    <a:bodyPr/>
                    <a:lstStyle/>
                    <a:p>
                      <a:pPr algn="ctr">
                        <a:defRPr sz="1200" b="0">
                          <a:solidFill>
                            <a:srgbClr val="01203C"/>
                          </a:solidFill>
                          <a:latin typeface="Microsoft YaHei"/>
                        </a:defRPr>
                      </a:pPr>
                      <a:r>
                        <a:t>2</a:t>
                      </a:r>
                    </a:p>
                  </a:txBody>
                  <a:tcPr anchor="ctr" marL="32004" marR="32004" marT="16459" marB="16459">
                    <a:solidFill>
                      <a:srgbClr val="FFFFFF"/>
                    </a:solidFill>
                  </a:tcPr>
                </a:tc>
                <a:tc>
                  <a:txBody>
                    <a:bodyPr/>
                    <a:lstStyle/>
                    <a:p>
                      <a:pPr algn="ctr">
                        <a:defRPr sz="1200" b="0">
                          <a:solidFill>
                            <a:srgbClr val="01203C"/>
                          </a:solidFill>
                          <a:latin typeface="Microsoft YaHei"/>
                        </a:defRPr>
                      </a:pPr>
                      <a:r>
                        <a:t>第十八条</a:t>
                      </a:r>
                    </a:p>
                  </a:txBody>
                  <a:tcPr anchor="ctr" marL="32004" marR="32004" marT="16459" marB="16459">
                    <a:solidFill>
                      <a:srgbClr val="FFFFFF"/>
                    </a:solidFill>
                  </a:tcPr>
                </a:tc>
                <a:tc>
                  <a:txBody>
                    <a:bodyPr/>
                    <a:lstStyle/>
                    <a:p>
                      <a:pPr algn="ctr">
                        <a:defRPr sz="1200" b="0">
                          <a:solidFill>
                            <a:srgbClr val="01203C"/>
                          </a:solidFill>
                          <a:latin typeface="Microsoft YaHei"/>
                        </a:defRPr>
                      </a:pPr>
                      <a:r>
                        <a:t>水土流失严重、生态脆弱的地区，应当限制或者禁止可能造成水土流失的生产建设活动。</a:t>
                      </a:r>
                    </a:p>
                  </a:txBody>
                  <a:tcPr anchor="ctr" marL="32004" marR="32004" marT="16459" marB="16459">
                    <a:solidFill>
                      <a:srgbClr val="FFFFFF"/>
                    </a:solidFill>
                  </a:tcPr>
                </a:tc>
                <a:tc>
                  <a:txBody>
                    <a:bodyPr/>
                    <a:lstStyle/>
                    <a:p>
                      <a:pPr algn="ctr">
                        <a:defRPr sz="1200" b="0">
                          <a:solidFill>
                            <a:srgbClr val="01203C"/>
                          </a:solidFill>
                          <a:latin typeface="Microsoft YaHei"/>
                        </a:defRPr>
                      </a:pPr>
                      <a:r>
                        <a:t>本项目所在区域不属于水土流失严重、生态脆弱区。</a:t>
                      </a:r>
                    </a:p>
                  </a:txBody>
                  <a:tcPr anchor="ctr" marL="32004" marR="32004" marT="16459" marB="16459">
                    <a:solidFill>
                      <a:srgbClr val="FFFFFF"/>
                    </a:solidFill>
                  </a:tcPr>
                </a:tc>
              </a:tr>
              <a:tr h="493775">
                <a:tc>
                  <a:txBody>
                    <a:bodyPr/>
                    <a:lstStyle/>
                    <a:p>
                      <a:pPr algn="ctr">
                        <a:defRPr sz="1200" b="0">
                          <a:solidFill>
                            <a:srgbClr val="01203C"/>
                          </a:solidFill>
                          <a:latin typeface="Microsoft YaHei"/>
                        </a:defRPr>
                      </a:pPr>
                      <a:r>
                        <a:t>3</a:t>
                      </a:r>
                    </a:p>
                  </a:txBody>
                  <a:tcPr anchor="ctr" marL="32004" marR="32004" marT="16459" marB="16459">
                    <a:solidFill>
                      <a:srgbClr val="FFFFFF"/>
                    </a:solidFill>
                  </a:tcPr>
                </a:tc>
                <a:tc>
                  <a:txBody>
                    <a:bodyPr/>
                    <a:lstStyle/>
                    <a:p>
                      <a:pPr algn="ctr">
                        <a:defRPr sz="1200" b="0">
                          <a:solidFill>
                            <a:srgbClr val="01203C"/>
                          </a:solidFill>
                          <a:latin typeface="Microsoft YaHei"/>
                        </a:defRPr>
                      </a:pPr>
                      <a:r>
                        <a:t>第二十四条</a:t>
                      </a:r>
                    </a:p>
                  </a:txBody>
                  <a:tcPr anchor="ctr" marL="32004" marR="32004" marT="16459" marB="16459">
                    <a:solidFill>
                      <a:srgbClr val="FFFFFF"/>
                    </a:solidFill>
                  </a:tcPr>
                </a:tc>
                <a:tc>
                  <a:txBody>
                    <a:bodyPr/>
                    <a:lstStyle/>
                    <a:p>
                      <a:pPr algn="ctr">
                        <a:defRPr sz="1200" b="0">
                          <a:solidFill>
                            <a:srgbClr val="01203C"/>
                          </a:solidFill>
                          <a:latin typeface="Microsoft YaHei"/>
                        </a:defRPr>
                      </a:pPr>
                      <a:r>
                        <a:t>建设项目选址、选线应当避让水土流失重点预防区和重点治理区；无法避让的。</a:t>
                      </a:r>
                    </a:p>
                  </a:txBody>
                  <a:tcPr anchor="ctr" marL="32004" marR="32004" marT="16459" marB="16459">
                    <a:solidFill>
                      <a:srgbClr val="FFFFFF"/>
                    </a:solidFill>
                  </a:tcPr>
                </a:tc>
                <a:tc>
                  <a:txBody>
                    <a:bodyPr/>
                    <a:lstStyle/>
                    <a:p>
                      <a:pPr algn="ctr">
                        <a:defRPr sz="1200" b="0">
                          <a:solidFill>
                            <a:srgbClr val="01203C"/>
                          </a:solidFill>
                          <a:latin typeface="Microsoft YaHei"/>
                        </a:defRPr>
                      </a:pPr>
                      <a:r>
                        <a:t>本项目不涉及国家级和省级水土流失重点防治区。</a:t>
                      </a:r>
                    </a:p>
                  </a:txBody>
                  <a:tcPr anchor="ctr" marL="32004" marR="32004" marT="16459" marB="16459">
                    <a:solidFill>
                      <a:srgbClr val="FFFFFF"/>
                    </a:solidFill>
                  </a:tcPr>
                </a:tc>
              </a:tr>
              <a:tr h="493775">
                <a:tc>
                  <a:txBody>
                    <a:bodyPr/>
                    <a:lstStyle/>
                    <a:p>
                      <a:pPr algn="ctr">
                        <a:defRPr sz="1200" b="0">
                          <a:solidFill>
                            <a:srgbClr val="01203C"/>
                          </a:solidFill>
                          <a:latin typeface="Microsoft YaHei"/>
                        </a:defRPr>
                      </a:pPr>
                      <a:r>
                        <a:t>4</a:t>
                      </a:r>
                    </a:p>
                  </a:txBody>
                  <a:tcPr anchor="ctr" marL="32004" marR="32004" marT="16459" marB="16459">
                    <a:solidFill>
                      <a:srgbClr val="FFFFFF"/>
                    </a:solidFill>
                  </a:tcPr>
                </a:tc>
                <a:tc>
                  <a:txBody>
                    <a:bodyPr/>
                    <a:lstStyle/>
                    <a:p>
                      <a:pPr algn="ctr">
                        <a:defRPr sz="1200" b="0">
                          <a:solidFill>
                            <a:srgbClr val="01203C"/>
                          </a:solidFill>
                          <a:latin typeface="Microsoft YaHei"/>
                        </a:defRPr>
                      </a:pPr>
                      <a:r>
                        <a:t>第二十五条</a:t>
                      </a:r>
                    </a:p>
                  </a:txBody>
                  <a:tcPr anchor="ctr" marL="32004" marR="32004" marT="16459" marB="16459">
                    <a:solidFill>
                      <a:srgbClr val="FFFFFF"/>
                    </a:solidFill>
                  </a:tcPr>
                </a:tc>
                <a:tc>
                  <a:txBody>
                    <a:bodyPr/>
                    <a:lstStyle/>
                    <a:p>
                      <a:pPr algn="ctr">
                        <a:defRPr sz="1200" b="0">
                          <a:solidFill>
                            <a:srgbClr val="01203C"/>
                          </a:solidFill>
                          <a:latin typeface="Microsoft YaHei"/>
                        </a:defRPr>
                      </a:pPr>
                      <a:r>
                        <a:t>在山区、丘陵区、风沙区以及水土保持规划确定的容易发生水土流失的其他区域开办可能。</a:t>
                      </a:r>
                    </a:p>
                  </a:txBody>
                  <a:tcPr anchor="ctr" marL="32004" marR="32004" marT="16459" marB="16459">
                    <a:solidFill>
                      <a:srgbClr val="FFFFFF"/>
                    </a:solidFill>
                  </a:tcPr>
                </a:tc>
                <a:tc>
                  <a:txBody>
                    <a:bodyPr/>
                    <a:lstStyle/>
                    <a:p>
                      <a:pPr algn="ctr">
                        <a:defRPr sz="1200" b="0">
                          <a:solidFill>
                            <a:srgbClr val="01203C"/>
                          </a:solidFill>
                          <a:latin typeface="Microsoft YaHei"/>
                        </a:defRPr>
                      </a:pPr>
                      <a:r>
                        <a:t>建设单位委托我公司开展本项目的水土保持方案编制工作。</a:t>
                      </a:r>
                    </a:p>
                  </a:txBody>
                  <a:tcPr anchor="ctr" marL="32004" marR="32004" marT="16459" marB="16459">
                    <a:solidFill>
                      <a:srgbClr val="FFFFFF"/>
                    </a:solidFill>
                  </a:tcPr>
                </a:tc>
              </a:tr>
              <a:tr h="493775">
                <a:tc>
                  <a:txBody>
                    <a:bodyPr/>
                    <a:lstStyle/>
                    <a:p>
                      <a:pPr algn="ctr">
                        <a:defRPr sz="1200" b="0">
                          <a:solidFill>
                            <a:srgbClr val="01203C"/>
                          </a:solidFill>
                          <a:latin typeface="Microsoft YaHei"/>
                        </a:defRPr>
                      </a:pPr>
                      <a:r>
                        <a:t>5</a:t>
                      </a:r>
                    </a:p>
                  </a:txBody>
                  <a:tcPr anchor="ctr" marL="32004" marR="32004" marT="16459" marB="16459">
                    <a:solidFill>
                      <a:srgbClr val="FFFFFF"/>
                    </a:solidFill>
                  </a:tcPr>
                </a:tc>
                <a:tc>
                  <a:txBody>
                    <a:bodyPr/>
                    <a:lstStyle/>
                    <a:p>
                      <a:pPr algn="ctr">
                        <a:defRPr sz="1200" b="0">
                          <a:solidFill>
                            <a:srgbClr val="01203C"/>
                          </a:solidFill>
                          <a:latin typeface="Microsoft YaHei"/>
                        </a:defRPr>
                      </a:pPr>
                      <a:r>
                        <a:t>第二十八条</a:t>
                      </a:r>
                    </a:p>
                  </a:txBody>
                  <a:tcPr anchor="ctr" marL="32004" marR="32004" marT="16459" marB="16459">
                    <a:solidFill>
                      <a:srgbClr val="FFFFFF"/>
                    </a:solidFill>
                  </a:tcPr>
                </a:tc>
                <a:tc>
                  <a:txBody>
                    <a:bodyPr/>
                    <a:lstStyle/>
                    <a:p>
                      <a:pPr algn="ctr">
                        <a:defRPr sz="1200" b="0">
                          <a:solidFill>
                            <a:srgbClr val="01203C"/>
                          </a:solidFill>
                          <a:latin typeface="Microsoft YaHei"/>
                        </a:defRPr>
                      </a:pPr>
                      <a:r>
                        <a:t>依法应当编制水土保持方案的建设项目，其生产建设活动中排弃的砂、石、土、矸石。</a:t>
                      </a:r>
                    </a:p>
                  </a:txBody>
                  <a:tcPr anchor="ctr" marL="32004" marR="32004" marT="16459" marB="16459">
                    <a:solidFill>
                      <a:srgbClr val="FFFFFF"/>
                    </a:solidFill>
                  </a:tcPr>
                </a:tc>
                <a:tc>
                  <a:txBody>
                    <a:bodyPr/>
                    <a:lstStyle/>
                    <a:p>
                      <a:pPr algn="ctr">
                        <a:defRPr sz="1200" b="0">
                          <a:solidFill>
                            <a:srgbClr val="01203C"/>
                          </a:solidFill>
                          <a:latin typeface="Microsoft YaHei"/>
                        </a:defRPr>
                      </a:pPr>
                      <a:r>
                        <a:t>本项目总挖方4971.61m³（其中表土剥离79.5m³）。</a:t>
                      </a:r>
                    </a:p>
                  </a:txBody>
                  <a:tcPr anchor="ctr" marL="32004" marR="32004" marT="16459" marB="16459">
                    <a:solidFill>
                      <a:srgbClr val="FFFFFF"/>
                    </a:solidFill>
                  </a:tcPr>
                </a:tc>
              </a:tr>
              <a:tr h="493775">
                <a:tc>
                  <a:txBody>
                    <a:bodyPr/>
                    <a:lstStyle/>
                    <a:p>
                      <a:pPr algn="ctr">
                        <a:defRPr sz="1200" b="0">
                          <a:solidFill>
                            <a:srgbClr val="01203C"/>
                          </a:solidFill>
                          <a:latin typeface="Microsoft YaHei"/>
                        </a:defRPr>
                      </a:pPr>
                      <a:r>
                        <a:t>6</a:t>
                      </a:r>
                    </a:p>
                  </a:txBody>
                  <a:tcPr anchor="ctr" marL="32004" marR="32004" marT="16459" marB="16459">
                    <a:solidFill>
                      <a:srgbClr val="FFFFFF"/>
                    </a:solidFill>
                  </a:tcPr>
                </a:tc>
                <a:tc>
                  <a:txBody>
                    <a:bodyPr/>
                    <a:lstStyle/>
                    <a:p>
                      <a:pPr algn="ctr">
                        <a:defRPr sz="1200" b="0">
                          <a:solidFill>
                            <a:srgbClr val="01203C"/>
                          </a:solidFill>
                          <a:latin typeface="Microsoft YaHei"/>
                        </a:defRPr>
                      </a:pPr>
                      <a:r>
                        <a:t>第三十八条</a:t>
                      </a:r>
                    </a:p>
                  </a:txBody>
                  <a:tcPr anchor="ctr" marL="32004" marR="32004" marT="16459" marB="16459">
                    <a:solidFill>
                      <a:srgbClr val="FFFFFF"/>
                    </a:solidFill>
                  </a:tcPr>
                </a:tc>
                <a:tc>
                  <a:txBody>
                    <a:bodyPr/>
                    <a:lstStyle/>
                    <a:p>
                      <a:pPr algn="ctr">
                        <a:defRPr sz="1200" b="0">
                          <a:solidFill>
                            <a:srgbClr val="01203C"/>
                          </a:solidFill>
                          <a:latin typeface="Microsoft YaHei"/>
                        </a:defRPr>
                      </a:pPr>
                      <a:r>
                        <a:t>对生产建设活动所占用土地的地表土应当进行分层剥离、保存和利用。</a:t>
                      </a:r>
                    </a:p>
                  </a:txBody>
                  <a:tcPr anchor="ctr" marL="32004" marR="32004" marT="16459" marB="16459">
                    <a:solidFill>
                      <a:srgbClr val="FFFFFF"/>
                    </a:solidFill>
                  </a:tcPr>
                </a:tc>
                <a:tc>
                  <a:txBody>
                    <a:bodyPr/>
                    <a:lstStyle/>
                    <a:p>
                      <a:pPr algn="ctr">
                        <a:defRPr sz="1200" b="0">
                          <a:solidFill>
                            <a:srgbClr val="01203C"/>
                          </a:solidFill>
                          <a:latin typeface="Microsoft YaHei"/>
                        </a:defRPr>
                      </a:pPr>
                      <a:r>
                        <a:t>根据现场勘查及查阅资料，场地内存在可剥离的表土，本方案补充了表土剥离措施。</a:t>
                      </a:r>
                    </a:p>
                  </a:txBody>
                  <a:tcPr anchor="ctr" marL="32004" marR="32004" marT="16459" marB="16459">
                    <a:solidFill>
                      <a:srgbClr val="FFFFFF"/>
                    </a:solidFill>
                  </a:tcPr>
                </a:tc>
              </a:tr>
            </a:tbl>
          </a:graphicData>
        </a:graphic>
      </p:graphicFrame>
      <p:sp>
        <p:nvSpPr>
          <p:cNvPr id="7" name="TextBox 6"/>
          <p:cNvSpPr txBox="1"/>
          <p:nvPr/>
        </p:nvSpPr>
        <p:spPr>
          <a:xfrm>
            <a:off x="713232" y="4681728"/>
            <a:ext cx="6583680" cy="493776"/>
          </a:xfrm>
          <a:prstGeom prst="rect">
            <a:avLst/>
          </a:prstGeom>
          <a:noFill/>
        </p:spPr>
        <p:txBody>
          <a:bodyPr wrap="square">
            <a:noAutofit/>
          </a:bodyPr>
          <a:lstStyle/>
          <a:p>
            <a:pPr>
              <a:defRPr sz="1500" b="1">
                <a:solidFill>
                  <a:srgbClr val="4489C8"/>
                </a:solidFill>
                <a:latin typeface="Microsoft YaHei"/>
              </a:defRPr>
            </a:pPr>
            <a:r>
              <a:t>水土保持法制约因素分析与评价结果一览表</a:t>
            </a:r>
          </a:p>
        </p:txBody>
      </p:sp>
      <p:sp>
        <p:nvSpPr>
          <p:cNvPr id="8" name="TextBox 7"/>
          <p:cNvSpPr txBox="1"/>
          <p:nvPr/>
        </p:nvSpPr>
        <p:spPr>
          <a:xfrm>
            <a:off x="713232" y="5138928"/>
            <a:ext cx="10561320" cy="868680"/>
          </a:xfrm>
          <a:prstGeom prst="rect">
            <a:avLst/>
          </a:prstGeom>
          <a:noFill/>
        </p:spPr>
        <p:txBody>
          <a:bodyPr wrap="square">
            <a:noAutofit/>
          </a:bodyPr>
          <a:lstStyle/>
          <a:p>
            <a:pPr>
              <a:spcAft>
                <a:spcPts val="400"/>
              </a:spcAft>
              <a:defRPr sz="1400">
                <a:solidFill>
                  <a:srgbClr val="01203C"/>
                </a:solidFill>
                <a:latin typeface="Microsoft YaHei"/>
              </a:defRPr>
            </a:pPr>
            <a:r>
              <a:t>评价表逐项核对法律法规和技术标准约束，结论用于支撑项目选址与建设方案可行性。</a:t>
            </a:r>
          </a:p>
          <a:p>
            <a:pPr>
              <a:spcAft>
                <a:spcPts val="400"/>
              </a:spcAft>
              <a:defRPr sz="1400">
                <a:solidFill>
                  <a:srgbClr val="01203C"/>
                </a:solidFill>
                <a:latin typeface="Microsoft YaHei"/>
              </a:defRPr>
            </a:pPr>
            <a:r>
              <a:t>项目选址与建设方案未见水土保持法、长江保护法或技术标准禁止性因素。</a:t>
            </a:r>
          </a:p>
          <a:p>
            <a:pPr>
              <a:spcAft>
                <a:spcPts val="400"/>
              </a:spcAft>
              <a:defRPr sz="1400">
                <a:solidFill>
                  <a:srgbClr val="01203C"/>
                </a:solidFill>
                <a:latin typeface="Microsoft YaHei"/>
              </a:defRPr>
            </a:pPr>
            <a:r>
              <a:t>评价结论为土石方、施工组织和措施体系提供前置依据。</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384048" y="182880"/>
            <a:ext cx="10835640" cy="457200"/>
          </a:xfrm>
          <a:prstGeom prst="rect">
            <a:avLst/>
          </a:prstGeom>
          <a:noFill/>
        </p:spPr>
        <p:txBody>
          <a:bodyPr wrap="square">
            <a:noAutofit/>
          </a:bodyPr>
          <a:lstStyle/>
          <a:p>
            <a:pPr>
              <a:defRPr sz="2400" b="1">
                <a:solidFill>
                  <a:srgbClr val="01203C"/>
                </a:solidFill>
                <a:latin typeface="Microsoft YaHei"/>
              </a:defRPr>
            </a:pPr>
            <a:r>
              <a:t>土石方平衡显示弃方委托处置、借方外购</a:t>
            </a:r>
          </a:p>
        </p:txBody>
      </p:sp>
      <p:sp>
        <p:nvSpPr>
          <p:cNvPr id="3" name="TextBox 2"/>
          <p:cNvSpPr txBox="1"/>
          <p:nvPr/>
        </p:nvSpPr>
        <p:spPr>
          <a:xfrm>
            <a:off x="393192" y="621792"/>
            <a:ext cx="6400800" cy="219456"/>
          </a:xfrm>
          <a:prstGeom prst="rect">
            <a:avLst/>
          </a:prstGeom>
          <a:noFill/>
        </p:spPr>
        <p:txBody>
          <a:bodyPr wrap="square">
            <a:noAutofit/>
          </a:bodyPr>
          <a:lstStyle/>
          <a:p>
            <a:pPr>
              <a:defRPr sz="950" b="0">
                <a:solidFill>
                  <a:srgbClr val="4489C8"/>
                </a:solidFill>
                <a:latin typeface="Microsoft YaHei"/>
              </a:defRPr>
            </a:pPr>
            <a:r>
              <a:t>水土保持评价与土石方</a:t>
            </a:r>
          </a:p>
        </p:txBody>
      </p:sp>
      <p:sp>
        <p:nvSpPr>
          <p:cNvPr id="4" name="TextBox 3"/>
          <p:cNvSpPr txBox="1"/>
          <p:nvPr/>
        </p:nvSpPr>
        <p:spPr>
          <a:xfrm>
            <a:off x="10652760" y="603504"/>
            <a:ext cx="640080" cy="182880"/>
          </a:xfrm>
          <a:prstGeom prst="rect">
            <a:avLst/>
          </a:prstGeom>
          <a:noFill/>
        </p:spPr>
        <p:txBody>
          <a:bodyPr wrap="square">
            <a:noAutofit/>
          </a:bodyPr>
          <a:lstStyle/>
          <a:p>
            <a:pPr algn="r">
              <a:defRPr sz="900" b="0">
                <a:solidFill>
                  <a:srgbClr val="566B7F"/>
                </a:solidFill>
                <a:latin typeface="Microsoft YaHei"/>
              </a:defRPr>
            </a:pPr>
            <a:r>
              <a:t>16</a:t>
            </a:r>
          </a:p>
        </p:txBody>
      </p:sp>
      <p:sp>
        <p:nvSpPr>
          <p:cNvPr id="5" name="Rectangle 4"/>
          <p:cNvSpPr/>
          <p:nvPr/>
        </p:nvSpPr>
        <p:spPr>
          <a:xfrm>
            <a:off x="384048" y="804672"/>
            <a:ext cx="10826496" cy="13716"/>
          </a:xfrm>
          <a:prstGeom prst="rect">
            <a:avLst/>
          </a:prstGeom>
          <a:solidFill>
            <a:srgbClr val="448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060704"/>
          <a:ext cx="7315200" cy="4617718"/>
        </p:xfrm>
        <a:graphic>
          <a:graphicData uri="http://schemas.openxmlformats.org/drawingml/2006/table">
            <a:tbl>
              <a:tblPr firstRow="1" bandRow="1">
                <a:tableStyleId>{5C22544A-7EE6-4342-B048-85BDC9FD1C3A}</a:tableStyleId>
              </a:tblPr>
              <a:tblGrid>
                <a:gridCol w="1828800"/>
                <a:gridCol w="1828800"/>
                <a:gridCol w="1828800"/>
                <a:gridCol w="1828800"/>
              </a:tblGrid>
              <a:tr h="659674">
                <a:tc>
                  <a:txBody>
                    <a:bodyPr/>
                    <a:lstStyle/>
                    <a:p>
                      <a:pPr algn="ctr">
                        <a:defRPr sz="1200" b="1">
                          <a:solidFill>
                            <a:srgbClr val="01203C"/>
                          </a:solidFill>
                          <a:latin typeface="Microsoft YaHei"/>
                        </a:defRPr>
                      </a:pPr>
                      <a:r>
                        <a:t>序号</a:t>
                      </a:r>
                    </a:p>
                  </a:txBody>
                  <a:tcPr anchor="ctr" marL="36576" marR="36576" marT="18288" marB="18288">
                    <a:solidFill>
                      <a:srgbClr val="EAF2F8"/>
                    </a:solidFill>
                  </a:tcPr>
                </a:tc>
                <a:tc>
                  <a:txBody>
                    <a:bodyPr/>
                    <a:lstStyle/>
                    <a:p>
                      <a:pPr algn="ctr">
                        <a:defRPr sz="1200" b="1">
                          <a:solidFill>
                            <a:srgbClr val="01203C"/>
                          </a:solidFill>
                          <a:latin typeface="Microsoft YaHei"/>
                        </a:defRPr>
                      </a:pPr>
                      <a:r>
                        <a:t>工程分区</a:t>
                      </a:r>
                    </a:p>
                  </a:txBody>
                  <a:tcPr anchor="ctr" marL="36576" marR="36576" marT="18288" marB="18288">
                    <a:solidFill>
                      <a:srgbClr val="EAF2F8"/>
                    </a:solidFill>
                  </a:tcPr>
                </a:tc>
                <a:tc>
                  <a:txBody>
                    <a:bodyPr/>
                    <a:lstStyle/>
                    <a:p>
                      <a:pPr algn="ctr">
                        <a:defRPr sz="1200" b="1">
                          <a:solidFill>
                            <a:srgbClr val="01203C"/>
                          </a:solidFill>
                          <a:latin typeface="Microsoft YaHei"/>
                        </a:defRPr>
                      </a:pPr>
                      <a:r>
                        <a:t>项目</a:t>
                      </a:r>
                    </a:p>
                  </a:txBody>
                  <a:tcPr anchor="ctr" marL="36576" marR="36576" marT="18288" marB="18288">
                    <a:solidFill>
                      <a:srgbClr val="EAF2F8"/>
                    </a:solidFill>
                  </a:tcPr>
                </a:tc>
                <a:tc>
                  <a:txBody>
                    <a:bodyPr/>
                    <a:lstStyle/>
                    <a:p>
                      <a:pPr algn="ctr">
                        <a:defRPr sz="1200" b="1">
                          <a:solidFill>
                            <a:srgbClr val="01203C"/>
                          </a:solidFill>
                          <a:latin typeface="Microsoft YaHei"/>
                        </a:defRPr>
                      </a:pPr>
                      <a:r>
                        <a:t>开挖量</a:t>
                      </a:r>
                    </a:p>
                  </a:txBody>
                  <a:tcPr anchor="ctr" marL="36576" marR="36576" marT="18288" marB="18288">
                    <a:solidFill>
                      <a:srgbClr val="EAF2F8"/>
                    </a:solidFill>
                  </a:tcPr>
                </a:tc>
              </a:tr>
              <a:tr h="659674">
                <a:tc>
                  <a:txBody>
                    <a:bodyPr/>
                    <a:lstStyle/>
                    <a:p>
                      <a:pPr algn="ctr">
                        <a:defRPr sz="1200">
                          <a:solidFill>
                            <a:srgbClr val="01203C"/>
                          </a:solidFill>
                          <a:latin typeface="Microsoft YaHei"/>
                        </a:defRPr>
                      </a:pPr>
                      <a:r>
                        <a:t>1</a:t>
                      </a:r>
                    </a:p>
                  </a:txBody>
                  <a:tcPr anchor="ctr" marL="36576" marR="36576" marT="18288" marB="18288">
                    <a:solidFill>
                      <a:srgbClr val="FFFFFF"/>
                    </a:solidFill>
                  </a:tcPr>
                </a:tc>
                <a:tc>
                  <a:txBody>
                    <a:bodyPr/>
                    <a:lstStyle/>
                    <a:p>
                      <a:pPr algn="ctr">
                        <a:defRPr sz="1200">
                          <a:solidFill>
                            <a:srgbClr val="01203C"/>
                          </a:solidFill>
                          <a:latin typeface="Microsoft YaHei"/>
                        </a:defRPr>
                      </a:pPr>
                      <a:r>
                        <a:t>管网工程区</a:t>
                      </a:r>
                    </a:p>
                  </a:txBody>
                  <a:tcPr anchor="ctr" marL="36576" marR="36576" marT="18288" marB="18288">
                    <a:solidFill>
                      <a:srgbClr val="FFFFFF"/>
                    </a:solidFill>
                  </a:tcPr>
                </a:tc>
                <a:tc>
                  <a:txBody>
                    <a:bodyPr/>
                    <a:lstStyle/>
                    <a:p>
                      <a:pPr algn="ctr">
                        <a:defRPr sz="1200">
                          <a:solidFill>
                            <a:srgbClr val="01203C"/>
                          </a:solidFill>
                          <a:latin typeface="Microsoft YaHei"/>
                        </a:defRPr>
                      </a:pPr>
                      <a:r>
                        <a:t>表土剥离</a:t>
                      </a:r>
                    </a:p>
                  </a:txBody>
                  <a:tcPr anchor="ctr" marL="36576" marR="36576" marT="18288" marB="18288">
                    <a:solidFill>
                      <a:srgbClr val="FFFFFF"/>
                    </a:solidFill>
                  </a:tcPr>
                </a:tc>
                <a:tc>
                  <a:txBody>
                    <a:bodyPr/>
                    <a:lstStyle/>
                    <a:p>
                      <a:pPr algn="ctr">
                        <a:defRPr sz="1200">
                          <a:solidFill>
                            <a:srgbClr val="01203C"/>
                          </a:solidFill>
                          <a:latin typeface="Microsoft YaHei"/>
                        </a:defRPr>
                      </a:pPr>
                      <a:r>
                        <a:t>79.5</a:t>
                      </a:r>
                    </a:p>
                  </a:txBody>
                  <a:tcPr anchor="ctr" marL="36576" marR="36576" marT="18288" marB="18288">
                    <a:solidFill>
                      <a:srgbClr val="FFFFFF"/>
                    </a:solidFill>
                  </a:tcPr>
                </a:tc>
              </a:tr>
              <a:tr h="659674">
                <a:tc>
                  <a:txBody>
                    <a:bodyPr/>
                    <a:lstStyle/>
                    <a:p>
                      <a:pPr algn="ctr">
                        <a:defRPr sz="1200">
                          <a:solidFill>
                            <a:srgbClr val="01203C"/>
                          </a:solidFill>
                          <a:latin typeface="Microsoft YaHei"/>
                        </a:defRPr>
                      </a:pPr>
                      <a:r>
                        <a:t>2</a:t>
                      </a:r>
                    </a:p>
                  </a:txBody>
                  <a:tcPr anchor="ctr" marL="36576" marR="36576" marT="18288" marB="18288">
                    <a:solidFill>
                      <a:srgbClr val="FFFFFF"/>
                    </a:solidFill>
                  </a:tcPr>
                </a:tc>
                <a:tc>
                  <a:txBody>
                    <a:bodyPr/>
                    <a:lstStyle/>
                    <a:p>
                      <a:pPr algn="ctr">
                        <a:defRPr sz="1200">
                          <a:solidFill>
                            <a:srgbClr val="01203C"/>
                          </a:solidFill>
                          <a:latin typeface="Microsoft YaHei"/>
                        </a:defRPr>
                      </a:pPr>
                    </a:p>
                  </a:txBody>
                  <a:tcPr anchor="ctr" marL="36576" marR="36576" marT="18288" marB="18288">
                    <a:solidFill>
                      <a:srgbClr val="FFFFFF"/>
                    </a:solidFill>
                  </a:tcPr>
                </a:tc>
                <a:tc>
                  <a:txBody>
                    <a:bodyPr/>
                    <a:lstStyle/>
                    <a:p>
                      <a:pPr algn="ctr">
                        <a:defRPr sz="1200">
                          <a:solidFill>
                            <a:srgbClr val="01203C"/>
                          </a:solidFill>
                          <a:latin typeface="Microsoft YaHei"/>
                        </a:defRPr>
                      </a:pPr>
                      <a:r>
                        <a:t>表土回覆</a:t>
                      </a:r>
                    </a:p>
                  </a:txBody>
                  <a:tcPr anchor="ctr" marL="36576" marR="36576" marT="18288" marB="18288">
                    <a:solidFill>
                      <a:srgbClr val="FFFFFF"/>
                    </a:solidFill>
                  </a:tcPr>
                </a:tc>
                <a:tc>
                  <a:txBody>
                    <a:bodyPr/>
                    <a:lstStyle/>
                    <a:p>
                      <a:pPr algn="ctr">
                        <a:defRPr sz="1200">
                          <a:solidFill>
                            <a:srgbClr val="01203C"/>
                          </a:solidFill>
                          <a:latin typeface="Microsoft YaHei"/>
                        </a:defRPr>
                      </a:pPr>
                    </a:p>
                  </a:txBody>
                  <a:tcPr anchor="ctr" marL="36576" marR="36576" marT="18288" marB="18288">
                    <a:solidFill>
                      <a:srgbClr val="FFFFFF"/>
                    </a:solidFill>
                  </a:tcPr>
                </a:tc>
              </a:tr>
              <a:tr h="659674">
                <a:tc>
                  <a:txBody>
                    <a:bodyPr/>
                    <a:lstStyle/>
                    <a:p>
                      <a:pPr algn="ctr">
                        <a:defRPr sz="1200">
                          <a:solidFill>
                            <a:srgbClr val="01203C"/>
                          </a:solidFill>
                          <a:latin typeface="Microsoft YaHei"/>
                        </a:defRPr>
                      </a:pPr>
                      <a:r>
                        <a:t>3</a:t>
                      </a:r>
                    </a:p>
                  </a:txBody>
                  <a:tcPr anchor="ctr" marL="36576" marR="36576" marT="18288" marB="18288">
                    <a:solidFill>
                      <a:srgbClr val="FFFFFF"/>
                    </a:solidFill>
                  </a:tcPr>
                </a:tc>
                <a:tc>
                  <a:txBody>
                    <a:bodyPr/>
                    <a:lstStyle/>
                    <a:p>
                      <a:pPr algn="ctr">
                        <a:defRPr sz="1200">
                          <a:solidFill>
                            <a:srgbClr val="01203C"/>
                          </a:solidFill>
                          <a:latin typeface="Microsoft YaHei"/>
                        </a:defRPr>
                      </a:pPr>
                    </a:p>
                  </a:txBody>
                  <a:tcPr anchor="ctr" marL="36576" marR="36576" marT="18288" marB="18288">
                    <a:solidFill>
                      <a:srgbClr val="FFFFFF"/>
                    </a:solidFill>
                  </a:tcPr>
                </a:tc>
                <a:tc>
                  <a:txBody>
                    <a:bodyPr/>
                    <a:lstStyle/>
                    <a:p>
                      <a:pPr algn="ctr">
                        <a:defRPr sz="1200">
                          <a:solidFill>
                            <a:srgbClr val="01203C"/>
                          </a:solidFill>
                          <a:latin typeface="Microsoft YaHei"/>
                        </a:defRPr>
                      </a:pPr>
                      <a:r>
                        <a:t>基础土方开挖</a:t>
                      </a:r>
                    </a:p>
                  </a:txBody>
                  <a:tcPr anchor="ctr" marL="36576" marR="36576" marT="18288" marB="18288">
                    <a:solidFill>
                      <a:srgbClr val="FFFFFF"/>
                    </a:solidFill>
                  </a:tcPr>
                </a:tc>
                <a:tc>
                  <a:txBody>
                    <a:bodyPr/>
                    <a:lstStyle/>
                    <a:p>
                      <a:pPr algn="ctr">
                        <a:defRPr sz="1200">
                          <a:solidFill>
                            <a:srgbClr val="01203C"/>
                          </a:solidFill>
                          <a:latin typeface="Microsoft YaHei"/>
                        </a:defRPr>
                      </a:pPr>
                      <a:r>
                        <a:t>2977.11</a:t>
                      </a:r>
                    </a:p>
                  </a:txBody>
                  <a:tcPr anchor="ctr" marL="36576" marR="36576" marT="18288" marB="18288">
                    <a:solidFill>
                      <a:srgbClr val="FFFFFF"/>
                    </a:solidFill>
                  </a:tcPr>
                </a:tc>
              </a:tr>
              <a:tr h="659674">
                <a:tc>
                  <a:txBody>
                    <a:bodyPr/>
                    <a:lstStyle/>
                    <a:p>
                      <a:pPr algn="ctr">
                        <a:defRPr sz="1200">
                          <a:solidFill>
                            <a:srgbClr val="01203C"/>
                          </a:solidFill>
                          <a:latin typeface="Microsoft YaHei"/>
                        </a:defRPr>
                      </a:pPr>
                      <a:r>
                        <a:t>4</a:t>
                      </a:r>
                    </a:p>
                  </a:txBody>
                  <a:tcPr anchor="ctr" marL="36576" marR="36576" marT="18288" marB="18288">
                    <a:solidFill>
                      <a:srgbClr val="FFFFFF"/>
                    </a:solidFill>
                  </a:tcPr>
                </a:tc>
                <a:tc>
                  <a:txBody>
                    <a:bodyPr/>
                    <a:lstStyle/>
                    <a:p>
                      <a:pPr algn="ctr">
                        <a:defRPr sz="1200">
                          <a:solidFill>
                            <a:srgbClr val="01203C"/>
                          </a:solidFill>
                          <a:latin typeface="Microsoft YaHei"/>
                        </a:defRPr>
                      </a:pPr>
                    </a:p>
                  </a:txBody>
                  <a:tcPr anchor="ctr" marL="36576" marR="36576" marT="18288" marB="18288">
                    <a:solidFill>
                      <a:srgbClr val="FFFFFF"/>
                    </a:solidFill>
                  </a:tcPr>
                </a:tc>
                <a:tc>
                  <a:txBody>
                    <a:bodyPr/>
                    <a:lstStyle/>
                    <a:p>
                      <a:pPr algn="ctr">
                        <a:defRPr sz="1200">
                          <a:solidFill>
                            <a:srgbClr val="01203C"/>
                          </a:solidFill>
                          <a:latin typeface="Microsoft YaHei"/>
                        </a:defRPr>
                      </a:pPr>
                      <a:r>
                        <a:t>基础土方回填</a:t>
                      </a:r>
                    </a:p>
                  </a:txBody>
                  <a:tcPr anchor="ctr" marL="36576" marR="36576" marT="18288" marB="18288">
                    <a:solidFill>
                      <a:srgbClr val="FFFFFF"/>
                    </a:solidFill>
                  </a:tcPr>
                </a:tc>
                <a:tc>
                  <a:txBody>
                    <a:bodyPr/>
                    <a:lstStyle/>
                    <a:p>
                      <a:pPr algn="ctr">
                        <a:defRPr sz="1200">
                          <a:solidFill>
                            <a:srgbClr val="01203C"/>
                          </a:solidFill>
                          <a:latin typeface="Microsoft YaHei"/>
                        </a:defRPr>
                      </a:pPr>
                    </a:p>
                  </a:txBody>
                  <a:tcPr anchor="ctr" marL="36576" marR="36576" marT="18288" marB="18288">
                    <a:solidFill>
                      <a:srgbClr val="FFFFFF"/>
                    </a:solidFill>
                  </a:tcPr>
                </a:tc>
              </a:tr>
              <a:tr h="659674">
                <a:tc>
                  <a:txBody>
                    <a:bodyPr/>
                    <a:lstStyle/>
                    <a:p>
                      <a:pPr algn="ctr">
                        <a:defRPr sz="1200">
                          <a:solidFill>
                            <a:srgbClr val="01203C"/>
                          </a:solidFill>
                          <a:latin typeface="Microsoft YaHei"/>
                        </a:defRPr>
                      </a:pPr>
                      <a:r>
                        <a:t>6</a:t>
                      </a:r>
                    </a:p>
                  </a:txBody>
                  <a:tcPr anchor="ctr" marL="36576" marR="36576" marT="18288" marB="18288">
                    <a:solidFill>
                      <a:srgbClr val="FFFFFF"/>
                    </a:solidFill>
                  </a:tcPr>
                </a:tc>
                <a:tc>
                  <a:txBody>
                    <a:bodyPr/>
                    <a:lstStyle/>
                    <a:p>
                      <a:pPr algn="ctr">
                        <a:defRPr sz="1200">
                          <a:solidFill>
                            <a:srgbClr val="01203C"/>
                          </a:solidFill>
                          <a:latin typeface="Microsoft YaHei"/>
                        </a:defRPr>
                      </a:pPr>
                    </a:p>
                  </a:txBody>
                  <a:tcPr anchor="ctr" marL="36576" marR="36576" marT="18288" marB="18288">
                    <a:solidFill>
                      <a:srgbClr val="FFFFFF"/>
                    </a:solidFill>
                  </a:tcPr>
                </a:tc>
                <a:tc>
                  <a:txBody>
                    <a:bodyPr/>
                    <a:lstStyle/>
                    <a:p>
                      <a:pPr algn="ctr">
                        <a:defRPr sz="1200">
                          <a:solidFill>
                            <a:srgbClr val="01203C"/>
                          </a:solidFill>
                          <a:latin typeface="Microsoft YaHei"/>
                        </a:defRPr>
                      </a:pPr>
                      <a:r>
                        <a:t>道路破除</a:t>
                      </a:r>
                    </a:p>
                  </a:txBody>
                  <a:tcPr anchor="ctr" marL="36576" marR="36576" marT="18288" marB="18288">
                    <a:solidFill>
                      <a:srgbClr val="FFFFFF"/>
                    </a:solidFill>
                  </a:tcPr>
                </a:tc>
                <a:tc>
                  <a:txBody>
                    <a:bodyPr/>
                    <a:lstStyle/>
                    <a:p>
                      <a:pPr algn="ctr">
                        <a:defRPr sz="1200">
                          <a:solidFill>
                            <a:srgbClr val="01203C"/>
                          </a:solidFill>
                          <a:latin typeface="Microsoft YaHei"/>
                        </a:defRPr>
                      </a:pPr>
                      <a:r>
                        <a:t>1560</a:t>
                      </a:r>
                    </a:p>
                  </a:txBody>
                  <a:tcPr anchor="ctr" marL="36576" marR="36576" marT="18288" marB="18288">
                    <a:solidFill>
                      <a:srgbClr val="FFFFFF"/>
                    </a:solidFill>
                  </a:tcPr>
                </a:tc>
              </a:tr>
              <a:tr h="659674">
                <a:tc>
                  <a:txBody>
                    <a:bodyPr/>
                    <a:lstStyle/>
                    <a:p>
                      <a:pPr algn="ctr">
                        <a:defRPr sz="1200">
                          <a:solidFill>
                            <a:srgbClr val="01203C"/>
                          </a:solidFill>
                          <a:latin typeface="Microsoft YaHei"/>
                        </a:defRPr>
                      </a:pPr>
                      <a:r>
                        <a:t>8</a:t>
                      </a:r>
                    </a:p>
                  </a:txBody>
                  <a:tcPr anchor="ctr" marL="36576" marR="36576" marT="18288" marB="18288">
                    <a:solidFill>
                      <a:srgbClr val="FFFFFF"/>
                    </a:solidFill>
                  </a:tcPr>
                </a:tc>
                <a:tc>
                  <a:txBody>
                    <a:bodyPr/>
                    <a:lstStyle/>
                    <a:p>
                      <a:pPr algn="ctr">
                        <a:defRPr sz="1200">
                          <a:solidFill>
                            <a:srgbClr val="01203C"/>
                          </a:solidFill>
                          <a:latin typeface="Microsoft YaHei"/>
                        </a:defRPr>
                      </a:pPr>
                    </a:p>
                  </a:txBody>
                  <a:tcPr anchor="ctr" marL="36576" marR="36576" marT="18288" marB="18288">
                    <a:solidFill>
                      <a:srgbClr val="FFFFFF"/>
                    </a:solidFill>
                  </a:tcPr>
                </a:tc>
                <a:tc>
                  <a:txBody>
                    <a:bodyPr/>
                    <a:lstStyle/>
                    <a:p>
                      <a:pPr algn="ctr">
                        <a:defRPr sz="1200">
                          <a:solidFill>
                            <a:srgbClr val="01203C"/>
                          </a:solidFill>
                          <a:latin typeface="Microsoft YaHei"/>
                        </a:defRPr>
                      </a:pPr>
                      <a:r>
                        <a:t>清淤土方</a:t>
                      </a:r>
                    </a:p>
                  </a:txBody>
                  <a:tcPr anchor="ctr" marL="36576" marR="36576" marT="18288" marB="18288">
                    <a:solidFill>
                      <a:srgbClr val="FFFFFF"/>
                    </a:solidFill>
                  </a:tcPr>
                </a:tc>
                <a:tc>
                  <a:txBody>
                    <a:bodyPr/>
                    <a:lstStyle/>
                    <a:p>
                      <a:pPr algn="ctr">
                        <a:defRPr sz="1200">
                          <a:solidFill>
                            <a:srgbClr val="01203C"/>
                          </a:solidFill>
                          <a:latin typeface="Microsoft YaHei"/>
                        </a:defRPr>
                      </a:pPr>
                      <a:r>
                        <a:t>355</a:t>
                      </a:r>
                    </a:p>
                  </a:txBody>
                  <a:tcPr anchor="ctr" marL="36576" marR="36576" marT="18288" marB="18288">
                    <a:solidFill>
                      <a:srgbClr val="FFFFFF"/>
                    </a:solidFill>
                  </a:tcPr>
                </a:tc>
              </a:tr>
            </a:tbl>
          </a:graphicData>
        </a:graphic>
      </p:graphicFrame>
      <p:sp>
        <p:nvSpPr>
          <p:cNvPr id="7" name="TextBox 6"/>
          <p:cNvSpPr txBox="1"/>
          <p:nvPr/>
        </p:nvSpPr>
        <p:spPr>
          <a:xfrm>
            <a:off x="8183879" y="1115568"/>
            <a:ext cx="3063240" cy="438912"/>
          </a:xfrm>
          <a:prstGeom prst="rect">
            <a:avLst/>
          </a:prstGeom>
          <a:noFill/>
        </p:spPr>
        <p:txBody>
          <a:bodyPr wrap="square">
            <a:noAutofit/>
          </a:bodyPr>
          <a:lstStyle/>
          <a:p>
            <a:pPr>
              <a:defRPr sz="1500" b="1">
                <a:solidFill>
                  <a:srgbClr val="4489C8"/>
                </a:solidFill>
                <a:latin typeface="Microsoft YaHei"/>
              </a:defRPr>
            </a:pPr>
            <a:r>
              <a:t>工程土石方平衡表 单位：m³</a:t>
            </a:r>
          </a:p>
        </p:txBody>
      </p:sp>
      <p:sp>
        <p:nvSpPr>
          <p:cNvPr id="8" name="TextBox 7"/>
          <p:cNvSpPr txBox="1"/>
          <p:nvPr/>
        </p:nvSpPr>
        <p:spPr>
          <a:xfrm>
            <a:off x="8183879" y="1719072"/>
            <a:ext cx="2880360" cy="3611880"/>
          </a:xfrm>
          <a:prstGeom prst="rect">
            <a:avLst/>
          </a:prstGeom>
          <a:noFill/>
        </p:spPr>
        <p:txBody>
          <a:bodyPr wrap="square">
            <a:noAutofit/>
          </a:bodyPr>
          <a:lstStyle/>
          <a:p>
            <a:pPr>
              <a:spcAft>
                <a:spcPts val="400"/>
              </a:spcAft>
              <a:defRPr sz="1400">
                <a:solidFill>
                  <a:srgbClr val="01203C"/>
                </a:solidFill>
                <a:latin typeface="Microsoft YaHei"/>
              </a:defRPr>
            </a:pPr>
            <a:r>
              <a:t>土石方平衡表说明开挖、回填、借方、弃方的来源去向。</a:t>
            </a:r>
          </a:p>
          <a:p>
            <a:pPr>
              <a:spcAft>
                <a:spcPts val="400"/>
              </a:spcAft>
              <a:defRPr sz="1400">
                <a:solidFill>
                  <a:srgbClr val="01203C"/>
                </a:solidFill>
                <a:latin typeface="Microsoft YaHei"/>
              </a:defRPr>
            </a:pPr>
            <a:r>
              <a:t>弃方委托处置、借方外购的口径需要与施工组织和临时防护措施相互印证。</a:t>
            </a:r>
          </a:p>
          <a:p>
            <a:pPr>
              <a:spcAft>
                <a:spcPts val="400"/>
              </a:spcAft>
              <a:defRPr sz="1400">
                <a:solidFill>
                  <a:srgbClr val="01203C"/>
                </a:solidFill>
                <a:latin typeface="Microsoft YaHei"/>
              </a:defRPr>
            </a:pPr>
            <a:r>
              <a:t>土方流向、临时堆放防护和运输管理构成施工期水土流失控制重点。</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384048" y="182880"/>
            <a:ext cx="10835640" cy="457200"/>
          </a:xfrm>
          <a:prstGeom prst="rect">
            <a:avLst/>
          </a:prstGeom>
          <a:noFill/>
        </p:spPr>
        <p:txBody>
          <a:bodyPr wrap="square">
            <a:noAutofit/>
          </a:bodyPr>
          <a:lstStyle/>
          <a:p>
            <a:pPr>
              <a:defRPr sz="2400" b="1">
                <a:solidFill>
                  <a:srgbClr val="01203C"/>
                </a:solidFill>
                <a:latin typeface="Microsoft YaHei"/>
              </a:defRPr>
            </a:pPr>
            <a:r>
              <a:t>主体工程已列水保措施以土地整治和铺种草皮为主</a:t>
            </a:r>
          </a:p>
        </p:txBody>
      </p:sp>
      <p:sp>
        <p:nvSpPr>
          <p:cNvPr id="3" name="TextBox 2"/>
          <p:cNvSpPr txBox="1"/>
          <p:nvPr/>
        </p:nvSpPr>
        <p:spPr>
          <a:xfrm>
            <a:off x="393192" y="621792"/>
            <a:ext cx="6400800" cy="219456"/>
          </a:xfrm>
          <a:prstGeom prst="rect">
            <a:avLst/>
          </a:prstGeom>
          <a:noFill/>
        </p:spPr>
        <p:txBody>
          <a:bodyPr wrap="square">
            <a:noAutofit/>
          </a:bodyPr>
          <a:lstStyle/>
          <a:p>
            <a:pPr>
              <a:defRPr sz="950" b="0">
                <a:solidFill>
                  <a:srgbClr val="4489C8"/>
                </a:solidFill>
                <a:latin typeface="Microsoft YaHei"/>
              </a:defRPr>
            </a:pPr>
            <a:r>
              <a:t>水土保持评价与土石方</a:t>
            </a:r>
          </a:p>
        </p:txBody>
      </p:sp>
      <p:sp>
        <p:nvSpPr>
          <p:cNvPr id="4" name="TextBox 3"/>
          <p:cNvSpPr txBox="1"/>
          <p:nvPr/>
        </p:nvSpPr>
        <p:spPr>
          <a:xfrm>
            <a:off x="10652760" y="603504"/>
            <a:ext cx="640080" cy="182880"/>
          </a:xfrm>
          <a:prstGeom prst="rect">
            <a:avLst/>
          </a:prstGeom>
          <a:noFill/>
        </p:spPr>
        <p:txBody>
          <a:bodyPr wrap="square">
            <a:noAutofit/>
          </a:bodyPr>
          <a:lstStyle/>
          <a:p>
            <a:pPr algn="r">
              <a:defRPr sz="900" b="0">
                <a:solidFill>
                  <a:srgbClr val="566B7F"/>
                </a:solidFill>
                <a:latin typeface="Microsoft YaHei"/>
              </a:defRPr>
            </a:pPr>
            <a:r>
              <a:t>17</a:t>
            </a:r>
          </a:p>
        </p:txBody>
      </p:sp>
      <p:sp>
        <p:nvSpPr>
          <p:cNvPr id="5" name="Rectangle 4"/>
          <p:cNvSpPr/>
          <p:nvPr/>
        </p:nvSpPr>
        <p:spPr>
          <a:xfrm>
            <a:off x="384048" y="804672"/>
            <a:ext cx="10826496" cy="13716"/>
          </a:xfrm>
          <a:prstGeom prst="rect">
            <a:avLst/>
          </a:prstGeom>
          <a:solidFill>
            <a:srgbClr val="448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060704"/>
          <a:ext cx="11064237" cy="3456425"/>
        </p:xfrm>
        <a:graphic>
          <a:graphicData uri="http://schemas.openxmlformats.org/drawingml/2006/table">
            <a:tbl>
              <a:tblPr firstRow="1" bandRow="1">
                <a:tableStyleId>{5C22544A-7EE6-4342-B048-85BDC9FD1C3A}</a:tableStyleId>
              </a:tblPr>
              <a:tblGrid>
                <a:gridCol w="1279018"/>
                <a:gridCol w="2151077"/>
                <a:gridCol w="782430"/>
                <a:gridCol w="1150632"/>
                <a:gridCol w="1345634"/>
                <a:gridCol w="1466753"/>
                <a:gridCol w="2888693"/>
              </a:tblGrid>
              <a:tr h="493775">
                <a:tc>
                  <a:txBody>
                    <a:bodyPr/>
                    <a:lstStyle/>
                    <a:p>
                      <a:pPr algn="ctr">
                        <a:defRPr sz="1200" b="1">
                          <a:solidFill>
                            <a:srgbClr val="01203C"/>
                          </a:solidFill>
                          <a:latin typeface="Microsoft YaHei"/>
                        </a:defRPr>
                      </a:pPr>
                      <a:r>
                        <a:t>序号</a:t>
                      </a:r>
                    </a:p>
                  </a:txBody>
                  <a:tcPr anchor="ctr" marL="32004" marR="32004" marT="16459" marB="16459">
                    <a:solidFill>
                      <a:srgbClr val="EAF2F8"/>
                    </a:solidFill>
                  </a:tcPr>
                </a:tc>
                <a:tc>
                  <a:txBody>
                    <a:bodyPr/>
                    <a:lstStyle/>
                    <a:p>
                      <a:pPr algn="ctr">
                        <a:defRPr sz="1200" b="1">
                          <a:solidFill>
                            <a:srgbClr val="01203C"/>
                          </a:solidFill>
                          <a:latin typeface="Microsoft YaHei"/>
                        </a:defRPr>
                      </a:pPr>
                      <a:r>
                        <a:t>项目区或措施名称</a:t>
                      </a:r>
                    </a:p>
                  </a:txBody>
                  <a:tcPr anchor="ctr" marL="32004" marR="32004" marT="16459" marB="16459">
                    <a:solidFill>
                      <a:srgbClr val="EAF2F8"/>
                    </a:solidFill>
                  </a:tcPr>
                </a:tc>
                <a:tc>
                  <a:txBody>
                    <a:bodyPr/>
                    <a:lstStyle/>
                    <a:p>
                      <a:pPr algn="ctr">
                        <a:defRPr sz="1200" b="1">
                          <a:solidFill>
                            <a:srgbClr val="01203C"/>
                          </a:solidFill>
                          <a:latin typeface="Microsoft YaHei"/>
                        </a:defRPr>
                      </a:pPr>
                      <a:r>
                        <a:t>单位</a:t>
                      </a:r>
                    </a:p>
                  </a:txBody>
                  <a:tcPr anchor="ctr" marL="32004" marR="32004" marT="16459" marB="16459">
                    <a:solidFill>
                      <a:srgbClr val="EAF2F8"/>
                    </a:solidFill>
                  </a:tcPr>
                </a:tc>
                <a:tc>
                  <a:txBody>
                    <a:bodyPr/>
                    <a:lstStyle/>
                    <a:p>
                      <a:pPr algn="ctr">
                        <a:defRPr sz="1200" b="1">
                          <a:solidFill>
                            <a:srgbClr val="01203C"/>
                          </a:solidFill>
                          <a:latin typeface="Microsoft YaHei"/>
                        </a:defRPr>
                      </a:pPr>
                      <a:r>
                        <a:t>数量</a:t>
                      </a:r>
                    </a:p>
                  </a:txBody>
                  <a:tcPr anchor="ctr" marL="32004" marR="32004" marT="16459" marB="16459">
                    <a:solidFill>
                      <a:srgbClr val="EAF2F8"/>
                    </a:solidFill>
                  </a:tcPr>
                </a:tc>
                <a:tc>
                  <a:txBody>
                    <a:bodyPr/>
                    <a:lstStyle/>
                    <a:p>
                      <a:pPr algn="ctr">
                        <a:defRPr sz="1200" b="1">
                          <a:solidFill>
                            <a:srgbClr val="01203C"/>
                          </a:solidFill>
                          <a:latin typeface="Microsoft YaHei"/>
                        </a:defRPr>
                      </a:pPr>
                      <a:r>
                        <a:t>单价（元）</a:t>
                      </a:r>
                    </a:p>
                  </a:txBody>
                  <a:tcPr anchor="ctr" marL="32004" marR="32004" marT="16459" marB="16459">
                    <a:solidFill>
                      <a:srgbClr val="EAF2F8"/>
                    </a:solidFill>
                  </a:tcPr>
                </a:tc>
                <a:tc>
                  <a:txBody>
                    <a:bodyPr/>
                    <a:lstStyle/>
                    <a:p>
                      <a:pPr algn="ctr">
                        <a:defRPr sz="1200" b="1">
                          <a:solidFill>
                            <a:srgbClr val="01203C"/>
                          </a:solidFill>
                          <a:latin typeface="Microsoft YaHei"/>
                        </a:defRPr>
                      </a:pPr>
                      <a:r>
                        <a:t>合计（万元）</a:t>
                      </a:r>
                    </a:p>
                  </a:txBody>
                  <a:tcPr anchor="ctr" marL="32004" marR="32004" marT="16459" marB="16459">
                    <a:solidFill>
                      <a:srgbClr val="EAF2F8"/>
                    </a:solidFill>
                  </a:tcPr>
                </a:tc>
                <a:tc>
                  <a:txBody>
                    <a:bodyPr/>
                    <a:lstStyle/>
                    <a:p>
                      <a:pPr algn="ctr">
                        <a:defRPr sz="1200" b="1">
                          <a:solidFill>
                            <a:srgbClr val="01203C"/>
                          </a:solidFill>
                          <a:latin typeface="Microsoft YaHei"/>
                        </a:defRPr>
                      </a:pPr>
                      <a:r>
                        <a:t>主体工程已列投资（万元）</a:t>
                      </a:r>
                    </a:p>
                  </a:txBody>
                  <a:tcPr anchor="ctr" marL="32004" marR="32004" marT="16459" marB="16459">
                    <a:solidFill>
                      <a:srgbClr val="EAF2F8"/>
                    </a:solidFill>
                  </a:tcPr>
                </a:tc>
              </a:tr>
              <a:tr h="493775">
                <a:tc gridSpan="6">
                  <a:txBody>
                    <a:bodyPr/>
                    <a:lstStyle/>
                    <a:p>
                      <a:pPr algn="ctr">
                        <a:defRPr sz="1200" b="0">
                          <a:solidFill>
                            <a:srgbClr val="01203C"/>
                          </a:solidFill>
                          <a:latin typeface="Microsoft YaHei"/>
                        </a:defRPr>
                      </a:pPr>
                      <a:r>
                        <a:t>第一部分 工程措施</a:t>
                      </a:r>
                    </a:p>
                  </a:txBody>
                  <a:tcPr anchor="ctr" marL="32004" marR="32004" marT="16459" marB="16459">
                    <a:solidFill>
                      <a:srgbClr val="FFFFFF"/>
                    </a:solidFill>
                  </a:tcPr>
                </a:tc>
                <a:tc hMerge="1">
                  <a:txBody>
                    <a:bodyPr/>
                    <a:lstStyle/>
                    <a:p>
                      <a:pPr algn="ctr">
                        <a:defRPr sz="1200" b="0">
                          <a:solidFill>
                            <a:srgbClr val="01203C"/>
                          </a:solidFill>
                          <a:latin typeface="Microsoft YaHei"/>
                        </a:defRPr>
                      </a:pPr>
                    </a:p>
                  </a:txBody>
                  <a:tcPr anchor="ctr" marL="32004" marR="32004" marT="16459" marB="16459">
                    <a:solidFill>
                      <a:srgbClr val="FFFFFF"/>
                    </a:solidFill>
                  </a:tcPr>
                </a:tc>
                <a:tc hMerge="1">
                  <a:txBody>
                    <a:bodyPr/>
                    <a:lstStyle/>
                    <a:p>
                      <a:pPr algn="ctr">
                        <a:defRPr sz="1200" b="0">
                          <a:solidFill>
                            <a:srgbClr val="01203C"/>
                          </a:solidFill>
                          <a:latin typeface="Microsoft YaHei"/>
                        </a:defRPr>
                      </a:pPr>
                    </a:p>
                  </a:txBody>
                  <a:tcPr anchor="ctr" marL="32004" marR="32004" marT="16459" marB="16459">
                    <a:solidFill>
                      <a:srgbClr val="FFFFFF"/>
                    </a:solidFill>
                  </a:tcPr>
                </a:tc>
                <a:tc hMerge="1">
                  <a:txBody>
                    <a:bodyPr/>
                    <a:lstStyle/>
                    <a:p>
                      <a:pPr algn="ctr">
                        <a:defRPr sz="1200" b="0">
                          <a:solidFill>
                            <a:srgbClr val="01203C"/>
                          </a:solidFill>
                          <a:latin typeface="Microsoft YaHei"/>
                        </a:defRPr>
                      </a:pPr>
                    </a:p>
                  </a:txBody>
                  <a:tcPr anchor="ctr" marL="32004" marR="32004" marT="16459" marB="16459">
                    <a:solidFill>
                      <a:srgbClr val="FFFFFF"/>
                    </a:solidFill>
                  </a:tcPr>
                </a:tc>
                <a:tc hMerge="1">
                  <a:txBody>
                    <a:bodyPr/>
                    <a:lstStyle/>
                    <a:p>
                      <a:pPr algn="ctr">
                        <a:defRPr sz="1200" b="0">
                          <a:solidFill>
                            <a:srgbClr val="01203C"/>
                          </a:solidFill>
                          <a:latin typeface="Microsoft YaHei"/>
                        </a:defRPr>
                      </a:pPr>
                    </a:p>
                  </a:txBody>
                  <a:tcPr anchor="ctr" marL="32004" marR="32004" marT="16459" marB="16459">
                    <a:solidFill>
                      <a:srgbClr val="FFFFFF"/>
                    </a:solidFill>
                  </a:tcPr>
                </a:tc>
                <a:tc hMerge="1">
                  <a:txBody>
                    <a:bodyPr/>
                    <a:lstStyle/>
                    <a:p>
                      <a:pPr algn="ctr">
                        <a:defRPr sz="1200" b="0">
                          <a:solidFill>
                            <a:srgbClr val="01203C"/>
                          </a:solidFill>
                          <a:latin typeface="Microsoft YaHei"/>
                        </a:defRPr>
                      </a:pPr>
                    </a:p>
                  </a:txBody>
                  <a:tcPr anchor="ctr" marL="32004" marR="32004" marT="16459" marB="16459">
                    <a:solidFill>
                      <a:srgbClr val="FFFFFF"/>
                    </a:solidFill>
                  </a:tcPr>
                </a:tc>
                <a:tc>
                  <a:txBody>
                    <a:bodyPr/>
                    <a:lstStyle/>
                    <a:p>
                      <a:pPr algn="ctr">
                        <a:defRPr sz="1200" b="0">
                          <a:solidFill>
                            <a:srgbClr val="01203C"/>
                          </a:solidFill>
                          <a:latin typeface="Microsoft YaHei"/>
                        </a:defRPr>
                      </a:pPr>
                      <a:r>
                        <a:t>0.0196</a:t>
                      </a:r>
                    </a:p>
                  </a:txBody>
                  <a:tcPr anchor="ctr" marL="32004" marR="32004" marT="16459" marB="16459">
                    <a:solidFill>
                      <a:srgbClr val="FFFFFF"/>
                    </a:solidFill>
                  </a:tcPr>
                </a:tc>
              </a:tr>
              <a:tr h="493775">
                <a:tc>
                  <a:txBody>
                    <a:bodyPr/>
                    <a:lstStyle/>
                    <a:p>
                      <a:pPr algn="ctr">
                        <a:defRPr sz="1200" b="0">
                          <a:solidFill>
                            <a:srgbClr val="01203C"/>
                          </a:solidFill>
                          <a:latin typeface="Microsoft YaHei"/>
                        </a:defRPr>
                      </a:pPr>
                      <a:r>
                        <a:t>（一）</a:t>
                      </a:r>
                    </a:p>
                  </a:txBody>
                  <a:tcPr anchor="ctr" marL="32004" marR="32004" marT="16459" marB="16459">
                    <a:solidFill>
                      <a:srgbClr val="FFFFFF"/>
                    </a:solidFill>
                  </a:tcPr>
                </a:tc>
                <a:tc gridSpan="2">
                  <a:txBody>
                    <a:bodyPr/>
                    <a:lstStyle/>
                    <a:p>
                      <a:pPr algn="ctr">
                        <a:defRPr sz="1200" b="0">
                          <a:solidFill>
                            <a:srgbClr val="01203C"/>
                          </a:solidFill>
                          <a:latin typeface="Microsoft YaHei"/>
                        </a:defRPr>
                      </a:pPr>
                      <a:r>
                        <a:t>管网工程区</a:t>
                      </a:r>
                    </a:p>
                  </a:txBody>
                  <a:tcPr anchor="ctr" marL="32004" marR="32004" marT="16459" marB="16459">
                    <a:solidFill>
                      <a:srgbClr val="FFFFFF"/>
                    </a:solidFill>
                  </a:tcPr>
                </a:tc>
                <a:tc hMerge="1">
                  <a:txBody>
                    <a:bodyPr/>
                    <a:lstStyle/>
                    <a:p>
                      <a:pPr algn="ctr">
                        <a:defRPr sz="1200" b="0">
                          <a:solidFill>
                            <a:srgbClr val="01203C"/>
                          </a:solidFill>
                          <a:latin typeface="Microsoft YaHei"/>
                        </a:defRPr>
                      </a:pPr>
                    </a:p>
                  </a:txBody>
                  <a:tcPr anchor="ctr" marL="32004" marR="32004" marT="16459" marB="16459">
                    <a:solidFill>
                      <a:srgbClr val="FFFFFF"/>
                    </a:solidFill>
                  </a:tcPr>
                </a:tc>
                <a:tc>
                  <a:txBody>
                    <a:bodyPr/>
                    <a:lstStyle/>
                    <a:p>
                      <a:pPr algn="ctr">
                        <a:defRPr sz="1200" b="0">
                          <a:solidFill>
                            <a:srgbClr val="01203C"/>
                          </a:solidFill>
                          <a:latin typeface="Microsoft YaHei"/>
                        </a:defRPr>
                      </a:pPr>
                    </a:p>
                  </a:txBody>
                  <a:tcPr anchor="ctr" marL="32004" marR="32004" marT="16459" marB="16459">
                    <a:solidFill>
                      <a:srgbClr val="FFFFFF"/>
                    </a:solidFill>
                  </a:tcPr>
                </a:tc>
                <a:tc>
                  <a:txBody>
                    <a:bodyPr/>
                    <a:lstStyle/>
                    <a:p>
                      <a:pPr algn="ctr">
                        <a:defRPr sz="1200" b="0">
                          <a:solidFill>
                            <a:srgbClr val="01203C"/>
                          </a:solidFill>
                          <a:latin typeface="Microsoft YaHei"/>
                        </a:defRPr>
                      </a:pPr>
                    </a:p>
                  </a:txBody>
                  <a:tcPr anchor="ctr" marL="32004" marR="32004" marT="16459" marB="16459">
                    <a:solidFill>
                      <a:srgbClr val="FFFFFF"/>
                    </a:solidFill>
                  </a:tcPr>
                </a:tc>
                <a:tc>
                  <a:txBody>
                    <a:bodyPr/>
                    <a:lstStyle/>
                    <a:p>
                      <a:pPr algn="ctr">
                        <a:defRPr sz="1200" b="0">
                          <a:solidFill>
                            <a:srgbClr val="01203C"/>
                          </a:solidFill>
                          <a:latin typeface="Microsoft YaHei"/>
                        </a:defRPr>
                      </a:pPr>
                      <a:r>
                        <a:t>0.0196</a:t>
                      </a:r>
                    </a:p>
                  </a:txBody>
                  <a:tcPr anchor="ctr" marL="32004" marR="32004" marT="16459" marB="16459">
                    <a:solidFill>
                      <a:srgbClr val="FFFFFF"/>
                    </a:solidFill>
                  </a:tcPr>
                </a:tc>
                <a:tc>
                  <a:txBody>
                    <a:bodyPr/>
                    <a:lstStyle/>
                    <a:p>
                      <a:pPr algn="ctr">
                        <a:defRPr sz="1200" b="0">
                          <a:solidFill>
                            <a:srgbClr val="01203C"/>
                          </a:solidFill>
                          <a:latin typeface="Microsoft YaHei"/>
                        </a:defRPr>
                      </a:pPr>
                    </a:p>
                  </a:txBody>
                  <a:tcPr anchor="ctr" marL="32004" marR="32004" marT="16459" marB="16459">
                    <a:solidFill>
                      <a:srgbClr val="FFFFFF"/>
                    </a:solidFill>
                  </a:tcPr>
                </a:tc>
              </a:tr>
              <a:tr h="493775">
                <a:tc>
                  <a:txBody>
                    <a:bodyPr/>
                    <a:lstStyle/>
                    <a:p>
                      <a:pPr algn="ctr">
                        <a:defRPr sz="1200" b="0">
                          <a:solidFill>
                            <a:srgbClr val="01203C"/>
                          </a:solidFill>
                          <a:latin typeface="Microsoft YaHei"/>
                        </a:defRPr>
                      </a:pPr>
                      <a:r>
                        <a:t>1</a:t>
                      </a:r>
                    </a:p>
                  </a:txBody>
                  <a:tcPr anchor="ctr" marL="32004" marR="32004" marT="16459" marB="16459">
                    <a:solidFill>
                      <a:srgbClr val="FFFFFF"/>
                    </a:solidFill>
                  </a:tcPr>
                </a:tc>
                <a:tc>
                  <a:txBody>
                    <a:bodyPr/>
                    <a:lstStyle/>
                    <a:p>
                      <a:pPr algn="ctr">
                        <a:defRPr sz="1200" b="0">
                          <a:solidFill>
                            <a:srgbClr val="01203C"/>
                          </a:solidFill>
                          <a:latin typeface="Microsoft YaHei"/>
                        </a:defRPr>
                      </a:pPr>
                      <a:r>
                        <a:t>土地整治</a:t>
                      </a:r>
                    </a:p>
                  </a:txBody>
                  <a:tcPr anchor="ctr" marL="32004" marR="32004" marT="16459" marB="16459">
                    <a:solidFill>
                      <a:srgbClr val="FFFFFF"/>
                    </a:solidFill>
                  </a:tcPr>
                </a:tc>
                <a:tc>
                  <a:txBody>
                    <a:bodyPr/>
                    <a:lstStyle/>
                    <a:p>
                      <a:pPr algn="ctr">
                        <a:defRPr sz="1200" b="0">
                          <a:solidFill>
                            <a:srgbClr val="01203C"/>
                          </a:solidFill>
                          <a:latin typeface="Microsoft YaHei"/>
                        </a:defRPr>
                      </a:pPr>
                      <a:r>
                        <a:t>m²</a:t>
                      </a:r>
                    </a:p>
                  </a:txBody>
                  <a:tcPr anchor="ctr" marL="32004" marR="32004" marT="16459" marB="16459">
                    <a:solidFill>
                      <a:srgbClr val="FFFFFF"/>
                    </a:solidFill>
                  </a:tcPr>
                </a:tc>
                <a:tc>
                  <a:txBody>
                    <a:bodyPr/>
                    <a:lstStyle/>
                    <a:p>
                      <a:pPr algn="ctr">
                        <a:defRPr sz="1200" b="0">
                          <a:solidFill>
                            <a:srgbClr val="01203C"/>
                          </a:solidFill>
                          <a:latin typeface="Microsoft YaHei"/>
                        </a:defRPr>
                      </a:pPr>
                      <a:r>
                        <a:t>265</a:t>
                      </a:r>
                    </a:p>
                  </a:txBody>
                  <a:tcPr anchor="ctr" marL="32004" marR="32004" marT="16459" marB="16459">
                    <a:solidFill>
                      <a:srgbClr val="FFFFFF"/>
                    </a:solidFill>
                  </a:tcPr>
                </a:tc>
                <a:tc>
                  <a:txBody>
                    <a:bodyPr/>
                    <a:lstStyle/>
                    <a:p>
                      <a:pPr algn="ctr">
                        <a:defRPr sz="1200" b="0">
                          <a:solidFill>
                            <a:srgbClr val="01203C"/>
                          </a:solidFill>
                          <a:latin typeface="Microsoft YaHei"/>
                        </a:defRPr>
                      </a:pPr>
                      <a:r>
                        <a:t>0.74</a:t>
                      </a:r>
                    </a:p>
                  </a:txBody>
                  <a:tcPr anchor="ctr" marL="32004" marR="32004" marT="16459" marB="16459">
                    <a:solidFill>
                      <a:srgbClr val="FFFFFF"/>
                    </a:solidFill>
                  </a:tcPr>
                </a:tc>
                <a:tc>
                  <a:txBody>
                    <a:bodyPr/>
                    <a:lstStyle/>
                    <a:p>
                      <a:pPr algn="ctr">
                        <a:defRPr sz="1200" b="0">
                          <a:solidFill>
                            <a:srgbClr val="01203C"/>
                          </a:solidFill>
                          <a:latin typeface="Microsoft YaHei"/>
                        </a:defRPr>
                      </a:pPr>
                      <a:r>
                        <a:t>0.0196</a:t>
                      </a:r>
                    </a:p>
                  </a:txBody>
                  <a:tcPr anchor="ctr" marL="32004" marR="32004" marT="16459" marB="16459">
                    <a:solidFill>
                      <a:srgbClr val="FFFFFF"/>
                    </a:solidFill>
                  </a:tcPr>
                </a:tc>
                <a:tc>
                  <a:txBody>
                    <a:bodyPr/>
                    <a:lstStyle/>
                    <a:p>
                      <a:pPr algn="ctr">
                        <a:defRPr sz="1200" b="0">
                          <a:solidFill>
                            <a:srgbClr val="01203C"/>
                          </a:solidFill>
                          <a:latin typeface="Microsoft YaHei"/>
                        </a:defRPr>
                      </a:pPr>
                    </a:p>
                  </a:txBody>
                  <a:tcPr anchor="ctr" marL="32004" marR="32004" marT="16459" marB="16459">
                    <a:solidFill>
                      <a:srgbClr val="FFFFFF"/>
                    </a:solidFill>
                  </a:tcPr>
                </a:tc>
              </a:tr>
              <a:tr h="493775">
                <a:tc gridSpan="6">
                  <a:txBody>
                    <a:bodyPr/>
                    <a:lstStyle/>
                    <a:p>
                      <a:pPr algn="ctr">
                        <a:defRPr sz="1200" b="0">
                          <a:solidFill>
                            <a:srgbClr val="01203C"/>
                          </a:solidFill>
                          <a:latin typeface="Microsoft YaHei"/>
                        </a:defRPr>
                      </a:pPr>
                      <a:r>
                        <a:t>第二部分 植物措施</a:t>
                      </a:r>
                    </a:p>
                  </a:txBody>
                  <a:tcPr anchor="ctr" marL="32004" marR="32004" marT="16459" marB="16459">
                    <a:solidFill>
                      <a:srgbClr val="FFFFFF"/>
                    </a:solidFill>
                  </a:tcPr>
                </a:tc>
                <a:tc hMerge="1">
                  <a:txBody>
                    <a:bodyPr/>
                    <a:lstStyle/>
                    <a:p>
                      <a:pPr algn="ctr">
                        <a:defRPr sz="1200" b="0">
                          <a:solidFill>
                            <a:srgbClr val="01203C"/>
                          </a:solidFill>
                          <a:latin typeface="Microsoft YaHei"/>
                        </a:defRPr>
                      </a:pPr>
                    </a:p>
                  </a:txBody>
                  <a:tcPr anchor="ctr" marL="32004" marR="32004" marT="16459" marB="16459">
                    <a:solidFill>
                      <a:srgbClr val="FFFFFF"/>
                    </a:solidFill>
                  </a:tcPr>
                </a:tc>
                <a:tc hMerge="1">
                  <a:txBody>
                    <a:bodyPr/>
                    <a:lstStyle/>
                    <a:p>
                      <a:pPr algn="ctr">
                        <a:defRPr sz="1200" b="0">
                          <a:solidFill>
                            <a:srgbClr val="01203C"/>
                          </a:solidFill>
                          <a:latin typeface="Microsoft YaHei"/>
                        </a:defRPr>
                      </a:pPr>
                    </a:p>
                  </a:txBody>
                  <a:tcPr anchor="ctr" marL="32004" marR="32004" marT="16459" marB="16459">
                    <a:solidFill>
                      <a:srgbClr val="FFFFFF"/>
                    </a:solidFill>
                  </a:tcPr>
                </a:tc>
                <a:tc hMerge="1">
                  <a:txBody>
                    <a:bodyPr/>
                    <a:lstStyle/>
                    <a:p>
                      <a:pPr algn="ctr">
                        <a:defRPr sz="1200" b="0">
                          <a:solidFill>
                            <a:srgbClr val="01203C"/>
                          </a:solidFill>
                          <a:latin typeface="Microsoft YaHei"/>
                        </a:defRPr>
                      </a:pPr>
                    </a:p>
                  </a:txBody>
                  <a:tcPr anchor="ctr" marL="32004" marR="32004" marT="16459" marB="16459">
                    <a:solidFill>
                      <a:srgbClr val="FFFFFF"/>
                    </a:solidFill>
                  </a:tcPr>
                </a:tc>
                <a:tc hMerge="1">
                  <a:txBody>
                    <a:bodyPr/>
                    <a:lstStyle/>
                    <a:p>
                      <a:pPr algn="ctr">
                        <a:defRPr sz="1200" b="0">
                          <a:solidFill>
                            <a:srgbClr val="01203C"/>
                          </a:solidFill>
                          <a:latin typeface="Microsoft YaHei"/>
                        </a:defRPr>
                      </a:pPr>
                    </a:p>
                  </a:txBody>
                  <a:tcPr anchor="ctr" marL="32004" marR="32004" marT="16459" marB="16459">
                    <a:solidFill>
                      <a:srgbClr val="FFFFFF"/>
                    </a:solidFill>
                  </a:tcPr>
                </a:tc>
                <a:tc hMerge="1">
                  <a:txBody>
                    <a:bodyPr/>
                    <a:lstStyle/>
                    <a:p>
                      <a:pPr algn="ctr">
                        <a:defRPr sz="1200" b="0">
                          <a:solidFill>
                            <a:srgbClr val="01203C"/>
                          </a:solidFill>
                          <a:latin typeface="Microsoft YaHei"/>
                        </a:defRPr>
                      </a:pPr>
                    </a:p>
                  </a:txBody>
                  <a:tcPr anchor="ctr" marL="32004" marR="32004" marT="16459" marB="16459">
                    <a:solidFill>
                      <a:srgbClr val="FFFFFF"/>
                    </a:solidFill>
                  </a:tcPr>
                </a:tc>
                <a:tc>
                  <a:txBody>
                    <a:bodyPr/>
                    <a:lstStyle/>
                    <a:p>
                      <a:pPr algn="ctr">
                        <a:defRPr sz="1200" b="0">
                          <a:solidFill>
                            <a:srgbClr val="01203C"/>
                          </a:solidFill>
                          <a:latin typeface="Microsoft YaHei"/>
                        </a:defRPr>
                      </a:pPr>
                      <a:r>
                        <a:t>0.6185</a:t>
                      </a:r>
                    </a:p>
                  </a:txBody>
                  <a:tcPr anchor="ctr" marL="32004" marR="32004" marT="16459" marB="16459">
                    <a:solidFill>
                      <a:srgbClr val="FFFFFF"/>
                    </a:solidFill>
                  </a:tcPr>
                </a:tc>
              </a:tr>
              <a:tr h="493775">
                <a:tc>
                  <a:txBody>
                    <a:bodyPr/>
                    <a:lstStyle/>
                    <a:p>
                      <a:pPr algn="ctr">
                        <a:defRPr sz="1200" b="0">
                          <a:solidFill>
                            <a:srgbClr val="01203C"/>
                          </a:solidFill>
                          <a:latin typeface="Microsoft YaHei"/>
                        </a:defRPr>
                      </a:pPr>
                      <a:r>
                        <a:t>（一）</a:t>
                      </a:r>
                    </a:p>
                  </a:txBody>
                  <a:tcPr anchor="ctr" marL="32004" marR="32004" marT="16459" marB="16459">
                    <a:solidFill>
                      <a:srgbClr val="FFFFFF"/>
                    </a:solidFill>
                  </a:tcPr>
                </a:tc>
                <a:tc gridSpan="2">
                  <a:txBody>
                    <a:bodyPr/>
                    <a:lstStyle/>
                    <a:p>
                      <a:pPr algn="ctr">
                        <a:defRPr sz="1200" b="0">
                          <a:solidFill>
                            <a:srgbClr val="01203C"/>
                          </a:solidFill>
                          <a:latin typeface="Microsoft YaHei"/>
                        </a:defRPr>
                      </a:pPr>
                      <a:r>
                        <a:t>管网工程区</a:t>
                      </a:r>
                    </a:p>
                  </a:txBody>
                  <a:tcPr anchor="ctr" marL="32004" marR="32004" marT="16459" marB="16459">
                    <a:solidFill>
                      <a:srgbClr val="FFFFFF"/>
                    </a:solidFill>
                  </a:tcPr>
                </a:tc>
                <a:tc hMerge="1">
                  <a:txBody>
                    <a:bodyPr/>
                    <a:lstStyle/>
                    <a:p>
                      <a:pPr algn="ctr">
                        <a:defRPr sz="1200" b="0">
                          <a:solidFill>
                            <a:srgbClr val="01203C"/>
                          </a:solidFill>
                          <a:latin typeface="Microsoft YaHei"/>
                        </a:defRPr>
                      </a:pPr>
                    </a:p>
                  </a:txBody>
                  <a:tcPr anchor="ctr" marL="32004" marR="32004" marT="16459" marB="16459">
                    <a:solidFill>
                      <a:srgbClr val="FFFFFF"/>
                    </a:solidFill>
                  </a:tcPr>
                </a:tc>
                <a:tc>
                  <a:txBody>
                    <a:bodyPr/>
                    <a:lstStyle/>
                    <a:p>
                      <a:pPr algn="ctr">
                        <a:defRPr sz="1200" b="0">
                          <a:solidFill>
                            <a:srgbClr val="01203C"/>
                          </a:solidFill>
                          <a:latin typeface="Microsoft YaHei"/>
                        </a:defRPr>
                      </a:pPr>
                    </a:p>
                  </a:txBody>
                  <a:tcPr anchor="ctr" marL="32004" marR="32004" marT="16459" marB="16459">
                    <a:solidFill>
                      <a:srgbClr val="FFFFFF"/>
                    </a:solidFill>
                  </a:tcPr>
                </a:tc>
                <a:tc>
                  <a:txBody>
                    <a:bodyPr/>
                    <a:lstStyle/>
                    <a:p>
                      <a:pPr algn="ctr">
                        <a:defRPr sz="1200" b="0">
                          <a:solidFill>
                            <a:srgbClr val="01203C"/>
                          </a:solidFill>
                          <a:latin typeface="Microsoft YaHei"/>
                        </a:defRPr>
                      </a:pPr>
                    </a:p>
                  </a:txBody>
                  <a:tcPr anchor="ctr" marL="32004" marR="32004" marT="16459" marB="16459">
                    <a:solidFill>
                      <a:srgbClr val="FFFFFF"/>
                    </a:solidFill>
                  </a:tcPr>
                </a:tc>
                <a:tc>
                  <a:txBody>
                    <a:bodyPr/>
                    <a:lstStyle/>
                    <a:p>
                      <a:pPr algn="ctr">
                        <a:defRPr sz="1200" b="0">
                          <a:solidFill>
                            <a:srgbClr val="01203C"/>
                          </a:solidFill>
                          <a:latin typeface="Microsoft YaHei"/>
                        </a:defRPr>
                      </a:pPr>
                      <a:r>
                        <a:t>0.6185</a:t>
                      </a:r>
                    </a:p>
                  </a:txBody>
                  <a:tcPr anchor="ctr" marL="32004" marR="32004" marT="16459" marB="16459">
                    <a:solidFill>
                      <a:srgbClr val="FFFFFF"/>
                    </a:solidFill>
                  </a:tcPr>
                </a:tc>
                <a:tc>
                  <a:txBody>
                    <a:bodyPr/>
                    <a:lstStyle/>
                    <a:p>
                      <a:pPr algn="ctr">
                        <a:defRPr sz="1200" b="0">
                          <a:solidFill>
                            <a:srgbClr val="01203C"/>
                          </a:solidFill>
                          <a:latin typeface="Microsoft YaHei"/>
                        </a:defRPr>
                      </a:pPr>
                    </a:p>
                  </a:txBody>
                  <a:tcPr anchor="ctr" marL="32004" marR="32004" marT="16459" marB="16459">
                    <a:solidFill>
                      <a:srgbClr val="FFFFFF"/>
                    </a:solidFill>
                  </a:tcPr>
                </a:tc>
              </a:tr>
              <a:tr h="493775">
                <a:tc>
                  <a:txBody>
                    <a:bodyPr/>
                    <a:lstStyle/>
                    <a:p>
                      <a:pPr algn="ctr">
                        <a:defRPr sz="1200" b="0">
                          <a:solidFill>
                            <a:srgbClr val="01203C"/>
                          </a:solidFill>
                          <a:latin typeface="Microsoft YaHei"/>
                        </a:defRPr>
                      </a:pPr>
                      <a:r>
                        <a:t>1</a:t>
                      </a:r>
                    </a:p>
                  </a:txBody>
                  <a:tcPr anchor="ctr" marL="32004" marR="32004" marT="16459" marB="16459">
                    <a:solidFill>
                      <a:srgbClr val="FFFFFF"/>
                    </a:solidFill>
                  </a:tcPr>
                </a:tc>
                <a:tc>
                  <a:txBody>
                    <a:bodyPr/>
                    <a:lstStyle/>
                    <a:p>
                      <a:pPr algn="ctr">
                        <a:defRPr sz="1200" b="0">
                          <a:solidFill>
                            <a:srgbClr val="01203C"/>
                          </a:solidFill>
                          <a:latin typeface="Microsoft YaHei"/>
                        </a:defRPr>
                      </a:pPr>
                      <a:r>
                        <a:t>铺种草皮</a:t>
                      </a:r>
                    </a:p>
                  </a:txBody>
                  <a:tcPr anchor="ctr" marL="32004" marR="32004" marT="16459" marB="16459">
                    <a:solidFill>
                      <a:srgbClr val="FFFFFF"/>
                    </a:solidFill>
                  </a:tcPr>
                </a:tc>
                <a:tc>
                  <a:txBody>
                    <a:bodyPr/>
                    <a:lstStyle/>
                    <a:p>
                      <a:pPr algn="ctr">
                        <a:defRPr sz="1200" b="0">
                          <a:solidFill>
                            <a:srgbClr val="01203C"/>
                          </a:solidFill>
                          <a:latin typeface="Microsoft YaHei"/>
                        </a:defRPr>
                      </a:pPr>
                      <a:r>
                        <a:t>m²</a:t>
                      </a:r>
                    </a:p>
                  </a:txBody>
                  <a:tcPr anchor="ctr" marL="32004" marR="32004" marT="16459" marB="16459">
                    <a:solidFill>
                      <a:srgbClr val="FFFFFF"/>
                    </a:solidFill>
                  </a:tcPr>
                </a:tc>
                <a:tc>
                  <a:txBody>
                    <a:bodyPr/>
                    <a:lstStyle/>
                    <a:p>
                      <a:pPr algn="ctr">
                        <a:defRPr sz="1200" b="0">
                          <a:solidFill>
                            <a:srgbClr val="01203C"/>
                          </a:solidFill>
                          <a:latin typeface="Microsoft YaHei"/>
                        </a:defRPr>
                      </a:pPr>
                      <a:r>
                        <a:t>265</a:t>
                      </a:r>
                    </a:p>
                  </a:txBody>
                  <a:tcPr anchor="ctr" marL="32004" marR="32004" marT="16459" marB="16459">
                    <a:solidFill>
                      <a:srgbClr val="FFFFFF"/>
                    </a:solidFill>
                  </a:tcPr>
                </a:tc>
                <a:tc>
                  <a:txBody>
                    <a:bodyPr/>
                    <a:lstStyle/>
                    <a:p>
                      <a:pPr algn="ctr">
                        <a:defRPr sz="1200" b="0">
                          <a:solidFill>
                            <a:srgbClr val="01203C"/>
                          </a:solidFill>
                          <a:latin typeface="Microsoft YaHei"/>
                        </a:defRPr>
                      </a:pPr>
                      <a:r>
                        <a:t>23.34</a:t>
                      </a:r>
                    </a:p>
                  </a:txBody>
                  <a:tcPr anchor="ctr" marL="32004" marR="32004" marT="16459" marB="16459">
                    <a:solidFill>
                      <a:srgbClr val="FFFFFF"/>
                    </a:solidFill>
                  </a:tcPr>
                </a:tc>
                <a:tc>
                  <a:txBody>
                    <a:bodyPr/>
                    <a:lstStyle/>
                    <a:p>
                      <a:pPr algn="ctr">
                        <a:defRPr sz="1200" b="0">
                          <a:solidFill>
                            <a:srgbClr val="01203C"/>
                          </a:solidFill>
                          <a:latin typeface="Microsoft YaHei"/>
                        </a:defRPr>
                      </a:pPr>
                      <a:r>
                        <a:t>0.6185</a:t>
                      </a:r>
                    </a:p>
                  </a:txBody>
                  <a:tcPr anchor="ctr" marL="32004" marR="32004" marT="16459" marB="16459">
                    <a:solidFill>
                      <a:srgbClr val="FFFFFF"/>
                    </a:solidFill>
                  </a:tcPr>
                </a:tc>
                <a:tc>
                  <a:txBody>
                    <a:bodyPr/>
                    <a:lstStyle/>
                    <a:p>
                      <a:pPr algn="ctr">
                        <a:defRPr sz="1200" b="0">
                          <a:solidFill>
                            <a:srgbClr val="01203C"/>
                          </a:solidFill>
                          <a:latin typeface="Microsoft YaHei"/>
                        </a:defRPr>
                      </a:pPr>
                    </a:p>
                  </a:txBody>
                  <a:tcPr anchor="ctr" marL="32004" marR="32004" marT="16459" marB="16459">
                    <a:solidFill>
                      <a:srgbClr val="FFFFFF"/>
                    </a:solidFill>
                  </a:tcPr>
                </a:tc>
              </a:tr>
            </a:tbl>
          </a:graphicData>
        </a:graphic>
      </p:graphicFrame>
      <p:sp>
        <p:nvSpPr>
          <p:cNvPr id="7" name="TextBox 6"/>
          <p:cNvSpPr txBox="1"/>
          <p:nvPr/>
        </p:nvSpPr>
        <p:spPr>
          <a:xfrm>
            <a:off x="713232" y="4681728"/>
            <a:ext cx="6583680" cy="493776"/>
          </a:xfrm>
          <a:prstGeom prst="rect">
            <a:avLst/>
          </a:prstGeom>
          <a:noFill/>
        </p:spPr>
        <p:txBody>
          <a:bodyPr wrap="square">
            <a:noAutofit/>
          </a:bodyPr>
          <a:lstStyle/>
          <a:p>
            <a:pPr>
              <a:defRPr sz="1500" b="1">
                <a:solidFill>
                  <a:srgbClr val="4489C8"/>
                </a:solidFill>
                <a:latin typeface="Microsoft YaHei"/>
              </a:defRPr>
            </a:pPr>
            <a:r>
              <a:t>本项目主体工程设计中应纳入水土保持的措施量及投资一览表</a:t>
            </a:r>
          </a:p>
        </p:txBody>
      </p:sp>
      <p:sp>
        <p:nvSpPr>
          <p:cNvPr id="8" name="TextBox 7"/>
          <p:cNvSpPr txBox="1"/>
          <p:nvPr/>
        </p:nvSpPr>
        <p:spPr>
          <a:xfrm>
            <a:off x="713232" y="5138928"/>
            <a:ext cx="10561320" cy="868680"/>
          </a:xfrm>
          <a:prstGeom prst="rect">
            <a:avLst/>
          </a:prstGeom>
          <a:noFill/>
        </p:spPr>
        <p:txBody>
          <a:bodyPr wrap="square">
            <a:noAutofit/>
          </a:bodyPr>
          <a:lstStyle/>
          <a:p>
            <a:pPr>
              <a:spcAft>
                <a:spcPts val="400"/>
              </a:spcAft>
              <a:defRPr sz="1400">
                <a:solidFill>
                  <a:srgbClr val="01203C"/>
                </a:solidFill>
                <a:latin typeface="Microsoft YaHei"/>
              </a:defRPr>
            </a:pPr>
            <a:r>
              <a:t>该表识别主体工程中已具有水土保持功能的措施，避免投资和工程量重复计算。</a:t>
            </a:r>
          </a:p>
          <a:p>
            <a:pPr>
              <a:spcAft>
                <a:spcPts val="400"/>
              </a:spcAft>
              <a:defRPr sz="1400">
                <a:solidFill>
                  <a:srgbClr val="01203C"/>
                </a:solidFill>
                <a:latin typeface="Microsoft YaHei"/>
              </a:defRPr>
            </a:pPr>
            <a:r>
              <a:t>土地整治、铺种草皮等措施直接服务于扰动地表恢复和林草植被恢复。</a:t>
            </a:r>
          </a:p>
          <a:p>
            <a:pPr>
              <a:spcAft>
                <a:spcPts val="400"/>
              </a:spcAft>
              <a:defRPr sz="1400">
                <a:solidFill>
                  <a:srgbClr val="01203C"/>
                </a:solidFill>
                <a:latin typeface="Microsoft YaHei"/>
              </a:defRPr>
            </a:pPr>
            <a:r>
              <a:t>仍需结合新增临时措施，形成施工期防护与完工后恢复的完整闭环。</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1203C"/>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1203C"/>
          </a:solidFill>
          <a:ln w="7620">
            <a:solidFill>
              <a:srgbClr val="0120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960120"/>
            <a:ext cx="73152" cy="4736592"/>
          </a:xfrm>
          <a:prstGeom prst="rect">
            <a:avLst/>
          </a:prstGeom>
          <a:solidFill>
            <a:srgbClr val="4489C8"/>
          </a:solidFill>
          <a:ln w="7620">
            <a:solidFill>
              <a:srgbClr val="448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640080"/>
            <a:ext cx="4206240" cy="320040"/>
          </a:xfrm>
          <a:prstGeom prst="rect">
            <a:avLst/>
          </a:prstGeom>
          <a:noFill/>
        </p:spPr>
        <p:txBody>
          <a:bodyPr wrap="square">
            <a:noAutofit/>
          </a:bodyPr>
          <a:lstStyle/>
          <a:p>
            <a:pPr>
              <a:defRPr sz="1600" b="1">
                <a:solidFill>
                  <a:srgbClr val="EAF2F8"/>
                </a:solidFill>
                <a:latin typeface="Microsoft YaHei"/>
              </a:defRPr>
            </a:pPr>
            <a:r>
              <a:t>第05章 / 共07章</a:t>
            </a:r>
          </a:p>
        </p:txBody>
      </p:sp>
      <p:sp>
        <p:nvSpPr>
          <p:cNvPr id="5" name="TextBox 4"/>
          <p:cNvSpPr txBox="1"/>
          <p:nvPr/>
        </p:nvSpPr>
        <p:spPr>
          <a:xfrm>
            <a:off x="749808" y="1901952"/>
            <a:ext cx="1298448" cy="804672"/>
          </a:xfrm>
          <a:prstGeom prst="rect">
            <a:avLst/>
          </a:prstGeom>
          <a:noFill/>
        </p:spPr>
        <p:txBody>
          <a:bodyPr wrap="square">
            <a:noAutofit/>
          </a:bodyPr>
          <a:lstStyle/>
          <a:p>
            <a:pPr>
              <a:defRPr sz="5400" b="1">
                <a:solidFill>
                  <a:srgbClr val="FFFFFF"/>
                </a:solidFill>
                <a:latin typeface="Microsoft YaHei"/>
              </a:defRPr>
            </a:pPr>
            <a:r>
              <a:t>05</a:t>
            </a:r>
          </a:p>
        </p:txBody>
      </p:sp>
      <p:sp>
        <p:nvSpPr>
          <p:cNvPr id="6" name="TextBox 5"/>
          <p:cNvSpPr txBox="1"/>
          <p:nvPr/>
        </p:nvSpPr>
        <p:spPr>
          <a:xfrm>
            <a:off x="2176272" y="2011680"/>
            <a:ext cx="8961120" cy="749808"/>
          </a:xfrm>
          <a:prstGeom prst="rect">
            <a:avLst/>
          </a:prstGeom>
          <a:noFill/>
        </p:spPr>
        <p:txBody>
          <a:bodyPr wrap="square">
            <a:noAutofit/>
          </a:bodyPr>
          <a:lstStyle/>
          <a:p>
            <a:pPr>
              <a:defRPr sz="3000" b="1">
                <a:solidFill>
                  <a:srgbClr val="FFFFFF"/>
                </a:solidFill>
                <a:latin typeface="Microsoft YaHei"/>
              </a:defRPr>
            </a:pPr>
            <a:r>
              <a:t>水土流失分析与预测</a:t>
            </a:r>
          </a:p>
        </p:txBody>
      </p:sp>
      <p:sp>
        <p:nvSpPr>
          <p:cNvPr id="7" name="TextBox 6"/>
          <p:cNvSpPr txBox="1"/>
          <p:nvPr/>
        </p:nvSpPr>
        <p:spPr>
          <a:xfrm>
            <a:off x="2212848" y="2962656"/>
            <a:ext cx="8229600" cy="329184"/>
          </a:xfrm>
          <a:prstGeom prst="rect">
            <a:avLst/>
          </a:prstGeom>
          <a:noFill/>
        </p:spPr>
        <p:txBody>
          <a:bodyPr wrap="square">
            <a:noAutofit/>
          </a:bodyPr>
          <a:lstStyle/>
          <a:p>
            <a:pPr>
              <a:defRPr sz="1500" b="0">
                <a:solidFill>
                  <a:srgbClr val="EAF2F8"/>
                </a:solidFill>
                <a:latin typeface="Microsoft YaHei"/>
              </a:defRPr>
            </a:pPr>
            <a:r>
              <a:t>从扰动范围、侵蚀模数、预测时段和结果表说明施工期与自然恢复期流失量。</a:t>
            </a:r>
          </a:p>
        </p:txBody>
      </p:sp>
      <p:sp>
        <p:nvSpPr>
          <p:cNvPr id="8" name="Rectangle 7"/>
          <p:cNvSpPr/>
          <p:nvPr/>
        </p:nvSpPr>
        <p:spPr>
          <a:xfrm>
            <a:off x="2212848" y="3749039"/>
            <a:ext cx="6400800" cy="18288"/>
          </a:xfrm>
          <a:prstGeom prst="rect">
            <a:avLst/>
          </a:prstGeom>
          <a:solidFill>
            <a:srgbClr val="4489C8"/>
          </a:solidFill>
          <a:ln w="7620">
            <a:solidFill>
              <a:srgbClr val="448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384048" y="182880"/>
            <a:ext cx="10835640" cy="457200"/>
          </a:xfrm>
          <a:prstGeom prst="rect">
            <a:avLst/>
          </a:prstGeom>
          <a:noFill/>
        </p:spPr>
        <p:txBody>
          <a:bodyPr wrap="square">
            <a:noAutofit/>
          </a:bodyPr>
          <a:lstStyle/>
          <a:p>
            <a:pPr>
              <a:defRPr sz="2400" b="1">
                <a:solidFill>
                  <a:srgbClr val="01203C"/>
                </a:solidFill>
                <a:latin typeface="Microsoft YaHei"/>
              </a:defRPr>
            </a:pPr>
            <a:r>
              <a:t>扰动地表面积与预测单元集中在管网工程区</a:t>
            </a:r>
          </a:p>
        </p:txBody>
      </p:sp>
      <p:sp>
        <p:nvSpPr>
          <p:cNvPr id="3" name="TextBox 2"/>
          <p:cNvSpPr txBox="1"/>
          <p:nvPr/>
        </p:nvSpPr>
        <p:spPr>
          <a:xfrm>
            <a:off x="393192" y="621792"/>
            <a:ext cx="6400800" cy="219456"/>
          </a:xfrm>
          <a:prstGeom prst="rect">
            <a:avLst/>
          </a:prstGeom>
          <a:noFill/>
        </p:spPr>
        <p:txBody>
          <a:bodyPr wrap="square">
            <a:noAutofit/>
          </a:bodyPr>
          <a:lstStyle/>
          <a:p>
            <a:pPr>
              <a:defRPr sz="950" b="0">
                <a:solidFill>
                  <a:srgbClr val="4489C8"/>
                </a:solidFill>
                <a:latin typeface="Microsoft YaHei"/>
              </a:defRPr>
            </a:pPr>
            <a:r>
              <a:t>水土流失分析与预测</a:t>
            </a:r>
          </a:p>
        </p:txBody>
      </p:sp>
      <p:sp>
        <p:nvSpPr>
          <p:cNvPr id="4" name="TextBox 3"/>
          <p:cNvSpPr txBox="1"/>
          <p:nvPr/>
        </p:nvSpPr>
        <p:spPr>
          <a:xfrm>
            <a:off x="10652760" y="603504"/>
            <a:ext cx="640080" cy="182880"/>
          </a:xfrm>
          <a:prstGeom prst="rect">
            <a:avLst/>
          </a:prstGeom>
          <a:noFill/>
        </p:spPr>
        <p:txBody>
          <a:bodyPr wrap="square">
            <a:noAutofit/>
          </a:bodyPr>
          <a:lstStyle/>
          <a:p>
            <a:pPr algn="r">
              <a:defRPr sz="900" b="0">
                <a:solidFill>
                  <a:srgbClr val="566B7F"/>
                </a:solidFill>
                <a:latin typeface="Microsoft YaHei"/>
              </a:defRPr>
            </a:pPr>
            <a:r>
              <a:t>19</a:t>
            </a:r>
          </a:p>
        </p:txBody>
      </p:sp>
      <p:sp>
        <p:nvSpPr>
          <p:cNvPr id="5" name="Rectangle 4"/>
          <p:cNvSpPr/>
          <p:nvPr/>
        </p:nvSpPr>
        <p:spPr>
          <a:xfrm>
            <a:off x="384048" y="804672"/>
            <a:ext cx="10826496" cy="13716"/>
          </a:xfrm>
          <a:prstGeom prst="rect">
            <a:avLst/>
          </a:prstGeom>
          <a:solidFill>
            <a:srgbClr val="448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060704"/>
          <a:ext cx="11064237" cy="3456430"/>
        </p:xfrm>
        <a:graphic>
          <a:graphicData uri="http://schemas.openxmlformats.org/drawingml/2006/table">
            <a:tbl>
              <a:tblPr firstRow="1" bandRow="1">
                <a:tableStyleId>{5C22544A-7EE6-4342-B048-85BDC9FD1C3A}</a:tableStyleId>
              </a:tblPr>
              <a:tblGrid>
                <a:gridCol w="2693244"/>
                <a:gridCol w="2693244"/>
                <a:gridCol w="4220229"/>
                <a:gridCol w="1457520"/>
              </a:tblGrid>
              <a:tr h="691286">
                <a:tc rowSpan="3">
                  <a:txBody>
                    <a:bodyPr/>
                    <a:lstStyle/>
                    <a:p>
                      <a:pPr algn="ctr">
                        <a:defRPr sz="1200" b="1">
                          <a:solidFill>
                            <a:srgbClr val="01203C"/>
                          </a:solidFill>
                          <a:latin typeface="Microsoft YaHei"/>
                        </a:defRPr>
                      </a:pPr>
                      <a:r>
                        <a:t>项目组成</a:t>
                      </a:r>
                    </a:p>
                  </a:txBody>
                  <a:tcPr anchor="ctr" marL="32004" marR="32004" marT="16459" marB="16459">
                    <a:solidFill>
                      <a:srgbClr val="EAF2F8"/>
                    </a:solidFill>
                  </a:tcPr>
                </a:tc>
                <a:tc gridSpan="3">
                  <a:txBody>
                    <a:bodyPr/>
                    <a:lstStyle/>
                    <a:p>
                      <a:pPr algn="ctr">
                        <a:defRPr sz="1200" b="1">
                          <a:solidFill>
                            <a:srgbClr val="01203C"/>
                          </a:solidFill>
                          <a:latin typeface="Microsoft YaHei"/>
                        </a:defRPr>
                      </a:pPr>
                      <a:r>
                        <a:t>扰动地表面积</a:t>
                      </a:r>
                    </a:p>
                  </a:txBody>
                  <a:tcPr anchor="ctr" marL="32004" marR="32004" marT="16459" marB="16459">
                    <a:solidFill>
                      <a:srgbClr val="EAF2F8"/>
                    </a:solidFill>
                  </a:tcPr>
                </a:tc>
                <a:tc hMerge="1">
                  <a:txBody>
                    <a:bodyPr/>
                    <a:lstStyle/>
                    <a:p>
                      <a:pPr algn="ctr">
                        <a:defRPr sz="1200" b="1">
                          <a:solidFill>
                            <a:srgbClr val="01203C"/>
                          </a:solidFill>
                          <a:latin typeface="Microsoft YaHei"/>
                        </a:defRPr>
                      </a:pPr>
                    </a:p>
                  </a:txBody>
                  <a:tcPr anchor="ctr" marL="32004" marR="32004" marT="16459" marB="16459">
                    <a:solidFill>
                      <a:srgbClr val="EAF2F8"/>
                    </a:solidFill>
                  </a:tcPr>
                </a:tc>
                <a:tc hMerge="1">
                  <a:txBody>
                    <a:bodyPr/>
                    <a:lstStyle/>
                    <a:p>
                      <a:pPr algn="ctr">
                        <a:defRPr sz="1200" b="1">
                          <a:solidFill>
                            <a:srgbClr val="01203C"/>
                          </a:solidFill>
                          <a:latin typeface="Microsoft YaHei"/>
                        </a:defRPr>
                      </a:pPr>
                    </a:p>
                  </a:txBody>
                  <a:tcPr anchor="ctr" marL="32004" marR="32004" marT="16459" marB="16459">
                    <a:solidFill>
                      <a:srgbClr val="EAF2F8"/>
                    </a:solidFill>
                  </a:tcPr>
                </a:tc>
              </a:tr>
              <a:tr h="691286">
                <a:tc vMerge="1">
                  <a:txBody>
                    <a:bodyPr/>
                    <a:lstStyle/>
                    <a:p>
                      <a:pPr algn="ctr">
                        <a:defRPr sz="1200" b="0">
                          <a:solidFill>
                            <a:srgbClr val="01203C"/>
                          </a:solidFill>
                          <a:latin typeface="Microsoft YaHei"/>
                        </a:defRPr>
                      </a:pPr>
                    </a:p>
                  </a:txBody>
                  <a:tcPr anchor="ctr" marL="32004" marR="32004" marT="16459" marB="16459">
                    <a:solidFill>
                      <a:srgbClr val="FFFFFF"/>
                    </a:solidFill>
                  </a:tcPr>
                </a:tc>
                <a:tc>
                  <a:txBody>
                    <a:bodyPr/>
                    <a:lstStyle/>
                    <a:p>
                      <a:pPr algn="ctr">
                        <a:defRPr sz="1200" b="0">
                          <a:solidFill>
                            <a:srgbClr val="01203C"/>
                          </a:solidFill>
                          <a:latin typeface="Microsoft YaHei"/>
                        </a:defRPr>
                      </a:pPr>
                      <a:r>
                        <a:t>交通运输用地</a:t>
                      </a:r>
                    </a:p>
                  </a:txBody>
                  <a:tcPr anchor="ctr" marL="32004" marR="32004" marT="16459" marB="16459">
                    <a:solidFill>
                      <a:srgbClr val="FFFFFF"/>
                    </a:solidFill>
                  </a:tcPr>
                </a:tc>
                <a:tc>
                  <a:txBody>
                    <a:bodyPr/>
                    <a:lstStyle/>
                    <a:p>
                      <a:pPr algn="ctr">
                        <a:defRPr sz="1200" b="0">
                          <a:solidFill>
                            <a:srgbClr val="01203C"/>
                          </a:solidFill>
                          <a:latin typeface="Microsoft YaHei"/>
                        </a:defRPr>
                      </a:pPr>
                      <a:r>
                        <a:t>公共管理与公共服务用地</a:t>
                      </a:r>
                    </a:p>
                  </a:txBody>
                  <a:tcPr anchor="ctr" marL="32004" marR="32004" marT="16459" marB="16459">
                    <a:solidFill>
                      <a:srgbClr val="FFFFFF"/>
                    </a:solidFill>
                  </a:tcPr>
                </a:tc>
                <a:tc rowSpan="2">
                  <a:txBody>
                    <a:bodyPr/>
                    <a:lstStyle/>
                    <a:p>
                      <a:pPr algn="ctr">
                        <a:defRPr sz="1200" b="0">
                          <a:solidFill>
                            <a:srgbClr val="01203C"/>
                          </a:solidFill>
                          <a:latin typeface="Microsoft YaHei"/>
                        </a:defRPr>
                      </a:pPr>
                      <a:r>
                        <a:t>合计</a:t>
                      </a:r>
                    </a:p>
                  </a:txBody>
                  <a:tcPr anchor="ctr" marL="32004" marR="32004" marT="16459" marB="16459">
                    <a:solidFill>
                      <a:srgbClr val="FFFFFF"/>
                    </a:solidFill>
                  </a:tcPr>
                </a:tc>
              </a:tr>
              <a:tr h="691286">
                <a:tc vMerge="1">
                  <a:txBody>
                    <a:bodyPr/>
                    <a:lstStyle/>
                    <a:p>
                      <a:pPr algn="ctr">
                        <a:defRPr sz="1200" b="0">
                          <a:solidFill>
                            <a:srgbClr val="01203C"/>
                          </a:solidFill>
                          <a:latin typeface="Microsoft YaHei"/>
                        </a:defRPr>
                      </a:pPr>
                    </a:p>
                  </a:txBody>
                  <a:tcPr anchor="ctr" marL="32004" marR="32004" marT="16459" marB="16459">
                    <a:solidFill>
                      <a:srgbClr val="FFFFFF"/>
                    </a:solidFill>
                  </a:tcPr>
                </a:tc>
                <a:tc>
                  <a:txBody>
                    <a:bodyPr/>
                    <a:lstStyle/>
                    <a:p>
                      <a:pPr algn="ctr">
                        <a:defRPr sz="1200" b="0">
                          <a:solidFill>
                            <a:srgbClr val="01203C"/>
                          </a:solidFill>
                          <a:latin typeface="Microsoft YaHei"/>
                        </a:defRPr>
                      </a:pPr>
                      <a:r>
                        <a:t>城镇村道路用地</a:t>
                      </a:r>
                    </a:p>
                  </a:txBody>
                  <a:tcPr anchor="ctr" marL="32004" marR="32004" marT="16459" marB="16459">
                    <a:solidFill>
                      <a:srgbClr val="FFFFFF"/>
                    </a:solidFill>
                  </a:tcPr>
                </a:tc>
                <a:tc>
                  <a:txBody>
                    <a:bodyPr/>
                    <a:lstStyle/>
                    <a:p>
                      <a:pPr algn="ctr">
                        <a:defRPr sz="1200" b="0">
                          <a:solidFill>
                            <a:srgbClr val="01203C"/>
                          </a:solidFill>
                          <a:latin typeface="Microsoft YaHei"/>
                        </a:defRPr>
                      </a:pPr>
                      <a:r>
                        <a:t>公园与绿地</a:t>
                      </a:r>
                    </a:p>
                  </a:txBody>
                  <a:tcPr anchor="ctr" marL="32004" marR="32004" marT="16459" marB="16459">
                    <a:solidFill>
                      <a:srgbClr val="FFFFFF"/>
                    </a:solidFill>
                  </a:tcPr>
                </a:tc>
                <a:tc vMerge="1">
                  <a:txBody>
                    <a:bodyPr/>
                    <a:lstStyle/>
                    <a:p>
                      <a:pPr algn="ctr">
                        <a:defRPr sz="1200" b="0">
                          <a:solidFill>
                            <a:srgbClr val="01203C"/>
                          </a:solidFill>
                          <a:latin typeface="Microsoft YaHei"/>
                        </a:defRPr>
                      </a:pPr>
                    </a:p>
                  </a:txBody>
                  <a:tcPr anchor="ctr" marL="32004" marR="32004" marT="16459" marB="16459">
                    <a:solidFill>
                      <a:srgbClr val="FFFFFF"/>
                    </a:solidFill>
                  </a:tcPr>
                </a:tc>
              </a:tr>
              <a:tr h="691286">
                <a:tc>
                  <a:txBody>
                    <a:bodyPr/>
                    <a:lstStyle/>
                    <a:p>
                      <a:pPr algn="ctr">
                        <a:defRPr sz="1200" b="0">
                          <a:solidFill>
                            <a:srgbClr val="01203C"/>
                          </a:solidFill>
                          <a:latin typeface="Microsoft YaHei"/>
                        </a:defRPr>
                      </a:pPr>
                      <a:r>
                        <a:t>管网工程区</a:t>
                      </a:r>
                    </a:p>
                  </a:txBody>
                  <a:tcPr anchor="ctr" marL="32004" marR="32004" marT="16459" marB="16459">
                    <a:solidFill>
                      <a:srgbClr val="FFFFFF"/>
                    </a:solidFill>
                  </a:tcPr>
                </a:tc>
                <a:tc>
                  <a:txBody>
                    <a:bodyPr/>
                    <a:lstStyle/>
                    <a:p>
                      <a:pPr algn="ctr">
                        <a:defRPr sz="1200" b="0">
                          <a:solidFill>
                            <a:srgbClr val="01203C"/>
                          </a:solidFill>
                          <a:latin typeface="Microsoft YaHei"/>
                        </a:defRPr>
                      </a:pPr>
                      <a:r>
                        <a:t>34151.00</a:t>
                      </a:r>
                    </a:p>
                  </a:txBody>
                  <a:tcPr anchor="ctr" marL="32004" marR="32004" marT="16459" marB="16459">
                    <a:solidFill>
                      <a:srgbClr val="FFFFFF"/>
                    </a:solidFill>
                  </a:tcPr>
                </a:tc>
                <a:tc>
                  <a:txBody>
                    <a:bodyPr/>
                    <a:lstStyle/>
                    <a:p>
                      <a:pPr algn="ctr">
                        <a:defRPr sz="1200" b="0">
                          <a:solidFill>
                            <a:srgbClr val="01203C"/>
                          </a:solidFill>
                          <a:latin typeface="Microsoft YaHei"/>
                        </a:defRPr>
                      </a:pPr>
                      <a:r>
                        <a:t>265.00</a:t>
                      </a:r>
                    </a:p>
                  </a:txBody>
                  <a:tcPr anchor="ctr" marL="32004" marR="32004" marT="16459" marB="16459">
                    <a:solidFill>
                      <a:srgbClr val="FFFFFF"/>
                    </a:solidFill>
                  </a:tcPr>
                </a:tc>
                <a:tc>
                  <a:txBody>
                    <a:bodyPr/>
                    <a:lstStyle/>
                    <a:p>
                      <a:pPr algn="ctr">
                        <a:defRPr sz="1200" b="0">
                          <a:solidFill>
                            <a:srgbClr val="01203C"/>
                          </a:solidFill>
                          <a:latin typeface="Microsoft YaHei"/>
                        </a:defRPr>
                      </a:pPr>
                      <a:r>
                        <a:t>34416.00</a:t>
                      </a:r>
                    </a:p>
                  </a:txBody>
                  <a:tcPr anchor="ctr" marL="32004" marR="32004" marT="16459" marB="16459">
                    <a:solidFill>
                      <a:srgbClr val="FFFFFF"/>
                    </a:solidFill>
                  </a:tcPr>
                </a:tc>
              </a:tr>
              <a:tr h="691286">
                <a:tc>
                  <a:txBody>
                    <a:bodyPr/>
                    <a:lstStyle/>
                    <a:p>
                      <a:pPr algn="ctr">
                        <a:defRPr sz="1200" b="0">
                          <a:solidFill>
                            <a:srgbClr val="01203C"/>
                          </a:solidFill>
                          <a:latin typeface="Microsoft YaHei"/>
                        </a:defRPr>
                      </a:pPr>
                      <a:r>
                        <a:t>小计</a:t>
                      </a:r>
                    </a:p>
                  </a:txBody>
                  <a:tcPr anchor="ctr" marL="32004" marR="32004" marT="16459" marB="16459">
                    <a:solidFill>
                      <a:srgbClr val="FFFFFF"/>
                    </a:solidFill>
                  </a:tcPr>
                </a:tc>
                <a:tc>
                  <a:txBody>
                    <a:bodyPr/>
                    <a:lstStyle/>
                    <a:p>
                      <a:pPr algn="ctr">
                        <a:defRPr sz="1200" b="0">
                          <a:solidFill>
                            <a:srgbClr val="01203C"/>
                          </a:solidFill>
                          <a:latin typeface="Microsoft YaHei"/>
                        </a:defRPr>
                      </a:pPr>
                      <a:r>
                        <a:t>34151.00</a:t>
                      </a:r>
                    </a:p>
                  </a:txBody>
                  <a:tcPr anchor="ctr" marL="32004" marR="32004" marT="16459" marB="16459">
                    <a:solidFill>
                      <a:srgbClr val="FFFFFF"/>
                    </a:solidFill>
                  </a:tcPr>
                </a:tc>
                <a:tc>
                  <a:txBody>
                    <a:bodyPr/>
                    <a:lstStyle/>
                    <a:p>
                      <a:pPr algn="ctr">
                        <a:defRPr sz="1200" b="0">
                          <a:solidFill>
                            <a:srgbClr val="01203C"/>
                          </a:solidFill>
                          <a:latin typeface="Microsoft YaHei"/>
                        </a:defRPr>
                      </a:pPr>
                      <a:r>
                        <a:t>265.00</a:t>
                      </a:r>
                    </a:p>
                  </a:txBody>
                  <a:tcPr anchor="ctr" marL="32004" marR="32004" marT="16459" marB="16459">
                    <a:solidFill>
                      <a:srgbClr val="FFFFFF"/>
                    </a:solidFill>
                  </a:tcPr>
                </a:tc>
                <a:tc>
                  <a:txBody>
                    <a:bodyPr/>
                    <a:lstStyle/>
                    <a:p>
                      <a:pPr algn="ctr">
                        <a:defRPr sz="1200" b="0">
                          <a:solidFill>
                            <a:srgbClr val="01203C"/>
                          </a:solidFill>
                          <a:latin typeface="Microsoft YaHei"/>
                        </a:defRPr>
                      </a:pPr>
                      <a:r>
                        <a:t>34416.00</a:t>
                      </a:r>
                    </a:p>
                  </a:txBody>
                  <a:tcPr anchor="ctr" marL="32004" marR="32004" marT="16459" marB="16459">
                    <a:solidFill>
                      <a:srgbClr val="FFFFFF"/>
                    </a:solidFill>
                  </a:tcPr>
                </a:tc>
              </a:tr>
            </a:tbl>
          </a:graphicData>
        </a:graphic>
      </p:graphicFrame>
      <p:sp>
        <p:nvSpPr>
          <p:cNvPr id="7" name="TextBox 6"/>
          <p:cNvSpPr txBox="1"/>
          <p:nvPr/>
        </p:nvSpPr>
        <p:spPr>
          <a:xfrm>
            <a:off x="713232" y="4681728"/>
            <a:ext cx="6583680" cy="493776"/>
          </a:xfrm>
          <a:prstGeom prst="rect">
            <a:avLst/>
          </a:prstGeom>
          <a:noFill/>
        </p:spPr>
        <p:txBody>
          <a:bodyPr wrap="square">
            <a:noAutofit/>
          </a:bodyPr>
          <a:lstStyle/>
          <a:p>
            <a:pPr>
              <a:defRPr sz="1500" b="1">
                <a:solidFill>
                  <a:srgbClr val="4489C8"/>
                </a:solidFill>
                <a:latin typeface="Microsoft YaHei"/>
              </a:defRPr>
            </a:pPr>
            <a:r>
              <a:t>扰动地表面积表 单位：m²</a:t>
            </a:r>
          </a:p>
        </p:txBody>
      </p:sp>
      <p:sp>
        <p:nvSpPr>
          <p:cNvPr id="8" name="TextBox 7"/>
          <p:cNvSpPr txBox="1"/>
          <p:nvPr/>
        </p:nvSpPr>
        <p:spPr>
          <a:xfrm>
            <a:off x="713232" y="5138928"/>
            <a:ext cx="10561320" cy="868680"/>
          </a:xfrm>
          <a:prstGeom prst="rect">
            <a:avLst/>
          </a:prstGeom>
          <a:noFill/>
        </p:spPr>
        <p:txBody>
          <a:bodyPr wrap="square">
            <a:noAutofit/>
          </a:bodyPr>
          <a:lstStyle/>
          <a:p>
            <a:pPr>
              <a:spcAft>
                <a:spcPts val="400"/>
              </a:spcAft>
              <a:defRPr sz="1400">
                <a:solidFill>
                  <a:srgbClr val="01203C"/>
                </a:solidFill>
                <a:latin typeface="Microsoft YaHei"/>
              </a:defRPr>
            </a:pPr>
            <a:r>
              <a:t>这些表共同界定预测对象、预测范围和预测时段，是土壤流失量计算的前置参数。</a:t>
            </a:r>
          </a:p>
          <a:p>
            <a:pPr>
              <a:spcAft>
                <a:spcPts val="400"/>
              </a:spcAft>
              <a:defRPr sz="1400">
                <a:solidFill>
                  <a:srgbClr val="01203C"/>
                </a:solidFill>
                <a:latin typeface="Microsoft YaHei"/>
              </a:defRPr>
            </a:pPr>
            <a:r>
              <a:t>管网工程区是主要扰动单元，施工期和自然恢复期需分别控制。</a:t>
            </a:r>
          </a:p>
          <a:p>
            <a:pPr>
              <a:spcAft>
                <a:spcPts val="400"/>
              </a:spcAft>
              <a:defRPr sz="1400">
                <a:solidFill>
                  <a:srgbClr val="01203C"/>
                </a:solidFill>
                <a:latin typeface="Microsoft YaHei"/>
              </a:defRPr>
            </a:pPr>
            <a:r>
              <a:t>预测单元划分与施工组织、占地范围和恢复安排保持一致。</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384048" y="182880"/>
            <a:ext cx="10835640" cy="457200"/>
          </a:xfrm>
          <a:prstGeom prst="rect">
            <a:avLst/>
          </a:prstGeom>
          <a:noFill/>
        </p:spPr>
        <p:txBody>
          <a:bodyPr wrap="square">
            <a:noAutofit/>
          </a:bodyPr>
          <a:lstStyle/>
          <a:p>
            <a:pPr>
              <a:defRPr sz="2400" b="1">
                <a:solidFill>
                  <a:srgbClr val="01203C"/>
                </a:solidFill>
                <a:latin typeface="Microsoft YaHei"/>
              </a:defRPr>
            </a:pPr>
            <a:r>
              <a:t>背景土壤侵蚀模数取 261.46t/km²·a</a:t>
            </a:r>
          </a:p>
        </p:txBody>
      </p:sp>
      <p:sp>
        <p:nvSpPr>
          <p:cNvPr id="3" name="TextBox 2"/>
          <p:cNvSpPr txBox="1"/>
          <p:nvPr/>
        </p:nvSpPr>
        <p:spPr>
          <a:xfrm>
            <a:off x="393192" y="621792"/>
            <a:ext cx="6400800" cy="219456"/>
          </a:xfrm>
          <a:prstGeom prst="rect">
            <a:avLst/>
          </a:prstGeom>
          <a:noFill/>
        </p:spPr>
        <p:txBody>
          <a:bodyPr wrap="square">
            <a:noAutofit/>
          </a:bodyPr>
          <a:lstStyle/>
          <a:p>
            <a:pPr>
              <a:defRPr sz="950" b="0">
                <a:solidFill>
                  <a:srgbClr val="4489C8"/>
                </a:solidFill>
                <a:latin typeface="Microsoft YaHei"/>
              </a:defRPr>
            </a:pPr>
            <a:r>
              <a:t>水土流失分析与预测</a:t>
            </a:r>
          </a:p>
        </p:txBody>
      </p:sp>
      <p:sp>
        <p:nvSpPr>
          <p:cNvPr id="4" name="TextBox 3"/>
          <p:cNvSpPr txBox="1"/>
          <p:nvPr/>
        </p:nvSpPr>
        <p:spPr>
          <a:xfrm>
            <a:off x="10652760" y="603504"/>
            <a:ext cx="640080" cy="182880"/>
          </a:xfrm>
          <a:prstGeom prst="rect">
            <a:avLst/>
          </a:prstGeom>
          <a:noFill/>
        </p:spPr>
        <p:txBody>
          <a:bodyPr wrap="square">
            <a:noAutofit/>
          </a:bodyPr>
          <a:lstStyle/>
          <a:p>
            <a:pPr algn="r">
              <a:defRPr sz="900" b="0">
                <a:solidFill>
                  <a:srgbClr val="566B7F"/>
                </a:solidFill>
                <a:latin typeface="Microsoft YaHei"/>
              </a:defRPr>
            </a:pPr>
            <a:r>
              <a:t>20</a:t>
            </a:r>
          </a:p>
        </p:txBody>
      </p:sp>
      <p:sp>
        <p:nvSpPr>
          <p:cNvPr id="5" name="Rectangle 4"/>
          <p:cNvSpPr/>
          <p:nvPr/>
        </p:nvSpPr>
        <p:spPr>
          <a:xfrm>
            <a:off x="384048" y="804672"/>
            <a:ext cx="10826496" cy="13716"/>
          </a:xfrm>
          <a:prstGeom prst="rect">
            <a:avLst/>
          </a:prstGeom>
          <a:solidFill>
            <a:srgbClr val="448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060704"/>
          <a:ext cx="7315200" cy="4617720"/>
        </p:xfrm>
        <a:graphic>
          <a:graphicData uri="http://schemas.openxmlformats.org/drawingml/2006/table">
            <a:tbl>
              <a:tblPr firstRow="1" bandRow="1">
                <a:tableStyleId>{5C22544A-7EE6-4342-B048-85BDC9FD1C3A}</a:tableStyleId>
              </a:tblPr>
              <a:tblGrid>
                <a:gridCol w="1828800"/>
                <a:gridCol w="1828800"/>
                <a:gridCol w="1828800"/>
                <a:gridCol w="1828800"/>
              </a:tblGrid>
              <a:tr h="1539240">
                <a:tc>
                  <a:txBody>
                    <a:bodyPr/>
                    <a:lstStyle/>
                    <a:p>
                      <a:pPr algn="ctr">
                        <a:defRPr sz="1200" b="1">
                          <a:solidFill>
                            <a:srgbClr val="01203C"/>
                          </a:solidFill>
                          <a:latin typeface="Microsoft YaHei"/>
                        </a:defRPr>
                      </a:pPr>
                      <a:r>
                        <a:t>序号</a:t>
                      </a:r>
                    </a:p>
                  </a:txBody>
                  <a:tcPr anchor="ctr" marL="36576" marR="36576" marT="18288" marB="18288">
                    <a:solidFill>
                      <a:srgbClr val="EAF2F8"/>
                    </a:solidFill>
                  </a:tcPr>
                </a:tc>
                <a:tc>
                  <a:txBody>
                    <a:bodyPr/>
                    <a:lstStyle/>
                    <a:p>
                      <a:pPr algn="ctr">
                        <a:defRPr sz="1200" b="1">
                          <a:solidFill>
                            <a:srgbClr val="01203C"/>
                          </a:solidFill>
                          <a:latin typeface="Microsoft YaHei"/>
                        </a:defRPr>
                      </a:pPr>
                      <a:r>
                        <a:t>土地利用类型</a:t>
                      </a:r>
                    </a:p>
                  </a:txBody>
                  <a:tcPr anchor="ctr" marL="36576" marR="36576" marT="18288" marB="18288">
                    <a:solidFill>
                      <a:srgbClr val="EAF2F8"/>
                    </a:solidFill>
                  </a:tcPr>
                </a:tc>
                <a:tc>
                  <a:txBody>
                    <a:bodyPr/>
                    <a:lstStyle/>
                    <a:p>
                      <a:pPr algn="ctr">
                        <a:defRPr sz="1200" b="1">
                          <a:solidFill>
                            <a:srgbClr val="01203C"/>
                          </a:solidFill>
                          <a:latin typeface="Microsoft YaHei"/>
                        </a:defRPr>
                      </a:pPr>
                      <a:r>
                        <a:t>坡度（°）</a:t>
                      </a:r>
                    </a:p>
                  </a:txBody>
                  <a:tcPr anchor="ctr" marL="36576" marR="36576" marT="18288" marB="18288">
                    <a:solidFill>
                      <a:srgbClr val="EAF2F8"/>
                    </a:solidFill>
                  </a:tcPr>
                </a:tc>
                <a:tc>
                  <a:txBody>
                    <a:bodyPr/>
                    <a:lstStyle/>
                    <a:p>
                      <a:pPr algn="ctr">
                        <a:defRPr sz="1200" b="1">
                          <a:solidFill>
                            <a:srgbClr val="01203C"/>
                          </a:solidFill>
                          <a:latin typeface="Microsoft YaHei"/>
                        </a:defRPr>
                      </a:pPr>
                      <a:r>
                        <a:t>林草覆盖度（ % ）</a:t>
                      </a:r>
                    </a:p>
                  </a:txBody>
                  <a:tcPr anchor="ctr" marL="36576" marR="36576" marT="18288" marB="18288">
                    <a:solidFill>
                      <a:srgbClr val="EAF2F8"/>
                    </a:solidFill>
                  </a:tcPr>
                </a:tc>
              </a:tr>
              <a:tr h="1539240">
                <a:tc>
                  <a:txBody>
                    <a:bodyPr/>
                    <a:lstStyle/>
                    <a:p>
                      <a:pPr algn="ctr">
                        <a:defRPr sz="1200">
                          <a:solidFill>
                            <a:srgbClr val="01203C"/>
                          </a:solidFill>
                          <a:latin typeface="Microsoft YaHei"/>
                        </a:defRPr>
                      </a:pPr>
                      <a:r>
                        <a:t>1</a:t>
                      </a:r>
                    </a:p>
                  </a:txBody>
                  <a:tcPr anchor="ctr" marL="36576" marR="36576" marT="18288" marB="18288">
                    <a:solidFill>
                      <a:srgbClr val="FFFFFF"/>
                    </a:solidFill>
                  </a:tcPr>
                </a:tc>
                <a:tc>
                  <a:txBody>
                    <a:bodyPr/>
                    <a:lstStyle/>
                    <a:p>
                      <a:pPr algn="ctr">
                        <a:defRPr sz="1200">
                          <a:solidFill>
                            <a:srgbClr val="01203C"/>
                          </a:solidFill>
                          <a:latin typeface="Microsoft YaHei"/>
                        </a:defRPr>
                      </a:pPr>
                      <a:r>
                        <a:t>城镇村道路用地</a:t>
                      </a:r>
                    </a:p>
                  </a:txBody>
                  <a:tcPr anchor="ctr" marL="36576" marR="36576" marT="18288" marB="18288">
                    <a:solidFill>
                      <a:srgbClr val="FFFFFF"/>
                    </a:solidFill>
                  </a:tcPr>
                </a:tc>
                <a:tc>
                  <a:txBody>
                    <a:bodyPr/>
                    <a:lstStyle/>
                    <a:p>
                      <a:pPr algn="ctr">
                        <a:defRPr sz="1200">
                          <a:solidFill>
                            <a:srgbClr val="01203C"/>
                          </a:solidFill>
                          <a:latin typeface="Microsoft YaHei"/>
                        </a:defRPr>
                      </a:pPr>
                      <a:r>
                        <a:t>0~5</a:t>
                      </a:r>
                    </a:p>
                  </a:txBody>
                  <a:tcPr anchor="ctr" marL="36576" marR="36576" marT="18288" marB="18288">
                    <a:solidFill>
                      <a:srgbClr val="FFFFFF"/>
                    </a:solidFill>
                  </a:tcPr>
                </a:tc>
                <a:tc>
                  <a:txBody>
                    <a:bodyPr/>
                    <a:lstStyle/>
                    <a:p>
                      <a:pPr algn="ctr">
                        <a:defRPr sz="1200">
                          <a:solidFill>
                            <a:srgbClr val="01203C"/>
                          </a:solidFill>
                          <a:latin typeface="Microsoft YaHei"/>
                        </a:defRPr>
                      </a:pPr>
                    </a:p>
                  </a:txBody>
                  <a:tcPr anchor="ctr" marL="36576" marR="36576" marT="18288" marB="18288">
                    <a:solidFill>
                      <a:srgbClr val="FFFFFF"/>
                    </a:solidFill>
                  </a:tcPr>
                </a:tc>
              </a:tr>
              <a:tr h="1539240">
                <a:tc>
                  <a:txBody>
                    <a:bodyPr/>
                    <a:lstStyle/>
                    <a:p>
                      <a:pPr algn="ctr">
                        <a:defRPr sz="1200">
                          <a:solidFill>
                            <a:srgbClr val="01203C"/>
                          </a:solidFill>
                          <a:latin typeface="Microsoft YaHei"/>
                        </a:defRPr>
                      </a:pPr>
                      <a:r>
                        <a:t>2</a:t>
                      </a:r>
                    </a:p>
                  </a:txBody>
                  <a:tcPr anchor="ctr" marL="36576" marR="36576" marT="18288" marB="18288">
                    <a:solidFill>
                      <a:srgbClr val="FFFFFF"/>
                    </a:solidFill>
                  </a:tcPr>
                </a:tc>
                <a:tc>
                  <a:txBody>
                    <a:bodyPr/>
                    <a:lstStyle/>
                    <a:p>
                      <a:pPr algn="ctr">
                        <a:defRPr sz="1200">
                          <a:solidFill>
                            <a:srgbClr val="01203C"/>
                          </a:solidFill>
                          <a:latin typeface="Microsoft YaHei"/>
                        </a:defRPr>
                      </a:pPr>
                      <a:r>
                        <a:t>公园与绿地</a:t>
                      </a:r>
                    </a:p>
                  </a:txBody>
                  <a:tcPr anchor="ctr" marL="36576" marR="36576" marT="18288" marB="18288">
                    <a:solidFill>
                      <a:srgbClr val="FFFFFF"/>
                    </a:solidFill>
                  </a:tcPr>
                </a:tc>
                <a:tc>
                  <a:txBody>
                    <a:bodyPr/>
                    <a:lstStyle/>
                    <a:p>
                      <a:pPr algn="ctr">
                        <a:defRPr sz="1200">
                          <a:solidFill>
                            <a:srgbClr val="01203C"/>
                          </a:solidFill>
                          <a:latin typeface="Microsoft YaHei"/>
                        </a:defRPr>
                      </a:pPr>
                      <a:r>
                        <a:t>0~5</a:t>
                      </a:r>
                    </a:p>
                  </a:txBody>
                  <a:tcPr anchor="ctr" marL="36576" marR="36576" marT="18288" marB="18288">
                    <a:solidFill>
                      <a:srgbClr val="FFFFFF"/>
                    </a:solidFill>
                  </a:tcPr>
                </a:tc>
                <a:tc>
                  <a:txBody>
                    <a:bodyPr/>
                    <a:lstStyle/>
                    <a:p>
                      <a:pPr algn="ctr">
                        <a:defRPr sz="1200">
                          <a:solidFill>
                            <a:srgbClr val="01203C"/>
                          </a:solidFill>
                          <a:latin typeface="Microsoft YaHei"/>
                        </a:defRPr>
                      </a:pPr>
                      <a:r>
                        <a:t>75</a:t>
                      </a:r>
                    </a:p>
                  </a:txBody>
                  <a:tcPr anchor="ctr" marL="36576" marR="36576" marT="18288" marB="18288">
                    <a:solidFill>
                      <a:srgbClr val="FFFFFF"/>
                    </a:solidFill>
                  </a:tcPr>
                </a:tc>
              </a:tr>
            </a:tbl>
          </a:graphicData>
        </a:graphic>
      </p:graphicFrame>
      <p:sp>
        <p:nvSpPr>
          <p:cNvPr id="7" name="TextBox 6"/>
          <p:cNvSpPr txBox="1"/>
          <p:nvPr/>
        </p:nvSpPr>
        <p:spPr>
          <a:xfrm>
            <a:off x="8183879" y="1115568"/>
            <a:ext cx="3063240" cy="438912"/>
          </a:xfrm>
          <a:prstGeom prst="rect">
            <a:avLst/>
          </a:prstGeom>
          <a:noFill/>
        </p:spPr>
        <p:txBody>
          <a:bodyPr wrap="square">
            <a:noAutofit/>
          </a:bodyPr>
          <a:lstStyle/>
          <a:p>
            <a:pPr>
              <a:defRPr sz="1500" b="1">
                <a:solidFill>
                  <a:srgbClr val="4489C8"/>
                </a:solidFill>
                <a:latin typeface="Microsoft YaHei"/>
              </a:defRPr>
            </a:pPr>
            <a:r>
              <a:t>4.3.3.1 原地貌土壤侵蚀模数</a:t>
            </a:r>
          </a:p>
        </p:txBody>
      </p:sp>
      <p:sp>
        <p:nvSpPr>
          <p:cNvPr id="8" name="TextBox 7"/>
          <p:cNvSpPr txBox="1"/>
          <p:nvPr/>
        </p:nvSpPr>
        <p:spPr>
          <a:xfrm>
            <a:off x="8183879" y="1719072"/>
            <a:ext cx="2880360" cy="3611880"/>
          </a:xfrm>
          <a:prstGeom prst="rect">
            <a:avLst/>
          </a:prstGeom>
          <a:noFill/>
        </p:spPr>
        <p:txBody>
          <a:bodyPr wrap="square">
            <a:noAutofit/>
          </a:bodyPr>
          <a:lstStyle/>
          <a:p>
            <a:pPr>
              <a:spcAft>
                <a:spcPts val="400"/>
              </a:spcAft>
              <a:defRPr sz="1400">
                <a:solidFill>
                  <a:srgbClr val="01203C"/>
                </a:solidFill>
                <a:latin typeface="Microsoft YaHei"/>
              </a:defRPr>
            </a:pPr>
            <a:r>
              <a:t>侵蚀模数表和背景值计算表给出预测模型的参数基础。</a:t>
            </a:r>
          </a:p>
          <a:p>
            <a:pPr>
              <a:spcAft>
                <a:spcPts val="400"/>
              </a:spcAft>
              <a:defRPr sz="1400">
                <a:solidFill>
                  <a:srgbClr val="01203C"/>
                </a:solidFill>
                <a:latin typeface="Microsoft YaHei"/>
              </a:defRPr>
            </a:pPr>
            <a:r>
              <a:t>背景值体现工程建设相对于原地貌状态的新增扰动贡献。</a:t>
            </a:r>
          </a:p>
          <a:p>
            <a:pPr>
              <a:spcAft>
                <a:spcPts val="400"/>
              </a:spcAft>
              <a:defRPr sz="1400">
                <a:solidFill>
                  <a:srgbClr val="01203C"/>
                </a:solidFill>
                <a:latin typeface="Microsoft YaHei"/>
              </a:defRPr>
            </a:pPr>
            <a:r>
              <a:t>取值来源、计算口径与报告公式共同形成预测参数体系。</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384048" y="182880"/>
            <a:ext cx="10835640" cy="457200"/>
          </a:xfrm>
          <a:prstGeom prst="rect">
            <a:avLst/>
          </a:prstGeom>
          <a:noFill/>
        </p:spPr>
        <p:txBody>
          <a:bodyPr wrap="square">
            <a:noAutofit/>
          </a:bodyPr>
          <a:lstStyle/>
          <a:p>
            <a:pPr>
              <a:defRPr sz="2400" b="1">
                <a:solidFill>
                  <a:srgbClr val="01203C"/>
                </a:solidFill>
                <a:latin typeface="Microsoft YaHei"/>
              </a:defRPr>
            </a:pPr>
            <a:r>
              <a:t>施工期扰动后侵蚀模数显著高于背景值</a:t>
            </a:r>
          </a:p>
        </p:txBody>
      </p:sp>
      <p:sp>
        <p:nvSpPr>
          <p:cNvPr id="3" name="TextBox 2"/>
          <p:cNvSpPr txBox="1"/>
          <p:nvPr/>
        </p:nvSpPr>
        <p:spPr>
          <a:xfrm>
            <a:off x="393192" y="621792"/>
            <a:ext cx="6400800" cy="219456"/>
          </a:xfrm>
          <a:prstGeom prst="rect">
            <a:avLst/>
          </a:prstGeom>
          <a:noFill/>
        </p:spPr>
        <p:txBody>
          <a:bodyPr wrap="square">
            <a:noAutofit/>
          </a:bodyPr>
          <a:lstStyle/>
          <a:p>
            <a:pPr>
              <a:defRPr sz="950" b="0">
                <a:solidFill>
                  <a:srgbClr val="4489C8"/>
                </a:solidFill>
                <a:latin typeface="Microsoft YaHei"/>
              </a:defRPr>
            </a:pPr>
            <a:r>
              <a:t>水土流失分析与预测</a:t>
            </a:r>
          </a:p>
        </p:txBody>
      </p:sp>
      <p:sp>
        <p:nvSpPr>
          <p:cNvPr id="4" name="TextBox 3"/>
          <p:cNvSpPr txBox="1"/>
          <p:nvPr/>
        </p:nvSpPr>
        <p:spPr>
          <a:xfrm>
            <a:off x="10652760" y="603504"/>
            <a:ext cx="640080" cy="182880"/>
          </a:xfrm>
          <a:prstGeom prst="rect">
            <a:avLst/>
          </a:prstGeom>
          <a:noFill/>
        </p:spPr>
        <p:txBody>
          <a:bodyPr wrap="square">
            <a:noAutofit/>
          </a:bodyPr>
          <a:lstStyle/>
          <a:p>
            <a:pPr algn="r">
              <a:defRPr sz="900" b="0">
                <a:solidFill>
                  <a:srgbClr val="566B7F"/>
                </a:solidFill>
                <a:latin typeface="Microsoft YaHei"/>
              </a:defRPr>
            </a:pPr>
            <a:r>
              <a:t>21</a:t>
            </a:r>
          </a:p>
        </p:txBody>
      </p:sp>
      <p:sp>
        <p:nvSpPr>
          <p:cNvPr id="5" name="Rectangle 4"/>
          <p:cNvSpPr/>
          <p:nvPr/>
        </p:nvSpPr>
        <p:spPr>
          <a:xfrm>
            <a:off x="384048" y="804672"/>
            <a:ext cx="10826496" cy="13716"/>
          </a:xfrm>
          <a:prstGeom prst="rect">
            <a:avLst/>
          </a:prstGeom>
          <a:solidFill>
            <a:srgbClr val="448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060704"/>
          <a:ext cx="7315200" cy="4617718"/>
        </p:xfrm>
        <a:graphic>
          <a:graphicData uri="http://schemas.openxmlformats.org/drawingml/2006/table">
            <a:tbl>
              <a:tblPr firstRow="1" bandRow="1">
                <a:tableStyleId>{5C22544A-7EE6-4342-B048-85BDC9FD1C3A}</a:tableStyleId>
              </a:tblPr>
              <a:tblGrid>
                <a:gridCol w="1828800"/>
                <a:gridCol w="1828800"/>
                <a:gridCol w="1828800"/>
                <a:gridCol w="1828800"/>
              </a:tblGrid>
              <a:tr h="659674">
                <a:tc>
                  <a:txBody>
                    <a:bodyPr/>
                    <a:lstStyle/>
                    <a:p>
                      <a:pPr algn="ctr">
                        <a:defRPr sz="1200" b="1">
                          <a:solidFill>
                            <a:srgbClr val="01203C"/>
                          </a:solidFill>
                          <a:latin typeface="Microsoft YaHei"/>
                        </a:defRPr>
                      </a:pPr>
                      <a:r>
                        <a:t>序号</a:t>
                      </a:r>
                    </a:p>
                  </a:txBody>
                  <a:tcPr anchor="ctr" marL="36576" marR="36576" marT="18288" marB="18288">
                    <a:solidFill>
                      <a:srgbClr val="EAF2F8"/>
                    </a:solidFill>
                  </a:tcPr>
                </a:tc>
                <a:tc>
                  <a:txBody>
                    <a:bodyPr/>
                    <a:lstStyle/>
                    <a:p>
                      <a:pPr algn="ctr">
                        <a:defRPr sz="1200" b="1">
                          <a:solidFill>
                            <a:srgbClr val="01203C"/>
                          </a:solidFill>
                          <a:latin typeface="Microsoft YaHei"/>
                        </a:defRPr>
                      </a:pPr>
                      <a:r>
                        <a:t>项目</a:t>
                      </a:r>
                    </a:p>
                  </a:txBody>
                  <a:tcPr anchor="ctr" marL="36576" marR="36576" marT="18288" marB="18288">
                    <a:solidFill>
                      <a:srgbClr val="EAF2F8"/>
                    </a:solidFill>
                  </a:tcPr>
                </a:tc>
                <a:tc>
                  <a:txBody>
                    <a:bodyPr/>
                    <a:lstStyle/>
                    <a:p>
                      <a:pPr algn="ctr">
                        <a:defRPr sz="1200" b="1">
                          <a:solidFill>
                            <a:srgbClr val="01203C"/>
                          </a:solidFill>
                          <a:latin typeface="Microsoft YaHei"/>
                        </a:defRPr>
                      </a:pPr>
                      <a:r>
                        <a:t>因子</a:t>
                      </a:r>
                    </a:p>
                  </a:txBody>
                  <a:tcPr anchor="ctr" marL="36576" marR="36576" marT="18288" marB="18288">
                    <a:solidFill>
                      <a:srgbClr val="EAF2F8"/>
                    </a:solidFill>
                  </a:tcPr>
                </a:tc>
                <a:tc>
                  <a:txBody>
                    <a:bodyPr/>
                    <a:lstStyle/>
                    <a:p>
                      <a:pPr algn="ctr">
                        <a:defRPr sz="1200" b="1">
                          <a:solidFill>
                            <a:srgbClr val="01203C"/>
                          </a:solidFill>
                          <a:latin typeface="Microsoft YaHei"/>
                        </a:defRPr>
                      </a:pPr>
                      <a:r>
                        <a:t>管网工程区</a:t>
                      </a:r>
                    </a:p>
                  </a:txBody>
                  <a:tcPr anchor="ctr" marL="36576" marR="36576" marT="18288" marB="18288">
                    <a:solidFill>
                      <a:srgbClr val="EAF2F8"/>
                    </a:solidFill>
                  </a:tcPr>
                </a:tc>
              </a:tr>
              <a:tr h="659674">
                <a:tc>
                  <a:txBody>
                    <a:bodyPr/>
                    <a:lstStyle/>
                    <a:p>
                      <a:pPr algn="ctr">
                        <a:defRPr sz="1200">
                          <a:solidFill>
                            <a:srgbClr val="01203C"/>
                          </a:solidFill>
                          <a:latin typeface="Microsoft YaHei"/>
                        </a:defRPr>
                      </a:pPr>
                      <a:r>
                        <a:t>1</a:t>
                      </a:r>
                    </a:p>
                  </a:txBody>
                  <a:tcPr anchor="ctr" marL="36576" marR="36576" marT="18288" marB="18288">
                    <a:solidFill>
                      <a:srgbClr val="FFFFFF"/>
                    </a:solidFill>
                  </a:tcPr>
                </a:tc>
                <a:tc>
                  <a:txBody>
                    <a:bodyPr/>
                    <a:lstStyle/>
                    <a:p>
                      <a:pPr algn="ctr">
                        <a:defRPr sz="1200">
                          <a:solidFill>
                            <a:srgbClr val="01203C"/>
                          </a:solidFill>
                          <a:latin typeface="Microsoft YaHei"/>
                        </a:defRPr>
                      </a:pPr>
                      <a:r>
                        <a:t>土壤侵蚀模数（ t/km²·a ）</a:t>
                      </a:r>
                    </a:p>
                  </a:txBody>
                  <a:tcPr anchor="ctr" marL="36576" marR="36576" marT="18288" marB="18288">
                    <a:solidFill>
                      <a:srgbClr val="FFFFFF"/>
                    </a:solidFill>
                  </a:tcPr>
                </a:tc>
                <a:tc>
                  <a:txBody>
                    <a:bodyPr/>
                    <a:lstStyle/>
                    <a:p>
                      <a:pPr algn="ctr">
                        <a:defRPr sz="1200">
                          <a:solidFill>
                            <a:srgbClr val="01203C"/>
                          </a:solidFill>
                          <a:latin typeface="Microsoft YaHei"/>
                        </a:defRPr>
                      </a:pPr>
                      <a:r>
                        <a:t>M</a:t>
                      </a:r>
                    </a:p>
                  </a:txBody>
                  <a:tcPr anchor="ctr" marL="36576" marR="36576" marT="18288" marB="18288">
                    <a:solidFill>
                      <a:srgbClr val="FFFFFF"/>
                    </a:solidFill>
                  </a:tcPr>
                </a:tc>
                <a:tc>
                  <a:txBody>
                    <a:bodyPr/>
                    <a:lstStyle/>
                    <a:p>
                      <a:pPr algn="ctr">
                        <a:defRPr sz="1200">
                          <a:solidFill>
                            <a:srgbClr val="01203C"/>
                          </a:solidFill>
                          <a:latin typeface="Microsoft YaHei"/>
                        </a:defRPr>
                      </a:pPr>
                      <a:r>
                        <a:t>1153.34</a:t>
                      </a:r>
                    </a:p>
                  </a:txBody>
                  <a:tcPr anchor="ctr" marL="36576" marR="36576" marT="18288" marB="18288">
                    <a:solidFill>
                      <a:srgbClr val="FFFFFF"/>
                    </a:solidFill>
                  </a:tcPr>
                </a:tc>
              </a:tr>
              <a:tr h="659674">
                <a:tc>
                  <a:txBody>
                    <a:bodyPr/>
                    <a:lstStyle/>
                    <a:p>
                      <a:pPr algn="ctr">
                        <a:defRPr sz="1200">
                          <a:solidFill>
                            <a:srgbClr val="01203C"/>
                          </a:solidFill>
                          <a:latin typeface="Microsoft YaHei"/>
                        </a:defRPr>
                      </a:pPr>
                      <a:r>
                        <a:t>1.1</a:t>
                      </a:r>
                    </a:p>
                  </a:txBody>
                  <a:tcPr anchor="ctr" marL="36576" marR="36576" marT="18288" marB="18288">
                    <a:solidFill>
                      <a:srgbClr val="FFFFFF"/>
                    </a:solidFill>
                  </a:tcPr>
                </a:tc>
                <a:tc>
                  <a:txBody>
                    <a:bodyPr/>
                    <a:lstStyle/>
                    <a:p>
                      <a:pPr algn="ctr">
                        <a:defRPr sz="1200">
                          <a:solidFill>
                            <a:srgbClr val="01203C"/>
                          </a:solidFill>
                          <a:latin typeface="Microsoft YaHei"/>
                        </a:defRPr>
                      </a:pPr>
                      <a:r>
                        <a:t>降雨侵蚀力因子</a:t>
                      </a:r>
                    </a:p>
                  </a:txBody>
                  <a:tcPr anchor="ctr" marL="36576" marR="36576" marT="18288" marB="18288">
                    <a:solidFill>
                      <a:srgbClr val="FFFFFF"/>
                    </a:solidFill>
                  </a:tcPr>
                </a:tc>
                <a:tc>
                  <a:txBody>
                    <a:bodyPr/>
                    <a:lstStyle/>
                    <a:p>
                      <a:pPr algn="ctr">
                        <a:defRPr sz="1200">
                          <a:solidFill>
                            <a:srgbClr val="01203C"/>
                          </a:solidFill>
                          <a:latin typeface="Microsoft YaHei"/>
                        </a:defRPr>
                      </a:pPr>
                      <a:r>
                        <a:t>R</a:t>
                      </a:r>
                    </a:p>
                  </a:txBody>
                  <a:tcPr anchor="ctr" marL="36576" marR="36576" marT="18288" marB="18288">
                    <a:solidFill>
                      <a:srgbClr val="FFFFFF"/>
                    </a:solidFill>
                  </a:tcPr>
                </a:tc>
                <a:tc>
                  <a:txBody>
                    <a:bodyPr/>
                    <a:lstStyle/>
                    <a:p>
                      <a:pPr algn="ctr">
                        <a:defRPr sz="1200">
                          <a:solidFill>
                            <a:srgbClr val="01203C"/>
                          </a:solidFill>
                          <a:latin typeface="Microsoft YaHei"/>
                        </a:defRPr>
                      </a:pPr>
                      <a:r>
                        <a:t>7179.00</a:t>
                      </a:r>
                    </a:p>
                  </a:txBody>
                  <a:tcPr anchor="ctr" marL="36576" marR="36576" marT="18288" marB="18288">
                    <a:solidFill>
                      <a:srgbClr val="FFFFFF"/>
                    </a:solidFill>
                  </a:tcPr>
                </a:tc>
              </a:tr>
              <a:tr h="659674">
                <a:tc>
                  <a:txBody>
                    <a:bodyPr/>
                    <a:lstStyle/>
                    <a:p>
                      <a:pPr algn="ctr">
                        <a:defRPr sz="1200">
                          <a:solidFill>
                            <a:srgbClr val="01203C"/>
                          </a:solidFill>
                          <a:latin typeface="Microsoft YaHei"/>
                        </a:defRPr>
                      </a:pPr>
                      <a:r>
                        <a:t>1.2</a:t>
                      </a:r>
                    </a:p>
                  </a:txBody>
                  <a:tcPr anchor="ctr" marL="36576" marR="36576" marT="18288" marB="18288">
                    <a:solidFill>
                      <a:srgbClr val="FFFFFF"/>
                    </a:solidFill>
                  </a:tcPr>
                </a:tc>
                <a:tc>
                  <a:txBody>
                    <a:bodyPr/>
                    <a:lstStyle/>
                    <a:p>
                      <a:pPr algn="ctr">
                        <a:defRPr sz="1200">
                          <a:solidFill>
                            <a:srgbClr val="01203C"/>
                          </a:solidFill>
                          <a:latin typeface="Microsoft YaHei"/>
                        </a:defRPr>
                      </a:pPr>
                      <a:r>
                        <a:t>土壤可蚀性因子</a:t>
                      </a:r>
                    </a:p>
                  </a:txBody>
                  <a:tcPr anchor="ctr" marL="36576" marR="36576" marT="18288" marB="18288">
                    <a:solidFill>
                      <a:srgbClr val="FFFFFF"/>
                    </a:solidFill>
                  </a:tcPr>
                </a:tc>
                <a:tc>
                  <a:txBody>
                    <a:bodyPr/>
                    <a:lstStyle/>
                    <a:p>
                      <a:pPr algn="ctr">
                        <a:defRPr sz="1200">
                          <a:solidFill>
                            <a:srgbClr val="01203C"/>
                          </a:solidFill>
                          <a:latin typeface="Microsoft YaHei"/>
                        </a:defRPr>
                      </a:pPr>
                      <a:r>
                        <a:t>K</a:t>
                      </a:r>
                    </a:p>
                  </a:txBody>
                  <a:tcPr anchor="ctr" marL="36576" marR="36576" marT="18288" marB="18288">
                    <a:solidFill>
                      <a:srgbClr val="FFFFFF"/>
                    </a:solidFill>
                  </a:tcPr>
                </a:tc>
                <a:tc>
                  <a:txBody>
                    <a:bodyPr/>
                    <a:lstStyle/>
                    <a:p>
                      <a:pPr algn="ctr">
                        <a:defRPr sz="1200">
                          <a:solidFill>
                            <a:srgbClr val="01203C"/>
                          </a:solidFill>
                          <a:latin typeface="Microsoft YaHei"/>
                        </a:defRPr>
                      </a:pPr>
                      <a:r>
                        <a:t>0.0043</a:t>
                      </a:r>
                    </a:p>
                  </a:txBody>
                  <a:tcPr anchor="ctr" marL="36576" marR="36576" marT="18288" marB="18288">
                    <a:solidFill>
                      <a:srgbClr val="FFFFFF"/>
                    </a:solidFill>
                  </a:tcPr>
                </a:tc>
              </a:tr>
              <a:tr h="659674">
                <a:tc>
                  <a:txBody>
                    <a:bodyPr/>
                    <a:lstStyle/>
                    <a:p>
                      <a:pPr algn="ctr">
                        <a:defRPr sz="1200">
                          <a:solidFill>
                            <a:srgbClr val="01203C"/>
                          </a:solidFill>
                          <a:latin typeface="Microsoft YaHei"/>
                        </a:defRPr>
                      </a:pPr>
                      <a:r>
                        <a:t>1.3</a:t>
                      </a:r>
                    </a:p>
                  </a:txBody>
                  <a:tcPr anchor="ctr" marL="36576" marR="36576" marT="18288" marB="18288">
                    <a:solidFill>
                      <a:srgbClr val="FFFFFF"/>
                    </a:solidFill>
                  </a:tcPr>
                </a:tc>
                <a:tc>
                  <a:txBody>
                    <a:bodyPr/>
                    <a:lstStyle/>
                    <a:p>
                      <a:pPr algn="ctr">
                        <a:defRPr sz="1200">
                          <a:solidFill>
                            <a:srgbClr val="01203C"/>
                          </a:solidFill>
                          <a:latin typeface="Microsoft YaHei"/>
                        </a:defRPr>
                      </a:pPr>
                      <a:r>
                        <a:t>坡长因子</a:t>
                      </a:r>
                    </a:p>
                  </a:txBody>
                  <a:tcPr anchor="ctr" marL="36576" marR="36576" marT="18288" marB="18288">
                    <a:solidFill>
                      <a:srgbClr val="FFFFFF"/>
                    </a:solidFill>
                  </a:tcPr>
                </a:tc>
                <a:tc>
                  <a:txBody>
                    <a:bodyPr/>
                    <a:lstStyle/>
                    <a:p>
                      <a:pPr algn="ctr">
                        <a:defRPr sz="1200">
                          <a:solidFill>
                            <a:srgbClr val="01203C"/>
                          </a:solidFill>
                          <a:latin typeface="Microsoft YaHei"/>
                        </a:defRPr>
                      </a:pPr>
                      <a:r>
                        <a:t>Ly</a:t>
                      </a:r>
                    </a:p>
                  </a:txBody>
                  <a:tcPr anchor="ctr" marL="36576" marR="36576" marT="18288" marB="18288">
                    <a:solidFill>
                      <a:srgbClr val="FFFFFF"/>
                    </a:solidFill>
                  </a:tcPr>
                </a:tc>
                <a:tc>
                  <a:txBody>
                    <a:bodyPr/>
                    <a:lstStyle/>
                    <a:p>
                      <a:pPr algn="ctr">
                        <a:defRPr sz="1200">
                          <a:solidFill>
                            <a:srgbClr val="01203C"/>
                          </a:solidFill>
                          <a:latin typeface="Microsoft YaHei"/>
                        </a:defRPr>
                      </a:pPr>
                      <a:r>
                        <a:t>1.18</a:t>
                      </a:r>
                    </a:p>
                  </a:txBody>
                  <a:tcPr anchor="ctr" marL="36576" marR="36576" marT="18288" marB="18288">
                    <a:solidFill>
                      <a:srgbClr val="FFFFFF"/>
                    </a:solidFill>
                  </a:tcPr>
                </a:tc>
              </a:tr>
              <a:tr h="659674">
                <a:tc>
                  <a:txBody>
                    <a:bodyPr/>
                    <a:lstStyle/>
                    <a:p>
                      <a:pPr algn="ctr">
                        <a:defRPr sz="1200">
                          <a:solidFill>
                            <a:srgbClr val="01203C"/>
                          </a:solidFill>
                          <a:latin typeface="Microsoft YaHei"/>
                        </a:defRPr>
                      </a:pPr>
                    </a:p>
                  </a:txBody>
                  <a:tcPr anchor="ctr" marL="36576" marR="36576" marT="18288" marB="18288">
                    <a:solidFill>
                      <a:srgbClr val="FFFFFF"/>
                    </a:solidFill>
                  </a:tcPr>
                </a:tc>
                <a:tc>
                  <a:txBody>
                    <a:bodyPr/>
                    <a:lstStyle/>
                    <a:p>
                      <a:pPr algn="ctr">
                        <a:defRPr sz="1200">
                          <a:solidFill>
                            <a:srgbClr val="01203C"/>
                          </a:solidFill>
                          <a:latin typeface="Microsoft YaHei"/>
                        </a:defRPr>
                      </a:pPr>
                      <a:r>
                        <a:t>坡长（ m ）</a:t>
                      </a:r>
                    </a:p>
                  </a:txBody>
                  <a:tcPr anchor="ctr" marL="36576" marR="36576" marT="18288" marB="18288">
                    <a:solidFill>
                      <a:srgbClr val="FFFFFF"/>
                    </a:solidFill>
                  </a:tcPr>
                </a:tc>
                <a:tc>
                  <a:txBody>
                    <a:bodyPr/>
                    <a:lstStyle/>
                    <a:p>
                      <a:pPr algn="ctr">
                        <a:defRPr sz="1200">
                          <a:solidFill>
                            <a:srgbClr val="01203C"/>
                          </a:solidFill>
                          <a:latin typeface="Microsoft YaHei"/>
                        </a:defRPr>
                      </a:pPr>
                      <a:r>
                        <a:t>λ</a:t>
                      </a:r>
                    </a:p>
                  </a:txBody>
                  <a:tcPr anchor="ctr" marL="36576" marR="36576" marT="18288" marB="18288">
                    <a:solidFill>
                      <a:srgbClr val="FFFFFF"/>
                    </a:solidFill>
                  </a:tcPr>
                </a:tc>
                <a:tc>
                  <a:txBody>
                    <a:bodyPr/>
                    <a:lstStyle/>
                    <a:p>
                      <a:pPr algn="ctr">
                        <a:defRPr sz="1200">
                          <a:solidFill>
                            <a:srgbClr val="01203C"/>
                          </a:solidFill>
                          <a:latin typeface="Microsoft YaHei"/>
                        </a:defRPr>
                      </a:pPr>
                      <a:r>
                        <a:t>30.00</a:t>
                      </a:r>
                    </a:p>
                  </a:txBody>
                  <a:tcPr anchor="ctr" marL="36576" marR="36576" marT="18288" marB="18288">
                    <a:solidFill>
                      <a:srgbClr val="FFFFFF"/>
                    </a:solidFill>
                  </a:tcPr>
                </a:tc>
              </a:tr>
              <a:tr h="659674">
                <a:tc>
                  <a:txBody>
                    <a:bodyPr/>
                    <a:lstStyle/>
                    <a:p>
                      <a:pPr algn="ctr">
                        <a:defRPr sz="1200">
                          <a:solidFill>
                            <a:srgbClr val="01203C"/>
                          </a:solidFill>
                          <a:latin typeface="Microsoft YaHei"/>
                        </a:defRPr>
                      </a:pPr>
                    </a:p>
                  </a:txBody>
                  <a:tcPr anchor="ctr" marL="36576" marR="36576" marT="18288" marB="18288">
                    <a:solidFill>
                      <a:srgbClr val="FFFFFF"/>
                    </a:solidFill>
                  </a:tcPr>
                </a:tc>
                <a:tc>
                  <a:txBody>
                    <a:bodyPr/>
                    <a:lstStyle/>
                    <a:p>
                      <a:pPr algn="ctr">
                        <a:defRPr sz="1200">
                          <a:solidFill>
                            <a:srgbClr val="01203C"/>
                          </a:solidFill>
                          <a:latin typeface="Microsoft YaHei"/>
                        </a:defRPr>
                      </a:pPr>
                      <a:r>
                        <a:t>坡长指数</a:t>
                      </a:r>
                    </a:p>
                  </a:txBody>
                  <a:tcPr anchor="ctr" marL="36576" marR="36576" marT="18288" marB="18288">
                    <a:solidFill>
                      <a:srgbClr val="FFFFFF"/>
                    </a:solidFill>
                  </a:tcPr>
                </a:tc>
                <a:tc>
                  <a:txBody>
                    <a:bodyPr/>
                    <a:lstStyle/>
                    <a:p>
                      <a:pPr algn="ctr">
                        <a:defRPr sz="1200">
                          <a:solidFill>
                            <a:srgbClr val="01203C"/>
                          </a:solidFill>
                          <a:latin typeface="Microsoft YaHei"/>
                        </a:defRPr>
                      </a:pPr>
                      <a:r>
                        <a:t>m</a:t>
                      </a:r>
                    </a:p>
                  </a:txBody>
                  <a:tcPr anchor="ctr" marL="36576" marR="36576" marT="18288" marB="18288">
                    <a:solidFill>
                      <a:srgbClr val="FFFFFF"/>
                    </a:solidFill>
                  </a:tcPr>
                </a:tc>
                <a:tc>
                  <a:txBody>
                    <a:bodyPr/>
                    <a:lstStyle/>
                    <a:p>
                      <a:pPr algn="ctr">
                        <a:defRPr sz="1200">
                          <a:solidFill>
                            <a:srgbClr val="01203C"/>
                          </a:solidFill>
                          <a:latin typeface="Microsoft YaHei"/>
                        </a:defRPr>
                      </a:pPr>
                      <a:r>
                        <a:t>0.4</a:t>
                      </a:r>
                    </a:p>
                  </a:txBody>
                  <a:tcPr anchor="ctr" marL="36576" marR="36576" marT="18288" marB="18288">
                    <a:solidFill>
                      <a:srgbClr val="FFFFFF"/>
                    </a:solidFill>
                  </a:tcPr>
                </a:tc>
              </a:tr>
            </a:tbl>
          </a:graphicData>
        </a:graphic>
      </p:graphicFrame>
      <p:sp>
        <p:nvSpPr>
          <p:cNvPr id="7" name="TextBox 6"/>
          <p:cNvSpPr txBox="1"/>
          <p:nvPr/>
        </p:nvSpPr>
        <p:spPr>
          <a:xfrm>
            <a:off x="8183879" y="1115568"/>
            <a:ext cx="3063240" cy="438912"/>
          </a:xfrm>
          <a:prstGeom prst="rect">
            <a:avLst/>
          </a:prstGeom>
          <a:noFill/>
        </p:spPr>
        <p:txBody>
          <a:bodyPr wrap="square">
            <a:noAutofit/>
          </a:bodyPr>
          <a:lstStyle/>
          <a:p>
            <a:pPr>
              <a:defRPr sz="1500" b="1">
                <a:solidFill>
                  <a:srgbClr val="4489C8"/>
                </a:solidFill>
                <a:latin typeface="Microsoft YaHei"/>
              </a:defRPr>
            </a:pPr>
            <a:r>
              <a:t>4.3.3.2 扰动后土壤侵蚀模数</a:t>
            </a:r>
          </a:p>
        </p:txBody>
      </p:sp>
      <p:sp>
        <p:nvSpPr>
          <p:cNvPr id="8" name="TextBox 7"/>
          <p:cNvSpPr txBox="1"/>
          <p:nvPr/>
        </p:nvSpPr>
        <p:spPr>
          <a:xfrm>
            <a:off x="8183879" y="1719072"/>
            <a:ext cx="2880360" cy="3611880"/>
          </a:xfrm>
          <a:prstGeom prst="rect">
            <a:avLst/>
          </a:prstGeom>
          <a:noFill/>
        </p:spPr>
        <p:txBody>
          <a:bodyPr wrap="square">
            <a:noAutofit/>
          </a:bodyPr>
          <a:lstStyle/>
          <a:p>
            <a:pPr>
              <a:spcAft>
                <a:spcPts val="400"/>
              </a:spcAft>
              <a:defRPr sz="1400">
                <a:solidFill>
                  <a:srgbClr val="01203C"/>
                </a:solidFill>
                <a:latin typeface="Microsoft YaHei"/>
              </a:defRPr>
            </a:pPr>
            <a:r>
              <a:t>侵蚀模数表和背景值计算表给出预测模型的参数基础。</a:t>
            </a:r>
          </a:p>
          <a:p>
            <a:pPr>
              <a:spcAft>
                <a:spcPts val="400"/>
              </a:spcAft>
              <a:defRPr sz="1400">
                <a:solidFill>
                  <a:srgbClr val="01203C"/>
                </a:solidFill>
                <a:latin typeface="Microsoft YaHei"/>
              </a:defRPr>
            </a:pPr>
            <a:r>
              <a:t>背景值体现工程建设相对于原地貌状态的新增扰动贡献。</a:t>
            </a:r>
          </a:p>
          <a:p>
            <a:pPr>
              <a:spcAft>
                <a:spcPts val="400"/>
              </a:spcAft>
              <a:defRPr sz="1400">
                <a:solidFill>
                  <a:srgbClr val="01203C"/>
                </a:solidFill>
                <a:latin typeface="Microsoft YaHei"/>
              </a:defRPr>
            </a:pPr>
            <a:r>
              <a:t>取值来源、计算口径与报告公式共同形成预测参数体系。</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384048" y="182880"/>
            <a:ext cx="10835640" cy="457200"/>
          </a:xfrm>
          <a:prstGeom prst="rect">
            <a:avLst/>
          </a:prstGeom>
          <a:noFill/>
        </p:spPr>
        <p:txBody>
          <a:bodyPr wrap="square">
            <a:noAutofit/>
          </a:bodyPr>
          <a:lstStyle/>
          <a:p>
            <a:pPr>
              <a:defRPr sz="2400" b="1">
                <a:solidFill>
                  <a:srgbClr val="01203C"/>
                </a:solidFill>
                <a:latin typeface="Microsoft YaHei"/>
              </a:defRPr>
            </a:pPr>
            <a:r>
              <a:t>预测土壤流失总量 104.05t，新增量 94.92t</a:t>
            </a:r>
          </a:p>
        </p:txBody>
      </p:sp>
      <p:sp>
        <p:nvSpPr>
          <p:cNvPr id="3" name="TextBox 2"/>
          <p:cNvSpPr txBox="1"/>
          <p:nvPr/>
        </p:nvSpPr>
        <p:spPr>
          <a:xfrm>
            <a:off x="393192" y="621792"/>
            <a:ext cx="6400800" cy="219456"/>
          </a:xfrm>
          <a:prstGeom prst="rect">
            <a:avLst/>
          </a:prstGeom>
          <a:noFill/>
        </p:spPr>
        <p:txBody>
          <a:bodyPr wrap="square">
            <a:noAutofit/>
          </a:bodyPr>
          <a:lstStyle/>
          <a:p>
            <a:pPr>
              <a:defRPr sz="950" b="0">
                <a:solidFill>
                  <a:srgbClr val="4489C8"/>
                </a:solidFill>
                <a:latin typeface="Microsoft YaHei"/>
              </a:defRPr>
            </a:pPr>
            <a:r>
              <a:t>水土流失分析与预测</a:t>
            </a:r>
          </a:p>
        </p:txBody>
      </p:sp>
      <p:sp>
        <p:nvSpPr>
          <p:cNvPr id="4" name="TextBox 3"/>
          <p:cNvSpPr txBox="1"/>
          <p:nvPr/>
        </p:nvSpPr>
        <p:spPr>
          <a:xfrm>
            <a:off x="10652760" y="603504"/>
            <a:ext cx="640080" cy="182880"/>
          </a:xfrm>
          <a:prstGeom prst="rect">
            <a:avLst/>
          </a:prstGeom>
          <a:noFill/>
        </p:spPr>
        <p:txBody>
          <a:bodyPr wrap="square">
            <a:noAutofit/>
          </a:bodyPr>
          <a:lstStyle/>
          <a:p>
            <a:pPr algn="r">
              <a:defRPr sz="900" b="0">
                <a:solidFill>
                  <a:srgbClr val="566B7F"/>
                </a:solidFill>
                <a:latin typeface="Microsoft YaHei"/>
              </a:defRPr>
            </a:pPr>
            <a:r>
              <a:t>22</a:t>
            </a:r>
          </a:p>
        </p:txBody>
      </p:sp>
      <p:sp>
        <p:nvSpPr>
          <p:cNvPr id="5" name="Rectangle 4"/>
          <p:cNvSpPr/>
          <p:nvPr/>
        </p:nvSpPr>
        <p:spPr>
          <a:xfrm>
            <a:off x="384048" y="804672"/>
            <a:ext cx="10826496" cy="13716"/>
          </a:xfrm>
          <a:prstGeom prst="rect">
            <a:avLst/>
          </a:prstGeom>
          <a:solidFill>
            <a:srgbClr val="448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060704"/>
          <a:ext cx="7315200" cy="4617720"/>
        </p:xfrm>
        <a:graphic>
          <a:graphicData uri="http://schemas.openxmlformats.org/drawingml/2006/table">
            <a:tbl>
              <a:tblPr firstRow="1" bandRow="1">
                <a:tableStyleId>{5C22544A-7EE6-4342-B048-85BDC9FD1C3A}</a:tableStyleId>
              </a:tblPr>
              <a:tblGrid>
                <a:gridCol w="1828800"/>
                <a:gridCol w="1828800"/>
                <a:gridCol w="1828800"/>
                <a:gridCol w="1828800"/>
              </a:tblGrid>
              <a:tr h="923544">
                <a:tc>
                  <a:txBody>
                    <a:bodyPr/>
                    <a:lstStyle/>
                    <a:p>
                      <a:pPr algn="ctr">
                        <a:defRPr sz="1200" b="1">
                          <a:solidFill>
                            <a:srgbClr val="01203C"/>
                          </a:solidFill>
                          <a:latin typeface="Microsoft YaHei"/>
                        </a:defRPr>
                      </a:pPr>
                      <a:r>
                        <a:t>预测单元</a:t>
                      </a:r>
                    </a:p>
                  </a:txBody>
                  <a:tcPr anchor="ctr" marL="36576" marR="36576" marT="18288" marB="18288">
                    <a:solidFill>
                      <a:srgbClr val="EAF2F8"/>
                    </a:solidFill>
                  </a:tcPr>
                </a:tc>
                <a:tc>
                  <a:txBody>
                    <a:bodyPr/>
                    <a:lstStyle/>
                    <a:p>
                      <a:pPr algn="ctr">
                        <a:defRPr sz="1200" b="1">
                          <a:solidFill>
                            <a:srgbClr val="01203C"/>
                          </a:solidFill>
                          <a:latin typeface="Microsoft YaHei"/>
                        </a:defRPr>
                      </a:pPr>
                      <a:r>
                        <a:t>预测面积（hm²）</a:t>
                      </a:r>
                    </a:p>
                  </a:txBody>
                  <a:tcPr anchor="ctr" marL="36576" marR="36576" marT="18288" marB="18288">
                    <a:solidFill>
                      <a:srgbClr val="EAF2F8"/>
                    </a:solidFill>
                  </a:tcPr>
                </a:tc>
                <a:tc>
                  <a:txBody>
                    <a:bodyPr/>
                    <a:lstStyle/>
                    <a:p>
                      <a:pPr algn="ctr">
                        <a:defRPr sz="1200" b="1">
                          <a:solidFill>
                            <a:srgbClr val="01203C"/>
                          </a:solidFill>
                          <a:latin typeface="Microsoft YaHei"/>
                        </a:defRPr>
                      </a:pPr>
                      <a:r>
                        <a:t>预测时段（a)</a:t>
                      </a:r>
                    </a:p>
                  </a:txBody>
                  <a:tcPr anchor="ctr" marL="36576" marR="36576" marT="18288" marB="18288">
                    <a:solidFill>
                      <a:srgbClr val="EAF2F8"/>
                    </a:solidFill>
                  </a:tcPr>
                </a:tc>
                <a:tc>
                  <a:txBody>
                    <a:bodyPr/>
                    <a:lstStyle/>
                    <a:p>
                      <a:pPr algn="ctr">
                        <a:defRPr sz="1200" b="1">
                          <a:solidFill>
                            <a:srgbClr val="01203C"/>
                          </a:solidFill>
                          <a:latin typeface="Microsoft YaHei"/>
                        </a:defRPr>
                      </a:pPr>
                      <a:r>
                        <a:t>侵蚀模数（t/km²·a）</a:t>
                      </a:r>
                    </a:p>
                  </a:txBody>
                  <a:tcPr anchor="ctr" marL="36576" marR="36576" marT="18288" marB="18288">
                    <a:solidFill>
                      <a:srgbClr val="EAF2F8"/>
                    </a:solidFill>
                  </a:tcPr>
                </a:tc>
              </a:tr>
              <a:tr h="923544">
                <a:tc>
                  <a:txBody>
                    <a:bodyPr/>
                    <a:lstStyle/>
                    <a:p>
                      <a:pPr algn="ctr">
                        <a:defRPr sz="1200">
                          <a:solidFill>
                            <a:srgbClr val="01203C"/>
                          </a:solidFill>
                          <a:latin typeface="Microsoft YaHei"/>
                        </a:defRPr>
                      </a:pPr>
                    </a:p>
                  </a:txBody>
                  <a:tcPr anchor="ctr" marL="36576" marR="36576" marT="18288" marB="18288">
                    <a:solidFill>
                      <a:srgbClr val="FFFFFF"/>
                    </a:solidFill>
                  </a:tcPr>
                </a:tc>
                <a:tc>
                  <a:txBody>
                    <a:bodyPr/>
                    <a:lstStyle/>
                    <a:p>
                      <a:pPr algn="ctr">
                        <a:defRPr sz="1200">
                          <a:solidFill>
                            <a:srgbClr val="01203C"/>
                          </a:solidFill>
                          <a:latin typeface="Microsoft YaHei"/>
                        </a:defRPr>
                      </a:pPr>
                      <a:r>
                        <a:t>施工期</a:t>
                      </a:r>
                    </a:p>
                  </a:txBody>
                  <a:tcPr anchor="ctr" marL="36576" marR="36576" marT="18288" marB="18288">
                    <a:solidFill>
                      <a:srgbClr val="FFFFFF"/>
                    </a:solidFill>
                  </a:tcPr>
                </a:tc>
                <a:tc>
                  <a:txBody>
                    <a:bodyPr/>
                    <a:lstStyle/>
                    <a:p>
                      <a:pPr algn="ctr">
                        <a:defRPr sz="1200">
                          <a:solidFill>
                            <a:srgbClr val="01203C"/>
                          </a:solidFill>
                          <a:latin typeface="Microsoft YaHei"/>
                        </a:defRPr>
                      </a:pPr>
                      <a:r>
                        <a:t>自然恢复期</a:t>
                      </a:r>
                    </a:p>
                  </a:txBody>
                  <a:tcPr anchor="ctr" marL="36576" marR="36576" marT="18288" marB="18288">
                    <a:solidFill>
                      <a:srgbClr val="FFFFFF"/>
                    </a:solidFill>
                  </a:tcPr>
                </a:tc>
                <a:tc>
                  <a:txBody>
                    <a:bodyPr/>
                    <a:lstStyle/>
                    <a:p>
                      <a:pPr algn="ctr">
                        <a:defRPr sz="1200">
                          <a:solidFill>
                            <a:srgbClr val="01203C"/>
                          </a:solidFill>
                          <a:latin typeface="Microsoft YaHei"/>
                        </a:defRPr>
                      </a:pPr>
                      <a:r>
                        <a:t>施工期</a:t>
                      </a:r>
                    </a:p>
                  </a:txBody>
                  <a:tcPr anchor="ctr" marL="36576" marR="36576" marT="18288" marB="18288">
                    <a:solidFill>
                      <a:srgbClr val="FFFFFF"/>
                    </a:solidFill>
                  </a:tcPr>
                </a:tc>
              </a:tr>
              <a:tr h="923544">
                <a:tc>
                  <a:txBody>
                    <a:bodyPr/>
                    <a:lstStyle/>
                    <a:p>
                      <a:pPr algn="ctr">
                        <a:defRPr sz="1200">
                          <a:solidFill>
                            <a:srgbClr val="01203C"/>
                          </a:solidFill>
                          <a:latin typeface="Microsoft YaHei"/>
                        </a:defRPr>
                      </a:pPr>
                    </a:p>
                  </a:txBody>
                  <a:tcPr anchor="ctr" marL="36576" marR="36576" marT="18288" marB="18288">
                    <a:solidFill>
                      <a:srgbClr val="FFFFFF"/>
                    </a:solidFill>
                  </a:tcPr>
                </a:tc>
                <a:tc>
                  <a:txBody>
                    <a:bodyPr/>
                    <a:lstStyle/>
                    <a:p>
                      <a:pPr algn="ctr">
                        <a:defRPr sz="1200">
                          <a:solidFill>
                            <a:srgbClr val="01203C"/>
                          </a:solidFill>
                          <a:latin typeface="Microsoft YaHei"/>
                        </a:defRPr>
                      </a:pPr>
                    </a:p>
                  </a:txBody>
                  <a:tcPr anchor="ctr" marL="36576" marR="36576" marT="18288" marB="18288">
                    <a:solidFill>
                      <a:srgbClr val="FFFFFF"/>
                    </a:solidFill>
                  </a:tcPr>
                </a:tc>
                <a:tc>
                  <a:txBody>
                    <a:bodyPr/>
                    <a:lstStyle/>
                    <a:p>
                      <a:pPr algn="ctr">
                        <a:defRPr sz="1200">
                          <a:solidFill>
                            <a:srgbClr val="01203C"/>
                          </a:solidFill>
                          <a:latin typeface="Microsoft YaHei"/>
                        </a:defRPr>
                      </a:pPr>
                    </a:p>
                  </a:txBody>
                  <a:tcPr anchor="ctr" marL="36576" marR="36576" marT="18288" marB="18288">
                    <a:solidFill>
                      <a:srgbClr val="FFFFFF"/>
                    </a:solidFill>
                  </a:tcPr>
                </a:tc>
                <a:tc>
                  <a:txBody>
                    <a:bodyPr/>
                    <a:lstStyle/>
                    <a:p>
                      <a:pPr algn="ctr">
                        <a:defRPr sz="1200">
                          <a:solidFill>
                            <a:srgbClr val="01203C"/>
                          </a:solidFill>
                          <a:latin typeface="Microsoft YaHei"/>
                        </a:defRPr>
                      </a:pPr>
                    </a:p>
                  </a:txBody>
                  <a:tcPr anchor="ctr" marL="36576" marR="36576" marT="18288" marB="18288">
                    <a:solidFill>
                      <a:srgbClr val="FFFFFF"/>
                    </a:solidFill>
                  </a:tcPr>
                </a:tc>
              </a:tr>
              <a:tr h="923544">
                <a:tc>
                  <a:txBody>
                    <a:bodyPr/>
                    <a:lstStyle/>
                    <a:p>
                      <a:pPr algn="ctr">
                        <a:defRPr sz="1200">
                          <a:solidFill>
                            <a:srgbClr val="01203C"/>
                          </a:solidFill>
                          <a:latin typeface="Microsoft YaHei"/>
                        </a:defRPr>
                      </a:pPr>
                      <a:r>
                        <a:t>管网工程区</a:t>
                      </a:r>
                    </a:p>
                  </a:txBody>
                  <a:tcPr anchor="ctr" marL="36576" marR="36576" marT="18288" marB="18288">
                    <a:solidFill>
                      <a:srgbClr val="FFFFFF"/>
                    </a:solidFill>
                  </a:tcPr>
                </a:tc>
                <a:tc>
                  <a:txBody>
                    <a:bodyPr/>
                    <a:lstStyle/>
                    <a:p>
                      <a:pPr algn="ctr">
                        <a:defRPr sz="1200">
                          <a:solidFill>
                            <a:srgbClr val="01203C"/>
                          </a:solidFill>
                          <a:latin typeface="Microsoft YaHei"/>
                        </a:defRPr>
                      </a:pPr>
                      <a:r>
                        <a:t>3.4416</a:t>
                      </a:r>
                    </a:p>
                  </a:txBody>
                  <a:tcPr anchor="ctr" marL="36576" marR="36576" marT="18288" marB="18288">
                    <a:solidFill>
                      <a:srgbClr val="FFFFFF"/>
                    </a:solidFill>
                  </a:tcPr>
                </a:tc>
                <a:tc>
                  <a:txBody>
                    <a:bodyPr/>
                    <a:lstStyle/>
                    <a:p>
                      <a:pPr algn="ctr">
                        <a:defRPr sz="1200">
                          <a:solidFill>
                            <a:srgbClr val="01203C"/>
                          </a:solidFill>
                          <a:latin typeface="Microsoft YaHei"/>
                        </a:defRPr>
                      </a:pPr>
                      <a:r>
                        <a:t>0.0256</a:t>
                      </a:r>
                    </a:p>
                  </a:txBody>
                  <a:tcPr anchor="ctr" marL="36576" marR="36576" marT="18288" marB="18288">
                    <a:solidFill>
                      <a:srgbClr val="FFFFFF"/>
                    </a:solidFill>
                  </a:tcPr>
                </a:tc>
                <a:tc>
                  <a:txBody>
                    <a:bodyPr/>
                    <a:lstStyle/>
                    <a:p>
                      <a:pPr algn="ctr">
                        <a:defRPr sz="1200">
                          <a:solidFill>
                            <a:srgbClr val="01203C"/>
                          </a:solidFill>
                          <a:latin typeface="Microsoft YaHei"/>
                        </a:defRPr>
                      </a:pPr>
                      <a:r>
                        <a:t>1</a:t>
                      </a:r>
                    </a:p>
                  </a:txBody>
                  <a:tcPr anchor="ctr" marL="36576" marR="36576" marT="18288" marB="18288">
                    <a:solidFill>
                      <a:srgbClr val="FFFFFF"/>
                    </a:solidFill>
                  </a:tcPr>
                </a:tc>
              </a:tr>
              <a:tr h="923544">
                <a:tc>
                  <a:txBody>
                    <a:bodyPr/>
                    <a:lstStyle/>
                    <a:p>
                      <a:pPr algn="ctr">
                        <a:defRPr sz="1200">
                          <a:solidFill>
                            <a:srgbClr val="01203C"/>
                          </a:solidFill>
                          <a:latin typeface="Microsoft YaHei"/>
                        </a:defRPr>
                      </a:pPr>
                      <a:r>
                        <a:t>合计</a:t>
                      </a:r>
                    </a:p>
                  </a:txBody>
                  <a:tcPr anchor="ctr" marL="36576" marR="36576" marT="18288" marB="18288">
                    <a:solidFill>
                      <a:srgbClr val="FFFFFF"/>
                    </a:solidFill>
                  </a:tcPr>
                </a:tc>
                <a:tc>
                  <a:txBody>
                    <a:bodyPr/>
                    <a:lstStyle/>
                    <a:p>
                      <a:pPr algn="ctr">
                        <a:defRPr sz="1200">
                          <a:solidFill>
                            <a:srgbClr val="01203C"/>
                          </a:solidFill>
                          <a:latin typeface="Microsoft YaHei"/>
                        </a:defRPr>
                      </a:pPr>
                      <a:r>
                        <a:t>3.4416</a:t>
                      </a:r>
                    </a:p>
                  </a:txBody>
                  <a:tcPr anchor="ctr" marL="36576" marR="36576" marT="18288" marB="18288">
                    <a:solidFill>
                      <a:srgbClr val="FFFFFF"/>
                    </a:solidFill>
                  </a:tcPr>
                </a:tc>
                <a:tc>
                  <a:txBody>
                    <a:bodyPr/>
                    <a:lstStyle/>
                    <a:p>
                      <a:pPr algn="ctr">
                        <a:defRPr sz="1200">
                          <a:solidFill>
                            <a:srgbClr val="01203C"/>
                          </a:solidFill>
                          <a:latin typeface="Microsoft YaHei"/>
                        </a:defRPr>
                      </a:pPr>
                      <a:r>
                        <a:t>0.0256</a:t>
                      </a:r>
                    </a:p>
                  </a:txBody>
                  <a:tcPr anchor="ctr" marL="36576" marR="36576" marT="18288" marB="18288">
                    <a:solidFill>
                      <a:srgbClr val="FFFFFF"/>
                    </a:solidFill>
                  </a:tcPr>
                </a:tc>
                <a:tc>
                  <a:txBody>
                    <a:bodyPr/>
                    <a:lstStyle/>
                    <a:p>
                      <a:pPr algn="ctr">
                        <a:defRPr sz="1200">
                          <a:solidFill>
                            <a:srgbClr val="01203C"/>
                          </a:solidFill>
                          <a:latin typeface="Microsoft YaHei"/>
                        </a:defRPr>
                      </a:pPr>
                      <a:r>
                        <a:t>/</a:t>
                      </a:r>
                    </a:p>
                  </a:txBody>
                  <a:tcPr anchor="ctr" marL="36576" marR="36576" marT="18288" marB="18288">
                    <a:solidFill>
                      <a:srgbClr val="FFFFFF"/>
                    </a:solidFill>
                  </a:tcPr>
                </a:tc>
              </a:tr>
            </a:tbl>
          </a:graphicData>
        </a:graphic>
      </p:graphicFrame>
      <p:sp>
        <p:nvSpPr>
          <p:cNvPr id="7" name="TextBox 6"/>
          <p:cNvSpPr txBox="1"/>
          <p:nvPr/>
        </p:nvSpPr>
        <p:spPr>
          <a:xfrm>
            <a:off x="8183879" y="1115568"/>
            <a:ext cx="3063240" cy="438912"/>
          </a:xfrm>
          <a:prstGeom prst="rect">
            <a:avLst/>
          </a:prstGeom>
          <a:noFill/>
        </p:spPr>
        <p:txBody>
          <a:bodyPr wrap="square">
            <a:noAutofit/>
          </a:bodyPr>
          <a:lstStyle/>
          <a:p>
            <a:pPr>
              <a:defRPr sz="1500" b="1">
                <a:solidFill>
                  <a:srgbClr val="4489C8"/>
                </a:solidFill>
                <a:latin typeface="Microsoft YaHei"/>
              </a:defRPr>
            </a:pPr>
            <a:r>
              <a:t>工程建设可能造成的土壤流失量预测结果</a:t>
            </a:r>
          </a:p>
        </p:txBody>
      </p:sp>
      <p:sp>
        <p:nvSpPr>
          <p:cNvPr id="8" name="TextBox 7"/>
          <p:cNvSpPr txBox="1"/>
          <p:nvPr/>
        </p:nvSpPr>
        <p:spPr>
          <a:xfrm>
            <a:off x="8183879" y="1719072"/>
            <a:ext cx="2880360" cy="3611880"/>
          </a:xfrm>
          <a:prstGeom prst="rect">
            <a:avLst/>
          </a:prstGeom>
          <a:noFill/>
        </p:spPr>
        <p:txBody>
          <a:bodyPr wrap="square">
            <a:noAutofit/>
          </a:bodyPr>
          <a:lstStyle/>
          <a:p>
            <a:pPr>
              <a:spcAft>
                <a:spcPts val="400"/>
              </a:spcAft>
              <a:defRPr sz="1400">
                <a:solidFill>
                  <a:srgbClr val="01203C"/>
                </a:solidFill>
                <a:latin typeface="Microsoft YaHei"/>
              </a:defRPr>
            </a:pPr>
            <a:r>
              <a:t>预测结果表汇总各阶段土壤流失量和新增量，是确定重点防治环节的核心结果。</a:t>
            </a:r>
          </a:p>
          <a:p>
            <a:pPr>
              <a:spcAft>
                <a:spcPts val="400"/>
              </a:spcAft>
              <a:defRPr sz="1400">
                <a:solidFill>
                  <a:srgbClr val="01203C"/>
                </a:solidFill>
                <a:latin typeface="Microsoft YaHei"/>
              </a:defRPr>
            </a:pPr>
            <a:r>
              <a:t>新增量主要反映工程扰动相对于背景状态的增量影响。</a:t>
            </a:r>
          </a:p>
          <a:p>
            <a:pPr>
              <a:spcAft>
                <a:spcPts val="400"/>
              </a:spcAft>
              <a:defRPr sz="1400">
                <a:solidFill>
                  <a:srgbClr val="01203C"/>
                </a:solidFill>
                <a:latin typeface="Microsoft YaHei"/>
              </a:defRPr>
            </a:pPr>
            <a:r>
              <a:t>预测风险转化为工程措施、植物措施和临时措施的配置依据。</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1203C"/>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1203C"/>
          </a:solidFill>
          <a:ln w="7620">
            <a:solidFill>
              <a:srgbClr val="0120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960120"/>
            <a:ext cx="73152" cy="4736592"/>
          </a:xfrm>
          <a:prstGeom prst="rect">
            <a:avLst/>
          </a:prstGeom>
          <a:solidFill>
            <a:srgbClr val="4489C8"/>
          </a:solidFill>
          <a:ln w="7620">
            <a:solidFill>
              <a:srgbClr val="448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640080"/>
            <a:ext cx="4206240" cy="320040"/>
          </a:xfrm>
          <a:prstGeom prst="rect">
            <a:avLst/>
          </a:prstGeom>
          <a:noFill/>
        </p:spPr>
        <p:txBody>
          <a:bodyPr wrap="square">
            <a:noAutofit/>
          </a:bodyPr>
          <a:lstStyle/>
          <a:p>
            <a:pPr>
              <a:defRPr sz="1600" b="1">
                <a:solidFill>
                  <a:srgbClr val="EAF2F8"/>
                </a:solidFill>
                <a:latin typeface="Microsoft YaHei"/>
              </a:defRPr>
            </a:pPr>
            <a:r>
              <a:t>第06章 / 共07章</a:t>
            </a:r>
          </a:p>
        </p:txBody>
      </p:sp>
      <p:sp>
        <p:nvSpPr>
          <p:cNvPr id="5" name="TextBox 4"/>
          <p:cNvSpPr txBox="1"/>
          <p:nvPr/>
        </p:nvSpPr>
        <p:spPr>
          <a:xfrm>
            <a:off x="749808" y="1901952"/>
            <a:ext cx="1298448" cy="804672"/>
          </a:xfrm>
          <a:prstGeom prst="rect">
            <a:avLst/>
          </a:prstGeom>
          <a:noFill/>
        </p:spPr>
        <p:txBody>
          <a:bodyPr wrap="square">
            <a:noAutofit/>
          </a:bodyPr>
          <a:lstStyle/>
          <a:p>
            <a:pPr>
              <a:defRPr sz="5400" b="1">
                <a:solidFill>
                  <a:srgbClr val="FFFFFF"/>
                </a:solidFill>
                <a:latin typeface="Microsoft YaHei"/>
              </a:defRPr>
            </a:pPr>
            <a:r>
              <a:t>06</a:t>
            </a:r>
          </a:p>
        </p:txBody>
      </p:sp>
      <p:sp>
        <p:nvSpPr>
          <p:cNvPr id="6" name="TextBox 5"/>
          <p:cNvSpPr txBox="1"/>
          <p:nvPr/>
        </p:nvSpPr>
        <p:spPr>
          <a:xfrm>
            <a:off x="2176272" y="2011680"/>
            <a:ext cx="8961120" cy="749808"/>
          </a:xfrm>
          <a:prstGeom prst="rect">
            <a:avLst/>
          </a:prstGeom>
          <a:noFill/>
        </p:spPr>
        <p:txBody>
          <a:bodyPr wrap="square">
            <a:noAutofit/>
          </a:bodyPr>
          <a:lstStyle/>
          <a:p>
            <a:pPr>
              <a:defRPr sz="3000" b="1">
                <a:solidFill>
                  <a:srgbClr val="FFFFFF"/>
                </a:solidFill>
                <a:latin typeface="Microsoft YaHei"/>
              </a:defRPr>
            </a:pPr>
            <a:r>
              <a:t>水土保持措施与施工安排</a:t>
            </a:r>
          </a:p>
        </p:txBody>
      </p:sp>
      <p:sp>
        <p:nvSpPr>
          <p:cNvPr id="7" name="TextBox 6"/>
          <p:cNvSpPr txBox="1"/>
          <p:nvPr/>
        </p:nvSpPr>
        <p:spPr>
          <a:xfrm>
            <a:off x="2212848" y="2962656"/>
            <a:ext cx="8229600" cy="329184"/>
          </a:xfrm>
          <a:prstGeom prst="rect">
            <a:avLst/>
          </a:prstGeom>
          <a:noFill/>
        </p:spPr>
        <p:txBody>
          <a:bodyPr wrap="square">
            <a:noAutofit/>
          </a:bodyPr>
          <a:lstStyle/>
          <a:p>
            <a:pPr>
              <a:defRPr sz="1500" b="0">
                <a:solidFill>
                  <a:srgbClr val="EAF2F8"/>
                </a:solidFill>
                <a:latin typeface="Microsoft YaHei"/>
              </a:defRPr>
            </a:pPr>
            <a:r>
              <a:t>呈现防治分区、工程/植物/临时措施体系、工程量和实施进度。</a:t>
            </a:r>
          </a:p>
        </p:txBody>
      </p:sp>
      <p:sp>
        <p:nvSpPr>
          <p:cNvPr id="8" name="Rectangle 7"/>
          <p:cNvSpPr/>
          <p:nvPr/>
        </p:nvSpPr>
        <p:spPr>
          <a:xfrm>
            <a:off x="2212848" y="3749039"/>
            <a:ext cx="6400800" cy="18288"/>
          </a:xfrm>
          <a:prstGeom prst="rect">
            <a:avLst/>
          </a:prstGeom>
          <a:solidFill>
            <a:srgbClr val="4489C8"/>
          </a:solidFill>
          <a:ln w="7620">
            <a:solidFill>
              <a:srgbClr val="448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384048" y="182880"/>
            <a:ext cx="10835640" cy="457200"/>
          </a:xfrm>
          <a:prstGeom prst="rect">
            <a:avLst/>
          </a:prstGeom>
          <a:noFill/>
        </p:spPr>
        <p:txBody>
          <a:bodyPr wrap="square">
            <a:noAutofit/>
          </a:bodyPr>
          <a:lstStyle/>
          <a:p>
            <a:pPr>
              <a:defRPr sz="2400" b="1">
                <a:solidFill>
                  <a:srgbClr val="01203C"/>
                </a:solidFill>
                <a:latin typeface="Microsoft YaHei"/>
              </a:defRPr>
            </a:pPr>
            <a:r>
              <a:t>防治分区为管网工程区，防治面积 34416.00m²</a:t>
            </a:r>
          </a:p>
        </p:txBody>
      </p:sp>
      <p:sp>
        <p:nvSpPr>
          <p:cNvPr id="3" name="TextBox 2"/>
          <p:cNvSpPr txBox="1"/>
          <p:nvPr/>
        </p:nvSpPr>
        <p:spPr>
          <a:xfrm>
            <a:off x="393192" y="621792"/>
            <a:ext cx="6400800" cy="219456"/>
          </a:xfrm>
          <a:prstGeom prst="rect">
            <a:avLst/>
          </a:prstGeom>
          <a:noFill/>
        </p:spPr>
        <p:txBody>
          <a:bodyPr wrap="square">
            <a:noAutofit/>
          </a:bodyPr>
          <a:lstStyle/>
          <a:p>
            <a:pPr>
              <a:defRPr sz="950" b="0">
                <a:solidFill>
                  <a:srgbClr val="4489C8"/>
                </a:solidFill>
                <a:latin typeface="Microsoft YaHei"/>
              </a:defRPr>
            </a:pPr>
            <a:r>
              <a:t>水土保持措施与施工安排</a:t>
            </a:r>
          </a:p>
        </p:txBody>
      </p:sp>
      <p:sp>
        <p:nvSpPr>
          <p:cNvPr id="4" name="TextBox 3"/>
          <p:cNvSpPr txBox="1"/>
          <p:nvPr/>
        </p:nvSpPr>
        <p:spPr>
          <a:xfrm>
            <a:off x="10652760" y="603504"/>
            <a:ext cx="640080" cy="182880"/>
          </a:xfrm>
          <a:prstGeom prst="rect">
            <a:avLst/>
          </a:prstGeom>
          <a:noFill/>
        </p:spPr>
        <p:txBody>
          <a:bodyPr wrap="square">
            <a:noAutofit/>
          </a:bodyPr>
          <a:lstStyle/>
          <a:p>
            <a:pPr algn="r">
              <a:defRPr sz="900" b="0">
                <a:solidFill>
                  <a:srgbClr val="566B7F"/>
                </a:solidFill>
                <a:latin typeface="Microsoft YaHei"/>
              </a:defRPr>
            </a:pPr>
            <a:r>
              <a:t>24</a:t>
            </a:r>
          </a:p>
        </p:txBody>
      </p:sp>
      <p:sp>
        <p:nvSpPr>
          <p:cNvPr id="5" name="Rectangle 4"/>
          <p:cNvSpPr/>
          <p:nvPr/>
        </p:nvSpPr>
        <p:spPr>
          <a:xfrm>
            <a:off x="384048" y="804672"/>
            <a:ext cx="10826496" cy="13716"/>
          </a:xfrm>
          <a:prstGeom prst="rect">
            <a:avLst/>
          </a:prstGeom>
          <a:solidFill>
            <a:srgbClr val="448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060704"/>
          <a:ext cx="7315199" cy="4617720"/>
        </p:xfrm>
        <a:graphic>
          <a:graphicData uri="http://schemas.openxmlformats.org/drawingml/2006/table">
            <a:tbl>
              <a:tblPr firstRow="1" bandRow="1">
                <a:tableStyleId>{5C22544A-7EE6-4342-B048-85BDC9FD1C3A}</a:tableStyleId>
              </a:tblPr>
              <a:tblGrid>
                <a:gridCol w="3434147"/>
                <a:gridCol w="1940526"/>
                <a:gridCol w="1940526"/>
              </a:tblGrid>
              <a:tr h="1154430">
                <a:tc rowSpan="2">
                  <a:txBody>
                    <a:bodyPr/>
                    <a:lstStyle/>
                    <a:p>
                      <a:pPr algn="ctr">
                        <a:defRPr sz="1200" b="1">
                          <a:solidFill>
                            <a:srgbClr val="01203C"/>
                          </a:solidFill>
                          <a:latin typeface="Microsoft YaHei"/>
                        </a:defRPr>
                      </a:pPr>
                      <a:r>
                        <a:t>防治分区</a:t>
                      </a:r>
                    </a:p>
                  </a:txBody>
                  <a:tcPr anchor="ctr" marL="32004" marR="32004" marT="16459" marB="16459">
                    <a:solidFill>
                      <a:srgbClr val="EAF2F8"/>
                    </a:solidFill>
                  </a:tcPr>
                </a:tc>
                <a:tc gridSpan="2">
                  <a:txBody>
                    <a:bodyPr/>
                    <a:lstStyle/>
                    <a:p>
                      <a:pPr algn="ctr">
                        <a:defRPr sz="1200" b="1">
                          <a:solidFill>
                            <a:srgbClr val="01203C"/>
                          </a:solidFill>
                          <a:latin typeface="Microsoft YaHei"/>
                        </a:defRPr>
                      </a:pPr>
                      <a:r>
                        <a:t>防治面积（m²）</a:t>
                      </a:r>
                    </a:p>
                  </a:txBody>
                  <a:tcPr anchor="ctr" marL="32004" marR="32004" marT="16459" marB="16459">
                    <a:solidFill>
                      <a:srgbClr val="EAF2F8"/>
                    </a:solidFill>
                  </a:tcPr>
                </a:tc>
                <a:tc hMerge="1">
                  <a:txBody>
                    <a:bodyPr/>
                    <a:lstStyle/>
                    <a:p>
                      <a:pPr algn="ctr">
                        <a:defRPr sz="1200" b="1">
                          <a:solidFill>
                            <a:srgbClr val="01203C"/>
                          </a:solidFill>
                          <a:latin typeface="Microsoft YaHei"/>
                        </a:defRPr>
                      </a:pPr>
                    </a:p>
                  </a:txBody>
                  <a:tcPr anchor="ctr" marL="32004" marR="32004" marT="16459" marB="16459">
                    <a:solidFill>
                      <a:srgbClr val="EAF2F8"/>
                    </a:solidFill>
                  </a:tcPr>
                </a:tc>
              </a:tr>
              <a:tr h="1154430">
                <a:tc vMerge="1">
                  <a:txBody>
                    <a:bodyPr/>
                    <a:lstStyle/>
                    <a:p>
                      <a:pPr algn="ctr">
                        <a:defRPr sz="1200" b="0">
                          <a:solidFill>
                            <a:srgbClr val="01203C"/>
                          </a:solidFill>
                          <a:latin typeface="Microsoft YaHei"/>
                        </a:defRPr>
                      </a:pPr>
                    </a:p>
                  </a:txBody>
                  <a:tcPr anchor="ctr" marL="32004" marR="32004" marT="16459" marB="16459">
                    <a:solidFill>
                      <a:srgbClr val="FFFFFF"/>
                    </a:solidFill>
                  </a:tcPr>
                </a:tc>
                <a:tc>
                  <a:txBody>
                    <a:bodyPr/>
                    <a:lstStyle/>
                    <a:p>
                      <a:pPr algn="ctr">
                        <a:defRPr sz="1200" b="0">
                          <a:solidFill>
                            <a:srgbClr val="01203C"/>
                          </a:solidFill>
                          <a:latin typeface="Microsoft YaHei"/>
                        </a:defRPr>
                      </a:pPr>
                      <a:r>
                        <a:t>永久占地</a:t>
                      </a:r>
                    </a:p>
                  </a:txBody>
                  <a:tcPr anchor="ctr" marL="32004" marR="32004" marT="16459" marB="16459">
                    <a:solidFill>
                      <a:srgbClr val="FFFFFF"/>
                    </a:solidFill>
                  </a:tcPr>
                </a:tc>
                <a:tc>
                  <a:txBody>
                    <a:bodyPr/>
                    <a:lstStyle/>
                    <a:p>
                      <a:pPr algn="ctr">
                        <a:defRPr sz="1200" b="0">
                          <a:solidFill>
                            <a:srgbClr val="01203C"/>
                          </a:solidFill>
                          <a:latin typeface="Microsoft YaHei"/>
                        </a:defRPr>
                      </a:pPr>
                      <a:r>
                        <a:t>临时占地</a:t>
                      </a:r>
                    </a:p>
                  </a:txBody>
                  <a:tcPr anchor="ctr" marL="32004" marR="32004" marT="16459" marB="16459">
                    <a:solidFill>
                      <a:srgbClr val="FFFFFF"/>
                    </a:solidFill>
                  </a:tcPr>
                </a:tc>
              </a:tr>
              <a:tr h="1154430">
                <a:tc>
                  <a:txBody>
                    <a:bodyPr/>
                    <a:lstStyle/>
                    <a:p>
                      <a:pPr algn="ctr">
                        <a:defRPr sz="1200" b="0">
                          <a:solidFill>
                            <a:srgbClr val="01203C"/>
                          </a:solidFill>
                          <a:latin typeface="Microsoft YaHei"/>
                        </a:defRPr>
                      </a:pPr>
                      <a:r>
                        <a:t>管网工程区</a:t>
                      </a:r>
                    </a:p>
                  </a:txBody>
                  <a:tcPr anchor="ctr" marL="32004" marR="32004" marT="16459" marB="16459">
                    <a:solidFill>
                      <a:srgbClr val="FFFFFF"/>
                    </a:solidFill>
                  </a:tcPr>
                </a:tc>
                <a:tc>
                  <a:txBody>
                    <a:bodyPr/>
                    <a:lstStyle/>
                    <a:p>
                      <a:pPr algn="ctr">
                        <a:defRPr sz="1200" b="0">
                          <a:solidFill>
                            <a:srgbClr val="01203C"/>
                          </a:solidFill>
                          <a:latin typeface="Microsoft YaHei"/>
                        </a:defRPr>
                      </a:pPr>
                      <a:r>
                        <a:t>/</a:t>
                      </a:r>
                    </a:p>
                  </a:txBody>
                  <a:tcPr anchor="ctr" marL="32004" marR="32004" marT="16459" marB="16459">
                    <a:solidFill>
                      <a:srgbClr val="FFFFFF"/>
                    </a:solidFill>
                  </a:tcPr>
                </a:tc>
                <a:tc>
                  <a:txBody>
                    <a:bodyPr/>
                    <a:lstStyle/>
                    <a:p>
                      <a:pPr algn="ctr">
                        <a:defRPr sz="1200" b="0">
                          <a:solidFill>
                            <a:srgbClr val="01203C"/>
                          </a:solidFill>
                          <a:latin typeface="Microsoft YaHei"/>
                        </a:defRPr>
                      </a:pPr>
                      <a:r>
                        <a:t>34416.00</a:t>
                      </a:r>
                    </a:p>
                  </a:txBody>
                  <a:tcPr anchor="ctr" marL="32004" marR="32004" marT="16459" marB="16459">
                    <a:solidFill>
                      <a:srgbClr val="FFFFFF"/>
                    </a:solidFill>
                  </a:tcPr>
                </a:tc>
              </a:tr>
              <a:tr h="1154430">
                <a:tc>
                  <a:txBody>
                    <a:bodyPr/>
                    <a:lstStyle/>
                    <a:p>
                      <a:pPr algn="ctr">
                        <a:defRPr sz="1200" b="0">
                          <a:solidFill>
                            <a:srgbClr val="01203C"/>
                          </a:solidFill>
                          <a:latin typeface="Microsoft YaHei"/>
                        </a:defRPr>
                      </a:pPr>
                      <a:r>
                        <a:t>合计</a:t>
                      </a:r>
                    </a:p>
                  </a:txBody>
                  <a:tcPr anchor="ctr" marL="32004" marR="32004" marT="16459" marB="16459">
                    <a:solidFill>
                      <a:srgbClr val="FFFFFF"/>
                    </a:solidFill>
                  </a:tcPr>
                </a:tc>
                <a:tc>
                  <a:txBody>
                    <a:bodyPr/>
                    <a:lstStyle/>
                    <a:p>
                      <a:pPr algn="ctr">
                        <a:defRPr sz="1200" b="0">
                          <a:solidFill>
                            <a:srgbClr val="01203C"/>
                          </a:solidFill>
                          <a:latin typeface="Microsoft YaHei"/>
                        </a:defRPr>
                      </a:pPr>
                      <a:r>
                        <a:t>/</a:t>
                      </a:r>
                    </a:p>
                  </a:txBody>
                  <a:tcPr anchor="ctr" marL="32004" marR="32004" marT="16459" marB="16459">
                    <a:solidFill>
                      <a:srgbClr val="FFFFFF"/>
                    </a:solidFill>
                  </a:tcPr>
                </a:tc>
                <a:tc>
                  <a:txBody>
                    <a:bodyPr/>
                    <a:lstStyle/>
                    <a:p>
                      <a:pPr algn="ctr">
                        <a:defRPr sz="1200" b="0">
                          <a:solidFill>
                            <a:srgbClr val="01203C"/>
                          </a:solidFill>
                          <a:latin typeface="Microsoft YaHei"/>
                        </a:defRPr>
                      </a:pPr>
                      <a:r>
                        <a:t>34416.00</a:t>
                      </a:r>
                    </a:p>
                  </a:txBody>
                  <a:tcPr anchor="ctr" marL="32004" marR="32004" marT="16459" marB="16459">
                    <a:solidFill>
                      <a:srgbClr val="FFFFFF"/>
                    </a:solidFill>
                  </a:tcPr>
                </a:tc>
              </a:tr>
            </a:tbl>
          </a:graphicData>
        </a:graphic>
      </p:graphicFrame>
      <p:sp>
        <p:nvSpPr>
          <p:cNvPr id="7" name="TextBox 6"/>
          <p:cNvSpPr txBox="1"/>
          <p:nvPr/>
        </p:nvSpPr>
        <p:spPr>
          <a:xfrm>
            <a:off x="8183879" y="1115568"/>
            <a:ext cx="3063240" cy="438912"/>
          </a:xfrm>
          <a:prstGeom prst="rect">
            <a:avLst/>
          </a:prstGeom>
          <a:noFill/>
        </p:spPr>
        <p:txBody>
          <a:bodyPr wrap="square">
            <a:noAutofit/>
          </a:bodyPr>
          <a:lstStyle/>
          <a:p>
            <a:pPr>
              <a:defRPr sz="1500" b="1">
                <a:solidFill>
                  <a:srgbClr val="4489C8"/>
                </a:solidFill>
                <a:latin typeface="Microsoft YaHei"/>
              </a:defRPr>
            </a:pPr>
            <a:r>
              <a:t>水土流失防治区划分表</a:t>
            </a:r>
          </a:p>
        </p:txBody>
      </p:sp>
      <p:sp>
        <p:nvSpPr>
          <p:cNvPr id="8" name="TextBox 7"/>
          <p:cNvSpPr txBox="1"/>
          <p:nvPr/>
        </p:nvSpPr>
        <p:spPr>
          <a:xfrm>
            <a:off x="8183879" y="1719072"/>
            <a:ext cx="2880360" cy="3611880"/>
          </a:xfrm>
          <a:prstGeom prst="rect">
            <a:avLst/>
          </a:prstGeom>
          <a:noFill/>
        </p:spPr>
        <p:txBody>
          <a:bodyPr wrap="square">
            <a:noAutofit/>
          </a:bodyPr>
          <a:lstStyle/>
          <a:p>
            <a:pPr>
              <a:spcAft>
                <a:spcPts val="400"/>
              </a:spcAft>
              <a:defRPr sz="1400">
                <a:solidFill>
                  <a:srgbClr val="01203C"/>
                </a:solidFill>
                <a:latin typeface="Microsoft YaHei"/>
              </a:defRPr>
            </a:pPr>
            <a:r>
              <a:t>防治分区表把措施布设对象统一到管网工程区，避免措施安排与责任范围脱节。</a:t>
            </a:r>
          </a:p>
          <a:p>
            <a:pPr>
              <a:spcAft>
                <a:spcPts val="400"/>
              </a:spcAft>
              <a:defRPr sz="1400">
                <a:solidFill>
                  <a:srgbClr val="01203C"/>
                </a:solidFill>
                <a:latin typeface="Microsoft YaHei"/>
              </a:defRPr>
            </a:pPr>
            <a:r>
              <a:t>防治面积是工程量、投资和效益核算的共同基础。</a:t>
            </a:r>
          </a:p>
          <a:p>
            <a:pPr>
              <a:spcAft>
                <a:spcPts val="400"/>
              </a:spcAft>
              <a:defRPr sz="1400">
                <a:solidFill>
                  <a:srgbClr val="01203C"/>
                </a:solidFill>
                <a:latin typeface="Microsoft YaHei"/>
              </a:defRPr>
            </a:pPr>
            <a:r>
              <a:t>分区简化不等于措施简化，仍需覆盖顶管井、道路恢复、临时防护和植被恢复等场景。</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384048" y="182880"/>
            <a:ext cx="10835640" cy="457200"/>
          </a:xfrm>
          <a:prstGeom prst="rect">
            <a:avLst/>
          </a:prstGeom>
          <a:noFill/>
        </p:spPr>
        <p:txBody>
          <a:bodyPr wrap="square">
            <a:noAutofit/>
          </a:bodyPr>
          <a:lstStyle/>
          <a:p>
            <a:pPr>
              <a:defRPr sz="2400" b="1">
                <a:solidFill>
                  <a:srgbClr val="01203C"/>
                </a:solidFill>
                <a:latin typeface="Microsoft YaHei"/>
              </a:defRPr>
            </a:pPr>
            <a:r>
              <a:t>措施体系覆盖工程、植物和临时三类措施</a:t>
            </a:r>
          </a:p>
        </p:txBody>
      </p:sp>
      <p:sp>
        <p:nvSpPr>
          <p:cNvPr id="3" name="TextBox 2"/>
          <p:cNvSpPr txBox="1"/>
          <p:nvPr/>
        </p:nvSpPr>
        <p:spPr>
          <a:xfrm>
            <a:off x="393192" y="621792"/>
            <a:ext cx="6400800" cy="219456"/>
          </a:xfrm>
          <a:prstGeom prst="rect">
            <a:avLst/>
          </a:prstGeom>
          <a:noFill/>
        </p:spPr>
        <p:txBody>
          <a:bodyPr wrap="square">
            <a:noAutofit/>
          </a:bodyPr>
          <a:lstStyle/>
          <a:p>
            <a:pPr>
              <a:defRPr sz="950" b="0">
                <a:solidFill>
                  <a:srgbClr val="4489C8"/>
                </a:solidFill>
                <a:latin typeface="Microsoft YaHei"/>
              </a:defRPr>
            </a:pPr>
            <a:r>
              <a:t>水土保持措施与施工安排</a:t>
            </a:r>
          </a:p>
        </p:txBody>
      </p:sp>
      <p:sp>
        <p:nvSpPr>
          <p:cNvPr id="4" name="TextBox 3"/>
          <p:cNvSpPr txBox="1"/>
          <p:nvPr/>
        </p:nvSpPr>
        <p:spPr>
          <a:xfrm>
            <a:off x="10652760" y="603504"/>
            <a:ext cx="640080" cy="182880"/>
          </a:xfrm>
          <a:prstGeom prst="rect">
            <a:avLst/>
          </a:prstGeom>
          <a:noFill/>
        </p:spPr>
        <p:txBody>
          <a:bodyPr wrap="square">
            <a:noAutofit/>
          </a:bodyPr>
          <a:lstStyle/>
          <a:p>
            <a:pPr algn="r">
              <a:defRPr sz="900" b="0">
                <a:solidFill>
                  <a:srgbClr val="566B7F"/>
                </a:solidFill>
                <a:latin typeface="Microsoft YaHei"/>
              </a:defRPr>
            </a:pPr>
            <a:r>
              <a:t>25</a:t>
            </a:r>
          </a:p>
        </p:txBody>
      </p:sp>
      <p:sp>
        <p:nvSpPr>
          <p:cNvPr id="5" name="Rectangle 4"/>
          <p:cNvSpPr/>
          <p:nvPr/>
        </p:nvSpPr>
        <p:spPr>
          <a:xfrm>
            <a:off x="384048" y="804672"/>
            <a:ext cx="10826496" cy="13716"/>
          </a:xfrm>
          <a:prstGeom prst="rect">
            <a:avLst/>
          </a:prstGeom>
          <a:solidFill>
            <a:srgbClr val="448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060704"/>
          <a:ext cx="11064237" cy="3456432"/>
        </p:xfrm>
        <a:graphic>
          <a:graphicData uri="http://schemas.openxmlformats.org/drawingml/2006/table">
            <a:tbl>
              <a:tblPr firstRow="1" bandRow="1">
                <a:tableStyleId>{5C22544A-7EE6-4342-B048-85BDC9FD1C3A}</a:tableStyleId>
              </a:tblPr>
              <a:tblGrid>
                <a:gridCol w="1971951"/>
                <a:gridCol w="1124263"/>
                <a:gridCol w="1974346"/>
                <a:gridCol w="1428377"/>
                <a:gridCol w="1415207"/>
                <a:gridCol w="1033269"/>
                <a:gridCol w="2116824"/>
              </a:tblGrid>
              <a:tr h="1152144">
                <a:tc rowSpan="2">
                  <a:txBody>
                    <a:bodyPr/>
                    <a:lstStyle/>
                    <a:p>
                      <a:pPr algn="ctr">
                        <a:defRPr sz="1200" b="1">
                          <a:solidFill>
                            <a:srgbClr val="01203C"/>
                          </a:solidFill>
                          <a:latin typeface="Microsoft YaHei"/>
                        </a:defRPr>
                      </a:pPr>
                      <a:r>
                        <a:t>防治分区</a:t>
                      </a:r>
                    </a:p>
                  </a:txBody>
                  <a:tcPr anchor="ctr" marL="32004" marR="32004" marT="16459" marB="16459">
                    <a:solidFill>
                      <a:srgbClr val="EAF2F8"/>
                    </a:solidFill>
                  </a:tcPr>
                </a:tc>
                <a:tc gridSpan="2">
                  <a:txBody>
                    <a:bodyPr/>
                    <a:lstStyle/>
                    <a:p>
                      <a:pPr algn="ctr">
                        <a:defRPr sz="1200" b="1">
                          <a:solidFill>
                            <a:srgbClr val="01203C"/>
                          </a:solidFill>
                          <a:latin typeface="Microsoft YaHei"/>
                        </a:defRPr>
                      </a:pPr>
                      <a:r>
                        <a:t>工程措施</a:t>
                      </a:r>
                    </a:p>
                  </a:txBody>
                  <a:tcPr anchor="ctr" marL="32004" marR="32004" marT="16459" marB="16459">
                    <a:solidFill>
                      <a:srgbClr val="EAF2F8"/>
                    </a:solidFill>
                  </a:tcPr>
                </a:tc>
                <a:tc hMerge="1">
                  <a:txBody>
                    <a:bodyPr/>
                    <a:lstStyle/>
                    <a:p>
                      <a:pPr algn="ctr">
                        <a:defRPr sz="1200" b="1">
                          <a:solidFill>
                            <a:srgbClr val="01203C"/>
                          </a:solidFill>
                          <a:latin typeface="Microsoft YaHei"/>
                        </a:defRPr>
                      </a:pPr>
                    </a:p>
                  </a:txBody>
                  <a:tcPr anchor="ctr" marL="32004" marR="32004" marT="16459" marB="16459">
                    <a:solidFill>
                      <a:srgbClr val="EAF2F8"/>
                    </a:solidFill>
                  </a:tcPr>
                </a:tc>
                <a:tc gridSpan="2">
                  <a:txBody>
                    <a:bodyPr/>
                    <a:lstStyle/>
                    <a:p>
                      <a:pPr algn="ctr">
                        <a:defRPr sz="1200" b="1">
                          <a:solidFill>
                            <a:srgbClr val="01203C"/>
                          </a:solidFill>
                          <a:latin typeface="Microsoft YaHei"/>
                        </a:defRPr>
                      </a:pPr>
                      <a:r>
                        <a:t>植物措施</a:t>
                      </a:r>
                    </a:p>
                  </a:txBody>
                  <a:tcPr anchor="ctr" marL="32004" marR="32004" marT="16459" marB="16459">
                    <a:solidFill>
                      <a:srgbClr val="EAF2F8"/>
                    </a:solidFill>
                  </a:tcPr>
                </a:tc>
                <a:tc hMerge="1">
                  <a:txBody>
                    <a:bodyPr/>
                    <a:lstStyle/>
                    <a:p>
                      <a:pPr algn="ctr">
                        <a:defRPr sz="1200" b="1">
                          <a:solidFill>
                            <a:srgbClr val="01203C"/>
                          </a:solidFill>
                          <a:latin typeface="Microsoft YaHei"/>
                        </a:defRPr>
                      </a:pPr>
                    </a:p>
                  </a:txBody>
                  <a:tcPr anchor="ctr" marL="32004" marR="32004" marT="16459" marB="16459">
                    <a:solidFill>
                      <a:srgbClr val="EAF2F8"/>
                    </a:solidFill>
                  </a:tcPr>
                </a:tc>
                <a:tc gridSpan="2">
                  <a:txBody>
                    <a:bodyPr/>
                    <a:lstStyle/>
                    <a:p>
                      <a:pPr algn="ctr">
                        <a:defRPr sz="1200" b="1">
                          <a:solidFill>
                            <a:srgbClr val="01203C"/>
                          </a:solidFill>
                          <a:latin typeface="Microsoft YaHei"/>
                        </a:defRPr>
                      </a:pPr>
                      <a:r>
                        <a:t>临时措施</a:t>
                      </a:r>
                    </a:p>
                  </a:txBody>
                  <a:tcPr anchor="ctr" marL="32004" marR="32004" marT="16459" marB="16459">
                    <a:solidFill>
                      <a:srgbClr val="EAF2F8"/>
                    </a:solidFill>
                  </a:tcPr>
                </a:tc>
                <a:tc hMerge="1">
                  <a:txBody>
                    <a:bodyPr/>
                    <a:lstStyle/>
                    <a:p>
                      <a:pPr algn="ctr">
                        <a:defRPr sz="1200" b="1">
                          <a:solidFill>
                            <a:srgbClr val="01203C"/>
                          </a:solidFill>
                          <a:latin typeface="Microsoft YaHei"/>
                        </a:defRPr>
                      </a:pPr>
                    </a:p>
                  </a:txBody>
                  <a:tcPr anchor="ctr" marL="32004" marR="32004" marT="16459" marB="16459">
                    <a:solidFill>
                      <a:srgbClr val="EAF2F8"/>
                    </a:solidFill>
                  </a:tcPr>
                </a:tc>
              </a:tr>
              <a:tr h="1152144">
                <a:tc vMerge="1">
                  <a:txBody>
                    <a:bodyPr/>
                    <a:lstStyle/>
                    <a:p>
                      <a:pPr algn="ctr">
                        <a:defRPr sz="1200" b="0">
                          <a:solidFill>
                            <a:srgbClr val="01203C"/>
                          </a:solidFill>
                          <a:latin typeface="Microsoft YaHei"/>
                        </a:defRPr>
                      </a:pPr>
                    </a:p>
                  </a:txBody>
                  <a:tcPr anchor="ctr" marL="32004" marR="32004" marT="16459" marB="16459">
                    <a:solidFill>
                      <a:srgbClr val="FFFFFF"/>
                    </a:solidFill>
                  </a:tcPr>
                </a:tc>
                <a:tc>
                  <a:txBody>
                    <a:bodyPr/>
                    <a:lstStyle/>
                    <a:p>
                      <a:pPr algn="ctr">
                        <a:defRPr sz="1200" b="0">
                          <a:solidFill>
                            <a:srgbClr val="01203C"/>
                          </a:solidFill>
                          <a:latin typeface="Microsoft YaHei"/>
                        </a:defRPr>
                      </a:pPr>
                      <a:r>
                        <a:t>主体已有</a:t>
                      </a:r>
                    </a:p>
                  </a:txBody>
                  <a:tcPr anchor="ctr" marL="32004" marR="32004" marT="16459" marB="16459">
                    <a:solidFill>
                      <a:srgbClr val="FFFFFF"/>
                    </a:solidFill>
                  </a:tcPr>
                </a:tc>
                <a:tc>
                  <a:txBody>
                    <a:bodyPr/>
                    <a:lstStyle/>
                    <a:p>
                      <a:pPr algn="ctr">
                        <a:defRPr sz="1200" b="0">
                          <a:solidFill>
                            <a:srgbClr val="01203C"/>
                          </a:solidFill>
                          <a:latin typeface="Microsoft YaHei"/>
                        </a:defRPr>
                      </a:pPr>
                      <a:r>
                        <a:t>方案新增</a:t>
                      </a:r>
                    </a:p>
                  </a:txBody>
                  <a:tcPr anchor="ctr" marL="32004" marR="32004" marT="16459" marB="16459">
                    <a:solidFill>
                      <a:srgbClr val="FFFFFF"/>
                    </a:solidFill>
                  </a:tcPr>
                </a:tc>
                <a:tc>
                  <a:txBody>
                    <a:bodyPr/>
                    <a:lstStyle/>
                    <a:p>
                      <a:pPr algn="ctr">
                        <a:defRPr sz="1200" b="0">
                          <a:solidFill>
                            <a:srgbClr val="01203C"/>
                          </a:solidFill>
                          <a:latin typeface="Microsoft YaHei"/>
                        </a:defRPr>
                      </a:pPr>
                      <a:r>
                        <a:t>主体已有</a:t>
                      </a:r>
                    </a:p>
                  </a:txBody>
                  <a:tcPr anchor="ctr" marL="32004" marR="32004" marT="16459" marB="16459">
                    <a:solidFill>
                      <a:srgbClr val="FFFFFF"/>
                    </a:solidFill>
                  </a:tcPr>
                </a:tc>
                <a:tc>
                  <a:txBody>
                    <a:bodyPr/>
                    <a:lstStyle/>
                    <a:p>
                      <a:pPr algn="ctr">
                        <a:defRPr sz="1200" b="0">
                          <a:solidFill>
                            <a:srgbClr val="01203C"/>
                          </a:solidFill>
                          <a:latin typeface="Microsoft YaHei"/>
                        </a:defRPr>
                      </a:pPr>
                      <a:r>
                        <a:t>方案新增</a:t>
                      </a:r>
                    </a:p>
                  </a:txBody>
                  <a:tcPr anchor="ctr" marL="32004" marR="32004" marT="16459" marB="16459">
                    <a:solidFill>
                      <a:srgbClr val="FFFFFF"/>
                    </a:solidFill>
                  </a:tcPr>
                </a:tc>
                <a:tc>
                  <a:txBody>
                    <a:bodyPr/>
                    <a:lstStyle/>
                    <a:p>
                      <a:pPr algn="ctr">
                        <a:defRPr sz="1200" b="0">
                          <a:solidFill>
                            <a:srgbClr val="01203C"/>
                          </a:solidFill>
                          <a:latin typeface="Microsoft YaHei"/>
                        </a:defRPr>
                      </a:pPr>
                      <a:r>
                        <a:t>主体已有</a:t>
                      </a:r>
                    </a:p>
                  </a:txBody>
                  <a:tcPr anchor="ctr" marL="32004" marR="32004" marT="16459" marB="16459">
                    <a:solidFill>
                      <a:srgbClr val="FFFFFF"/>
                    </a:solidFill>
                  </a:tcPr>
                </a:tc>
                <a:tc>
                  <a:txBody>
                    <a:bodyPr/>
                    <a:lstStyle/>
                    <a:p>
                      <a:pPr algn="ctr">
                        <a:defRPr sz="1200" b="0">
                          <a:solidFill>
                            <a:srgbClr val="01203C"/>
                          </a:solidFill>
                          <a:latin typeface="Microsoft YaHei"/>
                        </a:defRPr>
                      </a:pPr>
                      <a:r>
                        <a:t>方案新增</a:t>
                      </a:r>
                    </a:p>
                  </a:txBody>
                  <a:tcPr anchor="ctr" marL="32004" marR="32004" marT="16459" marB="16459">
                    <a:solidFill>
                      <a:srgbClr val="FFFFFF"/>
                    </a:solidFill>
                  </a:tcPr>
                </a:tc>
              </a:tr>
              <a:tr h="1152144">
                <a:tc>
                  <a:txBody>
                    <a:bodyPr/>
                    <a:lstStyle/>
                    <a:p>
                      <a:pPr algn="ctr">
                        <a:defRPr sz="1200" b="0">
                          <a:solidFill>
                            <a:srgbClr val="01203C"/>
                          </a:solidFill>
                          <a:latin typeface="Microsoft YaHei"/>
                        </a:defRPr>
                      </a:pPr>
                      <a:r>
                        <a:t>管网工程区</a:t>
                      </a:r>
                    </a:p>
                  </a:txBody>
                  <a:tcPr anchor="ctr" marL="32004" marR="32004" marT="16459" marB="16459">
                    <a:solidFill>
                      <a:srgbClr val="FFFFFF"/>
                    </a:solidFill>
                  </a:tcPr>
                </a:tc>
                <a:tc>
                  <a:txBody>
                    <a:bodyPr/>
                    <a:lstStyle/>
                    <a:p>
                      <a:pPr algn="ctr">
                        <a:defRPr sz="1200" b="0">
                          <a:solidFill>
                            <a:srgbClr val="01203C"/>
                          </a:solidFill>
                          <a:latin typeface="Microsoft YaHei"/>
                        </a:defRPr>
                      </a:pPr>
                      <a:r>
                        <a:t>土地整治</a:t>
                      </a:r>
                    </a:p>
                  </a:txBody>
                  <a:tcPr anchor="ctr" marL="32004" marR="32004" marT="16459" marB="16459">
                    <a:solidFill>
                      <a:srgbClr val="FFFFFF"/>
                    </a:solidFill>
                  </a:tcPr>
                </a:tc>
                <a:tc>
                  <a:txBody>
                    <a:bodyPr/>
                    <a:lstStyle/>
                    <a:p>
                      <a:pPr algn="ctr">
                        <a:defRPr sz="1200" b="0">
                          <a:solidFill>
                            <a:srgbClr val="01203C"/>
                          </a:solidFill>
                          <a:latin typeface="Microsoft YaHei"/>
                        </a:defRPr>
                      </a:pPr>
                      <a:r>
                        <a:t>表土剥离、表土回覆</a:t>
                      </a:r>
                    </a:p>
                  </a:txBody>
                  <a:tcPr anchor="ctr" marL="32004" marR="32004" marT="16459" marB="16459">
                    <a:solidFill>
                      <a:srgbClr val="FFFFFF"/>
                    </a:solidFill>
                  </a:tcPr>
                </a:tc>
                <a:tc>
                  <a:txBody>
                    <a:bodyPr/>
                    <a:lstStyle/>
                    <a:p>
                      <a:pPr algn="ctr">
                        <a:defRPr sz="1200" b="0">
                          <a:solidFill>
                            <a:srgbClr val="01203C"/>
                          </a:solidFill>
                          <a:latin typeface="Microsoft YaHei"/>
                        </a:defRPr>
                      </a:pPr>
                      <a:r>
                        <a:t>铺种草皮</a:t>
                      </a:r>
                    </a:p>
                  </a:txBody>
                  <a:tcPr anchor="ctr" marL="32004" marR="32004" marT="16459" marB="16459">
                    <a:solidFill>
                      <a:srgbClr val="FFFFFF"/>
                    </a:solidFill>
                  </a:tcPr>
                </a:tc>
                <a:tc>
                  <a:txBody>
                    <a:bodyPr/>
                    <a:lstStyle/>
                    <a:p>
                      <a:pPr algn="ctr">
                        <a:defRPr sz="1200" b="0">
                          <a:solidFill>
                            <a:srgbClr val="01203C"/>
                          </a:solidFill>
                          <a:latin typeface="Microsoft YaHei"/>
                        </a:defRPr>
                      </a:pPr>
                      <a:r>
                        <a:t>/</a:t>
                      </a:r>
                    </a:p>
                  </a:txBody>
                  <a:tcPr anchor="ctr" marL="32004" marR="32004" marT="16459" marB="16459">
                    <a:solidFill>
                      <a:srgbClr val="FFFFFF"/>
                    </a:solidFill>
                  </a:tcPr>
                </a:tc>
                <a:tc>
                  <a:txBody>
                    <a:bodyPr/>
                    <a:lstStyle/>
                    <a:p>
                      <a:pPr algn="ctr">
                        <a:defRPr sz="1200" b="0">
                          <a:solidFill>
                            <a:srgbClr val="01203C"/>
                          </a:solidFill>
                          <a:latin typeface="Microsoft YaHei"/>
                        </a:defRPr>
                      </a:pPr>
                      <a:r>
                        <a:t>/</a:t>
                      </a:r>
                    </a:p>
                  </a:txBody>
                  <a:tcPr anchor="ctr" marL="32004" marR="32004" marT="16459" marB="16459">
                    <a:solidFill>
                      <a:srgbClr val="FFFFFF"/>
                    </a:solidFill>
                  </a:tcPr>
                </a:tc>
                <a:tc>
                  <a:txBody>
                    <a:bodyPr/>
                    <a:lstStyle/>
                    <a:p>
                      <a:pPr algn="ctr">
                        <a:defRPr sz="1200" b="0">
                          <a:solidFill>
                            <a:srgbClr val="01203C"/>
                          </a:solidFill>
                          <a:latin typeface="Microsoft YaHei"/>
                        </a:defRPr>
                      </a:pPr>
                      <a:r>
                        <a:t>临时苫盖、高压洗车机</a:t>
                      </a:r>
                    </a:p>
                  </a:txBody>
                  <a:tcPr anchor="ctr" marL="32004" marR="32004" marT="16459" marB="16459">
                    <a:solidFill>
                      <a:srgbClr val="FFFFFF"/>
                    </a:solidFill>
                  </a:tcPr>
                </a:tc>
              </a:tr>
            </a:tbl>
          </a:graphicData>
        </a:graphic>
      </p:graphicFrame>
      <p:sp>
        <p:nvSpPr>
          <p:cNvPr id="7" name="TextBox 6"/>
          <p:cNvSpPr txBox="1"/>
          <p:nvPr/>
        </p:nvSpPr>
        <p:spPr>
          <a:xfrm>
            <a:off x="713232" y="4681728"/>
            <a:ext cx="6583680" cy="493776"/>
          </a:xfrm>
          <a:prstGeom prst="rect">
            <a:avLst/>
          </a:prstGeom>
          <a:noFill/>
        </p:spPr>
        <p:txBody>
          <a:bodyPr wrap="square">
            <a:noAutofit/>
          </a:bodyPr>
          <a:lstStyle/>
          <a:p>
            <a:pPr>
              <a:defRPr sz="1500" b="1">
                <a:solidFill>
                  <a:srgbClr val="4489C8"/>
                </a:solidFill>
                <a:latin typeface="Microsoft YaHei"/>
              </a:defRPr>
            </a:pPr>
            <a:r>
              <a:t>本项目水土流失防治措施体系表</a:t>
            </a:r>
          </a:p>
        </p:txBody>
      </p:sp>
      <p:sp>
        <p:nvSpPr>
          <p:cNvPr id="8" name="TextBox 7"/>
          <p:cNvSpPr txBox="1"/>
          <p:nvPr/>
        </p:nvSpPr>
        <p:spPr>
          <a:xfrm>
            <a:off x="713232" y="5138928"/>
            <a:ext cx="10561320" cy="868680"/>
          </a:xfrm>
          <a:prstGeom prst="rect">
            <a:avLst/>
          </a:prstGeom>
          <a:noFill/>
        </p:spPr>
        <p:txBody>
          <a:bodyPr wrap="square">
            <a:noAutofit/>
          </a:bodyPr>
          <a:lstStyle/>
          <a:p>
            <a:pPr>
              <a:spcAft>
                <a:spcPts val="400"/>
              </a:spcAft>
              <a:defRPr sz="1400">
                <a:solidFill>
                  <a:srgbClr val="01203C"/>
                </a:solidFill>
                <a:latin typeface="Microsoft YaHei"/>
              </a:defRPr>
            </a:pPr>
            <a:r>
              <a:t>措施体系表说明工程措施、植物措施和临时措施之间的职责分工。</a:t>
            </a:r>
          </a:p>
          <a:p>
            <a:pPr>
              <a:spcAft>
                <a:spcPts val="400"/>
              </a:spcAft>
              <a:defRPr sz="1400">
                <a:solidFill>
                  <a:srgbClr val="01203C"/>
                </a:solidFill>
                <a:latin typeface="Microsoft YaHei"/>
              </a:defRPr>
            </a:pPr>
            <a:r>
              <a:t>工程量汇总表把措施落实到可实施、可计量、可验收的清单。</a:t>
            </a:r>
          </a:p>
          <a:p>
            <a:pPr>
              <a:spcAft>
                <a:spcPts val="400"/>
              </a:spcAft>
              <a:defRPr sz="1400">
                <a:solidFill>
                  <a:srgbClr val="01203C"/>
                </a:solidFill>
                <a:latin typeface="Microsoft YaHei"/>
              </a:defRPr>
            </a:pPr>
            <a:r>
              <a:t>施工期临时防护与完工恢复衔接，形成过程控制与恢复治理闭环。</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384048" y="182880"/>
            <a:ext cx="10835640" cy="457200"/>
          </a:xfrm>
          <a:prstGeom prst="rect">
            <a:avLst/>
          </a:prstGeom>
          <a:noFill/>
        </p:spPr>
        <p:txBody>
          <a:bodyPr wrap="square">
            <a:noAutofit/>
          </a:bodyPr>
          <a:lstStyle/>
          <a:p>
            <a:pPr>
              <a:defRPr sz="2400" b="1">
                <a:solidFill>
                  <a:srgbClr val="01203C"/>
                </a:solidFill>
                <a:latin typeface="Microsoft YaHei"/>
              </a:defRPr>
            </a:pPr>
            <a:r>
              <a:t>措施实施进度需嵌入 2025—2026 年施工窗口</a:t>
            </a:r>
          </a:p>
        </p:txBody>
      </p:sp>
      <p:sp>
        <p:nvSpPr>
          <p:cNvPr id="3" name="TextBox 2"/>
          <p:cNvSpPr txBox="1"/>
          <p:nvPr/>
        </p:nvSpPr>
        <p:spPr>
          <a:xfrm>
            <a:off x="393192" y="621792"/>
            <a:ext cx="6400800" cy="219456"/>
          </a:xfrm>
          <a:prstGeom prst="rect">
            <a:avLst/>
          </a:prstGeom>
          <a:noFill/>
        </p:spPr>
        <p:txBody>
          <a:bodyPr wrap="square">
            <a:noAutofit/>
          </a:bodyPr>
          <a:lstStyle/>
          <a:p>
            <a:pPr>
              <a:defRPr sz="950" b="0">
                <a:solidFill>
                  <a:srgbClr val="4489C8"/>
                </a:solidFill>
                <a:latin typeface="Microsoft YaHei"/>
              </a:defRPr>
            </a:pPr>
            <a:r>
              <a:t>水土保持措施与施工安排</a:t>
            </a:r>
          </a:p>
        </p:txBody>
      </p:sp>
      <p:sp>
        <p:nvSpPr>
          <p:cNvPr id="4" name="TextBox 3"/>
          <p:cNvSpPr txBox="1"/>
          <p:nvPr/>
        </p:nvSpPr>
        <p:spPr>
          <a:xfrm>
            <a:off x="10652760" y="603504"/>
            <a:ext cx="640080" cy="182880"/>
          </a:xfrm>
          <a:prstGeom prst="rect">
            <a:avLst/>
          </a:prstGeom>
          <a:noFill/>
        </p:spPr>
        <p:txBody>
          <a:bodyPr wrap="square">
            <a:noAutofit/>
          </a:bodyPr>
          <a:lstStyle/>
          <a:p>
            <a:pPr algn="r">
              <a:defRPr sz="900" b="0">
                <a:solidFill>
                  <a:srgbClr val="566B7F"/>
                </a:solidFill>
                <a:latin typeface="Microsoft YaHei"/>
              </a:defRPr>
            </a:pPr>
            <a:r>
              <a:t>26</a:t>
            </a:r>
          </a:p>
        </p:txBody>
      </p:sp>
      <p:sp>
        <p:nvSpPr>
          <p:cNvPr id="5" name="Rectangle 4"/>
          <p:cNvSpPr/>
          <p:nvPr/>
        </p:nvSpPr>
        <p:spPr>
          <a:xfrm>
            <a:off x="384048" y="804672"/>
            <a:ext cx="10826496" cy="13716"/>
          </a:xfrm>
          <a:prstGeom prst="rect">
            <a:avLst/>
          </a:prstGeom>
          <a:solidFill>
            <a:srgbClr val="448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060704"/>
          <a:ext cx="11064240" cy="3456432"/>
        </p:xfrm>
        <a:graphic>
          <a:graphicData uri="http://schemas.openxmlformats.org/drawingml/2006/table">
            <a:tbl>
              <a:tblPr firstRow="1" bandRow="1">
                <a:tableStyleId>{5C22544A-7EE6-4342-B048-85BDC9FD1C3A}</a:tableStyleId>
              </a:tblPr>
              <a:tblGrid>
                <a:gridCol w="2766060"/>
                <a:gridCol w="2766060"/>
                <a:gridCol w="2766060"/>
                <a:gridCol w="2766060"/>
              </a:tblGrid>
              <a:tr h="864108">
                <a:tc>
                  <a:txBody>
                    <a:bodyPr/>
                    <a:lstStyle/>
                    <a:p>
                      <a:pPr algn="ctr">
                        <a:defRPr sz="1200" b="1">
                          <a:solidFill>
                            <a:srgbClr val="01203C"/>
                          </a:solidFill>
                          <a:latin typeface="Microsoft YaHei"/>
                        </a:defRPr>
                      </a:pPr>
                      <a:r>
                        <a:t>工程分区/路段</a:t>
                      </a:r>
                    </a:p>
                  </a:txBody>
                  <a:tcPr anchor="ctr" marL="36576" marR="36576" marT="18288" marB="18288">
                    <a:solidFill>
                      <a:srgbClr val="EAF2F8"/>
                    </a:solidFill>
                  </a:tcPr>
                </a:tc>
                <a:tc>
                  <a:txBody>
                    <a:bodyPr/>
                    <a:lstStyle/>
                    <a:p>
                      <a:pPr algn="ctr">
                        <a:defRPr sz="1200" b="1">
                          <a:solidFill>
                            <a:srgbClr val="01203C"/>
                          </a:solidFill>
                          <a:latin typeface="Microsoft YaHei"/>
                        </a:defRPr>
                      </a:pPr>
                      <a:r>
                        <a:t>主要工序</a:t>
                      </a:r>
                    </a:p>
                  </a:txBody>
                  <a:tcPr anchor="ctr" marL="36576" marR="36576" marT="18288" marB="18288">
                    <a:solidFill>
                      <a:srgbClr val="EAF2F8"/>
                    </a:solidFill>
                  </a:tcPr>
                </a:tc>
                <a:tc>
                  <a:txBody>
                    <a:bodyPr/>
                    <a:lstStyle/>
                    <a:p>
                      <a:pPr algn="ctr">
                        <a:defRPr sz="1200" b="1">
                          <a:solidFill>
                            <a:srgbClr val="01203C"/>
                          </a:solidFill>
                          <a:latin typeface="Microsoft YaHei"/>
                        </a:defRPr>
                      </a:pPr>
                      <a:r>
                        <a:t>实施窗口</a:t>
                      </a:r>
                    </a:p>
                  </a:txBody>
                  <a:tcPr anchor="ctr" marL="36576" marR="36576" marT="18288" marB="18288">
                    <a:solidFill>
                      <a:srgbClr val="EAF2F8"/>
                    </a:solidFill>
                  </a:tcPr>
                </a:tc>
                <a:tc>
                  <a:txBody>
                    <a:bodyPr/>
                    <a:lstStyle/>
                    <a:p>
                      <a:pPr algn="ctr">
                        <a:defRPr sz="1200" b="1">
                          <a:solidFill>
                            <a:srgbClr val="01203C"/>
                          </a:solidFill>
                          <a:latin typeface="Microsoft YaHei"/>
                        </a:defRPr>
                      </a:pPr>
                      <a:r>
                        <a:t>水保衔接</a:t>
                      </a:r>
                    </a:p>
                  </a:txBody>
                  <a:tcPr anchor="ctr" marL="36576" marR="36576" marT="18288" marB="18288">
                    <a:solidFill>
                      <a:srgbClr val="EAF2F8"/>
                    </a:solidFill>
                  </a:tcPr>
                </a:tc>
              </a:tr>
              <a:tr h="864108">
                <a:tc>
                  <a:txBody>
                    <a:bodyPr/>
                    <a:lstStyle/>
                    <a:p>
                      <a:pPr algn="ctr">
                        <a:defRPr sz="1200">
                          <a:solidFill>
                            <a:srgbClr val="01203C"/>
                          </a:solidFill>
                          <a:latin typeface="Microsoft YaHei"/>
                        </a:defRPr>
                      </a:pPr>
                      <a:r>
                        <a:t>管网工程区</a:t>
                      </a:r>
                    </a:p>
                  </a:txBody>
                  <a:tcPr anchor="ctr" marL="36576" marR="36576" marT="18288" marB="18288">
                    <a:solidFill>
                      <a:srgbClr val="FFFFFF"/>
                    </a:solidFill>
                  </a:tcPr>
                </a:tc>
                <a:tc>
                  <a:txBody>
                    <a:bodyPr/>
                    <a:lstStyle/>
                    <a:p>
                      <a:pPr algn="ctr">
                        <a:defRPr sz="1200">
                          <a:solidFill>
                            <a:srgbClr val="01203C"/>
                          </a:solidFill>
                          <a:latin typeface="Microsoft YaHei"/>
                        </a:defRPr>
                      </a:pPr>
                      <a:r>
                        <a:t>施工准备、围挡、路面破除</a:t>
                      </a:r>
                    </a:p>
                  </a:txBody>
                  <a:tcPr anchor="ctr" marL="36576" marR="36576" marT="18288" marB="18288">
                    <a:solidFill>
                      <a:srgbClr val="FFFFFF"/>
                    </a:solidFill>
                  </a:tcPr>
                </a:tc>
                <a:tc>
                  <a:txBody>
                    <a:bodyPr/>
                    <a:lstStyle/>
                    <a:p>
                      <a:pPr algn="ctr">
                        <a:defRPr sz="1200">
                          <a:solidFill>
                            <a:srgbClr val="01203C"/>
                          </a:solidFill>
                          <a:latin typeface="Microsoft YaHei"/>
                        </a:defRPr>
                      </a:pPr>
                      <a:r>
                        <a:t>2025年12月起进入施工准备和扰动启动阶段</a:t>
                      </a:r>
                    </a:p>
                  </a:txBody>
                  <a:tcPr anchor="ctr" marL="36576" marR="36576" marT="18288" marB="18288">
                    <a:solidFill>
                      <a:srgbClr val="FFFFFF"/>
                    </a:solidFill>
                  </a:tcPr>
                </a:tc>
                <a:tc>
                  <a:txBody>
                    <a:bodyPr/>
                    <a:lstStyle/>
                    <a:p>
                      <a:pPr algn="ctr">
                        <a:defRPr sz="1200">
                          <a:solidFill>
                            <a:srgbClr val="01203C"/>
                          </a:solidFill>
                          <a:latin typeface="Microsoft YaHei"/>
                        </a:defRPr>
                      </a:pPr>
                      <a:r>
                        <a:t>临时防护、排水和车辆冲洗应先行布设</a:t>
                      </a:r>
                    </a:p>
                  </a:txBody>
                  <a:tcPr anchor="ctr" marL="36576" marR="36576" marT="18288" marB="18288">
                    <a:solidFill>
                      <a:srgbClr val="FFFFFF"/>
                    </a:solidFill>
                  </a:tcPr>
                </a:tc>
              </a:tr>
              <a:tr h="864108">
                <a:tc>
                  <a:txBody>
                    <a:bodyPr/>
                    <a:lstStyle/>
                    <a:p>
                      <a:pPr algn="ctr">
                        <a:defRPr sz="1200">
                          <a:solidFill>
                            <a:srgbClr val="01203C"/>
                          </a:solidFill>
                          <a:latin typeface="Microsoft YaHei"/>
                        </a:defRPr>
                      </a:pPr>
                      <a:r>
                        <a:t>东坡大道等道路段</a:t>
                      </a:r>
                    </a:p>
                  </a:txBody>
                  <a:tcPr anchor="ctr" marL="36576" marR="36576" marT="18288" marB="18288">
                    <a:solidFill>
                      <a:srgbClr val="FFFFFF"/>
                    </a:solidFill>
                  </a:tcPr>
                </a:tc>
                <a:tc>
                  <a:txBody>
                    <a:bodyPr/>
                    <a:lstStyle/>
                    <a:p>
                      <a:pPr algn="ctr">
                        <a:defRPr sz="1200">
                          <a:solidFill>
                            <a:srgbClr val="01203C"/>
                          </a:solidFill>
                          <a:latin typeface="Microsoft YaHei"/>
                        </a:defRPr>
                      </a:pPr>
                      <a:r>
                        <a:t>顶管井施工、顶管施工</a:t>
                      </a:r>
                    </a:p>
                  </a:txBody>
                  <a:tcPr anchor="ctr" marL="36576" marR="36576" marT="18288" marB="18288">
                    <a:solidFill>
                      <a:srgbClr val="FFFFFF"/>
                    </a:solidFill>
                  </a:tcPr>
                </a:tc>
                <a:tc>
                  <a:txBody>
                    <a:bodyPr/>
                    <a:lstStyle/>
                    <a:p>
                      <a:pPr algn="ctr">
                        <a:defRPr sz="1200">
                          <a:solidFill>
                            <a:srgbClr val="01203C"/>
                          </a:solidFill>
                          <a:latin typeface="Microsoft YaHei"/>
                        </a:defRPr>
                      </a:pPr>
                      <a:r>
                        <a:t>2026年主体施工窗口内分段推进</a:t>
                      </a:r>
                    </a:p>
                  </a:txBody>
                  <a:tcPr anchor="ctr" marL="36576" marR="36576" marT="18288" marB="18288">
                    <a:solidFill>
                      <a:srgbClr val="FFFFFF"/>
                    </a:solidFill>
                  </a:tcPr>
                </a:tc>
                <a:tc>
                  <a:txBody>
                    <a:bodyPr/>
                    <a:lstStyle/>
                    <a:p>
                      <a:pPr algn="ctr">
                        <a:defRPr sz="1200">
                          <a:solidFill>
                            <a:srgbClr val="01203C"/>
                          </a:solidFill>
                          <a:latin typeface="Microsoft YaHei"/>
                        </a:defRPr>
                      </a:pPr>
                      <a:r>
                        <a:t>顶管井开挖、土方周转和降排水是过程控制重点</a:t>
                      </a:r>
                    </a:p>
                  </a:txBody>
                  <a:tcPr anchor="ctr" marL="36576" marR="36576" marT="18288" marB="18288">
                    <a:solidFill>
                      <a:srgbClr val="FFFFFF"/>
                    </a:solidFill>
                  </a:tcPr>
                </a:tc>
              </a:tr>
              <a:tr h="864108">
                <a:tc>
                  <a:txBody>
                    <a:bodyPr/>
                    <a:lstStyle/>
                    <a:p>
                      <a:pPr algn="ctr">
                        <a:defRPr sz="1200">
                          <a:solidFill>
                            <a:srgbClr val="01203C"/>
                          </a:solidFill>
                          <a:latin typeface="Microsoft YaHei"/>
                        </a:defRPr>
                      </a:pPr>
                      <a:r>
                        <a:t>各道路恢复段</a:t>
                      </a:r>
                    </a:p>
                  </a:txBody>
                  <a:tcPr anchor="ctr" marL="36576" marR="36576" marT="18288" marB="18288">
                    <a:solidFill>
                      <a:srgbClr val="FFFFFF"/>
                    </a:solidFill>
                  </a:tcPr>
                </a:tc>
                <a:tc>
                  <a:txBody>
                    <a:bodyPr/>
                    <a:lstStyle/>
                    <a:p>
                      <a:pPr algn="ctr">
                        <a:defRPr sz="1200">
                          <a:solidFill>
                            <a:srgbClr val="01203C"/>
                          </a:solidFill>
                          <a:latin typeface="Microsoft YaHei"/>
                        </a:defRPr>
                      </a:pPr>
                      <a:r>
                        <a:t>路面恢复、绿化恢复</a:t>
                      </a:r>
                    </a:p>
                  </a:txBody>
                  <a:tcPr anchor="ctr" marL="36576" marR="36576" marT="18288" marB="18288">
                    <a:solidFill>
                      <a:srgbClr val="FFFFFF"/>
                    </a:solidFill>
                  </a:tcPr>
                </a:tc>
                <a:tc>
                  <a:txBody>
                    <a:bodyPr/>
                    <a:lstStyle/>
                    <a:p>
                      <a:pPr algn="ctr">
                        <a:defRPr sz="1200">
                          <a:solidFill>
                            <a:srgbClr val="01203C"/>
                          </a:solidFill>
                          <a:latin typeface="Microsoft YaHei"/>
                        </a:defRPr>
                      </a:pPr>
                      <a:r>
                        <a:t>随主体完工分段恢复</a:t>
                      </a:r>
                    </a:p>
                  </a:txBody>
                  <a:tcPr anchor="ctr" marL="36576" marR="36576" marT="18288" marB="18288">
                    <a:solidFill>
                      <a:srgbClr val="FFFFFF"/>
                    </a:solidFill>
                  </a:tcPr>
                </a:tc>
                <a:tc>
                  <a:txBody>
                    <a:bodyPr/>
                    <a:lstStyle/>
                    <a:p>
                      <a:pPr algn="ctr">
                        <a:defRPr sz="1200">
                          <a:solidFill>
                            <a:srgbClr val="01203C"/>
                          </a:solidFill>
                          <a:latin typeface="Microsoft YaHei"/>
                        </a:defRPr>
                      </a:pPr>
                      <a:r>
                        <a:t>土地整治和植被恢复需与道路恢复同步闭合</a:t>
                      </a:r>
                    </a:p>
                  </a:txBody>
                  <a:tcPr anchor="ctr" marL="36576" marR="36576" marT="18288" marB="18288">
                    <a:solidFill>
                      <a:srgbClr val="FFFFFF"/>
                    </a:solidFill>
                  </a:tcPr>
                </a:tc>
              </a:tr>
            </a:tbl>
          </a:graphicData>
        </a:graphic>
      </p:graphicFrame>
      <p:sp>
        <p:nvSpPr>
          <p:cNvPr id="7" name="TextBox 6"/>
          <p:cNvSpPr txBox="1"/>
          <p:nvPr/>
        </p:nvSpPr>
        <p:spPr>
          <a:xfrm>
            <a:off x="713232" y="4681728"/>
            <a:ext cx="6583680" cy="493776"/>
          </a:xfrm>
          <a:prstGeom prst="rect">
            <a:avLst/>
          </a:prstGeom>
          <a:noFill/>
        </p:spPr>
        <p:txBody>
          <a:bodyPr wrap="square">
            <a:noAutofit/>
          </a:bodyPr>
          <a:lstStyle/>
          <a:p>
            <a:pPr>
              <a:defRPr sz="1500" b="1">
                <a:solidFill>
                  <a:srgbClr val="4489C8"/>
                </a:solidFill>
                <a:latin typeface="Microsoft YaHei"/>
              </a:defRPr>
            </a:pPr>
            <a:r>
              <a:t>水土保持措施实施进度表</a:t>
            </a:r>
          </a:p>
        </p:txBody>
      </p:sp>
      <p:sp>
        <p:nvSpPr>
          <p:cNvPr id="8" name="TextBox 7"/>
          <p:cNvSpPr txBox="1"/>
          <p:nvPr/>
        </p:nvSpPr>
        <p:spPr>
          <a:xfrm>
            <a:off x="713232" y="5138928"/>
            <a:ext cx="10561320" cy="868680"/>
          </a:xfrm>
          <a:prstGeom prst="rect">
            <a:avLst/>
          </a:prstGeom>
          <a:noFill/>
        </p:spPr>
        <p:txBody>
          <a:bodyPr wrap="square">
            <a:noAutofit/>
          </a:bodyPr>
          <a:lstStyle/>
          <a:p>
            <a:pPr>
              <a:spcAft>
                <a:spcPts val="400"/>
              </a:spcAft>
              <a:defRPr sz="1400">
                <a:solidFill>
                  <a:srgbClr val="01203C"/>
                </a:solidFill>
                <a:latin typeface="Microsoft YaHei"/>
              </a:defRPr>
            </a:pPr>
            <a:r>
              <a:t>实施进度表将水土保持措施嵌入项目施工窗口，体现措施与主体工程同步实施。</a:t>
            </a:r>
          </a:p>
          <a:p>
            <a:pPr>
              <a:spcAft>
                <a:spcPts val="400"/>
              </a:spcAft>
              <a:defRPr sz="1400">
                <a:solidFill>
                  <a:srgbClr val="01203C"/>
                </a:solidFill>
                <a:latin typeface="Microsoft YaHei"/>
              </a:defRPr>
            </a:pPr>
            <a:r>
              <a:t>进度表保留道路段、工序和年月层级关系，体现分段施工与分段恢复安排。</a:t>
            </a:r>
          </a:p>
          <a:p>
            <a:pPr>
              <a:spcAft>
                <a:spcPts val="400"/>
              </a:spcAft>
              <a:defRPr sz="1400">
                <a:solidFill>
                  <a:srgbClr val="01203C"/>
                </a:solidFill>
                <a:latin typeface="Microsoft YaHei"/>
              </a:defRPr>
            </a:pPr>
            <a:r>
              <a:t>临时防护与扰动活动同步展开，恢复措施跟随路面和绿化恢复完成。</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1203C"/>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1203C"/>
          </a:solidFill>
          <a:ln w="7620">
            <a:solidFill>
              <a:srgbClr val="0120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 y="960120"/>
            <a:ext cx="73152" cy="4736592"/>
          </a:xfrm>
          <a:prstGeom prst="rect">
            <a:avLst/>
          </a:prstGeom>
          <a:solidFill>
            <a:srgbClr val="4489C8"/>
          </a:solidFill>
          <a:ln w="7620">
            <a:solidFill>
              <a:srgbClr val="448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9808" y="640080"/>
            <a:ext cx="4206240" cy="320040"/>
          </a:xfrm>
          <a:prstGeom prst="rect">
            <a:avLst/>
          </a:prstGeom>
          <a:noFill/>
        </p:spPr>
        <p:txBody>
          <a:bodyPr wrap="square">
            <a:noAutofit/>
          </a:bodyPr>
          <a:lstStyle/>
          <a:p>
            <a:pPr>
              <a:defRPr sz="1600" b="1">
                <a:solidFill>
                  <a:srgbClr val="EAF2F8"/>
                </a:solidFill>
                <a:latin typeface="Microsoft YaHei"/>
              </a:defRPr>
            </a:pPr>
            <a:r>
              <a:t>第07章 / 共07章</a:t>
            </a:r>
          </a:p>
        </p:txBody>
      </p:sp>
      <p:sp>
        <p:nvSpPr>
          <p:cNvPr id="5" name="TextBox 4"/>
          <p:cNvSpPr txBox="1"/>
          <p:nvPr/>
        </p:nvSpPr>
        <p:spPr>
          <a:xfrm>
            <a:off x="749808" y="1901952"/>
            <a:ext cx="1298448" cy="804672"/>
          </a:xfrm>
          <a:prstGeom prst="rect">
            <a:avLst/>
          </a:prstGeom>
          <a:noFill/>
        </p:spPr>
        <p:txBody>
          <a:bodyPr wrap="square">
            <a:noAutofit/>
          </a:bodyPr>
          <a:lstStyle/>
          <a:p>
            <a:pPr>
              <a:defRPr sz="5400" b="1">
                <a:solidFill>
                  <a:srgbClr val="FFFFFF"/>
                </a:solidFill>
                <a:latin typeface="Microsoft YaHei"/>
              </a:defRPr>
            </a:pPr>
            <a:r>
              <a:t>07</a:t>
            </a:r>
          </a:p>
        </p:txBody>
      </p:sp>
      <p:sp>
        <p:nvSpPr>
          <p:cNvPr id="6" name="TextBox 5"/>
          <p:cNvSpPr txBox="1"/>
          <p:nvPr/>
        </p:nvSpPr>
        <p:spPr>
          <a:xfrm>
            <a:off x="2176272" y="2011680"/>
            <a:ext cx="8961120" cy="749808"/>
          </a:xfrm>
          <a:prstGeom prst="rect">
            <a:avLst/>
          </a:prstGeom>
          <a:noFill/>
        </p:spPr>
        <p:txBody>
          <a:bodyPr wrap="square">
            <a:noAutofit/>
          </a:bodyPr>
          <a:lstStyle/>
          <a:p>
            <a:pPr>
              <a:defRPr sz="3000" b="1">
                <a:solidFill>
                  <a:srgbClr val="FFFFFF"/>
                </a:solidFill>
                <a:latin typeface="Microsoft YaHei"/>
              </a:defRPr>
            </a:pPr>
            <a:r>
              <a:t>投资概算、效益与管理验收</a:t>
            </a:r>
          </a:p>
        </p:txBody>
      </p:sp>
      <p:sp>
        <p:nvSpPr>
          <p:cNvPr id="7" name="TextBox 6"/>
          <p:cNvSpPr txBox="1"/>
          <p:nvPr/>
        </p:nvSpPr>
        <p:spPr>
          <a:xfrm>
            <a:off x="2212848" y="2962656"/>
            <a:ext cx="8229600" cy="329184"/>
          </a:xfrm>
          <a:prstGeom prst="rect">
            <a:avLst/>
          </a:prstGeom>
          <a:noFill/>
        </p:spPr>
        <p:txBody>
          <a:bodyPr wrap="square">
            <a:noAutofit/>
          </a:bodyPr>
          <a:lstStyle/>
          <a:p>
            <a:pPr>
              <a:defRPr sz="1500" b="0">
                <a:solidFill>
                  <a:srgbClr val="EAF2F8"/>
                </a:solidFill>
                <a:latin typeface="Microsoft YaHei"/>
              </a:defRPr>
            </a:pPr>
            <a:r>
              <a:t>说明投资构成、补偿费免征依据、防治效果达标情况及后续管理要求。</a:t>
            </a:r>
          </a:p>
        </p:txBody>
      </p:sp>
      <p:sp>
        <p:nvSpPr>
          <p:cNvPr id="8" name="Rectangle 7"/>
          <p:cNvSpPr/>
          <p:nvPr/>
        </p:nvSpPr>
        <p:spPr>
          <a:xfrm>
            <a:off x="2212848" y="3749039"/>
            <a:ext cx="6400800" cy="18288"/>
          </a:xfrm>
          <a:prstGeom prst="rect">
            <a:avLst/>
          </a:prstGeom>
          <a:solidFill>
            <a:srgbClr val="4489C8"/>
          </a:solidFill>
          <a:ln w="7620">
            <a:solidFill>
              <a:srgbClr val="448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384048" y="182880"/>
            <a:ext cx="10835640" cy="457200"/>
          </a:xfrm>
          <a:prstGeom prst="rect">
            <a:avLst/>
          </a:prstGeom>
          <a:noFill/>
        </p:spPr>
        <p:txBody>
          <a:bodyPr wrap="square">
            <a:noAutofit/>
          </a:bodyPr>
          <a:lstStyle/>
          <a:p>
            <a:pPr>
              <a:defRPr sz="2400" b="1">
                <a:solidFill>
                  <a:srgbClr val="01203C"/>
                </a:solidFill>
                <a:latin typeface="Microsoft YaHei"/>
              </a:defRPr>
            </a:pPr>
            <a:r>
              <a:t>水土保持估算总投资为 26.9211 万元</a:t>
            </a:r>
          </a:p>
        </p:txBody>
      </p:sp>
      <p:sp>
        <p:nvSpPr>
          <p:cNvPr id="3" name="TextBox 2"/>
          <p:cNvSpPr txBox="1"/>
          <p:nvPr/>
        </p:nvSpPr>
        <p:spPr>
          <a:xfrm>
            <a:off x="393192" y="621792"/>
            <a:ext cx="6400800" cy="219456"/>
          </a:xfrm>
          <a:prstGeom prst="rect">
            <a:avLst/>
          </a:prstGeom>
          <a:noFill/>
        </p:spPr>
        <p:txBody>
          <a:bodyPr wrap="square">
            <a:noAutofit/>
          </a:bodyPr>
          <a:lstStyle/>
          <a:p>
            <a:pPr>
              <a:defRPr sz="950" b="0">
                <a:solidFill>
                  <a:srgbClr val="4489C8"/>
                </a:solidFill>
                <a:latin typeface="Microsoft YaHei"/>
              </a:defRPr>
            </a:pPr>
            <a:r>
              <a:t>投资概算、效益与管理验收</a:t>
            </a:r>
          </a:p>
        </p:txBody>
      </p:sp>
      <p:sp>
        <p:nvSpPr>
          <p:cNvPr id="4" name="TextBox 3"/>
          <p:cNvSpPr txBox="1"/>
          <p:nvPr/>
        </p:nvSpPr>
        <p:spPr>
          <a:xfrm>
            <a:off x="10652760" y="603504"/>
            <a:ext cx="640080" cy="182880"/>
          </a:xfrm>
          <a:prstGeom prst="rect">
            <a:avLst/>
          </a:prstGeom>
          <a:noFill/>
        </p:spPr>
        <p:txBody>
          <a:bodyPr wrap="square">
            <a:noAutofit/>
          </a:bodyPr>
          <a:lstStyle/>
          <a:p>
            <a:pPr algn="r">
              <a:defRPr sz="900" b="0">
                <a:solidFill>
                  <a:srgbClr val="566B7F"/>
                </a:solidFill>
                <a:latin typeface="Microsoft YaHei"/>
              </a:defRPr>
            </a:pPr>
            <a:r>
              <a:t>28</a:t>
            </a:r>
          </a:p>
        </p:txBody>
      </p:sp>
      <p:sp>
        <p:nvSpPr>
          <p:cNvPr id="5" name="Rectangle 4"/>
          <p:cNvSpPr/>
          <p:nvPr/>
        </p:nvSpPr>
        <p:spPr>
          <a:xfrm>
            <a:off x="384048" y="804672"/>
            <a:ext cx="10826496" cy="13716"/>
          </a:xfrm>
          <a:prstGeom prst="rect">
            <a:avLst/>
          </a:prstGeom>
          <a:solidFill>
            <a:srgbClr val="448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060704"/>
          <a:ext cx="7315200" cy="4617718"/>
        </p:xfrm>
        <a:graphic>
          <a:graphicData uri="http://schemas.openxmlformats.org/drawingml/2006/table">
            <a:tbl>
              <a:tblPr firstRow="1" bandRow="1">
                <a:tableStyleId>{5C22544A-7EE6-4342-B048-85BDC9FD1C3A}</a:tableStyleId>
              </a:tblPr>
              <a:tblGrid>
                <a:gridCol w="1828800"/>
                <a:gridCol w="1828800"/>
                <a:gridCol w="1828800"/>
                <a:gridCol w="1828800"/>
              </a:tblGrid>
              <a:tr h="659674">
                <a:tc>
                  <a:txBody>
                    <a:bodyPr/>
                    <a:lstStyle/>
                    <a:p>
                      <a:pPr algn="ctr">
                        <a:defRPr sz="1200" b="1">
                          <a:solidFill>
                            <a:srgbClr val="01203C"/>
                          </a:solidFill>
                          <a:latin typeface="Microsoft YaHei"/>
                        </a:defRPr>
                      </a:pPr>
                      <a:r>
                        <a:t>编号</a:t>
                      </a:r>
                    </a:p>
                  </a:txBody>
                  <a:tcPr anchor="ctr" marL="36576" marR="36576" marT="18288" marB="18288">
                    <a:solidFill>
                      <a:srgbClr val="EAF2F8"/>
                    </a:solidFill>
                  </a:tcPr>
                </a:tc>
                <a:tc>
                  <a:txBody>
                    <a:bodyPr/>
                    <a:lstStyle/>
                    <a:p>
                      <a:pPr algn="ctr">
                        <a:defRPr sz="1200" b="1">
                          <a:solidFill>
                            <a:srgbClr val="01203C"/>
                          </a:solidFill>
                          <a:latin typeface="Microsoft YaHei"/>
                        </a:defRPr>
                      </a:pPr>
                      <a:r>
                        <a:t>工程名称</a:t>
                      </a:r>
                    </a:p>
                  </a:txBody>
                  <a:tcPr anchor="ctr" marL="36576" marR="36576" marT="18288" marB="18288">
                    <a:solidFill>
                      <a:srgbClr val="EAF2F8"/>
                    </a:solidFill>
                  </a:tcPr>
                </a:tc>
                <a:tc>
                  <a:txBody>
                    <a:bodyPr/>
                    <a:lstStyle/>
                    <a:p>
                      <a:pPr algn="ctr">
                        <a:defRPr sz="1200" b="1">
                          <a:solidFill>
                            <a:srgbClr val="01203C"/>
                          </a:solidFill>
                          <a:latin typeface="Microsoft YaHei"/>
                        </a:defRPr>
                      </a:pPr>
                      <a:r>
                        <a:t>建安工程费</a:t>
                      </a:r>
                    </a:p>
                  </a:txBody>
                  <a:tcPr anchor="ctr" marL="36576" marR="36576" marT="18288" marB="18288">
                    <a:solidFill>
                      <a:srgbClr val="EAF2F8"/>
                    </a:solidFill>
                  </a:tcPr>
                </a:tc>
                <a:tc>
                  <a:txBody>
                    <a:bodyPr/>
                    <a:lstStyle/>
                    <a:p>
                      <a:pPr algn="ctr">
                        <a:defRPr sz="1200" b="1">
                          <a:solidFill>
                            <a:srgbClr val="01203C"/>
                          </a:solidFill>
                          <a:latin typeface="Microsoft YaHei"/>
                        </a:defRPr>
                      </a:pPr>
                      <a:r>
                        <a:t>植物措施费</a:t>
                      </a:r>
                    </a:p>
                  </a:txBody>
                  <a:tcPr anchor="ctr" marL="36576" marR="36576" marT="18288" marB="18288">
                    <a:solidFill>
                      <a:srgbClr val="EAF2F8"/>
                    </a:solidFill>
                  </a:tcPr>
                </a:tc>
              </a:tr>
              <a:tr h="659674">
                <a:tc>
                  <a:txBody>
                    <a:bodyPr/>
                    <a:lstStyle/>
                    <a:p>
                      <a:pPr algn="ctr">
                        <a:defRPr sz="1200">
                          <a:solidFill>
                            <a:srgbClr val="01203C"/>
                          </a:solidFill>
                          <a:latin typeface="Microsoft YaHei"/>
                        </a:defRPr>
                      </a:pPr>
                      <a:r>
                        <a:t>第一部分工程措施</a:t>
                      </a:r>
                    </a:p>
                  </a:txBody>
                  <a:tcPr anchor="ctr" marL="36576" marR="36576" marT="18288" marB="18288">
                    <a:solidFill>
                      <a:srgbClr val="FFFFFF"/>
                    </a:solidFill>
                  </a:tcPr>
                </a:tc>
                <a:tc>
                  <a:txBody>
                    <a:bodyPr/>
                    <a:lstStyle/>
                    <a:p>
                      <a:pPr algn="ctr">
                        <a:defRPr sz="1200">
                          <a:solidFill>
                            <a:srgbClr val="01203C"/>
                          </a:solidFill>
                          <a:latin typeface="Microsoft YaHei"/>
                        </a:defRPr>
                      </a:pPr>
                      <a:r>
                        <a:t>0.1827</a:t>
                      </a:r>
                    </a:p>
                  </a:txBody>
                  <a:tcPr anchor="ctr" marL="36576" marR="36576" marT="18288" marB="18288">
                    <a:solidFill>
                      <a:srgbClr val="FFFFFF"/>
                    </a:solidFill>
                  </a:tcPr>
                </a:tc>
                <a:tc>
                  <a:txBody>
                    <a:bodyPr/>
                    <a:lstStyle/>
                    <a:p>
                      <a:pPr algn="ctr">
                        <a:defRPr sz="1200">
                          <a:solidFill>
                            <a:srgbClr val="01203C"/>
                          </a:solidFill>
                          <a:latin typeface="Microsoft YaHei"/>
                        </a:defRPr>
                      </a:pPr>
                    </a:p>
                  </a:txBody>
                  <a:tcPr anchor="ctr" marL="36576" marR="36576" marT="18288" marB="18288">
                    <a:solidFill>
                      <a:srgbClr val="FFFFFF"/>
                    </a:solidFill>
                  </a:tcPr>
                </a:tc>
                <a:tc>
                  <a:txBody>
                    <a:bodyPr/>
                    <a:lstStyle/>
                    <a:p>
                      <a:pPr algn="ctr">
                        <a:defRPr sz="1200">
                          <a:solidFill>
                            <a:srgbClr val="01203C"/>
                          </a:solidFill>
                          <a:latin typeface="Microsoft YaHei"/>
                        </a:defRPr>
                      </a:pPr>
                    </a:p>
                  </a:txBody>
                  <a:tcPr anchor="ctr" marL="36576" marR="36576" marT="18288" marB="18288">
                    <a:solidFill>
                      <a:srgbClr val="FFFFFF"/>
                    </a:solidFill>
                  </a:tcPr>
                </a:tc>
              </a:tr>
              <a:tr h="659674">
                <a:tc>
                  <a:txBody>
                    <a:bodyPr/>
                    <a:lstStyle/>
                    <a:p>
                      <a:pPr algn="ctr">
                        <a:defRPr sz="1200">
                          <a:solidFill>
                            <a:srgbClr val="01203C"/>
                          </a:solidFill>
                          <a:latin typeface="Microsoft YaHei"/>
                        </a:defRPr>
                      </a:pPr>
                      <a:r>
                        <a:t>第二部分植物措施</a:t>
                      </a:r>
                    </a:p>
                  </a:txBody>
                  <a:tcPr anchor="ctr" marL="36576" marR="36576" marT="18288" marB="18288">
                    <a:solidFill>
                      <a:srgbClr val="FFFFFF"/>
                    </a:solidFill>
                  </a:tcPr>
                </a:tc>
                <a:tc>
                  <a:txBody>
                    <a:bodyPr/>
                    <a:lstStyle/>
                    <a:p>
                      <a:pPr algn="ctr">
                        <a:defRPr sz="1200">
                          <a:solidFill>
                            <a:srgbClr val="01203C"/>
                          </a:solidFill>
                          <a:latin typeface="Microsoft YaHei"/>
                        </a:defRPr>
                      </a:pPr>
                    </a:p>
                  </a:txBody>
                  <a:tcPr anchor="ctr" marL="36576" marR="36576" marT="18288" marB="18288">
                    <a:solidFill>
                      <a:srgbClr val="FFFFFF"/>
                    </a:solidFill>
                  </a:tcPr>
                </a:tc>
                <a:tc>
                  <a:txBody>
                    <a:bodyPr/>
                    <a:lstStyle/>
                    <a:p>
                      <a:pPr algn="ctr">
                        <a:defRPr sz="1200">
                          <a:solidFill>
                            <a:srgbClr val="01203C"/>
                          </a:solidFill>
                          <a:latin typeface="Microsoft YaHei"/>
                        </a:defRPr>
                      </a:pPr>
                      <a:r>
                        <a:t>0.6185</a:t>
                      </a:r>
                    </a:p>
                  </a:txBody>
                  <a:tcPr anchor="ctr" marL="36576" marR="36576" marT="18288" marB="18288">
                    <a:solidFill>
                      <a:srgbClr val="FFFFFF"/>
                    </a:solidFill>
                  </a:tcPr>
                </a:tc>
                <a:tc>
                  <a:txBody>
                    <a:bodyPr/>
                    <a:lstStyle/>
                    <a:p>
                      <a:pPr algn="ctr">
                        <a:defRPr sz="1200">
                          <a:solidFill>
                            <a:srgbClr val="01203C"/>
                          </a:solidFill>
                          <a:latin typeface="Microsoft YaHei"/>
                        </a:defRPr>
                      </a:pPr>
                    </a:p>
                  </a:txBody>
                  <a:tcPr anchor="ctr" marL="36576" marR="36576" marT="18288" marB="18288">
                    <a:solidFill>
                      <a:srgbClr val="FFFFFF"/>
                    </a:solidFill>
                  </a:tcPr>
                </a:tc>
              </a:tr>
              <a:tr h="659674">
                <a:tc>
                  <a:txBody>
                    <a:bodyPr/>
                    <a:lstStyle/>
                    <a:p>
                      <a:pPr algn="ctr">
                        <a:defRPr sz="1200">
                          <a:solidFill>
                            <a:srgbClr val="01203C"/>
                          </a:solidFill>
                          <a:latin typeface="Microsoft YaHei"/>
                        </a:defRPr>
                      </a:pPr>
                      <a:r>
                        <a:t>第三部分临时措施</a:t>
                      </a:r>
                    </a:p>
                  </a:txBody>
                  <a:tcPr anchor="ctr" marL="36576" marR="36576" marT="18288" marB="18288">
                    <a:solidFill>
                      <a:srgbClr val="FFFFFF"/>
                    </a:solidFill>
                  </a:tcPr>
                </a:tc>
                <a:tc>
                  <a:txBody>
                    <a:bodyPr/>
                    <a:lstStyle/>
                    <a:p>
                      <a:pPr algn="ctr">
                        <a:defRPr sz="1200">
                          <a:solidFill>
                            <a:srgbClr val="01203C"/>
                          </a:solidFill>
                          <a:latin typeface="Microsoft YaHei"/>
                        </a:defRPr>
                      </a:pPr>
                      <a:r>
                        <a:t>0.4253</a:t>
                      </a:r>
                    </a:p>
                  </a:txBody>
                  <a:tcPr anchor="ctr" marL="36576" marR="36576" marT="18288" marB="18288">
                    <a:solidFill>
                      <a:srgbClr val="FFFFFF"/>
                    </a:solidFill>
                  </a:tcPr>
                </a:tc>
                <a:tc>
                  <a:txBody>
                    <a:bodyPr/>
                    <a:lstStyle/>
                    <a:p>
                      <a:pPr algn="ctr">
                        <a:defRPr sz="1200">
                          <a:solidFill>
                            <a:srgbClr val="01203C"/>
                          </a:solidFill>
                          <a:latin typeface="Microsoft YaHei"/>
                        </a:defRPr>
                      </a:pPr>
                    </a:p>
                  </a:txBody>
                  <a:tcPr anchor="ctr" marL="36576" marR="36576" marT="18288" marB="18288">
                    <a:solidFill>
                      <a:srgbClr val="FFFFFF"/>
                    </a:solidFill>
                  </a:tcPr>
                </a:tc>
                <a:tc>
                  <a:txBody>
                    <a:bodyPr/>
                    <a:lstStyle/>
                    <a:p>
                      <a:pPr algn="ctr">
                        <a:defRPr sz="1200">
                          <a:solidFill>
                            <a:srgbClr val="01203C"/>
                          </a:solidFill>
                          <a:latin typeface="Microsoft YaHei"/>
                        </a:defRPr>
                      </a:pPr>
                    </a:p>
                  </a:txBody>
                  <a:tcPr anchor="ctr" marL="36576" marR="36576" marT="18288" marB="18288">
                    <a:solidFill>
                      <a:srgbClr val="FFFFFF"/>
                    </a:solidFill>
                  </a:tcPr>
                </a:tc>
              </a:tr>
              <a:tr h="659674">
                <a:tc>
                  <a:txBody>
                    <a:bodyPr/>
                    <a:lstStyle/>
                    <a:p>
                      <a:pPr algn="ctr">
                        <a:defRPr sz="1200">
                          <a:solidFill>
                            <a:srgbClr val="01203C"/>
                          </a:solidFill>
                          <a:latin typeface="Microsoft YaHei"/>
                        </a:defRPr>
                      </a:pPr>
                      <a:r>
                        <a:t>一至三部分合计</a:t>
                      </a:r>
                    </a:p>
                  </a:txBody>
                  <a:tcPr anchor="ctr" marL="36576" marR="36576" marT="18288" marB="18288">
                    <a:solidFill>
                      <a:srgbClr val="FFFFFF"/>
                    </a:solidFill>
                  </a:tcPr>
                </a:tc>
                <a:tc>
                  <a:txBody>
                    <a:bodyPr/>
                    <a:lstStyle/>
                    <a:p>
                      <a:pPr algn="ctr">
                        <a:defRPr sz="1200">
                          <a:solidFill>
                            <a:srgbClr val="01203C"/>
                          </a:solidFill>
                          <a:latin typeface="Microsoft YaHei"/>
                        </a:defRPr>
                      </a:pPr>
                      <a:r>
                        <a:t>0.6081</a:t>
                      </a:r>
                    </a:p>
                  </a:txBody>
                  <a:tcPr anchor="ctr" marL="36576" marR="36576" marT="18288" marB="18288">
                    <a:solidFill>
                      <a:srgbClr val="FFFFFF"/>
                    </a:solidFill>
                  </a:tcPr>
                </a:tc>
                <a:tc>
                  <a:txBody>
                    <a:bodyPr/>
                    <a:lstStyle/>
                    <a:p>
                      <a:pPr algn="ctr">
                        <a:defRPr sz="1200">
                          <a:solidFill>
                            <a:srgbClr val="01203C"/>
                          </a:solidFill>
                          <a:latin typeface="Microsoft YaHei"/>
                        </a:defRPr>
                      </a:pPr>
                      <a:r>
                        <a:t>0.6185</a:t>
                      </a:r>
                    </a:p>
                  </a:txBody>
                  <a:tcPr anchor="ctr" marL="36576" marR="36576" marT="18288" marB="18288">
                    <a:solidFill>
                      <a:srgbClr val="FFFFFF"/>
                    </a:solidFill>
                  </a:tcPr>
                </a:tc>
                <a:tc>
                  <a:txBody>
                    <a:bodyPr/>
                    <a:lstStyle/>
                    <a:p>
                      <a:pPr algn="ctr">
                        <a:defRPr sz="1200">
                          <a:solidFill>
                            <a:srgbClr val="01203C"/>
                          </a:solidFill>
                          <a:latin typeface="Microsoft YaHei"/>
                        </a:defRPr>
                      </a:pPr>
                    </a:p>
                  </a:txBody>
                  <a:tcPr anchor="ctr" marL="36576" marR="36576" marT="18288" marB="18288">
                    <a:solidFill>
                      <a:srgbClr val="FFFFFF"/>
                    </a:solidFill>
                  </a:tcPr>
                </a:tc>
              </a:tr>
              <a:tr h="659674">
                <a:tc>
                  <a:txBody>
                    <a:bodyPr/>
                    <a:lstStyle/>
                    <a:p>
                      <a:pPr algn="ctr">
                        <a:defRPr sz="1200">
                          <a:solidFill>
                            <a:srgbClr val="01203C"/>
                          </a:solidFill>
                          <a:latin typeface="Microsoft YaHei"/>
                        </a:defRPr>
                      </a:pPr>
                      <a:r>
                        <a:t>第四部分独立费用</a:t>
                      </a:r>
                    </a:p>
                  </a:txBody>
                  <a:tcPr anchor="ctr" marL="36576" marR="36576" marT="18288" marB="18288">
                    <a:solidFill>
                      <a:srgbClr val="FFFFFF"/>
                    </a:solidFill>
                  </a:tcPr>
                </a:tc>
                <a:tc>
                  <a:txBody>
                    <a:bodyPr/>
                    <a:lstStyle/>
                    <a:p>
                      <a:pPr algn="ctr">
                        <a:defRPr sz="1200">
                          <a:solidFill>
                            <a:srgbClr val="01203C"/>
                          </a:solidFill>
                          <a:latin typeface="Microsoft YaHei"/>
                        </a:defRPr>
                      </a:pPr>
                    </a:p>
                  </a:txBody>
                  <a:tcPr anchor="ctr" marL="36576" marR="36576" marT="18288" marB="18288">
                    <a:solidFill>
                      <a:srgbClr val="FFFFFF"/>
                    </a:solidFill>
                  </a:tcPr>
                </a:tc>
                <a:tc>
                  <a:txBody>
                    <a:bodyPr/>
                    <a:lstStyle/>
                    <a:p>
                      <a:pPr algn="ctr">
                        <a:defRPr sz="1200">
                          <a:solidFill>
                            <a:srgbClr val="01203C"/>
                          </a:solidFill>
                          <a:latin typeface="Microsoft YaHei"/>
                        </a:defRPr>
                      </a:pPr>
                    </a:p>
                  </a:txBody>
                  <a:tcPr anchor="ctr" marL="36576" marR="36576" marT="18288" marB="18288">
                    <a:solidFill>
                      <a:srgbClr val="FFFFFF"/>
                    </a:solidFill>
                  </a:tcPr>
                </a:tc>
                <a:tc>
                  <a:txBody>
                    <a:bodyPr/>
                    <a:lstStyle/>
                    <a:p>
                      <a:pPr algn="ctr">
                        <a:defRPr sz="1200">
                          <a:solidFill>
                            <a:srgbClr val="01203C"/>
                          </a:solidFill>
                          <a:latin typeface="Microsoft YaHei"/>
                        </a:defRPr>
                      </a:pPr>
                      <a:r>
                        <a:t>20.4968</a:t>
                      </a:r>
                    </a:p>
                  </a:txBody>
                  <a:tcPr anchor="ctr" marL="36576" marR="36576" marT="18288" marB="18288">
                    <a:solidFill>
                      <a:srgbClr val="FFFFFF"/>
                    </a:solidFill>
                  </a:tcPr>
                </a:tc>
              </a:tr>
              <a:tr h="659674">
                <a:tc>
                  <a:txBody>
                    <a:bodyPr/>
                    <a:lstStyle/>
                    <a:p>
                      <a:pPr algn="ctr">
                        <a:defRPr sz="1200">
                          <a:solidFill>
                            <a:srgbClr val="01203C"/>
                          </a:solidFill>
                          <a:latin typeface="Microsoft YaHei"/>
                        </a:defRPr>
                      </a:pPr>
                      <a:r>
                        <a:t>一至四部分合计</a:t>
                      </a:r>
                    </a:p>
                  </a:txBody>
                  <a:tcPr anchor="ctr" marL="36576" marR="36576" marT="18288" marB="18288">
                    <a:solidFill>
                      <a:srgbClr val="FFFFFF"/>
                    </a:solidFill>
                  </a:tcPr>
                </a:tc>
                <a:tc>
                  <a:txBody>
                    <a:bodyPr/>
                    <a:lstStyle/>
                    <a:p>
                      <a:pPr algn="ctr">
                        <a:defRPr sz="1200">
                          <a:solidFill>
                            <a:srgbClr val="01203C"/>
                          </a:solidFill>
                          <a:latin typeface="Microsoft YaHei"/>
                        </a:defRPr>
                      </a:pPr>
                      <a:r>
                        <a:t>0.6081</a:t>
                      </a:r>
                    </a:p>
                  </a:txBody>
                  <a:tcPr anchor="ctr" marL="36576" marR="36576" marT="18288" marB="18288">
                    <a:solidFill>
                      <a:srgbClr val="FFFFFF"/>
                    </a:solidFill>
                  </a:tcPr>
                </a:tc>
                <a:tc>
                  <a:txBody>
                    <a:bodyPr/>
                    <a:lstStyle/>
                    <a:p>
                      <a:pPr algn="ctr">
                        <a:defRPr sz="1200">
                          <a:solidFill>
                            <a:srgbClr val="01203C"/>
                          </a:solidFill>
                          <a:latin typeface="Microsoft YaHei"/>
                        </a:defRPr>
                      </a:pPr>
                      <a:r>
                        <a:t>0.6185</a:t>
                      </a:r>
                    </a:p>
                  </a:txBody>
                  <a:tcPr anchor="ctr" marL="36576" marR="36576" marT="18288" marB="18288">
                    <a:solidFill>
                      <a:srgbClr val="FFFFFF"/>
                    </a:solidFill>
                  </a:tcPr>
                </a:tc>
                <a:tc>
                  <a:txBody>
                    <a:bodyPr/>
                    <a:lstStyle/>
                    <a:p>
                      <a:pPr algn="ctr">
                        <a:defRPr sz="1200">
                          <a:solidFill>
                            <a:srgbClr val="01203C"/>
                          </a:solidFill>
                          <a:latin typeface="Microsoft YaHei"/>
                        </a:defRPr>
                      </a:pPr>
                      <a:r>
                        <a:t>20.4968</a:t>
                      </a:r>
                    </a:p>
                  </a:txBody>
                  <a:tcPr anchor="ctr" marL="36576" marR="36576" marT="18288" marB="18288">
                    <a:solidFill>
                      <a:srgbClr val="FFFFFF"/>
                    </a:solidFill>
                  </a:tcPr>
                </a:tc>
              </a:tr>
            </a:tbl>
          </a:graphicData>
        </a:graphic>
      </p:graphicFrame>
      <p:sp>
        <p:nvSpPr>
          <p:cNvPr id="7" name="TextBox 6"/>
          <p:cNvSpPr txBox="1"/>
          <p:nvPr/>
        </p:nvSpPr>
        <p:spPr>
          <a:xfrm>
            <a:off x="8183879" y="1115568"/>
            <a:ext cx="3063240" cy="438912"/>
          </a:xfrm>
          <a:prstGeom prst="rect">
            <a:avLst/>
          </a:prstGeom>
          <a:noFill/>
        </p:spPr>
        <p:txBody>
          <a:bodyPr wrap="square">
            <a:noAutofit/>
          </a:bodyPr>
          <a:lstStyle/>
          <a:p>
            <a:pPr>
              <a:defRPr sz="1500" b="1">
                <a:solidFill>
                  <a:srgbClr val="4489C8"/>
                </a:solidFill>
                <a:latin typeface="Microsoft YaHei"/>
              </a:defRPr>
            </a:pPr>
            <a:r>
              <a:t>本项目水土保持估算总表 单位：万元</a:t>
            </a:r>
          </a:p>
        </p:txBody>
      </p:sp>
      <p:sp>
        <p:nvSpPr>
          <p:cNvPr id="8" name="TextBox 7"/>
          <p:cNvSpPr txBox="1"/>
          <p:nvPr/>
        </p:nvSpPr>
        <p:spPr>
          <a:xfrm>
            <a:off x="8183879" y="1719072"/>
            <a:ext cx="2880360" cy="3611880"/>
          </a:xfrm>
          <a:prstGeom prst="rect">
            <a:avLst/>
          </a:prstGeom>
          <a:noFill/>
        </p:spPr>
        <p:txBody>
          <a:bodyPr wrap="square">
            <a:noAutofit/>
          </a:bodyPr>
          <a:lstStyle/>
          <a:p>
            <a:pPr>
              <a:spcAft>
                <a:spcPts val="400"/>
              </a:spcAft>
              <a:defRPr sz="1400">
                <a:solidFill>
                  <a:srgbClr val="01203C"/>
                </a:solidFill>
                <a:latin typeface="Microsoft YaHei"/>
              </a:defRPr>
            </a:pPr>
            <a:r>
              <a:t>估算总表用于说明水土保持投资构成和费用控制口径。</a:t>
            </a:r>
          </a:p>
          <a:p>
            <a:pPr>
              <a:spcAft>
                <a:spcPts val="400"/>
              </a:spcAft>
              <a:defRPr sz="1400">
                <a:solidFill>
                  <a:srgbClr val="01203C"/>
                </a:solidFill>
                <a:latin typeface="Microsoft YaHei"/>
              </a:defRPr>
            </a:pPr>
            <a:r>
              <a:t>新增投资、主体已列投资和补偿费应在不同费用表中保持口径一致。</a:t>
            </a:r>
          </a:p>
          <a:p>
            <a:pPr>
              <a:spcAft>
                <a:spcPts val="400"/>
              </a:spcAft>
              <a:defRPr sz="1400">
                <a:solidFill>
                  <a:srgbClr val="01203C"/>
                </a:solidFill>
                <a:latin typeface="Microsoft YaHei"/>
              </a:defRPr>
            </a:pPr>
            <a:r>
              <a:t>投资构成支撑水土保持措施实施、费用管理和设施验收。</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384048" y="182880"/>
            <a:ext cx="10835640" cy="457200"/>
          </a:xfrm>
          <a:prstGeom prst="rect">
            <a:avLst/>
          </a:prstGeom>
          <a:noFill/>
        </p:spPr>
        <p:txBody>
          <a:bodyPr wrap="square">
            <a:noAutofit/>
          </a:bodyPr>
          <a:lstStyle/>
          <a:p>
            <a:pPr>
              <a:defRPr sz="2400" b="1">
                <a:solidFill>
                  <a:srgbClr val="01203C"/>
                </a:solidFill>
                <a:latin typeface="Microsoft YaHei"/>
              </a:defRPr>
            </a:pPr>
            <a:r>
              <a:t>工程、植物、临时和独立费用共同构成新增投资</a:t>
            </a:r>
          </a:p>
        </p:txBody>
      </p:sp>
      <p:sp>
        <p:nvSpPr>
          <p:cNvPr id="3" name="TextBox 2"/>
          <p:cNvSpPr txBox="1"/>
          <p:nvPr/>
        </p:nvSpPr>
        <p:spPr>
          <a:xfrm>
            <a:off x="393192" y="621792"/>
            <a:ext cx="6400800" cy="219456"/>
          </a:xfrm>
          <a:prstGeom prst="rect">
            <a:avLst/>
          </a:prstGeom>
          <a:noFill/>
        </p:spPr>
        <p:txBody>
          <a:bodyPr wrap="square">
            <a:noAutofit/>
          </a:bodyPr>
          <a:lstStyle/>
          <a:p>
            <a:pPr>
              <a:defRPr sz="950" b="0">
                <a:solidFill>
                  <a:srgbClr val="4489C8"/>
                </a:solidFill>
                <a:latin typeface="Microsoft YaHei"/>
              </a:defRPr>
            </a:pPr>
            <a:r>
              <a:t>投资概算、效益与管理验收</a:t>
            </a:r>
          </a:p>
        </p:txBody>
      </p:sp>
      <p:sp>
        <p:nvSpPr>
          <p:cNvPr id="4" name="TextBox 3"/>
          <p:cNvSpPr txBox="1"/>
          <p:nvPr/>
        </p:nvSpPr>
        <p:spPr>
          <a:xfrm>
            <a:off x="10652760" y="603504"/>
            <a:ext cx="640080" cy="182880"/>
          </a:xfrm>
          <a:prstGeom prst="rect">
            <a:avLst/>
          </a:prstGeom>
          <a:noFill/>
        </p:spPr>
        <p:txBody>
          <a:bodyPr wrap="square">
            <a:noAutofit/>
          </a:bodyPr>
          <a:lstStyle/>
          <a:p>
            <a:pPr algn="r">
              <a:defRPr sz="900" b="0">
                <a:solidFill>
                  <a:srgbClr val="566B7F"/>
                </a:solidFill>
                <a:latin typeface="Microsoft YaHei"/>
              </a:defRPr>
            </a:pPr>
            <a:r>
              <a:t>29</a:t>
            </a:r>
          </a:p>
        </p:txBody>
      </p:sp>
      <p:sp>
        <p:nvSpPr>
          <p:cNvPr id="5" name="Rectangle 4"/>
          <p:cNvSpPr/>
          <p:nvPr/>
        </p:nvSpPr>
        <p:spPr>
          <a:xfrm>
            <a:off x="384048" y="804672"/>
            <a:ext cx="10826496" cy="13716"/>
          </a:xfrm>
          <a:prstGeom prst="rect">
            <a:avLst/>
          </a:prstGeom>
          <a:solidFill>
            <a:srgbClr val="448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060704"/>
          <a:ext cx="11064236" cy="3456432"/>
        </p:xfrm>
        <a:graphic>
          <a:graphicData uri="http://schemas.openxmlformats.org/drawingml/2006/table">
            <a:tbl>
              <a:tblPr firstRow="1" bandRow="1">
                <a:tableStyleId>{5C22544A-7EE6-4342-B048-85BDC9FD1C3A}</a:tableStyleId>
              </a:tblPr>
              <a:tblGrid>
                <a:gridCol w="1550551"/>
                <a:gridCol w="1919359"/>
                <a:gridCol w="1736254"/>
                <a:gridCol w="1733657"/>
                <a:gridCol w="1733657"/>
                <a:gridCol w="2390758"/>
              </a:tblGrid>
              <a:tr h="576072">
                <a:tc gridSpan="2">
                  <a:txBody>
                    <a:bodyPr/>
                    <a:lstStyle/>
                    <a:p>
                      <a:pPr algn="ctr">
                        <a:defRPr sz="1200" b="1">
                          <a:solidFill>
                            <a:srgbClr val="01203C"/>
                          </a:solidFill>
                          <a:latin typeface="Microsoft YaHei"/>
                        </a:defRPr>
                      </a:pPr>
                      <a:r>
                        <a:t>项目区或措施名称</a:t>
                      </a:r>
                    </a:p>
                  </a:txBody>
                  <a:tcPr anchor="ctr" marL="32004" marR="32004" marT="16459" marB="16459">
                    <a:solidFill>
                      <a:srgbClr val="EAF2F8"/>
                    </a:solidFill>
                  </a:tcPr>
                </a:tc>
                <a:tc hMerge="1">
                  <a:txBody>
                    <a:bodyPr/>
                    <a:lstStyle/>
                    <a:p>
                      <a:pPr algn="ctr">
                        <a:defRPr sz="1200" b="1">
                          <a:solidFill>
                            <a:srgbClr val="01203C"/>
                          </a:solidFill>
                          <a:latin typeface="Microsoft YaHei"/>
                        </a:defRPr>
                      </a:pPr>
                    </a:p>
                  </a:txBody>
                  <a:tcPr anchor="ctr" marL="32004" marR="32004" marT="16459" marB="16459">
                    <a:solidFill>
                      <a:srgbClr val="EAF2F8"/>
                    </a:solidFill>
                  </a:tcPr>
                </a:tc>
                <a:tc>
                  <a:txBody>
                    <a:bodyPr/>
                    <a:lstStyle/>
                    <a:p>
                      <a:pPr algn="ctr">
                        <a:defRPr sz="1200" b="1">
                          <a:solidFill>
                            <a:srgbClr val="01203C"/>
                          </a:solidFill>
                          <a:latin typeface="Microsoft YaHei"/>
                        </a:defRPr>
                      </a:pPr>
                      <a:r>
                        <a:t>单位</a:t>
                      </a:r>
                    </a:p>
                  </a:txBody>
                  <a:tcPr anchor="ctr" marL="32004" marR="32004" marT="16459" marB="16459">
                    <a:solidFill>
                      <a:srgbClr val="EAF2F8"/>
                    </a:solidFill>
                  </a:tcPr>
                </a:tc>
                <a:tc>
                  <a:txBody>
                    <a:bodyPr/>
                    <a:lstStyle/>
                    <a:p>
                      <a:pPr algn="ctr">
                        <a:defRPr sz="1200" b="1">
                          <a:solidFill>
                            <a:srgbClr val="01203C"/>
                          </a:solidFill>
                          <a:latin typeface="Microsoft YaHei"/>
                        </a:defRPr>
                      </a:pPr>
                      <a:r>
                        <a:t>数量</a:t>
                      </a:r>
                    </a:p>
                  </a:txBody>
                  <a:tcPr anchor="ctr" marL="32004" marR="32004" marT="16459" marB="16459">
                    <a:solidFill>
                      <a:srgbClr val="EAF2F8"/>
                    </a:solidFill>
                  </a:tcPr>
                </a:tc>
                <a:tc>
                  <a:txBody>
                    <a:bodyPr/>
                    <a:lstStyle/>
                    <a:p>
                      <a:pPr algn="ctr">
                        <a:defRPr sz="1200" b="1">
                          <a:solidFill>
                            <a:srgbClr val="01203C"/>
                          </a:solidFill>
                          <a:latin typeface="Microsoft YaHei"/>
                        </a:defRPr>
                      </a:pPr>
                      <a:r>
                        <a:t>单价（元）</a:t>
                      </a:r>
                    </a:p>
                  </a:txBody>
                  <a:tcPr anchor="ctr" marL="32004" marR="32004" marT="16459" marB="16459">
                    <a:solidFill>
                      <a:srgbClr val="EAF2F8"/>
                    </a:solidFill>
                  </a:tcPr>
                </a:tc>
                <a:tc>
                  <a:txBody>
                    <a:bodyPr/>
                    <a:lstStyle/>
                    <a:p>
                      <a:pPr algn="ctr">
                        <a:defRPr sz="1200" b="1">
                          <a:solidFill>
                            <a:srgbClr val="01203C"/>
                          </a:solidFill>
                          <a:latin typeface="Microsoft YaHei"/>
                        </a:defRPr>
                      </a:pPr>
                      <a:r>
                        <a:t>合计（万元）</a:t>
                      </a:r>
                    </a:p>
                  </a:txBody>
                  <a:tcPr anchor="ctr" marL="32004" marR="32004" marT="16459" marB="16459">
                    <a:solidFill>
                      <a:srgbClr val="EAF2F8"/>
                    </a:solidFill>
                  </a:tcPr>
                </a:tc>
              </a:tr>
              <a:tr h="576072">
                <a:tc>
                  <a:txBody>
                    <a:bodyPr/>
                    <a:lstStyle/>
                    <a:p>
                      <a:pPr algn="ctr">
                        <a:defRPr sz="1200" b="0">
                          <a:solidFill>
                            <a:srgbClr val="01203C"/>
                          </a:solidFill>
                          <a:latin typeface="Microsoft YaHei"/>
                        </a:defRPr>
                      </a:pPr>
                      <a:r>
                        <a:t>序号</a:t>
                      </a:r>
                    </a:p>
                  </a:txBody>
                  <a:tcPr anchor="ctr" marL="32004" marR="32004" marT="16459" marB="16459">
                    <a:solidFill>
                      <a:srgbClr val="FFFFFF"/>
                    </a:solidFill>
                  </a:tcPr>
                </a:tc>
                <a:tc gridSpan="2">
                  <a:txBody>
                    <a:bodyPr/>
                    <a:lstStyle/>
                    <a:p>
                      <a:pPr algn="ctr">
                        <a:defRPr sz="1200" b="0">
                          <a:solidFill>
                            <a:srgbClr val="01203C"/>
                          </a:solidFill>
                          <a:latin typeface="Microsoft YaHei"/>
                        </a:defRPr>
                      </a:pPr>
                      <a:r>
                        <a:t>第一部分 工程措施</a:t>
                      </a:r>
                    </a:p>
                  </a:txBody>
                  <a:tcPr anchor="ctr" marL="32004" marR="32004" marT="16459" marB="16459">
                    <a:solidFill>
                      <a:srgbClr val="FFFFFF"/>
                    </a:solidFill>
                  </a:tcPr>
                </a:tc>
                <a:tc hMerge="1">
                  <a:txBody>
                    <a:bodyPr/>
                    <a:lstStyle/>
                    <a:p>
                      <a:pPr algn="ctr">
                        <a:defRPr sz="1200" b="0">
                          <a:solidFill>
                            <a:srgbClr val="01203C"/>
                          </a:solidFill>
                          <a:latin typeface="Microsoft YaHei"/>
                        </a:defRPr>
                      </a:pPr>
                    </a:p>
                  </a:txBody>
                  <a:tcPr anchor="ctr" marL="32004" marR="32004" marT="16459" marB="16459">
                    <a:solidFill>
                      <a:srgbClr val="FFFFFF"/>
                    </a:solidFill>
                  </a:tcPr>
                </a:tc>
                <a:tc>
                  <a:txBody>
                    <a:bodyPr/>
                    <a:lstStyle/>
                    <a:p>
                      <a:pPr algn="ctr">
                        <a:defRPr sz="1200" b="0">
                          <a:solidFill>
                            <a:srgbClr val="01203C"/>
                          </a:solidFill>
                          <a:latin typeface="Microsoft YaHei"/>
                        </a:defRPr>
                      </a:pPr>
                    </a:p>
                  </a:txBody>
                  <a:tcPr anchor="ctr" marL="32004" marR="32004" marT="16459" marB="16459">
                    <a:solidFill>
                      <a:srgbClr val="FFFFFF"/>
                    </a:solidFill>
                  </a:tcPr>
                </a:tc>
                <a:tc>
                  <a:txBody>
                    <a:bodyPr/>
                    <a:lstStyle/>
                    <a:p>
                      <a:pPr algn="ctr">
                        <a:defRPr sz="1200" b="0">
                          <a:solidFill>
                            <a:srgbClr val="01203C"/>
                          </a:solidFill>
                          <a:latin typeface="Microsoft YaHei"/>
                        </a:defRPr>
                      </a:pPr>
                    </a:p>
                  </a:txBody>
                  <a:tcPr anchor="ctr" marL="32004" marR="32004" marT="16459" marB="16459">
                    <a:solidFill>
                      <a:srgbClr val="FFFFFF"/>
                    </a:solidFill>
                  </a:tcPr>
                </a:tc>
                <a:tc>
                  <a:txBody>
                    <a:bodyPr/>
                    <a:lstStyle/>
                    <a:p>
                      <a:pPr algn="ctr">
                        <a:defRPr sz="1200" b="0">
                          <a:solidFill>
                            <a:srgbClr val="01203C"/>
                          </a:solidFill>
                          <a:latin typeface="Microsoft YaHei"/>
                        </a:defRPr>
                      </a:pPr>
                      <a:r>
                        <a:t>0.1827</a:t>
                      </a:r>
                    </a:p>
                  </a:txBody>
                  <a:tcPr anchor="ctr" marL="32004" marR="32004" marT="16459" marB="16459">
                    <a:solidFill>
                      <a:srgbClr val="FFFFFF"/>
                    </a:solidFill>
                  </a:tcPr>
                </a:tc>
              </a:tr>
              <a:tr h="576072">
                <a:tc>
                  <a:txBody>
                    <a:bodyPr/>
                    <a:lstStyle/>
                    <a:p>
                      <a:pPr algn="ctr">
                        <a:defRPr sz="1200" b="0">
                          <a:solidFill>
                            <a:srgbClr val="01203C"/>
                          </a:solidFill>
                          <a:latin typeface="Microsoft YaHei"/>
                        </a:defRPr>
                      </a:pPr>
                      <a:r>
                        <a:t>（一）</a:t>
                      </a:r>
                    </a:p>
                  </a:txBody>
                  <a:tcPr anchor="ctr" marL="32004" marR="32004" marT="16459" marB="16459">
                    <a:solidFill>
                      <a:srgbClr val="FFFFFF"/>
                    </a:solidFill>
                  </a:tcPr>
                </a:tc>
                <a:tc gridSpan="2">
                  <a:txBody>
                    <a:bodyPr/>
                    <a:lstStyle/>
                    <a:p>
                      <a:pPr algn="ctr">
                        <a:defRPr sz="1200" b="0">
                          <a:solidFill>
                            <a:srgbClr val="01203C"/>
                          </a:solidFill>
                          <a:latin typeface="Microsoft YaHei"/>
                        </a:defRPr>
                      </a:pPr>
                      <a:r>
                        <a:t>管网工程区</a:t>
                      </a:r>
                    </a:p>
                  </a:txBody>
                  <a:tcPr anchor="ctr" marL="32004" marR="32004" marT="16459" marB="16459">
                    <a:solidFill>
                      <a:srgbClr val="FFFFFF"/>
                    </a:solidFill>
                  </a:tcPr>
                </a:tc>
                <a:tc hMerge="1">
                  <a:txBody>
                    <a:bodyPr/>
                    <a:lstStyle/>
                    <a:p>
                      <a:pPr algn="ctr">
                        <a:defRPr sz="1200" b="0">
                          <a:solidFill>
                            <a:srgbClr val="01203C"/>
                          </a:solidFill>
                          <a:latin typeface="Microsoft YaHei"/>
                        </a:defRPr>
                      </a:pPr>
                    </a:p>
                  </a:txBody>
                  <a:tcPr anchor="ctr" marL="32004" marR="32004" marT="16459" marB="16459">
                    <a:solidFill>
                      <a:srgbClr val="FFFFFF"/>
                    </a:solidFill>
                  </a:tcPr>
                </a:tc>
                <a:tc>
                  <a:txBody>
                    <a:bodyPr/>
                    <a:lstStyle/>
                    <a:p>
                      <a:pPr algn="ctr">
                        <a:defRPr sz="1200" b="0">
                          <a:solidFill>
                            <a:srgbClr val="01203C"/>
                          </a:solidFill>
                          <a:latin typeface="Microsoft YaHei"/>
                        </a:defRPr>
                      </a:pPr>
                    </a:p>
                  </a:txBody>
                  <a:tcPr anchor="ctr" marL="32004" marR="32004" marT="16459" marB="16459">
                    <a:solidFill>
                      <a:srgbClr val="FFFFFF"/>
                    </a:solidFill>
                  </a:tcPr>
                </a:tc>
                <a:tc>
                  <a:txBody>
                    <a:bodyPr/>
                    <a:lstStyle/>
                    <a:p>
                      <a:pPr algn="ctr">
                        <a:defRPr sz="1200" b="0">
                          <a:solidFill>
                            <a:srgbClr val="01203C"/>
                          </a:solidFill>
                          <a:latin typeface="Microsoft YaHei"/>
                        </a:defRPr>
                      </a:pPr>
                    </a:p>
                  </a:txBody>
                  <a:tcPr anchor="ctr" marL="32004" marR="32004" marT="16459" marB="16459">
                    <a:solidFill>
                      <a:srgbClr val="FFFFFF"/>
                    </a:solidFill>
                  </a:tcPr>
                </a:tc>
                <a:tc>
                  <a:txBody>
                    <a:bodyPr/>
                    <a:lstStyle/>
                    <a:p>
                      <a:pPr algn="ctr">
                        <a:defRPr sz="1200" b="0">
                          <a:solidFill>
                            <a:srgbClr val="01203C"/>
                          </a:solidFill>
                          <a:latin typeface="Microsoft YaHei"/>
                        </a:defRPr>
                      </a:pPr>
                      <a:r>
                        <a:t>0.1827</a:t>
                      </a:r>
                    </a:p>
                  </a:txBody>
                  <a:tcPr anchor="ctr" marL="32004" marR="32004" marT="16459" marB="16459">
                    <a:solidFill>
                      <a:srgbClr val="FFFFFF"/>
                    </a:solidFill>
                  </a:tcPr>
                </a:tc>
              </a:tr>
              <a:tr h="576072">
                <a:tc>
                  <a:txBody>
                    <a:bodyPr/>
                    <a:lstStyle/>
                    <a:p>
                      <a:pPr algn="ctr">
                        <a:defRPr sz="1200" b="0">
                          <a:solidFill>
                            <a:srgbClr val="01203C"/>
                          </a:solidFill>
                          <a:latin typeface="Microsoft YaHei"/>
                        </a:defRPr>
                      </a:pPr>
                      <a:r>
                        <a:t>1</a:t>
                      </a:r>
                    </a:p>
                  </a:txBody>
                  <a:tcPr anchor="ctr" marL="32004" marR="32004" marT="16459" marB="16459">
                    <a:solidFill>
                      <a:srgbClr val="FFFFFF"/>
                    </a:solidFill>
                  </a:tcPr>
                </a:tc>
                <a:tc>
                  <a:txBody>
                    <a:bodyPr/>
                    <a:lstStyle/>
                    <a:p>
                      <a:pPr algn="ctr">
                        <a:defRPr sz="1200" b="0">
                          <a:solidFill>
                            <a:srgbClr val="01203C"/>
                          </a:solidFill>
                          <a:latin typeface="Microsoft YaHei"/>
                        </a:defRPr>
                      </a:pPr>
                      <a:r>
                        <a:t>表土剥离</a:t>
                      </a:r>
                    </a:p>
                  </a:txBody>
                  <a:tcPr anchor="ctr" marL="32004" marR="32004" marT="16459" marB="16459">
                    <a:solidFill>
                      <a:srgbClr val="FFFFFF"/>
                    </a:solidFill>
                  </a:tcPr>
                </a:tc>
                <a:tc>
                  <a:txBody>
                    <a:bodyPr/>
                    <a:lstStyle/>
                    <a:p>
                      <a:pPr algn="ctr">
                        <a:defRPr sz="1200" b="0">
                          <a:solidFill>
                            <a:srgbClr val="01203C"/>
                          </a:solidFill>
                          <a:latin typeface="Microsoft YaHei"/>
                        </a:defRPr>
                      </a:pPr>
                      <a:r>
                        <a:t>m³</a:t>
                      </a:r>
                    </a:p>
                  </a:txBody>
                  <a:tcPr anchor="ctr" marL="32004" marR="32004" marT="16459" marB="16459">
                    <a:solidFill>
                      <a:srgbClr val="FFFFFF"/>
                    </a:solidFill>
                  </a:tcPr>
                </a:tc>
                <a:tc>
                  <a:txBody>
                    <a:bodyPr/>
                    <a:lstStyle/>
                    <a:p>
                      <a:pPr algn="ctr">
                        <a:defRPr sz="1200" b="0">
                          <a:solidFill>
                            <a:srgbClr val="01203C"/>
                          </a:solidFill>
                          <a:latin typeface="Microsoft YaHei"/>
                        </a:defRPr>
                      </a:pPr>
                      <a:r>
                        <a:t>79.5</a:t>
                      </a:r>
                    </a:p>
                  </a:txBody>
                  <a:tcPr anchor="ctr" marL="32004" marR="32004" marT="16459" marB="16459">
                    <a:solidFill>
                      <a:srgbClr val="FFFFFF"/>
                    </a:solidFill>
                  </a:tcPr>
                </a:tc>
                <a:tc>
                  <a:txBody>
                    <a:bodyPr/>
                    <a:lstStyle/>
                    <a:p>
                      <a:pPr algn="ctr">
                        <a:defRPr sz="1200" b="0">
                          <a:solidFill>
                            <a:srgbClr val="01203C"/>
                          </a:solidFill>
                          <a:latin typeface="Microsoft YaHei"/>
                        </a:defRPr>
                      </a:pPr>
                      <a:r>
                        <a:t>11.68</a:t>
                      </a:r>
                    </a:p>
                  </a:txBody>
                  <a:tcPr anchor="ctr" marL="32004" marR="32004" marT="16459" marB="16459">
                    <a:solidFill>
                      <a:srgbClr val="FFFFFF"/>
                    </a:solidFill>
                  </a:tcPr>
                </a:tc>
                <a:tc>
                  <a:txBody>
                    <a:bodyPr/>
                    <a:lstStyle/>
                    <a:p>
                      <a:pPr algn="ctr">
                        <a:defRPr sz="1200" b="0">
                          <a:solidFill>
                            <a:srgbClr val="01203C"/>
                          </a:solidFill>
                          <a:latin typeface="Microsoft YaHei"/>
                        </a:defRPr>
                      </a:pPr>
                      <a:r>
                        <a:t>0.0929</a:t>
                      </a:r>
                    </a:p>
                  </a:txBody>
                  <a:tcPr anchor="ctr" marL="32004" marR="32004" marT="16459" marB="16459">
                    <a:solidFill>
                      <a:srgbClr val="FFFFFF"/>
                    </a:solidFill>
                  </a:tcPr>
                </a:tc>
              </a:tr>
              <a:tr h="576072">
                <a:tc>
                  <a:txBody>
                    <a:bodyPr/>
                    <a:lstStyle/>
                    <a:p>
                      <a:pPr algn="ctr">
                        <a:defRPr sz="1200" b="0">
                          <a:solidFill>
                            <a:srgbClr val="01203C"/>
                          </a:solidFill>
                          <a:latin typeface="Microsoft YaHei"/>
                        </a:defRPr>
                      </a:pPr>
                      <a:r>
                        <a:t>2</a:t>
                      </a:r>
                    </a:p>
                  </a:txBody>
                  <a:tcPr anchor="ctr" marL="32004" marR="32004" marT="16459" marB="16459">
                    <a:solidFill>
                      <a:srgbClr val="FFFFFF"/>
                    </a:solidFill>
                  </a:tcPr>
                </a:tc>
                <a:tc>
                  <a:txBody>
                    <a:bodyPr/>
                    <a:lstStyle/>
                    <a:p>
                      <a:pPr algn="ctr">
                        <a:defRPr sz="1200" b="0">
                          <a:solidFill>
                            <a:srgbClr val="01203C"/>
                          </a:solidFill>
                          <a:latin typeface="Microsoft YaHei"/>
                        </a:defRPr>
                      </a:pPr>
                      <a:r>
                        <a:t>表土回覆</a:t>
                      </a:r>
                    </a:p>
                  </a:txBody>
                  <a:tcPr anchor="ctr" marL="32004" marR="32004" marT="16459" marB="16459">
                    <a:solidFill>
                      <a:srgbClr val="FFFFFF"/>
                    </a:solidFill>
                  </a:tcPr>
                </a:tc>
                <a:tc>
                  <a:txBody>
                    <a:bodyPr/>
                    <a:lstStyle/>
                    <a:p>
                      <a:pPr algn="ctr">
                        <a:defRPr sz="1200" b="0">
                          <a:solidFill>
                            <a:srgbClr val="01203C"/>
                          </a:solidFill>
                          <a:latin typeface="Microsoft YaHei"/>
                        </a:defRPr>
                      </a:pPr>
                      <a:r>
                        <a:t>m³</a:t>
                      </a:r>
                    </a:p>
                  </a:txBody>
                  <a:tcPr anchor="ctr" marL="32004" marR="32004" marT="16459" marB="16459">
                    <a:solidFill>
                      <a:srgbClr val="FFFFFF"/>
                    </a:solidFill>
                  </a:tcPr>
                </a:tc>
                <a:tc>
                  <a:txBody>
                    <a:bodyPr/>
                    <a:lstStyle/>
                    <a:p>
                      <a:pPr algn="ctr">
                        <a:defRPr sz="1200" b="0">
                          <a:solidFill>
                            <a:srgbClr val="01203C"/>
                          </a:solidFill>
                          <a:latin typeface="Microsoft YaHei"/>
                        </a:defRPr>
                      </a:pPr>
                      <a:r>
                        <a:t>79.5</a:t>
                      </a:r>
                    </a:p>
                  </a:txBody>
                  <a:tcPr anchor="ctr" marL="32004" marR="32004" marT="16459" marB="16459">
                    <a:solidFill>
                      <a:srgbClr val="FFFFFF"/>
                    </a:solidFill>
                  </a:tcPr>
                </a:tc>
                <a:tc>
                  <a:txBody>
                    <a:bodyPr/>
                    <a:lstStyle/>
                    <a:p>
                      <a:pPr algn="ctr">
                        <a:defRPr sz="1200" b="0">
                          <a:solidFill>
                            <a:srgbClr val="01203C"/>
                          </a:solidFill>
                          <a:latin typeface="Microsoft YaHei"/>
                        </a:defRPr>
                      </a:pPr>
                      <a:r>
                        <a:t>8.84</a:t>
                      </a:r>
                    </a:p>
                  </a:txBody>
                  <a:tcPr anchor="ctr" marL="32004" marR="32004" marT="16459" marB="16459">
                    <a:solidFill>
                      <a:srgbClr val="FFFFFF"/>
                    </a:solidFill>
                  </a:tcPr>
                </a:tc>
                <a:tc>
                  <a:txBody>
                    <a:bodyPr/>
                    <a:lstStyle/>
                    <a:p>
                      <a:pPr algn="ctr">
                        <a:defRPr sz="1200" b="0">
                          <a:solidFill>
                            <a:srgbClr val="01203C"/>
                          </a:solidFill>
                          <a:latin typeface="Microsoft YaHei"/>
                        </a:defRPr>
                      </a:pPr>
                      <a:r>
                        <a:t>0.0703</a:t>
                      </a:r>
                    </a:p>
                  </a:txBody>
                  <a:tcPr anchor="ctr" marL="32004" marR="32004" marT="16459" marB="16459">
                    <a:solidFill>
                      <a:srgbClr val="FFFFFF"/>
                    </a:solidFill>
                  </a:tcPr>
                </a:tc>
              </a:tr>
              <a:tr h="576072">
                <a:tc>
                  <a:txBody>
                    <a:bodyPr/>
                    <a:lstStyle/>
                    <a:p>
                      <a:pPr algn="ctr">
                        <a:defRPr sz="1200" b="0">
                          <a:solidFill>
                            <a:srgbClr val="01203C"/>
                          </a:solidFill>
                          <a:latin typeface="Microsoft YaHei"/>
                        </a:defRPr>
                      </a:pPr>
                      <a:r>
                        <a:t>3</a:t>
                      </a:r>
                    </a:p>
                  </a:txBody>
                  <a:tcPr anchor="ctr" marL="32004" marR="32004" marT="16459" marB="16459">
                    <a:solidFill>
                      <a:srgbClr val="FFFFFF"/>
                    </a:solidFill>
                  </a:tcPr>
                </a:tc>
                <a:tc>
                  <a:txBody>
                    <a:bodyPr/>
                    <a:lstStyle/>
                    <a:p>
                      <a:pPr algn="ctr">
                        <a:defRPr sz="1200" b="0">
                          <a:solidFill>
                            <a:srgbClr val="01203C"/>
                          </a:solidFill>
                          <a:latin typeface="Microsoft YaHei"/>
                        </a:defRPr>
                      </a:pPr>
                      <a:r>
                        <a:t>土地整治</a:t>
                      </a:r>
                    </a:p>
                  </a:txBody>
                  <a:tcPr anchor="ctr" marL="32004" marR="32004" marT="16459" marB="16459">
                    <a:solidFill>
                      <a:srgbClr val="FFFFFF"/>
                    </a:solidFill>
                  </a:tcPr>
                </a:tc>
                <a:tc>
                  <a:txBody>
                    <a:bodyPr/>
                    <a:lstStyle/>
                    <a:p>
                      <a:pPr algn="ctr">
                        <a:defRPr sz="1200" b="0">
                          <a:solidFill>
                            <a:srgbClr val="01203C"/>
                          </a:solidFill>
                          <a:latin typeface="Microsoft YaHei"/>
                        </a:defRPr>
                      </a:pPr>
                      <a:r>
                        <a:t>m²</a:t>
                      </a:r>
                    </a:p>
                  </a:txBody>
                  <a:tcPr anchor="ctr" marL="32004" marR="32004" marT="16459" marB="16459">
                    <a:solidFill>
                      <a:srgbClr val="FFFFFF"/>
                    </a:solidFill>
                  </a:tcPr>
                </a:tc>
                <a:tc>
                  <a:txBody>
                    <a:bodyPr/>
                    <a:lstStyle/>
                    <a:p>
                      <a:pPr algn="ctr">
                        <a:defRPr sz="1200" b="0">
                          <a:solidFill>
                            <a:srgbClr val="01203C"/>
                          </a:solidFill>
                          <a:latin typeface="Microsoft YaHei"/>
                        </a:defRPr>
                      </a:pPr>
                      <a:r>
                        <a:t>265</a:t>
                      </a:r>
                    </a:p>
                  </a:txBody>
                  <a:tcPr anchor="ctr" marL="32004" marR="32004" marT="16459" marB="16459">
                    <a:solidFill>
                      <a:srgbClr val="FFFFFF"/>
                    </a:solidFill>
                  </a:tcPr>
                </a:tc>
                <a:tc>
                  <a:txBody>
                    <a:bodyPr/>
                    <a:lstStyle/>
                    <a:p>
                      <a:pPr algn="ctr">
                        <a:defRPr sz="1200" b="0">
                          <a:solidFill>
                            <a:srgbClr val="01203C"/>
                          </a:solidFill>
                          <a:latin typeface="Microsoft YaHei"/>
                        </a:defRPr>
                      </a:pPr>
                      <a:r>
                        <a:t>0.74</a:t>
                      </a:r>
                    </a:p>
                  </a:txBody>
                  <a:tcPr anchor="ctr" marL="32004" marR="32004" marT="16459" marB="16459">
                    <a:solidFill>
                      <a:srgbClr val="FFFFFF"/>
                    </a:solidFill>
                  </a:tcPr>
                </a:tc>
                <a:tc>
                  <a:txBody>
                    <a:bodyPr/>
                    <a:lstStyle/>
                    <a:p>
                      <a:pPr algn="ctr">
                        <a:defRPr sz="1200" b="0">
                          <a:solidFill>
                            <a:srgbClr val="01203C"/>
                          </a:solidFill>
                          <a:latin typeface="Microsoft YaHei"/>
                        </a:defRPr>
                      </a:pPr>
                      <a:r>
                        <a:t>0.0196</a:t>
                      </a:r>
                    </a:p>
                  </a:txBody>
                  <a:tcPr anchor="ctr" marL="32004" marR="32004" marT="16459" marB="16459">
                    <a:solidFill>
                      <a:srgbClr val="FFFFFF"/>
                    </a:solidFill>
                  </a:tcPr>
                </a:tc>
              </a:tr>
            </a:tbl>
          </a:graphicData>
        </a:graphic>
      </p:graphicFrame>
      <p:sp>
        <p:nvSpPr>
          <p:cNvPr id="7" name="TextBox 6"/>
          <p:cNvSpPr txBox="1"/>
          <p:nvPr/>
        </p:nvSpPr>
        <p:spPr>
          <a:xfrm>
            <a:off x="713232" y="4681728"/>
            <a:ext cx="6583680" cy="493776"/>
          </a:xfrm>
          <a:prstGeom prst="rect">
            <a:avLst/>
          </a:prstGeom>
          <a:noFill/>
        </p:spPr>
        <p:txBody>
          <a:bodyPr wrap="square">
            <a:noAutofit/>
          </a:bodyPr>
          <a:lstStyle/>
          <a:p>
            <a:pPr>
              <a:defRPr sz="1500" b="1">
                <a:solidFill>
                  <a:srgbClr val="4489C8"/>
                </a:solidFill>
                <a:latin typeface="Microsoft YaHei"/>
              </a:defRPr>
            </a:pPr>
            <a:r>
              <a:t>本方案工程措施估算表</a:t>
            </a:r>
          </a:p>
        </p:txBody>
      </p:sp>
      <p:sp>
        <p:nvSpPr>
          <p:cNvPr id="8" name="TextBox 7"/>
          <p:cNvSpPr txBox="1"/>
          <p:nvPr/>
        </p:nvSpPr>
        <p:spPr>
          <a:xfrm>
            <a:off x="713232" y="5138928"/>
            <a:ext cx="10561320" cy="868680"/>
          </a:xfrm>
          <a:prstGeom prst="rect">
            <a:avLst/>
          </a:prstGeom>
          <a:noFill/>
        </p:spPr>
        <p:txBody>
          <a:bodyPr wrap="square">
            <a:noAutofit/>
          </a:bodyPr>
          <a:lstStyle/>
          <a:p>
            <a:pPr>
              <a:spcAft>
                <a:spcPts val="400"/>
              </a:spcAft>
              <a:defRPr sz="1400">
                <a:solidFill>
                  <a:srgbClr val="01203C"/>
                </a:solidFill>
                <a:latin typeface="Microsoft YaHei"/>
              </a:defRPr>
            </a:pPr>
            <a:r>
              <a:t>分项估算表把新增投资拆解到工程措施、植物措施、临时措施和独立费用。</a:t>
            </a:r>
          </a:p>
          <a:p>
            <a:pPr>
              <a:spcAft>
                <a:spcPts val="400"/>
              </a:spcAft>
              <a:defRPr sz="1400">
                <a:solidFill>
                  <a:srgbClr val="01203C"/>
                </a:solidFill>
                <a:latin typeface="Microsoft YaHei"/>
              </a:defRPr>
            </a:pPr>
            <a:r>
              <a:t>各费用类别对应不同实施责任和验收材料，形成新增投资分类管理口径。</a:t>
            </a:r>
          </a:p>
          <a:p>
            <a:pPr>
              <a:spcAft>
                <a:spcPts val="400"/>
              </a:spcAft>
              <a:defRPr sz="1400">
                <a:solidFill>
                  <a:srgbClr val="01203C"/>
                </a:solidFill>
                <a:latin typeface="Microsoft YaHei"/>
              </a:defRPr>
            </a:pPr>
            <a:r>
              <a:t>费用类别摘录保留工程措施、植物措施、临时措施和独立费用的构成关系。</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384048" y="182880"/>
            <a:ext cx="10835640" cy="457200"/>
          </a:xfrm>
          <a:prstGeom prst="rect">
            <a:avLst/>
          </a:prstGeom>
          <a:noFill/>
        </p:spPr>
        <p:txBody>
          <a:bodyPr wrap="square">
            <a:noAutofit/>
          </a:bodyPr>
          <a:lstStyle/>
          <a:p>
            <a:pPr>
              <a:defRPr sz="2400" b="1">
                <a:solidFill>
                  <a:srgbClr val="01203C"/>
                </a:solidFill>
                <a:latin typeface="Microsoft YaHei"/>
              </a:defRPr>
            </a:pPr>
            <a:r>
              <a:t>水土保持补偿费 51624 元符合免征情形</a:t>
            </a:r>
          </a:p>
        </p:txBody>
      </p:sp>
      <p:sp>
        <p:nvSpPr>
          <p:cNvPr id="3" name="TextBox 2"/>
          <p:cNvSpPr txBox="1"/>
          <p:nvPr/>
        </p:nvSpPr>
        <p:spPr>
          <a:xfrm>
            <a:off x="393192" y="621792"/>
            <a:ext cx="6400800" cy="219456"/>
          </a:xfrm>
          <a:prstGeom prst="rect">
            <a:avLst/>
          </a:prstGeom>
          <a:noFill/>
        </p:spPr>
        <p:txBody>
          <a:bodyPr wrap="square">
            <a:noAutofit/>
          </a:bodyPr>
          <a:lstStyle/>
          <a:p>
            <a:pPr>
              <a:defRPr sz="950" b="0">
                <a:solidFill>
                  <a:srgbClr val="4489C8"/>
                </a:solidFill>
                <a:latin typeface="Microsoft YaHei"/>
              </a:defRPr>
            </a:pPr>
            <a:r>
              <a:t>投资概算、效益与管理验收</a:t>
            </a:r>
          </a:p>
        </p:txBody>
      </p:sp>
      <p:sp>
        <p:nvSpPr>
          <p:cNvPr id="4" name="TextBox 3"/>
          <p:cNvSpPr txBox="1"/>
          <p:nvPr/>
        </p:nvSpPr>
        <p:spPr>
          <a:xfrm>
            <a:off x="10652760" y="603504"/>
            <a:ext cx="640080" cy="182880"/>
          </a:xfrm>
          <a:prstGeom prst="rect">
            <a:avLst/>
          </a:prstGeom>
          <a:noFill/>
        </p:spPr>
        <p:txBody>
          <a:bodyPr wrap="square">
            <a:noAutofit/>
          </a:bodyPr>
          <a:lstStyle/>
          <a:p>
            <a:pPr algn="r">
              <a:defRPr sz="900" b="0">
                <a:solidFill>
                  <a:srgbClr val="566B7F"/>
                </a:solidFill>
                <a:latin typeface="Microsoft YaHei"/>
              </a:defRPr>
            </a:pPr>
            <a:r>
              <a:t>30</a:t>
            </a:r>
          </a:p>
        </p:txBody>
      </p:sp>
      <p:sp>
        <p:nvSpPr>
          <p:cNvPr id="5" name="Rectangle 4"/>
          <p:cNvSpPr/>
          <p:nvPr/>
        </p:nvSpPr>
        <p:spPr>
          <a:xfrm>
            <a:off x="384048" y="804672"/>
            <a:ext cx="10826496" cy="13716"/>
          </a:xfrm>
          <a:prstGeom prst="rect">
            <a:avLst/>
          </a:prstGeom>
          <a:solidFill>
            <a:srgbClr val="448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060704"/>
          <a:ext cx="11064237" cy="3456432"/>
        </p:xfrm>
        <a:graphic>
          <a:graphicData uri="http://schemas.openxmlformats.org/drawingml/2006/table">
            <a:tbl>
              <a:tblPr firstRow="1" bandRow="1">
                <a:tableStyleId>{5C22544A-7EE6-4342-B048-85BDC9FD1C3A}</a:tableStyleId>
              </a:tblPr>
              <a:tblGrid>
                <a:gridCol w="2184305"/>
                <a:gridCol w="2447267"/>
                <a:gridCol w="1716523"/>
                <a:gridCol w="1383525"/>
                <a:gridCol w="1301597"/>
                <a:gridCol w="2031020"/>
              </a:tblGrid>
              <a:tr h="1152144">
                <a:tc>
                  <a:txBody>
                    <a:bodyPr/>
                    <a:lstStyle/>
                    <a:p>
                      <a:pPr algn="ctr">
                        <a:defRPr sz="1200" b="1">
                          <a:solidFill>
                            <a:srgbClr val="01203C"/>
                          </a:solidFill>
                          <a:latin typeface="Microsoft YaHei"/>
                        </a:defRPr>
                      </a:pPr>
                      <a:r>
                        <a:t>序号</a:t>
                      </a:r>
                    </a:p>
                  </a:txBody>
                  <a:tcPr anchor="ctr" marL="32004" marR="32004" marT="16459" marB="16459">
                    <a:solidFill>
                      <a:srgbClr val="EAF2F8"/>
                    </a:solidFill>
                  </a:tcPr>
                </a:tc>
                <a:tc>
                  <a:txBody>
                    <a:bodyPr/>
                    <a:lstStyle/>
                    <a:p>
                      <a:pPr algn="ctr">
                        <a:defRPr sz="1200" b="1">
                          <a:solidFill>
                            <a:srgbClr val="01203C"/>
                          </a:solidFill>
                          <a:latin typeface="Microsoft YaHei"/>
                        </a:defRPr>
                      </a:pPr>
                      <a:r>
                        <a:t>行政区</a:t>
                      </a:r>
                    </a:p>
                  </a:txBody>
                  <a:tcPr anchor="ctr" marL="32004" marR="32004" marT="16459" marB="16459">
                    <a:solidFill>
                      <a:srgbClr val="EAF2F8"/>
                    </a:solidFill>
                  </a:tcPr>
                </a:tc>
                <a:tc>
                  <a:txBody>
                    <a:bodyPr/>
                    <a:lstStyle/>
                    <a:p>
                      <a:pPr algn="ctr">
                        <a:defRPr sz="1200" b="1">
                          <a:solidFill>
                            <a:srgbClr val="01203C"/>
                          </a:solidFill>
                          <a:latin typeface="Microsoft YaHei"/>
                        </a:defRPr>
                      </a:pPr>
                      <a:r>
                        <a:t>征占地面积（hm²）</a:t>
                      </a:r>
                    </a:p>
                  </a:txBody>
                  <a:tcPr anchor="ctr" marL="32004" marR="32004" marT="16459" marB="16459">
                    <a:solidFill>
                      <a:srgbClr val="EAF2F8"/>
                    </a:solidFill>
                  </a:tcPr>
                </a:tc>
                <a:tc>
                  <a:txBody>
                    <a:bodyPr/>
                    <a:lstStyle/>
                    <a:p>
                      <a:pPr algn="ctr">
                        <a:defRPr sz="1200" b="1">
                          <a:solidFill>
                            <a:srgbClr val="01203C"/>
                          </a:solidFill>
                          <a:latin typeface="Microsoft YaHei"/>
                        </a:defRPr>
                      </a:pPr>
                      <a:r>
                        <a:t>征占地面积（m²）</a:t>
                      </a:r>
                    </a:p>
                  </a:txBody>
                  <a:tcPr anchor="ctr" marL="32004" marR="32004" marT="16459" marB="16459">
                    <a:solidFill>
                      <a:srgbClr val="EAF2F8"/>
                    </a:solidFill>
                  </a:tcPr>
                </a:tc>
                <a:tc>
                  <a:txBody>
                    <a:bodyPr/>
                    <a:lstStyle/>
                    <a:p>
                      <a:pPr algn="ctr">
                        <a:defRPr sz="1200" b="1">
                          <a:solidFill>
                            <a:srgbClr val="01203C"/>
                          </a:solidFill>
                          <a:latin typeface="Microsoft YaHei"/>
                        </a:defRPr>
                      </a:pPr>
                      <a:r>
                        <a:t>收费标准（元/m²）</a:t>
                      </a:r>
                    </a:p>
                  </a:txBody>
                  <a:tcPr anchor="ctr" marL="32004" marR="32004" marT="16459" marB="16459">
                    <a:solidFill>
                      <a:srgbClr val="EAF2F8"/>
                    </a:solidFill>
                  </a:tcPr>
                </a:tc>
                <a:tc>
                  <a:txBody>
                    <a:bodyPr/>
                    <a:lstStyle/>
                    <a:p>
                      <a:pPr algn="ctr">
                        <a:defRPr sz="1200" b="1">
                          <a:solidFill>
                            <a:srgbClr val="01203C"/>
                          </a:solidFill>
                          <a:latin typeface="Microsoft YaHei"/>
                        </a:defRPr>
                      </a:pPr>
                      <a:r>
                        <a:t>水保补偿费（元）</a:t>
                      </a:r>
                    </a:p>
                  </a:txBody>
                  <a:tcPr anchor="ctr" marL="32004" marR="32004" marT="16459" marB="16459">
                    <a:solidFill>
                      <a:srgbClr val="EAF2F8"/>
                    </a:solidFill>
                  </a:tcPr>
                </a:tc>
              </a:tr>
              <a:tr h="1152144">
                <a:tc>
                  <a:txBody>
                    <a:bodyPr/>
                    <a:lstStyle/>
                    <a:p>
                      <a:pPr algn="ctr">
                        <a:defRPr sz="1200" b="0">
                          <a:solidFill>
                            <a:srgbClr val="01203C"/>
                          </a:solidFill>
                          <a:latin typeface="Microsoft YaHei"/>
                        </a:defRPr>
                      </a:pPr>
                      <a:r>
                        <a:t>1</a:t>
                      </a:r>
                    </a:p>
                  </a:txBody>
                  <a:tcPr anchor="ctr" marL="32004" marR="32004" marT="16459" marB="16459">
                    <a:solidFill>
                      <a:srgbClr val="FFFFFF"/>
                    </a:solidFill>
                  </a:tcPr>
                </a:tc>
                <a:tc>
                  <a:txBody>
                    <a:bodyPr/>
                    <a:lstStyle/>
                    <a:p>
                      <a:pPr algn="ctr">
                        <a:defRPr sz="1200" b="0">
                          <a:solidFill>
                            <a:srgbClr val="01203C"/>
                          </a:solidFill>
                          <a:latin typeface="Microsoft YaHei"/>
                        </a:defRPr>
                      </a:pPr>
                      <a:r>
                        <a:t>黄冈市黄州区</a:t>
                      </a:r>
                    </a:p>
                  </a:txBody>
                  <a:tcPr anchor="ctr" marL="32004" marR="32004" marT="16459" marB="16459">
                    <a:solidFill>
                      <a:srgbClr val="FFFFFF"/>
                    </a:solidFill>
                  </a:tcPr>
                </a:tc>
                <a:tc>
                  <a:txBody>
                    <a:bodyPr/>
                    <a:lstStyle/>
                    <a:p>
                      <a:pPr algn="ctr">
                        <a:defRPr sz="1200" b="0">
                          <a:solidFill>
                            <a:srgbClr val="01203C"/>
                          </a:solidFill>
                          <a:latin typeface="Microsoft YaHei"/>
                        </a:defRPr>
                      </a:pPr>
                      <a:r>
                        <a:t>3.4416</a:t>
                      </a:r>
                    </a:p>
                  </a:txBody>
                  <a:tcPr anchor="ctr" marL="32004" marR="32004" marT="16459" marB="16459">
                    <a:solidFill>
                      <a:srgbClr val="FFFFFF"/>
                    </a:solidFill>
                  </a:tcPr>
                </a:tc>
                <a:tc>
                  <a:txBody>
                    <a:bodyPr/>
                    <a:lstStyle/>
                    <a:p>
                      <a:pPr algn="ctr">
                        <a:defRPr sz="1200" b="0">
                          <a:solidFill>
                            <a:srgbClr val="01203C"/>
                          </a:solidFill>
                          <a:latin typeface="Microsoft YaHei"/>
                        </a:defRPr>
                      </a:pPr>
                      <a:r>
                        <a:t>34416</a:t>
                      </a:r>
                    </a:p>
                  </a:txBody>
                  <a:tcPr anchor="ctr" marL="32004" marR="32004" marT="16459" marB="16459">
                    <a:solidFill>
                      <a:srgbClr val="FFFFFF"/>
                    </a:solidFill>
                  </a:tcPr>
                </a:tc>
                <a:tc>
                  <a:txBody>
                    <a:bodyPr/>
                    <a:lstStyle/>
                    <a:p>
                      <a:pPr algn="ctr">
                        <a:defRPr sz="1200" b="0">
                          <a:solidFill>
                            <a:srgbClr val="01203C"/>
                          </a:solidFill>
                          <a:latin typeface="Microsoft YaHei"/>
                        </a:defRPr>
                      </a:pPr>
                      <a:r>
                        <a:t>1.5</a:t>
                      </a:r>
                    </a:p>
                  </a:txBody>
                  <a:tcPr anchor="ctr" marL="32004" marR="32004" marT="16459" marB="16459">
                    <a:solidFill>
                      <a:srgbClr val="FFFFFF"/>
                    </a:solidFill>
                  </a:tcPr>
                </a:tc>
                <a:tc>
                  <a:txBody>
                    <a:bodyPr/>
                    <a:lstStyle/>
                    <a:p>
                      <a:pPr algn="ctr">
                        <a:defRPr sz="1200" b="0">
                          <a:solidFill>
                            <a:srgbClr val="01203C"/>
                          </a:solidFill>
                          <a:latin typeface="Microsoft YaHei"/>
                        </a:defRPr>
                      </a:pPr>
                      <a:r>
                        <a:t>51624</a:t>
                      </a:r>
                    </a:p>
                  </a:txBody>
                  <a:tcPr anchor="ctr" marL="32004" marR="32004" marT="16459" marB="16459">
                    <a:solidFill>
                      <a:srgbClr val="FFFFFF"/>
                    </a:solidFill>
                  </a:tcPr>
                </a:tc>
              </a:tr>
              <a:tr h="1152144">
                <a:tc gridSpan="6">
                  <a:txBody>
                    <a:bodyPr/>
                    <a:lstStyle/>
                    <a:p>
                      <a:pPr algn="ctr">
                        <a:defRPr sz="1200" b="0">
                          <a:solidFill>
                            <a:srgbClr val="01203C"/>
                          </a:solidFill>
                          <a:latin typeface="Microsoft YaHei"/>
                        </a:defRPr>
                      </a:pPr>
                      <a:r>
                        <a:t>根据《财政部国家发展改革委水利部中国人民银行关于印发〈水土保持补偿费征收使用管理办法〉的通知》（财综〔2014〕8号）第。</a:t>
                      </a:r>
                    </a:p>
                  </a:txBody>
                  <a:tcPr anchor="ctr" marL="32004" marR="32004" marT="16459" marB="16459">
                    <a:solidFill>
                      <a:srgbClr val="FFFFFF"/>
                    </a:solidFill>
                  </a:tcPr>
                </a:tc>
                <a:tc hMerge="1">
                  <a:txBody>
                    <a:bodyPr/>
                    <a:lstStyle/>
                    <a:p>
                      <a:pPr algn="ctr">
                        <a:defRPr sz="1200" b="0">
                          <a:solidFill>
                            <a:srgbClr val="01203C"/>
                          </a:solidFill>
                          <a:latin typeface="Microsoft YaHei"/>
                        </a:defRPr>
                      </a:pPr>
                    </a:p>
                  </a:txBody>
                  <a:tcPr anchor="ctr" marL="32004" marR="32004" marT="16459" marB="16459">
                    <a:solidFill>
                      <a:srgbClr val="FFFFFF"/>
                    </a:solidFill>
                  </a:tcPr>
                </a:tc>
                <a:tc hMerge="1">
                  <a:txBody>
                    <a:bodyPr/>
                    <a:lstStyle/>
                    <a:p>
                      <a:pPr algn="ctr">
                        <a:defRPr sz="1200" b="0">
                          <a:solidFill>
                            <a:srgbClr val="01203C"/>
                          </a:solidFill>
                          <a:latin typeface="Microsoft YaHei"/>
                        </a:defRPr>
                      </a:pPr>
                    </a:p>
                  </a:txBody>
                  <a:tcPr anchor="ctr" marL="32004" marR="32004" marT="16459" marB="16459">
                    <a:solidFill>
                      <a:srgbClr val="FFFFFF"/>
                    </a:solidFill>
                  </a:tcPr>
                </a:tc>
                <a:tc hMerge="1">
                  <a:txBody>
                    <a:bodyPr/>
                    <a:lstStyle/>
                    <a:p>
                      <a:pPr algn="ctr">
                        <a:defRPr sz="1200" b="0">
                          <a:solidFill>
                            <a:srgbClr val="01203C"/>
                          </a:solidFill>
                          <a:latin typeface="Microsoft YaHei"/>
                        </a:defRPr>
                      </a:pPr>
                    </a:p>
                  </a:txBody>
                  <a:tcPr anchor="ctr" marL="32004" marR="32004" marT="16459" marB="16459">
                    <a:solidFill>
                      <a:srgbClr val="FFFFFF"/>
                    </a:solidFill>
                  </a:tcPr>
                </a:tc>
                <a:tc hMerge="1">
                  <a:txBody>
                    <a:bodyPr/>
                    <a:lstStyle/>
                    <a:p>
                      <a:pPr algn="ctr">
                        <a:defRPr sz="1200" b="0">
                          <a:solidFill>
                            <a:srgbClr val="01203C"/>
                          </a:solidFill>
                          <a:latin typeface="Microsoft YaHei"/>
                        </a:defRPr>
                      </a:pPr>
                    </a:p>
                  </a:txBody>
                  <a:tcPr anchor="ctr" marL="32004" marR="32004" marT="16459" marB="16459">
                    <a:solidFill>
                      <a:srgbClr val="FFFFFF"/>
                    </a:solidFill>
                  </a:tcPr>
                </a:tc>
                <a:tc hMerge="1">
                  <a:txBody>
                    <a:bodyPr/>
                    <a:lstStyle/>
                    <a:p>
                      <a:pPr algn="ctr">
                        <a:defRPr sz="1200" b="0">
                          <a:solidFill>
                            <a:srgbClr val="01203C"/>
                          </a:solidFill>
                          <a:latin typeface="Microsoft YaHei"/>
                        </a:defRPr>
                      </a:pPr>
                    </a:p>
                  </a:txBody>
                  <a:tcPr anchor="ctr" marL="32004" marR="32004" marT="16459" marB="16459">
                    <a:solidFill>
                      <a:srgbClr val="FFFFFF"/>
                    </a:solidFill>
                  </a:tcPr>
                </a:tc>
              </a:tr>
            </a:tbl>
          </a:graphicData>
        </a:graphic>
      </p:graphicFrame>
      <p:sp>
        <p:nvSpPr>
          <p:cNvPr id="7" name="TextBox 6"/>
          <p:cNvSpPr txBox="1"/>
          <p:nvPr/>
        </p:nvSpPr>
        <p:spPr>
          <a:xfrm>
            <a:off x="713232" y="4681728"/>
            <a:ext cx="6583680" cy="493776"/>
          </a:xfrm>
          <a:prstGeom prst="rect">
            <a:avLst/>
          </a:prstGeom>
          <a:noFill/>
        </p:spPr>
        <p:txBody>
          <a:bodyPr wrap="square">
            <a:noAutofit/>
          </a:bodyPr>
          <a:lstStyle/>
          <a:p>
            <a:pPr>
              <a:defRPr sz="1500" b="1">
                <a:solidFill>
                  <a:srgbClr val="4489C8"/>
                </a:solidFill>
                <a:latin typeface="Microsoft YaHei"/>
              </a:defRPr>
            </a:pPr>
            <a:r>
              <a:t>水土保持补偿费计算表</a:t>
            </a:r>
          </a:p>
        </p:txBody>
      </p:sp>
      <p:sp>
        <p:nvSpPr>
          <p:cNvPr id="8" name="TextBox 7"/>
          <p:cNvSpPr txBox="1"/>
          <p:nvPr/>
        </p:nvSpPr>
        <p:spPr>
          <a:xfrm>
            <a:off x="713232" y="5138928"/>
            <a:ext cx="10561320" cy="868680"/>
          </a:xfrm>
          <a:prstGeom prst="rect">
            <a:avLst/>
          </a:prstGeom>
          <a:noFill/>
        </p:spPr>
        <p:txBody>
          <a:bodyPr wrap="square">
            <a:noAutofit/>
          </a:bodyPr>
          <a:lstStyle/>
          <a:p>
            <a:pPr>
              <a:spcAft>
                <a:spcPts val="400"/>
              </a:spcAft>
              <a:defRPr sz="1400">
                <a:solidFill>
                  <a:srgbClr val="01203C"/>
                </a:solidFill>
                <a:latin typeface="Microsoft YaHei"/>
              </a:defRPr>
            </a:pPr>
            <a:r>
              <a:t>补偿费计算表给出应计口径，免征依据说明最终缴费责任。</a:t>
            </a:r>
          </a:p>
          <a:p>
            <a:pPr>
              <a:spcAft>
                <a:spcPts val="400"/>
              </a:spcAft>
              <a:defRPr sz="1400">
                <a:solidFill>
                  <a:srgbClr val="01203C"/>
                </a:solidFill>
                <a:latin typeface="Microsoft YaHei"/>
              </a:defRPr>
            </a:pPr>
            <a:r>
              <a:t>计算基础与政策免征结论分别列示，形成补偿费管理口径。</a:t>
            </a:r>
          </a:p>
          <a:p>
            <a:pPr>
              <a:spcAft>
                <a:spcPts val="400"/>
              </a:spcAft>
              <a:defRPr sz="1400">
                <a:solidFill>
                  <a:srgbClr val="01203C"/>
                </a:solidFill>
                <a:latin typeface="Microsoft YaHei"/>
              </a:defRPr>
            </a:pPr>
            <a:r>
              <a:t>免征依据、项目性质和责任主体表述保持一致。</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384048" y="182880"/>
            <a:ext cx="10835640" cy="457200"/>
          </a:xfrm>
          <a:prstGeom prst="rect">
            <a:avLst/>
          </a:prstGeom>
          <a:noFill/>
        </p:spPr>
        <p:txBody>
          <a:bodyPr wrap="square">
            <a:noAutofit/>
          </a:bodyPr>
          <a:lstStyle/>
          <a:p>
            <a:pPr>
              <a:defRPr sz="2400" b="1">
                <a:solidFill>
                  <a:srgbClr val="01203C"/>
                </a:solidFill>
                <a:latin typeface="Microsoft YaHei"/>
              </a:defRPr>
            </a:pPr>
            <a:r>
              <a:t>六项防治效果达到或高于目标值</a:t>
            </a:r>
          </a:p>
        </p:txBody>
      </p:sp>
      <p:sp>
        <p:nvSpPr>
          <p:cNvPr id="3" name="TextBox 2"/>
          <p:cNvSpPr txBox="1"/>
          <p:nvPr/>
        </p:nvSpPr>
        <p:spPr>
          <a:xfrm>
            <a:off x="393192" y="621792"/>
            <a:ext cx="6400800" cy="219456"/>
          </a:xfrm>
          <a:prstGeom prst="rect">
            <a:avLst/>
          </a:prstGeom>
          <a:noFill/>
        </p:spPr>
        <p:txBody>
          <a:bodyPr wrap="square">
            <a:noAutofit/>
          </a:bodyPr>
          <a:lstStyle/>
          <a:p>
            <a:pPr>
              <a:defRPr sz="950" b="0">
                <a:solidFill>
                  <a:srgbClr val="4489C8"/>
                </a:solidFill>
                <a:latin typeface="Microsoft YaHei"/>
              </a:defRPr>
            </a:pPr>
            <a:r>
              <a:t>投资概算、效益与管理验收</a:t>
            </a:r>
          </a:p>
        </p:txBody>
      </p:sp>
      <p:sp>
        <p:nvSpPr>
          <p:cNvPr id="4" name="TextBox 3"/>
          <p:cNvSpPr txBox="1"/>
          <p:nvPr/>
        </p:nvSpPr>
        <p:spPr>
          <a:xfrm>
            <a:off x="10652760" y="603504"/>
            <a:ext cx="640080" cy="182880"/>
          </a:xfrm>
          <a:prstGeom prst="rect">
            <a:avLst/>
          </a:prstGeom>
          <a:noFill/>
        </p:spPr>
        <p:txBody>
          <a:bodyPr wrap="square">
            <a:noAutofit/>
          </a:bodyPr>
          <a:lstStyle/>
          <a:p>
            <a:pPr algn="r">
              <a:defRPr sz="900" b="0">
                <a:solidFill>
                  <a:srgbClr val="566B7F"/>
                </a:solidFill>
                <a:latin typeface="Microsoft YaHei"/>
              </a:defRPr>
            </a:pPr>
            <a:r>
              <a:t>31</a:t>
            </a:r>
          </a:p>
        </p:txBody>
      </p:sp>
      <p:sp>
        <p:nvSpPr>
          <p:cNvPr id="5" name="Rectangle 4"/>
          <p:cNvSpPr/>
          <p:nvPr/>
        </p:nvSpPr>
        <p:spPr>
          <a:xfrm>
            <a:off x="384048" y="804672"/>
            <a:ext cx="10826496" cy="13716"/>
          </a:xfrm>
          <a:prstGeom prst="rect">
            <a:avLst/>
          </a:prstGeom>
          <a:solidFill>
            <a:srgbClr val="448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060704"/>
          <a:ext cx="7315200" cy="4617720"/>
        </p:xfrm>
        <a:graphic>
          <a:graphicData uri="http://schemas.openxmlformats.org/drawingml/2006/table">
            <a:tbl>
              <a:tblPr firstRow="1" bandRow="1">
                <a:tableStyleId>{5C22544A-7EE6-4342-B048-85BDC9FD1C3A}</a:tableStyleId>
              </a:tblPr>
              <a:tblGrid>
                <a:gridCol w="1828800"/>
                <a:gridCol w="1828800"/>
                <a:gridCol w="1828800"/>
                <a:gridCol w="1828800"/>
              </a:tblGrid>
              <a:tr h="1154430">
                <a:tc>
                  <a:txBody>
                    <a:bodyPr/>
                    <a:lstStyle/>
                    <a:p>
                      <a:pPr algn="ctr">
                        <a:defRPr sz="1200" b="1">
                          <a:solidFill>
                            <a:srgbClr val="01203C"/>
                          </a:solidFill>
                          <a:latin typeface="Microsoft YaHei"/>
                        </a:defRPr>
                      </a:pPr>
                      <a:r>
                        <a:t>评估指标</a:t>
                      </a:r>
                    </a:p>
                  </a:txBody>
                  <a:tcPr anchor="ctr" marL="36576" marR="36576" marT="18288" marB="18288">
                    <a:solidFill>
                      <a:srgbClr val="EAF2F8"/>
                    </a:solidFill>
                  </a:tcPr>
                </a:tc>
                <a:tc>
                  <a:txBody>
                    <a:bodyPr/>
                    <a:lstStyle/>
                    <a:p>
                      <a:pPr algn="ctr">
                        <a:defRPr sz="1200" b="1">
                          <a:solidFill>
                            <a:srgbClr val="01203C"/>
                          </a:solidFill>
                          <a:latin typeface="Microsoft YaHei"/>
                        </a:defRPr>
                      </a:pPr>
                      <a:r>
                        <a:t>目标值</a:t>
                      </a:r>
                    </a:p>
                  </a:txBody>
                  <a:tcPr anchor="ctr" marL="36576" marR="36576" marT="18288" marB="18288">
                    <a:solidFill>
                      <a:srgbClr val="EAF2F8"/>
                    </a:solidFill>
                  </a:tcPr>
                </a:tc>
                <a:tc>
                  <a:txBody>
                    <a:bodyPr/>
                    <a:lstStyle/>
                    <a:p>
                      <a:pPr algn="ctr">
                        <a:defRPr sz="1200" b="1">
                          <a:solidFill>
                            <a:srgbClr val="01203C"/>
                          </a:solidFill>
                          <a:latin typeface="Microsoft YaHei"/>
                        </a:defRPr>
                      </a:pPr>
                      <a:r>
                        <a:t>评估依据</a:t>
                      </a:r>
                    </a:p>
                  </a:txBody>
                  <a:tcPr anchor="ctr" marL="36576" marR="36576" marT="18288" marB="18288">
                    <a:solidFill>
                      <a:srgbClr val="EAF2F8"/>
                    </a:solidFill>
                  </a:tcPr>
                </a:tc>
                <a:tc>
                  <a:txBody>
                    <a:bodyPr/>
                    <a:lstStyle/>
                    <a:p>
                      <a:pPr algn="ctr">
                        <a:defRPr sz="1200" b="1">
                          <a:solidFill>
                            <a:srgbClr val="01203C"/>
                          </a:solidFill>
                          <a:latin typeface="Microsoft YaHei"/>
                        </a:defRPr>
                      </a:pPr>
                      <a:r>
                        <a:t>单位</a:t>
                      </a:r>
                    </a:p>
                  </a:txBody>
                  <a:tcPr anchor="ctr" marL="36576" marR="36576" marT="18288" marB="18288">
                    <a:solidFill>
                      <a:srgbClr val="EAF2F8"/>
                    </a:solidFill>
                  </a:tcPr>
                </a:tc>
              </a:tr>
              <a:tr h="1154430">
                <a:tc>
                  <a:txBody>
                    <a:bodyPr/>
                    <a:lstStyle/>
                    <a:p>
                      <a:pPr algn="ctr">
                        <a:defRPr sz="1200">
                          <a:solidFill>
                            <a:srgbClr val="01203C"/>
                          </a:solidFill>
                          <a:latin typeface="Microsoft YaHei"/>
                        </a:defRPr>
                      </a:pPr>
                      <a:r>
                        <a:t>渣土防护率</a:t>
                      </a:r>
                    </a:p>
                  </a:txBody>
                  <a:tcPr anchor="ctr" marL="36576" marR="36576" marT="18288" marB="18288">
                    <a:solidFill>
                      <a:srgbClr val="FFFFFF"/>
                    </a:solidFill>
                  </a:tcPr>
                </a:tc>
                <a:tc>
                  <a:txBody>
                    <a:bodyPr/>
                    <a:lstStyle/>
                    <a:p>
                      <a:pPr algn="ctr">
                        <a:defRPr sz="1200">
                          <a:solidFill>
                            <a:srgbClr val="01203C"/>
                          </a:solidFill>
                          <a:latin typeface="Microsoft YaHei"/>
                        </a:defRPr>
                      </a:pPr>
                      <a:r>
                        <a:t>97 %</a:t>
                      </a:r>
                    </a:p>
                  </a:txBody>
                  <a:tcPr anchor="ctr" marL="36576" marR="36576" marT="18288" marB="18288">
                    <a:solidFill>
                      <a:srgbClr val="FFFFFF"/>
                    </a:solidFill>
                  </a:tcPr>
                </a:tc>
                <a:tc>
                  <a:txBody>
                    <a:bodyPr/>
                    <a:lstStyle/>
                    <a:p>
                      <a:pPr algn="ctr">
                        <a:defRPr sz="1200">
                          <a:solidFill>
                            <a:srgbClr val="01203C"/>
                          </a:solidFill>
                          <a:latin typeface="Microsoft YaHei"/>
                        </a:defRPr>
                      </a:pPr>
                      <a:r>
                        <a:t>采取措施实际挡护永久弃渣、临时堆土数量</a:t>
                      </a:r>
                    </a:p>
                  </a:txBody>
                  <a:tcPr anchor="ctr" marL="36576" marR="36576" marT="18288" marB="18288">
                    <a:solidFill>
                      <a:srgbClr val="FFFFFF"/>
                    </a:solidFill>
                  </a:tcPr>
                </a:tc>
                <a:tc>
                  <a:txBody>
                    <a:bodyPr/>
                    <a:lstStyle/>
                    <a:p>
                      <a:pPr algn="ctr">
                        <a:defRPr sz="1200">
                          <a:solidFill>
                            <a:srgbClr val="01203C"/>
                          </a:solidFill>
                          <a:latin typeface="Microsoft YaHei"/>
                        </a:defRPr>
                      </a:pPr>
                      <a:r>
                        <a:t>万m³</a:t>
                      </a:r>
                    </a:p>
                  </a:txBody>
                  <a:tcPr anchor="ctr" marL="36576" marR="36576" marT="18288" marB="18288">
                    <a:solidFill>
                      <a:srgbClr val="FFFFFF"/>
                    </a:solidFill>
                  </a:tcPr>
                </a:tc>
              </a:tr>
              <a:tr h="1154430">
                <a:tc>
                  <a:txBody>
                    <a:bodyPr/>
                    <a:lstStyle/>
                    <a:p>
                      <a:pPr algn="ctr">
                        <a:defRPr sz="1200">
                          <a:solidFill>
                            <a:srgbClr val="01203C"/>
                          </a:solidFill>
                          <a:latin typeface="Microsoft YaHei"/>
                        </a:defRPr>
                      </a:pPr>
                      <a:r>
                        <a:t>表土保护率</a:t>
                      </a:r>
                    </a:p>
                  </a:txBody>
                  <a:tcPr anchor="ctr" marL="36576" marR="36576" marT="18288" marB="18288">
                    <a:solidFill>
                      <a:srgbClr val="FFFFFF"/>
                    </a:solidFill>
                  </a:tcPr>
                </a:tc>
                <a:tc>
                  <a:txBody>
                    <a:bodyPr/>
                    <a:lstStyle/>
                    <a:p>
                      <a:pPr algn="ctr">
                        <a:defRPr sz="1200">
                          <a:solidFill>
                            <a:srgbClr val="01203C"/>
                          </a:solidFill>
                          <a:latin typeface="Microsoft YaHei"/>
                        </a:defRPr>
                      </a:pPr>
                      <a:r>
                        <a:t>92</a:t>
                      </a:r>
                    </a:p>
                  </a:txBody>
                  <a:tcPr anchor="ctr" marL="36576" marR="36576" marT="18288" marB="18288">
                    <a:solidFill>
                      <a:srgbClr val="FFFFFF"/>
                    </a:solidFill>
                  </a:tcPr>
                </a:tc>
                <a:tc>
                  <a:txBody>
                    <a:bodyPr/>
                    <a:lstStyle/>
                    <a:p>
                      <a:pPr algn="ctr">
                        <a:defRPr sz="1200">
                          <a:solidFill>
                            <a:srgbClr val="01203C"/>
                          </a:solidFill>
                          <a:latin typeface="Microsoft YaHei"/>
                        </a:defRPr>
                      </a:pPr>
                      <a:r>
                        <a:t>保护的表土数量</a:t>
                      </a:r>
                    </a:p>
                  </a:txBody>
                  <a:tcPr anchor="ctr" marL="36576" marR="36576" marT="18288" marB="18288">
                    <a:solidFill>
                      <a:srgbClr val="FFFFFF"/>
                    </a:solidFill>
                  </a:tcPr>
                </a:tc>
                <a:tc>
                  <a:txBody>
                    <a:bodyPr/>
                    <a:lstStyle/>
                    <a:p>
                      <a:pPr algn="ctr">
                        <a:defRPr sz="1200">
                          <a:solidFill>
                            <a:srgbClr val="01203C"/>
                          </a:solidFill>
                          <a:latin typeface="Microsoft YaHei"/>
                        </a:defRPr>
                      </a:pPr>
                      <a:r>
                        <a:t>万m³</a:t>
                      </a:r>
                    </a:p>
                  </a:txBody>
                  <a:tcPr anchor="ctr" marL="36576" marR="36576" marT="18288" marB="18288">
                    <a:solidFill>
                      <a:srgbClr val="FFFFFF"/>
                    </a:solidFill>
                  </a:tcPr>
                </a:tc>
              </a:tr>
              <a:tr h="1154430">
                <a:tc>
                  <a:txBody>
                    <a:bodyPr/>
                    <a:lstStyle/>
                    <a:p>
                      <a:pPr algn="ctr">
                        <a:defRPr sz="1200">
                          <a:solidFill>
                            <a:srgbClr val="01203C"/>
                          </a:solidFill>
                          <a:latin typeface="Microsoft YaHei"/>
                        </a:defRPr>
                      </a:pPr>
                      <a:r>
                        <a:t>林草覆盖率</a:t>
                      </a:r>
                    </a:p>
                  </a:txBody>
                  <a:tcPr anchor="ctr" marL="36576" marR="36576" marT="18288" marB="18288">
                    <a:solidFill>
                      <a:srgbClr val="FFFFFF"/>
                    </a:solidFill>
                  </a:tcPr>
                </a:tc>
                <a:tc>
                  <a:txBody>
                    <a:bodyPr/>
                    <a:lstStyle/>
                    <a:p>
                      <a:pPr algn="ctr">
                        <a:defRPr sz="1200">
                          <a:solidFill>
                            <a:srgbClr val="01203C"/>
                          </a:solidFill>
                          <a:latin typeface="Microsoft YaHei"/>
                        </a:defRPr>
                      </a:pPr>
                      <a:r>
                        <a:t>0.7 7 %</a:t>
                      </a:r>
                    </a:p>
                  </a:txBody>
                  <a:tcPr anchor="ctr" marL="36576" marR="36576" marT="18288" marB="18288">
                    <a:solidFill>
                      <a:srgbClr val="FFFFFF"/>
                    </a:solidFill>
                  </a:tcPr>
                </a:tc>
                <a:tc>
                  <a:txBody>
                    <a:bodyPr/>
                    <a:lstStyle/>
                    <a:p>
                      <a:pPr algn="ctr">
                        <a:defRPr sz="1200">
                          <a:solidFill>
                            <a:srgbClr val="01203C"/>
                          </a:solidFill>
                          <a:latin typeface="Microsoft YaHei"/>
                        </a:defRPr>
                      </a:pPr>
                      <a:r>
                        <a:t>林草植被面积</a:t>
                      </a:r>
                    </a:p>
                  </a:txBody>
                  <a:tcPr anchor="ctr" marL="36576" marR="36576" marT="18288" marB="18288">
                    <a:solidFill>
                      <a:srgbClr val="FFFFFF"/>
                    </a:solidFill>
                  </a:tcPr>
                </a:tc>
                <a:tc>
                  <a:txBody>
                    <a:bodyPr/>
                    <a:lstStyle/>
                    <a:p>
                      <a:pPr algn="ctr">
                        <a:defRPr sz="1200">
                          <a:solidFill>
                            <a:srgbClr val="01203C"/>
                          </a:solidFill>
                          <a:latin typeface="Microsoft YaHei"/>
                        </a:defRPr>
                      </a:pPr>
                      <a:r>
                        <a:t>hm²</a:t>
                      </a:r>
                    </a:p>
                  </a:txBody>
                  <a:tcPr anchor="ctr" marL="36576" marR="36576" marT="18288" marB="18288">
                    <a:solidFill>
                      <a:srgbClr val="FFFFFF"/>
                    </a:solidFill>
                  </a:tcPr>
                </a:tc>
              </a:tr>
            </a:tbl>
          </a:graphicData>
        </a:graphic>
      </p:graphicFrame>
      <p:sp>
        <p:nvSpPr>
          <p:cNvPr id="7" name="TextBox 6"/>
          <p:cNvSpPr txBox="1"/>
          <p:nvPr/>
        </p:nvSpPr>
        <p:spPr>
          <a:xfrm>
            <a:off x="8183879" y="1115568"/>
            <a:ext cx="3063240" cy="438912"/>
          </a:xfrm>
          <a:prstGeom prst="rect">
            <a:avLst/>
          </a:prstGeom>
          <a:noFill/>
        </p:spPr>
        <p:txBody>
          <a:bodyPr wrap="square">
            <a:noAutofit/>
          </a:bodyPr>
          <a:lstStyle/>
          <a:p>
            <a:pPr>
              <a:defRPr sz="1500" b="1">
                <a:solidFill>
                  <a:srgbClr val="4489C8"/>
                </a:solidFill>
                <a:latin typeface="Microsoft YaHei"/>
              </a:defRPr>
            </a:pPr>
            <a:r>
              <a:t>水土保持防治效果分析表</a:t>
            </a:r>
          </a:p>
        </p:txBody>
      </p:sp>
      <p:sp>
        <p:nvSpPr>
          <p:cNvPr id="8" name="TextBox 7"/>
          <p:cNvSpPr txBox="1"/>
          <p:nvPr/>
        </p:nvSpPr>
        <p:spPr>
          <a:xfrm>
            <a:off x="8183879" y="1719072"/>
            <a:ext cx="2880360" cy="3611880"/>
          </a:xfrm>
          <a:prstGeom prst="rect">
            <a:avLst/>
          </a:prstGeom>
          <a:noFill/>
        </p:spPr>
        <p:txBody>
          <a:bodyPr wrap="square">
            <a:noAutofit/>
          </a:bodyPr>
          <a:lstStyle/>
          <a:p>
            <a:pPr>
              <a:spcAft>
                <a:spcPts val="400"/>
              </a:spcAft>
              <a:defRPr sz="1400">
                <a:solidFill>
                  <a:srgbClr val="01203C"/>
                </a:solidFill>
                <a:latin typeface="Microsoft YaHei"/>
              </a:defRPr>
            </a:pPr>
            <a:r>
              <a:t>防治效果分析表把设计达到值与目标值逐项对照，验证措施体系的预期成效。</a:t>
            </a:r>
          </a:p>
          <a:p>
            <a:pPr>
              <a:spcAft>
                <a:spcPts val="400"/>
              </a:spcAft>
              <a:defRPr sz="1400">
                <a:solidFill>
                  <a:srgbClr val="01203C"/>
                </a:solidFill>
                <a:latin typeface="Microsoft YaHei"/>
              </a:defRPr>
            </a:pPr>
            <a:r>
              <a:t>六项指标均需回扣前文目标值表，形成目标设定到效果评价的闭环。</a:t>
            </a:r>
          </a:p>
          <a:p>
            <a:pPr>
              <a:spcAft>
                <a:spcPts val="400"/>
              </a:spcAft>
              <a:defRPr sz="1400">
                <a:solidFill>
                  <a:srgbClr val="01203C"/>
                </a:solidFill>
                <a:latin typeface="Microsoft YaHei"/>
              </a:defRPr>
            </a:pPr>
            <a:r>
              <a:t>达标结论与施工期管理、监理和验收要求共同形成闭环。</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384048" y="182880"/>
            <a:ext cx="10835640" cy="457200"/>
          </a:xfrm>
          <a:prstGeom prst="rect">
            <a:avLst/>
          </a:prstGeom>
          <a:noFill/>
        </p:spPr>
        <p:txBody>
          <a:bodyPr wrap="square">
            <a:noAutofit/>
          </a:bodyPr>
          <a:lstStyle/>
          <a:p>
            <a:pPr>
              <a:defRPr sz="2400" b="1">
                <a:solidFill>
                  <a:srgbClr val="01203C"/>
                </a:solidFill>
                <a:latin typeface="Microsoft YaHei"/>
              </a:defRPr>
            </a:pPr>
            <a:r>
              <a:t>后续管理需落实组织管理、监理施工和设施验收</a:t>
            </a:r>
          </a:p>
        </p:txBody>
      </p:sp>
      <p:sp>
        <p:nvSpPr>
          <p:cNvPr id="3" name="TextBox 2"/>
          <p:cNvSpPr txBox="1"/>
          <p:nvPr/>
        </p:nvSpPr>
        <p:spPr>
          <a:xfrm>
            <a:off x="393192" y="621792"/>
            <a:ext cx="6400800" cy="219456"/>
          </a:xfrm>
          <a:prstGeom prst="rect">
            <a:avLst/>
          </a:prstGeom>
          <a:noFill/>
        </p:spPr>
        <p:txBody>
          <a:bodyPr wrap="square">
            <a:noAutofit/>
          </a:bodyPr>
          <a:lstStyle/>
          <a:p>
            <a:pPr>
              <a:defRPr sz="950" b="0">
                <a:solidFill>
                  <a:srgbClr val="4489C8"/>
                </a:solidFill>
                <a:latin typeface="Microsoft YaHei"/>
              </a:defRPr>
            </a:pPr>
            <a:r>
              <a:t>投资概算、效益与管理验收</a:t>
            </a:r>
          </a:p>
        </p:txBody>
      </p:sp>
      <p:sp>
        <p:nvSpPr>
          <p:cNvPr id="4" name="TextBox 3"/>
          <p:cNvSpPr txBox="1"/>
          <p:nvPr/>
        </p:nvSpPr>
        <p:spPr>
          <a:xfrm>
            <a:off x="10652760" y="603504"/>
            <a:ext cx="640080" cy="182880"/>
          </a:xfrm>
          <a:prstGeom prst="rect">
            <a:avLst/>
          </a:prstGeom>
          <a:noFill/>
        </p:spPr>
        <p:txBody>
          <a:bodyPr wrap="square">
            <a:noAutofit/>
          </a:bodyPr>
          <a:lstStyle/>
          <a:p>
            <a:pPr algn="r">
              <a:defRPr sz="900" b="0">
                <a:solidFill>
                  <a:srgbClr val="566B7F"/>
                </a:solidFill>
                <a:latin typeface="Microsoft YaHei"/>
              </a:defRPr>
            </a:pPr>
            <a:r>
              <a:t>32</a:t>
            </a:r>
          </a:p>
        </p:txBody>
      </p:sp>
      <p:sp>
        <p:nvSpPr>
          <p:cNvPr id="5" name="Rectangle 4"/>
          <p:cNvSpPr/>
          <p:nvPr/>
        </p:nvSpPr>
        <p:spPr>
          <a:xfrm>
            <a:off x="384048" y="804672"/>
            <a:ext cx="10826496" cy="13716"/>
          </a:xfrm>
          <a:prstGeom prst="rect">
            <a:avLst/>
          </a:prstGeom>
          <a:solidFill>
            <a:srgbClr val="448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48640" y="1060704"/>
          <a:ext cx="7315200" cy="4617720"/>
        </p:xfrm>
        <a:graphic>
          <a:graphicData uri="http://schemas.openxmlformats.org/drawingml/2006/table">
            <a:tbl>
              <a:tblPr firstRow="1" bandRow="1">
                <a:tableStyleId>{5C22544A-7EE6-4342-B048-85BDC9FD1C3A}</a:tableStyleId>
              </a:tblPr>
              <a:tblGrid>
                <a:gridCol w="1828800"/>
                <a:gridCol w="1828800"/>
                <a:gridCol w="1828800"/>
                <a:gridCol w="1828800"/>
              </a:tblGrid>
              <a:tr h="1539240">
                <a:tc>
                  <a:txBody>
                    <a:bodyPr/>
                    <a:lstStyle/>
                    <a:p>
                      <a:pPr algn="ctr">
                        <a:defRPr sz="1200" b="1">
                          <a:solidFill>
                            <a:srgbClr val="01203C"/>
                          </a:solidFill>
                          <a:latin typeface="Microsoft YaHei"/>
                        </a:defRPr>
                      </a:pPr>
                      <a:r>
                        <a:t>定额编号： 10308 定额单位： 100m³</a:t>
                      </a:r>
                    </a:p>
                  </a:txBody>
                  <a:tcPr anchor="ctr" marL="36576" marR="36576" marT="18288" marB="18288">
                    <a:solidFill>
                      <a:srgbClr val="EAF2F8"/>
                    </a:solidFill>
                  </a:tcPr>
                </a:tc>
                <a:tc>
                  <a:txBody>
                    <a:bodyPr/>
                    <a:lstStyle/>
                    <a:p>
                      <a:pPr algn="ctr">
                        <a:defRPr sz="1200" b="1">
                          <a:solidFill>
                            <a:srgbClr val="01203C"/>
                          </a:solidFill>
                          <a:latin typeface="Microsoft YaHei"/>
                        </a:defRPr>
                      </a:pPr>
                    </a:p>
                  </a:txBody>
                  <a:tcPr anchor="ctr" marL="36576" marR="36576" marT="18288" marB="18288">
                    <a:solidFill>
                      <a:srgbClr val="EAF2F8"/>
                    </a:solidFill>
                  </a:tcPr>
                </a:tc>
                <a:tc>
                  <a:txBody>
                    <a:bodyPr/>
                    <a:lstStyle/>
                    <a:p>
                      <a:pPr algn="ctr">
                        <a:defRPr sz="1200" b="1">
                          <a:solidFill>
                            <a:srgbClr val="01203C"/>
                          </a:solidFill>
                          <a:latin typeface="Microsoft YaHei"/>
                        </a:defRPr>
                      </a:pPr>
                    </a:p>
                  </a:txBody>
                  <a:tcPr anchor="ctr" marL="36576" marR="36576" marT="18288" marB="18288">
                    <a:solidFill>
                      <a:srgbClr val="EAF2F8"/>
                    </a:solidFill>
                  </a:tcPr>
                </a:tc>
                <a:tc>
                  <a:txBody>
                    <a:bodyPr/>
                    <a:lstStyle/>
                    <a:p>
                      <a:pPr algn="ctr">
                        <a:defRPr sz="1200" b="1">
                          <a:solidFill>
                            <a:srgbClr val="01203C"/>
                          </a:solidFill>
                          <a:latin typeface="Microsoft YaHei"/>
                        </a:defRPr>
                      </a:pPr>
                    </a:p>
                  </a:txBody>
                  <a:tcPr anchor="ctr" marL="36576" marR="36576" marT="18288" marB="18288">
                    <a:solidFill>
                      <a:srgbClr val="EAF2F8"/>
                    </a:solidFill>
                  </a:tcPr>
                </a:tc>
              </a:tr>
              <a:tr h="1539240">
                <a:tc>
                  <a:txBody>
                    <a:bodyPr/>
                    <a:lstStyle/>
                    <a:p>
                      <a:pPr algn="ctr">
                        <a:defRPr sz="1200">
                          <a:solidFill>
                            <a:srgbClr val="01203C"/>
                          </a:solidFill>
                          <a:latin typeface="Microsoft YaHei"/>
                        </a:defRPr>
                      </a:pPr>
                    </a:p>
                  </a:txBody>
                  <a:tcPr anchor="ctr" marL="36576" marR="36576" marT="18288" marB="18288">
                    <a:solidFill>
                      <a:srgbClr val="FFFFFF"/>
                    </a:solidFill>
                  </a:tcPr>
                </a:tc>
                <a:tc>
                  <a:txBody>
                    <a:bodyPr/>
                    <a:lstStyle/>
                    <a:p>
                      <a:pPr algn="ctr">
                        <a:defRPr sz="1200">
                          <a:solidFill>
                            <a:srgbClr val="01203C"/>
                          </a:solidFill>
                          <a:latin typeface="Microsoft YaHei"/>
                        </a:defRPr>
                      </a:pPr>
                      <a:r>
                        <a:t>单价合计</a:t>
                      </a:r>
                    </a:p>
                  </a:txBody>
                  <a:tcPr anchor="ctr" marL="36576" marR="36576" marT="18288" marB="18288">
                    <a:solidFill>
                      <a:srgbClr val="FFFFFF"/>
                    </a:solidFill>
                  </a:tcPr>
                </a:tc>
                <a:tc>
                  <a:txBody>
                    <a:bodyPr/>
                    <a:lstStyle/>
                    <a:p>
                      <a:pPr algn="ctr">
                        <a:defRPr sz="1200">
                          <a:solidFill>
                            <a:srgbClr val="01203C"/>
                          </a:solidFill>
                          <a:latin typeface="Microsoft YaHei"/>
                        </a:defRPr>
                      </a:pPr>
                      <a:r>
                        <a:t>元</a:t>
                      </a:r>
                    </a:p>
                  </a:txBody>
                  <a:tcPr anchor="ctr" marL="36576" marR="36576" marT="18288" marB="18288">
                    <a:solidFill>
                      <a:srgbClr val="FFFFFF"/>
                    </a:solidFill>
                  </a:tcPr>
                </a:tc>
                <a:tc>
                  <a:txBody>
                    <a:bodyPr/>
                    <a:lstStyle/>
                    <a:p>
                      <a:pPr algn="ctr">
                        <a:defRPr sz="1200">
                          <a:solidFill>
                            <a:srgbClr val="01203C"/>
                          </a:solidFill>
                          <a:latin typeface="Microsoft YaHei"/>
                        </a:defRPr>
                      </a:pPr>
                    </a:p>
                  </a:txBody>
                  <a:tcPr anchor="ctr" marL="36576" marR="36576" marT="18288" marB="18288">
                    <a:solidFill>
                      <a:srgbClr val="FFFFFF"/>
                    </a:solidFill>
                  </a:tcPr>
                </a:tc>
              </a:tr>
              <a:tr h="1539240">
                <a:tc>
                  <a:txBody>
                    <a:bodyPr/>
                    <a:lstStyle/>
                    <a:p>
                      <a:pPr algn="ctr">
                        <a:defRPr sz="1200">
                          <a:solidFill>
                            <a:srgbClr val="01203C"/>
                          </a:solidFill>
                          <a:latin typeface="Microsoft YaHei"/>
                        </a:defRPr>
                      </a:pPr>
                      <a:r>
                        <a:t>合计</a:t>
                      </a:r>
                    </a:p>
                  </a:txBody>
                  <a:tcPr anchor="ctr" marL="36576" marR="36576" marT="18288" marB="18288">
                    <a:solidFill>
                      <a:srgbClr val="FFFFFF"/>
                    </a:solidFill>
                  </a:tcPr>
                </a:tc>
                <a:tc>
                  <a:txBody>
                    <a:bodyPr/>
                    <a:lstStyle/>
                    <a:p>
                      <a:pPr algn="ctr">
                        <a:defRPr sz="1200">
                          <a:solidFill>
                            <a:srgbClr val="01203C"/>
                          </a:solidFill>
                          <a:latin typeface="Microsoft YaHei"/>
                        </a:defRPr>
                      </a:pPr>
                      <a:r>
                        <a:t>元/m³</a:t>
                      </a:r>
                    </a:p>
                  </a:txBody>
                  <a:tcPr anchor="ctr" marL="36576" marR="36576" marT="18288" marB="18288">
                    <a:solidFill>
                      <a:srgbClr val="FFFFFF"/>
                    </a:solidFill>
                  </a:tcPr>
                </a:tc>
                <a:tc>
                  <a:txBody>
                    <a:bodyPr/>
                    <a:lstStyle/>
                    <a:p>
                      <a:pPr algn="ctr">
                        <a:defRPr sz="1200">
                          <a:solidFill>
                            <a:srgbClr val="01203C"/>
                          </a:solidFill>
                          <a:latin typeface="Microsoft YaHei"/>
                        </a:defRPr>
                      </a:pPr>
                    </a:p>
                  </a:txBody>
                  <a:tcPr anchor="ctr" marL="36576" marR="36576" marT="18288" marB="18288">
                    <a:solidFill>
                      <a:srgbClr val="FFFFFF"/>
                    </a:solidFill>
                  </a:tcPr>
                </a:tc>
                <a:tc>
                  <a:txBody>
                    <a:bodyPr/>
                    <a:lstStyle/>
                    <a:p>
                      <a:pPr algn="ctr">
                        <a:defRPr sz="1200">
                          <a:solidFill>
                            <a:srgbClr val="01203C"/>
                          </a:solidFill>
                          <a:latin typeface="Microsoft YaHei"/>
                        </a:defRPr>
                      </a:pPr>
                    </a:p>
                  </a:txBody>
                  <a:tcPr anchor="ctr" marL="36576" marR="36576" marT="18288" marB="18288">
                    <a:solidFill>
                      <a:srgbClr val="FFFFFF"/>
                    </a:solidFill>
                  </a:tcPr>
                </a:tc>
              </a:tr>
            </a:tbl>
          </a:graphicData>
        </a:graphic>
      </p:graphicFrame>
      <p:sp>
        <p:nvSpPr>
          <p:cNvPr id="7" name="TextBox 6"/>
          <p:cNvSpPr txBox="1"/>
          <p:nvPr/>
        </p:nvSpPr>
        <p:spPr>
          <a:xfrm>
            <a:off x="8183879" y="1115568"/>
            <a:ext cx="3063240" cy="438912"/>
          </a:xfrm>
          <a:prstGeom prst="rect">
            <a:avLst/>
          </a:prstGeom>
          <a:noFill/>
        </p:spPr>
        <p:txBody>
          <a:bodyPr wrap="square">
            <a:noAutofit/>
          </a:bodyPr>
          <a:lstStyle/>
          <a:p>
            <a:pPr>
              <a:defRPr sz="1500" b="1">
                <a:solidFill>
                  <a:srgbClr val="4489C8"/>
                </a:solidFill>
                <a:latin typeface="Microsoft YaHei"/>
              </a:defRPr>
            </a:pPr>
            <a:r>
              <a:t>水土保持设施验收</a:t>
            </a:r>
          </a:p>
        </p:txBody>
      </p:sp>
      <p:sp>
        <p:nvSpPr>
          <p:cNvPr id="8" name="TextBox 7"/>
          <p:cNvSpPr txBox="1"/>
          <p:nvPr/>
        </p:nvSpPr>
        <p:spPr>
          <a:xfrm>
            <a:off x="8183879" y="1719072"/>
            <a:ext cx="2880360" cy="3611880"/>
          </a:xfrm>
          <a:prstGeom prst="rect">
            <a:avLst/>
          </a:prstGeom>
          <a:noFill/>
        </p:spPr>
        <p:txBody>
          <a:bodyPr wrap="square">
            <a:noAutofit/>
          </a:bodyPr>
          <a:lstStyle/>
          <a:p>
            <a:pPr>
              <a:spcAft>
                <a:spcPts val="400"/>
              </a:spcAft>
              <a:defRPr sz="1400">
                <a:solidFill>
                  <a:srgbClr val="01203C"/>
                </a:solidFill>
                <a:latin typeface="Microsoft YaHei"/>
              </a:defRPr>
            </a:pPr>
            <a:r>
              <a:t>表格内容对应“投资概算、效益与管理验收”章节的关键工程口径。</a:t>
            </a:r>
          </a:p>
          <a:p>
            <a:pPr>
              <a:spcAft>
                <a:spcPts val="400"/>
              </a:spcAft>
              <a:defRPr sz="1400">
                <a:solidFill>
                  <a:srgbClr val="01203C"/>
                </a:solidFill>
                <a:latin typeface="Microsoft YaHei"/>
              </a:defRPr>
            </a:pPr>
            <a:r>
              <a:t>表格说明提炼原表在章节中的工程作用，具体数值保留在表内证据中。</a:t>
            </a:r>
          </a:p>
          <a:p>
            <a:pPr>
              <a:spcAft>
                <a:spcPts val="400"/>
              </a:spcAft>
              <a:defRPr sz="1400">
                <a:solidFill>
                  <a:srgbClr val="01203C"/>
                </a:solidFill>
                <a:latin typeface="Microsoft YaHei"/>
              </a:defRPr>
            </a:pPr>
            <a:r>
              <a:t>多级表头或合并单元格保留层级关系、单位口径和分组含义。</a:t>
            </a:r>
          </a:p>
          <a:p>
            <a:pPr>
              <a:spcAft>
                <a:spcPts val="400"/>
              </a:spcAft>
              <a:defRPr sz="1400">
                <a:solidFill>
                  <a:srgbClr val="01203C"/>
                </a:solidFill>
                <a:latin typeface="Microsoft YaHei"/>
              </a:defRPr>
            </a:pPr>
            <a:r>
              <a:t>定额编号： 10308 定额单位： 100m³ 工作内容；推松、运送、卸除、拖平、空回。 编 号；名称及规格；单位；工程量；单价（元）；合价（元） 一；直接工程费；元。</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
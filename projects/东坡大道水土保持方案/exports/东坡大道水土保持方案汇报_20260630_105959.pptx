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7498079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黄冈市住房和城市更新局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黄冈市东坡大道片区污水收集管网建设工程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39696"/>
            <a:ext cx="98755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水土保持方案报告表汇报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74720"/>
            <a:ext cx="95097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水土保持方案；报批稿；2026年1月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950208"/>
            <a:ext cx="98755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围绕项目边界、预测结果、防治措施、投资效益和验收管理形成评审级汇报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089904"/>
            <a:ext cx="54864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武汉中地环科水工环科技咨询有限责任公司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089904"/>
            <a:ext cx="1828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89904"/>
            <a:ext cx="20116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技术评审汇报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3035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01203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4489C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9815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72384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9624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1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1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71999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8961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0">
                <a:solidFill>
                  <a:srgbClr val="566B7F"/>
                </a:solidFill>
                <a:latin typeface="Microsoft YaHei"/>
              </a:defRPr>
            </a:pPr>
            <a:r>
              <a:t>汇报按报告章节展开，依次呈现项目背景、工程概况、评价预测、措施体系、投资效益与管理验收。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236208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第01章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先交代项目来源、编制依据、核心建设参数和方案结论，帮助评审快速建立全局判断。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综合报告表给出项目全局控制指标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 概况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湖北省黄冈市黄州区城北片区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建设性质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新建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8024.00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土建投资（万元）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6914.95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占地面积（m²）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表土剥离及回覆79.5m³、土地整治265㎡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临时苫盖300m² 、 高压洗车机 2台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26.9211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工程新建污水主管网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6.2公里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、预埋支管2.2公里，服务城北片区污水收集管网完善。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项目占地均为临时占地，防治责任范围与工程扰动范围统一为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34416.00m²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方案同步明确土石方、六项防治目标、措施体系和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26.9211万元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水土保持投资。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前期批复和编制依据明确方案边界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项目前期工作概况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本方案以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可研批复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初设批复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和项目既有前期工作为边界，明确工程建设内容与水土保持评价对象。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347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编制依据覆盖水土保持法律法规、技术标准和地方管理要求，是防治目标、预测计算和投资概算的共同基础。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9202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附件清单包括批复、委托、地理位置、措施布设和投资估算等支撑材料。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36347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前期手续与依据文件共同限定方案编制范围和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水土保持责任边界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第02章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说明管网建设内容、道路段落、工程占地、施工组织、工艺和土石方基础。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建设项目工程特性表锁定规模、投资与工期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28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一、项目的基本情况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项目区面积（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4971.61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2232.54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建设项目工程特性表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项目性质为新建，建设地点位于黄冈市黄州区黄州大道片区。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总投资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8024.00万元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、土建投资6914.95万元，计划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2025年12月至2026年12月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实施。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用地面积34416.00m²，全部按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临时占地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纳入管网工程区防治。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项目位于黄州区城北片区并沿多条道路布设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86113"/>
            <a:ext cx="6949440" cy="433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3568" y="1115568"/>
            <a:ext cx="3246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工程建设地点示意图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700784"/>
            <a:ext cx="2999232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图件显示项目位于黄州区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城北片区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，工程范围受黄州大道、三台河路、东坡大道、赤壁大道等道路边界控制。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904744"/>
            <a:ext cx="2999232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管网沿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既有城市道路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布设，施工扰动与交通组织、现状绿化和恢复边界关系密切。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4108704"/>
            <a:ext cx="2999232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图件定位责任范围和扰动场景，防治分区以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管网工程区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统一展开。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施工组织与顶管工艺决定扰动范围和防护时序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04546"/>
            <a:ext cx="3529584" cy="1860186"/>
          </a:xfrm>
          <a:prstGeom prst="rect">
            <a:avLst/>
          </a:prstGeom>
        </p:spPr>
      </p:pic>
      <p:pic>
        <p:nvPicPr>
          <p:cNvPr id="7" name="Picture 6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591349"/>
            <a:ext cx="3529584" cy="2486580"/>
          </a:xfrm>
          <a:prstGeom prst="rect">
            <a:avLst/>
          </a:prstGeom>
        </p:spPr>
      </p:pic>
      <p:pic>
        <p:nvPicPr>
          <p:cNvPr id="8" name="Picture 7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50" y="1069848"/>
            <a:ext cx="3013059" cy="3529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4809744"/>
            <a:ext cx="452628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图2.1- 2 顶管施工示意图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75504"/>
            <a:ext cx="10561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顶管示意图说明本项目以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微顶管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减少城区道路大开挖扰动，是施工组织和水保措施时序的关键依据。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6400"/>
            <a:ext cx="10561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工作井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、接收井和井内回填剖面决定临时占地、土方周转、排水降水和分层压实管理重点。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797296"/>
            <a:ext cx="10561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图件内容与土石方平衡、临时苫盖、施工排水和路面绿化恢复措施相互对应。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第03章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界定防治责任范围，明确南方红壤区建设类项目一级标准及六项防治目标。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防治责任范围全部为临时占地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186"/>
                <a:gridCol w="1856595"/>
                <a:gridCol w="1861455"/>
                <a:gridCol w="2177368"/>
                <a:gridCol w="3280633"/>
              </a:tblGrid>
              <a:tr h="691286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本项目防治责任范围一览表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本项目防治责任范围为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管网工程区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34416.00m²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工程占地均为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临时占地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，施工结束后需完成路面、绿化和临时扰动恢复。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管线作业、顶管井施工、材料堆放和道路恢复共同构成水土保持控制对象。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六项防治指标采用南方红壤区一级标准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600"/>
                <a:gridCol w="584000"/>
                <a:gridCol w="1003999"/>
                <a:gridCol w="2800000"/>
                <a:gridCol w="560800"/>
                <a:gridCol w="888800"/>
              </a:tblGrid>
              <a:tr h="577215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防治指标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标准值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采用标准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77215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设计水平年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设计水平年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水土流失治理度（%）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0.9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+0.1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林草覆盖率（%）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按项目区实际情况调整为0.77%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本工程水土流失防治目标值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本项目执行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南方红壤区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建设类项目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一级防治标准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设计水平年水土流失治理度、林草植被恢复率均按98%控制，渣土防护率按97%控制。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表土保护率取93%，土壤流失控制比取1.0，林草覆盖率结合项目实际调整为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0.77%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第04章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评价选址、建设方案、施工组织、土石方平衡及主体工程中已列水保措施。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法制约因素与技术标准评价结论均为符合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制约性因素条款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符合性分析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第十七条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地方各级人民政府应当加强对取土、挖沙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本项目不涉及取土、挖沙、采石等活动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水土流失严重、生态脆弱的地区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本项目所在区域不属于水土流失严重、生态脆弱区。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第二十四条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建设项目选址、选线应当避让水土流失重点预防区和重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本项目不涉及国家级和省级水土流失重点防治区。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第二十五条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在山区、丘陵区、风沙区以及水土保持规划确定的容易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建设单位 委托 我公司开展本项目的水土保持方案编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依法应当编制水土保持方案的建设项目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 总挖方4971.61 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对生产建设活动所占用土地的地表土应当进行分层剥离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 现场勘查 及查阅资料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水土保持法制约因素分析与评价结果一览表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项目选址未涉及水土保持法、长江保护法及相关技术标准的禁止性因素。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工程位于城市建成区，建设方案以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减少扰动面积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和土石方量为原则。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施工组织采用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分段施工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、随挖随运和避开恶劣天气基础施工等控制要求。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土石方平衡显示弃方委托处置、借方外购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28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开挖量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回填量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调入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调出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基础土方开挖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2977.11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基础土方回填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1356.87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道路破除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1560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清淤土方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工程土石方平衡表 单位：m³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工程总挖方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4971.61m³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、总填方2232.54m³，外购土石方2153.04m³。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弃方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4892.11m³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，其中建筑垃圾1560.00m³，均委托湖北安达港务有限公司外运消纳。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施工过程土石方随挖随运，不设置临时堆土场，运输和苫盖为施工期控制重点。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主体工程已列水保措施以土地整治和铺种草皮为主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018"/>
                <a:gridCol w="2151077"/>
                <a:gridCol w="782430"/>
                <a:gridCol w="1150632"/>
                <a:gridCol w="1345634"/>
                <a:gridCol w="1466753"/>
                <a:gridCol w="2888693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主体工程已列投资（万元）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493775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 植物措施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23.34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本项目主体工程设计中应纳入水土保持的措施量及投资一览表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主体工程已列水土保持措施主要包括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土地整治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铺种草皮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土地整治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面积和草皮恢复面积用于道路两侧扰动区域恢复。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方案补充表土剥离回覆、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临时苫盖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和高压洗车机，完善施工期临时防护。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第05章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从扰动范围、侵蚀模数、预测时段和结果表说明施工期与自然恢复期流失量。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扰动地表面积与预测单元集中在管网工程区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244"/>
                <a:gridCol w="2693244"/>
                <a:gridCol w="4220229"/>
                <a:gridCol w="1457520"/>
              </a:tblGrid>
              <a:tr h="691286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扰动地表面积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扰动地表面积表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水土流失预测范围与防治责任范围一致，预测单元为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管网工程区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预测时段区分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施工期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自然恢复期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，分别对应扰动施工和植被恢复过程。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预测面积、时段和单元划分共同形成土壤流失量计算基础。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背景土壤侵蚀模数取 261.46t/km²·a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14"/>
                <a:gridCol w="1416861"/>
                <a:gridCol w="1033095"/>
                <a:gridCol w="1646964"/>
                <a:gridCol w="1147358"/>
                <a:gridCol w="1065404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土地利用类型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坡度（°）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林草覆盖度（%）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平均土壤侵蚀模数[t/(km²·a)]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土壤侵蚀强度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微度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450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轻度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4.3.3.1 原地貌土壤侵蚀模数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项目区背景土壤侵蚀模数为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261.46t/km²·a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，容许土壤流失量为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500t/km²·a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背景值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用于反映原地貌条件下的水土流失水平。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各地类侵蚀模数取值与预测公式共同构成后续流失量计算参数。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施工期扰动后侵蚀模数显著高于背景值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因子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土壤侵蚀模数（ t/km²·a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1153.34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降雨侵蚀力因子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7179.00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土壤可蚀性因子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0.0043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Ly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坡长（ m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坡长指数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4.3.3.2 扰动后土壤侵蚀模数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项目区背景土壤侵蚀模数为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261.46t/km²·a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，容许土壤流失量为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500t/km²·a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背景值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用于反映原地貌条件下的水土流失水平。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各地类侵蚀模数取值与预测公式共同构成后续流失量计算参数。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预测土壤流失总量 104.05t，新增量 94.92t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28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预测单元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预测面积（hm²）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预测时段（a)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侵蚀模数（t/km²·a）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背景水土流失量（t）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土壤流失量（t)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背景值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261.46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3018.60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261.46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3018.60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工程建设可能造成的土壤流失量预测结果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工程建设可能造成土壤流失总量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104.05t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，新增土壤流失量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94.92t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新增量主要发生在施工扰动阶段，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施工期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是水土流失防治重点。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预测结果对应工程措施、植物措施和临时措施的配置强度。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第06章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呈现防治分区、工程/植物/临时措施体系、工程量和实施进度。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防治分区为管网工程区，防治面积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4147"/>
                <a:gridCol w="1940526"/>
                <a:gridCol w="1940526"/>
              </a:tblGrid>
              <a:tr h="115443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115443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水土流失防治区划分表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方案划分为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管网工程区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一个防治分区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，防治面积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34416.00m²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防治分区覆盖管线施工、顶管井、临时扰动和道路绿化恢复范围。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措施布设、工程量统计、投资估算和防治效益均以该分区为基础。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措施体系覆盖工程、植物和临时三类措施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51"/>
                <a:gridCol w="1124263"/>
                <a:gridCol w="1974346"/>
                <a:gridCol w="1428377"/>
                <a:gridCol w="1415207"/>
                <a:gridCol w="1033269"/>
                <a:gridCol w="2116824"/>
              </a:tblGrid>
              <a:tr h="1152144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1152144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表土剥离、表土回覆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临时苫盖、高压洗车机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本项目水土流失防治措施体系表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管网工程区措施包括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工程措施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植物措施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临时措施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三类。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工程措施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为表土剥离及回覆、土地整治，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植物措施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为铺种草皮。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临时措施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包括临时苫盖和高压洗车机，用于控制裸露地表和车辆带泥上路。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措施实施进度需嵌入 2025—2026 年施工窗口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43205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水土保持工程施工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2025 年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2026 年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12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 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临时苫盖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高压洗车机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水土保持措施实施进度表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水土保持措施实施期与主体工程施工期衔接，覆盖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2025年12月至2026年12月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表土剥离、临时苫盖等措施随施工扰动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同步布设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土地整治、表土回覆和铺种草皮随路面及绿化恢复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分段完成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第07章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说明投资构成、补偿费免征依据、防治效果达标情况及后续管理要求。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水土保持估算总投资为 26.9211 万元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28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建安工程费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独立费用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新增投资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主体工程已列投资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0.1631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第三部分临时措施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一至三部分合计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0.5885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0.6381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1.2266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第四部分独立费用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一至四部分合计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0.5885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0.6381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21.7234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本项目水土保持估算总表 单位：万元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本项目水土保持总投资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26.9211万元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，其中主体工程已有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0.6381万元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，本方案新增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0.5885万元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工程措施投资0.1827万元，植物措施投资0.6185万元，临时措施投资0.4253万元。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独立费用20.4968万元，水土保持补偿费5.1624万元，补偿费符合免缴情形。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工程、植物、临时和独立费用共同构成新增投资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6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551"/>
                <a:gridCol w="1919359"/>
                <a:gridCol w="1736254"/>
                <a:gridCol w="1733657"/>
                <a:gridCol w="1733657"/>
                <a:gridCol w="2390758"/>
              </a:tblGrid>
              <a:tr h="576072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11.68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0.0929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8.84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0.0703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本方案工程措施估算表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02352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新增投资按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工程措施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临时措施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独立费用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和基本预备费分类计列。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31536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主体工程已有投资主要对应植物措施及部分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工程措施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760720"/>
            <a:ext cx="105613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独立费用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包括建设管理费、科研勘测设计费、水土保持监理费和设施验收费。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水土保持补偿费 51624 元符合免征情形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行政区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征占地面积（hm²）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征占地面积（m²）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收费标准（元/m²）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水保补偿费（元）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黄冈市黄州区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51624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免征依据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市政生态环境保护基础设施项目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水土保持补偿费计算表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水土保持补偿费按征占地面积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3.4416hm²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、收费标准1.5元/m²计算，金额为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51624元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项目属于市政生态环境保护基础设施，符合财综〔2014〕8号规定的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免征情形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方案编制时不予计列补偿费缴纳支出。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六项防治效果达到或高于目标值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6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28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评估依据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设计达到值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评估结果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水土流失总治理度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水土流失治理达标面积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hm²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容许土壤流失量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t/km²·a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采取措施实际挡护永久弃渣、临时堆土数量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0.4784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97.80%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保护的表土数量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万m³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0.0079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林草植被面积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hm²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林草植被面积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hm²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0.0265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水土保持防治效果分析表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防治效果分析显示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六项指标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均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达到或高于目标值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23031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水土流失总治理度、林草植被恢复率、渣土防护率等指标形成达标结论。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4126992"/>
            <a:ext cx="2880360" cy="11673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防治效果需通过施工管理、监理记录和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设施验收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进一步落实。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后续管理需落实组织管理、监理施工和设施验收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水土保持设施验收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11064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建设单位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应成立水土保持方案实施管理机构，设专人负责水土保持工作。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63240"/>
            <a:ext cx="4800600" cy="11064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4489C8"/>
                </a:solidFill>
                <a:latin typeface="Microsoft YaHei"/>
              </a:rPr>
              <a:t>水土保持监理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按批准的方案和工程设计文件实施质量、进度和投资控制。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206240"/>
            <a:ext cx="4800600" cy="11064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施工单位应按设计图纸和施工技术要求实施水土保持措施，并对施工范围内水土流失负责。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9202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水土保持</a:t>
            </a:r>
            <a:r>
              <a:rPr sz="1400" b="1">
                <a:solidFill>
                  <a:srgbClr val="4489C8"/>
                </a:solidFill>
                <a:latin typeface="Microsoft YaHei"/>
              </a:rPr>
              <a:t>设施验收</a:t>
            </a:r>
            <a:r>
              <a:rPr sz="1400" b="0">
                <a:solidFill>
                  <a:srgbClr val="01203C"/>
                </a:solidFill>
                <a:latin typeface="Microsoft YaHei"/>
              </a:rPr>
              <a:t>按水保〔2017〕365号执行，验收合格后方可通过竣工验收和投产使用。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3634740"/>
            <a:ext cx="4800600" cy="16779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01203C"/>
                </a:solidFill>
                <a:latin typeface="Microsoft YaHei"/>
              </a:rPr>
              <a:t>验收材料应依法公开，并在投产使用前向水土保持方案审批机关报备。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